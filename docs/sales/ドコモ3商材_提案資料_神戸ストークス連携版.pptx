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理由</c:v>
                </c:pt>
              </c:strCache>
            </c:strRef>
          </c:tx>
          <c:spPr>
            <a:solidFill>
              <a:srgbClr val="C9002B"/>
            </a:solidFill>
            <a:effectLst/>
          </c:spPr>
          <c:invertIfNegative val="0"/>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C9002B"/>
              </a:solidFill>
              <a:effectLst/>
            </c:spPr>
          </c:dPt>
          <c:dPt>
            <c:idx val="1"/>
            <c:invertIfNegative val="0"/>
            <c:bubble3D val="0"/>
            <c:spPr>
              <a:solidFill>
                <a:srgbClr val="13283C"/>
              </a:solidFill>
              <a:effectLst/>
            </c:spPr>
          </c:dPt>
          <c:dPt>
            <c:idx val="2"/>
            <c:invertIfNegative val="0"/>
            <c:bubble3D val="0"/>
            <c:spPr>
              <a:solidFill>
                <a:srgbClr val="13283C"/>
              </a:solidFill>
              <a:effectLst/>
            </c:spPr>
          </c:dPt>
          <c:dPt>
            <c:idx val="3"/>
            <c:invertIfNegative val="0"/>
            <c:bubble3D val="0"/>
            <c:spPr>
              <a:solidFill>
                <a:srgbClr val="9AA6B2"/>
              </a:solidFill>
              <a:effectLst/>
            </c:spPr>
          </c:dPt>
          <c:cat>
            <c:multiLvlStrRef>
              <c:f>Sheet1!$A$2:$A$5</c:f>
              <c:multiLvlStrCache>
                <c:ptCount val="4"/>
                <c:lvl>
                  <c:pt idx="0">
                    <c:v>試合後は店が閉まっている</c:v>
                  </c:pt>
                  <c:pt idx="1">
                    <c:v>寄りたい店が分からない</c:v>
                  </c:pt>
                  <c:pt idx="2">
                    <c:v>そのまま帰りたい</c:v>
                  </c:pt>
                  <c:pt idx="3">
                    <c:v>混んでいる</c:v>
                  </c:pt>
                </c:lvl>
              </c:multiLvlStrCache>
            </c:multiLvlStrRef>
          </c:cat>
          <c:val>
            <c:numRef>
              <c:f>Sheet1!$B$2:$B$5</c:f>
              <c:numCache>
                <c:formatCode>General</c:formatCode>
                <c:ptCount val="4"/>
                <c:pt idx="0">
                  <c:v>38</c:v>
                </c:pt>
                <c:pt idx="1">
                  <c:v>27</c:v>
                </c:pt>
                <c:pt idx="2">
                  <c:v>22</c:v>
                </c:pt>
                <c:pt idx="3">
                  <c:v>9</c:v>
                </c:pt>
              </c:numCache>
            </c:numRef>
          </c:val>
        </c:ser>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1B2B3D"/>
                </a:solidFill>
                <a:latin typeface="Meiryo"/>
              </a:defRPr>
            </a:pPr>
            <a:endParaRPr lang="en-US"/>
          </a:p>
        </c:txPr>
        <c:crossAx val="2094734552"/>
        <c:crosses val="autoZero"/>
        <c:auto val="1"/>
        <c:lblAlgn val="ctr"/>
        <c:noMultiLvlLbl val="1"/>
      </c:catAx>
      <c:valAx>
        <c:axId val="2094734552"/>
        <c:scaling>
          <c:orientation val="minMax"/>
          <c:max val="5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【この資料の使い方】
・対象：三宮・元町・ウォーターフロント周辺の商店街振興組合・店舗、神戸市（商工・観光の担当）。神戸ストークスとの合同商談を想定。
・顧客提案：P.01〜19を使う。P.20〜24（社内用）は非表示にするか削除。ファイルで渡す場合はノートを削除するかPDFで渡す。〔 〕とP.11の架空の数値を差し替える。
・神戸ストークスの名称・数字を顧客向けに使う前に、クラブの了承を得る（P.23）。
・数字は2026年9〜10月時点の公開情報・報道。正式提案前に再確認。
冒頭トーク例：ストークスの試合の日には、1万人規模の人がこのまちに来ます。そのにぎわいが商店街にどれだけ届いているかを、データで確かめて増やすご提案です。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社内メモ】商店街・小規模自治体は「いくらかかるか」「誰がやるのか」「補助金は使えるか」が最初の関心事。調査1回の最低料金はプレミアパネル（リサーチ）の公開料金で、条件で変わるため見積で確認する。
出典
https://www.ntt.com/business/services/premierepanel/research.html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差し替え】ヒアリング後は顧客の言葉に書き換える。商店街では、個々の店舗より商店街振興組合・商工会が発注元になることが多い。店舗の悩み（営業時間・品ぞろえ）も聞いて、組合の提案に入れると賛同を得やすい。
トーク例：この4つのうち、一番近いお悩みはどれでしょうか。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KOBE RISING -2025-（2025年9月23日）の経済効果は、同志社大学・フロム・シェフ・One Bright KOBE・ストークス・ひょうご経済研究所の共同研究。来場者アンケートと運営費のデータから算出（直接効果約1.2億円、生産誘発倍率1.56）。
「約1.6億円規模」は、このイベントの数字を人数で割って平均入場者数を掛けただけの単純計算。運営費やイベントの性格が違うため、通常のリーグ戦の効果として断定しない。必ず「参考」と言う。
川崎フロンターレ（2,419万円/試合）は、ドコモ・インテージの実証で、スタジアム来場者に限った周辺消費の拡大推計。定義が違うので桁が違う、と説明に使う。
平均5,874人はB2での2025-26シーズンの報道値、178,678人はクラブ公式発表、10,168席はアリーナの公開情報。
出典
https://www.doshisha.ac.jp/news/detail/001-s7ECU4.html
https://kobe-journal.com/archives/4865826252.html
https://basketballking.jp/news/japan/20260522/614188.html
https://x.com/STORKS_OFFICIAL/status/2040596488921964989
https://www.totteikobe.jp/pdf/for_organizer/GLIONARENAKOBE_Facility.pdf
https://x.com/STORKS_OFFICIAL/status/2052929768895787136
https://www.intage.co.jp/news/6237/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ドコモはGLION ARENA KOBEの事業者グループ（NTT都市開発・スマートバリュー・NTTドコモ）の一員で、NTTドコモ関西はd払いキャンペーンで南京町・アリーナと既に連携している。商店街には「その続きとして、効果をデータで測る」と提案すると自然。
イベント来場者の終了後の滞在先や宿泊の分析は、みやぎん経済研究所の事例で使われたオプション機能。神戸での対象エリア・仕様は提供元に確認する。
出典
https://news.kobekeizai.jp/blog-entry-18295.html
https://dempa-digital.com/article/702806
https://www.ntt.com/business/services/spatial_statistics/case_miyaginresearch.html
https://k-tai.watch.impress.co.jp/docs/news/2004295.html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最初の1つは、比較的金額が読みやすく、来なかった人の声という新しい情報が得られるプレミアパネルを推す。人流は会場周辺の人の動き、広告は告知。予算と目的に応じて入れ替える。
【社内メモ】人口マップ月額9万円〜は元資料の数字で、今回の検索では確認できていない。プレミアパネル最低27.5万円もリサーチの料金か見積で確認する。
出典
https://www.ntt.com/business/services/premierepanel/research.html
https://mobaku.jp/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小規模な会場では、周辺の住宅地や通行の人も含まれる。会場の大きさと周辺環境を確認し、比較する日（普段の同じ曜日など）を決めて使う。
画像出典：https://mobaku.jp/top/img/table/table1.jpg
出典
https://mobaku.jp/
https://bizzine.jp/article/detail/10718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リサーチの公開料金は最低27.5万円/回（税込）。基本15問まで（1問追加ごとに22,000円・税込、最大20問）。小規模自治体では、対象地域を絞り過ぎると回収数が足りなくなるため、回収可能数を提供元に事前に確認する。
画像出典：https://ssw.web.docomo.ne.jp/marketing/assets/images/products_detail/premium-panel/kv.png
出典
https://ssw.web.docomo.ne.jp/marketing/products/premium-panel/
https://www.ntt.com/business/services/premierepanel/research.html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参照した公式ページに最低出稿額の掲載はない。小規模予算で出せるメニューがあるか、現行窓口（CARTA ZERO）で事前に確認してから提案する。
画像出典：https://ssw.web.docomo.ne.jp/marketing/assets/images/products_detail/ad-network/introduction.png
出典
https://ssw.web.docomo.ne.jp/marketing/products/ad-network/
https://www.cartazero.co.jp/ja/news/20260701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中小規模のお客様は担当者が兼務で忙しい。「何をしなくていいか」を明確にすると決めやすい。支援範囲（設計・報告書作成など）を見積に含めるかは社内で確認すること。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重要ページ】選ばれる決め手は「どういったデータが取れるか明確にイメージできること」。商店街は報告書を読み込む時間がないため、「数字3つ＋次にやること3つ」の1枚を見せる。架空の数値のまま見せるときは、必ずイメージであることを伝える。「立ち寄った人の割合」は、人流（試合後の滞在先）とアンケートの組み合わせで出す想定。測り方は提供元と仕様を確認する。
出典
https://biz.kddi.com/usecase/tochigi2/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琴平町（金刀比羅宮の参道）と美馬市（うだつの町並み）は、商店が並ぶ通りの観光の事例で、商店街に近い。ハッピーロード大山商店街は中小企業庁が紹介する商店街のデータ活用例で、スマート街路灯（カメラ・センサー）による別の手法。商店街の中の通行量はカメラ型、来訪元や来ていない人の理由はドコモのデータ、と組み合わせの説明に使う。
出典
https://www.ntt.com/business/case-studies/kotohira_town.html
https://www.ntt.com/business/case-studies/mima.html
https://www.ntt.com/business/case-studies/tamana.html
https://www.ntt.com/business/services/spatial_statistics/case_miyaginresearch.html
https://www.ntt.com/business/services/spatial_statistics/case_shigaken.html
https://www.chusho.meti.go.jp/shogyo/shogyo/jirei/07/pdf/03.pdf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商店街の場合：ステップ1は夏祭りや売り出し1回で来ていない人の理由を聞く→ステップ2で告知と当日の人の動きを足す→ステップ3で年間の行事ごとに比べる。自治体の場合：ステップ1を少額随意契約の範囲で今年度に行い、結果を次年度予算の根拠に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【差し替え】〔お見積額〕は提供元の見積と当社の支援費をそろえて記入。お試しプランの27.5万円〜はプレミアパネル（リサーチ）の最低料金で、支援費・オプションは含まない。
【社内メモ】少額随意契約の基準額は令和7年の政令改正で見直され、市区町村の委託等は100万円以下（各自治体の規則で適用）。商店街は組合の総会・理事会で決めることが多いので、決める会議の日程を先に聞く。
出典
https://www.ntt.com/business/services/premierepanel/research.html
https://www.soumu.go.jp/main_content/001026062.pdf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社内メモ】ドコモの各サービスや当社の支援費が補助対象経費として認められるかは未確認。申請を前提にした提案はせず、「使える可能性があるので一緒に確認する」と話す。訪日客の多い南京町などでは、インバウンド支援事業とモバイル空間統計の訪日客データ（国・地域別）の組み合わせも提案しやすい。
出典
https://www.city.kobe.lg.jp/a92777/business/sangyoshinko/shokogyo/shop/tiikishogyo.html
https://web.pref.hyogo.lg.jp/sr07/fandukuriouenn.html
https://web.pref.hyogo.lg.jp/sr07/menzeiten-gaikokujinyuukyaku.html
https://www.chusho.meti.go.jp/koukai/yosan/r8/digital_ai_summary.pdf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自治体の予算は9〜10月に次年度の要求、12〜1月に査定、2〜3月に議会。商店街は総会・理事会の日程と、補助金の募集時期を先に聞く。
出典
https://mobaku.jp/faq/
https://journal.labid.jp/article/exL3ENJP
https://www.soumu.go.jp/main_content/001026062.pdf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「長期契約を前提にしない」は当社の提案方針。各サービスに最低契約期間があるメニュー（例：モバイル空間統計の標準版は最低3ヶ月）もあるため、使うメニューで確認する。
出典
https://mobaku.jp/price/jpn/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切り出し例：ストークスの試合の日、試合のあとに商店街に寄ってもらえていると思いますか。
締め方の例：まず1回分の具体案と金額をお持ちします。そこで続けるかどうかをご判断ください。
※次のP.19（出典）までが顧客提示用。P.20以降は社内用。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顧客提示はここまで。他の方法・競合とアリーナ運営の出典は社内用ページ（P.22・P.23）のノートに記載。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事例分析の結論（顧客の判断から逆算し、判断に使えるアウトプットを契約前に見せる）は、規模が小さくても同じ。違うのは、金額・手間・決め方。栃木県は「どういったデータが取れるか明確にイメージできた」ことを決め手にした。
出典
https://biz.kddi.com/usecase/tochigi2/
https://www.soumu.go.jp/main_content/001026062.pdf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商店街の個店は単独では予算が小さいため、商店街振興組合や商工会を発注元にし、各店舗の知りたいこと（営業時間・品ぞろえなど）を設問に入れる形が現実的。自治体の商工担当と組合をつなぐと、自治体の予算や補助金も使いやすく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読み：商店街ではAIカメラ・スマート街路灯（例：ハッピーロード大山商店街）が補助金で導入されることがある。カメラは「通りの中」、ドコモは「どこから・誰が・来ていない人」と役割が違うので、競合ではなく組み合わせとして提案すると通りやすい。KDDIの年額定額は商店街には重く感じられやすく、ドコモは1回単位で入れる。
出典
https://www.chusho.meti.go.jp/shogyo/shogyo/jirei/07/pdf/03.pdf
https://k-locationanalyzer.com/domestic
https://www.giken.co.jp/service/kla/fee/
https://bizzine.jp/article/detail/10718
https://mobaku.jp/analysis/2017/1101_50.html
https://www.ntt.com/business/case-studies/tamana.html
https://www.ntt.com/business/case-studies/kotohira_town.html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合同商談の流れ（案）：①One Bright KOBE・NTTドコモ関西と役割を確認 ②ストークスに名称・数字の使用と発信協力を相談 ③商店街振興組合（南京町・元町など）に提案 ④神戸市の商工・観光担当に補助・施策との連携を相談。
出典
https://k-tai.watch.impress.co.jp/docs/news/2004295.html
https://www.smartvalue.ad.jp/news/8835/
https://news.kobekeizai.jp/blog-entry-18295.html
https://dempa-digital.com/article/702806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案件窓口は1人（藤田さん案）。少人数なら分析担当と兼務する。報告会で必ず「次の一手を1つ」提案し、ステップ2・次年度につなげる。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jpe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slideLayout" Target="../slideLayouts/slideLayout1.xml"/><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83C"/>
        </a:solidFill>
      </p:bgPr>
    </p:bg>
    <p:spTree>
      <p:nvGrpSpPr>
        <p:cNvPr id="1" name=""/>
        <p:cNvGrpSpPr/>
        <p:nvPr/>
      </p:nvGrpSpPr>
      <p:grpSpPr>
        <a:xfrm>
          <a:off x="0" y="0"/>
          <a:ext cx="0" cy="0"/>
          <a:chOff x="0" y="0"/>
          <a:chExt cx="0" cy="0"/>
        </a:xfrm>
      </p:grpSpPr>
      <p:sp>
        <p:nvSpPr>
          <p:cNvPr id="2" name="Text 0"/>
          <p:cNvSpPr txBox="1"/>
          <p:nvPr/>
        </p:nvSpPr>
        <p:spPr>
          <a:xfrm>
            <a:off x="731520" y="822960"/>
            <a:ext cx="6400800" cy="411480"/>
          </a:xfrm>
          <a:prstGeom prst="rect">
            <a:avLst/>
          </a:prstGeom>
          <a:noFill/>
          <a:ln/>
        </p:spPr>
        <p:txBody>
          <a:bodyPr wrap="square" lIns="0" tIns="0" rIns="0" bIns="0" rtlCol="0" anchor="t"/>
          <a:lstStyle/>
          <a:p>
            <a:pPr indent="0" marL="0">
              <a:buNone/>
            </a:pPr>
            <a:r>
              <a:rPr lang="en-US" sz="1800" b="1" dirty="0">
                <a:solidFill>
                  <a:srgbClr val="FFFFFF"/>
                </a:solidFill>
                <a:latin typeface="Meiryo" pitchFamily="34" charset="0"/>
                <a:ea typeface="Meiryo" pitchFamily="34" charset="-122"/>
                <a:cs typeface="Meiryo" pitchFamily="34" charset="-120"/>
              </a:rPr>
              <a:t>〔お客様名〕 御中</a:t>
            </a:r>
            <a:endParaRPr lang="en-US" sz="1800" dirty="0"/>
          </a:p>
        </p:txBody>
      </p:sp>
      <p:sp>
        <p:nvSpPr>
          <p:cNvPr id="3" name="Text 1"/>
          <p:cNvSpPr txBox="1"/>
          <p:nvPr/>
        </p:nvSpPr>
        <p:spPr>
          <a:xfrm>
            <a:off x="731520" y="1783080"/>
            <a:ext cx="6766560" cy="731520"/>
          </a:xfrm>
          <a:prstGeom prst="rect">
            <a:avLst/>
          </a:prstGeom>
          <a:noFill/>
          <a:ln/>
        </p:spPr>
        <p:txBody>
          <a:bodyPr wrap="square" lIns="0" tIns="0" rIns="0" bIns="0" rtlCol="0" anchor="t"/>
          <a:lstStyle/>
          <a:p>
            <a:pPr indent="0" marL="0">
              <a:buNone/>
            </a:pPr>
            <a:r>
              <a:rPr lang="en-US" sz="3600" b="1" dirty="0">
                <a:solidFill>
                  <a:srgbClr val="FFFFFF"/>
                </a:solidFill>
                <a:latin typeface="Meiryo" pitchFamily="34" charset="0"/>
                <a:ea typeface="Meiryo" pitchFamily="34" charset="-122"/>
                <a:cs typeface="Meiryo" pitchFamily="34" charset="-120"/>
              </a:rPr>
              <a:t>試合の日のにぎわいを、</a:t>
            </a:r>
            <a:endParaRPr lang="en-US" sz="3600" dirty="0"/>
          </a:p>
        </p:txBody>
      </p:sp>
      <p:sp>
        <p:nvSpPr>
          <p:cNvPr id="4" name="Text 2"/>
          <p:cNvSpPr txBox="1"/>
          <p:nvPr/>
        </p:nvSpPr>
        <p:spPr>
          <a:xfrm>
            <a:off x="731520" y="2514600"/>
            <a:ext cx="6766560" cy="731520"/>
          </a:xfrm>
          <a:prstGeom prst="rect">
            <a:avLst/>
          </a:prstGeom>
          <a:noFill/>
          <a:ln/>
        </p:spPr>
        <p:txBody>
          <a:bodyPr wrap="square" lIns="0" tIns="0" rIns="0" bIns="0" rtlCol="0" anchor="t"/>
          <a:lstStyle/>
          <a:p>
            <a:pPr indent="0" marL="0">
              <a:buNone/>
            </a:pPr>
            <a:r>
              <a:rPr lang="en-US" sz="3600" b="1" dirty="0">
                <a:solidFill>
                  <a:srgbClr val="FF5A78"/>
                </a:solidFill>
                <a:latin typeface="Meiryo" pitchFamily="34" charset="0"/>
                <a:ea typeface="Meiryo" pitchFamily="34" charset="-122"/>
                <a:cs typeface="Meiryo" pitchFamily="34" charset="-120"/>
              </a:rPr>
              <a:t>まちと商店街へ</a:t>
            </a:r>
            <a:endParaRPr lang="en-US" sz="3600" dirty="0"/>
          </a:p>
        </p:txBody>
      </p:sp>
      <p:sp>
        <p:nvSpPr>
          <p:cNvPr id="5" name="Text 3"/>
          <p:cNvSpPr txBox="1"/>
          <p:nvPr/>
        </p:nvSpPr>
        <p:spPr>
          <a:xfrm>
            <a:off x="731520" y="3520440"/>
            <a:ext cx="6400800" cy="822960"/>
          </a:xfrm>
          <a:prstGeom prst="rect">
            <a:avLst/>
          </a:prstGeom>
          <a:noFill/>
          <a:ln/>
        </p:spPr>
        <p:txBody>
          <a:bodyPr wrap="square" lIns="0" tIns="0" rIns="0" bIns="0" rtlCol="0" anchor="t"/>
          <a:lstStyle/>
          <a:p>
            <a:pPr indent="0" marL="0">
              <a:lnSpc>
                <a:spcPct val="130000"/>
              </a:lnSpc>
              <a:buNone/>
            </a:pPr>
            <a:r>
              <a:rPr lang="en-US" sz="1500" dirty="0">
                <a:solidFill>
                  <a:srgbClr val="DDE5EC"/>
                </a:solidFill>
                <a:latin typeface="Meiryo" pitchFamily="34" charset="0"/>
                <a:ea typeface="Meiryo" pitchFamily="34" charset="-122"/>
                <a:cs typeface="Meiryo" pitchFamily="34" charset="-120"/>
              </a:rPr>
              <a:t>神戸ストークスの試合と来街者データで、</a:t>
            </a:r>
            <a:endParaRPr lang="en-US" sz="1500" dirty="0"/>
          </a:p>
          <a:p>
            <a:pPr indent="0" marL="0">
              <a:lnSpc>
                <a:spcPct val="130000"/>
              </a:lnSpc>
              <a:buNone/>
            </a:pPr>
            <a:r>
              <a:rPr lang="en-US" sz="1500" dirty="0">
                <a:solidFill>
                  <a:srgbClr val="DDE5EC"/>
                </a:solidFill>
                <a:latin typeface="Meiryo" pitchFamily="34" charset="0"/>
                <a:ea typeface="Meiryo" pitchFamily="34" charset="-122"/>
                <a:cs typeface="Meiryo" pitchFamily="34" charset="-120"/>
              </a:rPr>
              <a:t>三宮・元町の来街と回遊を増やすご提案</a:t>
            </a:r>
            <a:endParaRPr lang="en-US" sz="1500" dirty="0"/>
          </a:p>
        </p:txBody>
      </p:sp>
      <p:sp>
        <p:nvSpPr>
          <p:cNvPr id="6" name="Text 4"/>
          <p:cNvSpPr txBox="1"/>
          <p:nvPr/>
        </p:nvSpPr>
        <p:spPr>
          <a:xfrm>
            <a:off x="731520" y="4617720"/>
            <a:ext cx="2377440" cy="365760"/>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神戸ストークス 連携版</a:t>
            </a:r>
            <a:endParaRPr lang="en-US" sz="1200" dirty="0"/>
          </a:p>
        </p:txBody>
      </p:sp>
      <p:sp>
        <p:nvSpPr>
          <p:cNvPr id="7" name="Text 5"/>
          <p:cNvSpPr txBox="1"/>
          <p:nvPr/>
        </p:nvSpPr>
        <p:spPr>
          <a:xfrm>
            <a:off x="731520" y="5852160"/>
            <a:ext cx="6400800" cy="320040"/>
          </a:xfrm>
          <a:prstGeom prst="rect">
            <a:avLst/>
          </a:prstGeom>
          <a:noFill/>
          <a:ln/>
        </p:spPr>
        <p:txBody>
          <a:bodyPr wrap="square" lIns="0" tIns="0" rIns="0" bIns="0" rtlCol="0" anchor="t"/>
          <a:lstStyle/>
          <a:p>
            <a:pPr indent="0" marL="0">
              <a:buNone/>
            </a:pPr>
            <a:r>
              <a:rPr lang="en-US" sz="1300" dirty="0">
                <a:solidFill>
                  <a:srgbClr val="BAC8D4"/>
                </a:solidFill>
                <a:latin typeface="Meiryo" pitchFamily="34" charset="0"/>
                <a:ea typeface="Meiryo" pitchFamily="34" charset="-122"/>
                <a:cs typeface="Meiryo" pitchFamily="34" charset="-120"/>
              </a:rPr>
              <a:t>2026年10月　〔貴社名〕</a:t>
            </a:r>
            <a:endParaRPr lang="en-US" sz="1300" dirty="0"/>
          </a:p>
        </p:txBody>
      </p:sp>
      <p:sp>
        <p:nvSpPr>
          <p:cNvPr id="8" name="Shape 6"/>
          <p:cNvSpPr/>
          <p:nvPr/>
        </p:nvSpPr>
        <p:spPr>
          <a:xfrm>
            <a:off x="7498080" y="1600200"/>
            <a:ext cx="4023360" cy="1051560"/>
          </a:xfrm>
          <a:prstGeom prst="roundRect">
            <a:avLst>
              <a:gd name="adj" fmla="val 8696"/>
            </a:avLst>
          </a:prstGeom>
          <a:solidFill>
            <a:srgbClr val="22394F"/>
          </a:solidFill>
          <a:ln w="12700">
            <a:solidFill>
              <a:srgbClr val="2F4A63"/>
            </a:solidFill>
            <a:prstDash val="solid"/>
          </a:ln>
        </p:spPr>
      </p:sp>
      <p:sp>
        <p:nvSpPr>
          <p:cNvPr id="9" name="Shape 7"/>
          <p:cNvSpPr/>
          <p:nvPr/>
        </p:nvSpPr>
        <p:spPr>
          <a:xfrm>
            <a:off x="7726680" y="1783080"/>
            <a:ext cx="685800" cy="685800"/>
          </a:xfrm>
          <a:prstGeom prst="ellipse">
            <a:avLst/>
          </a:prstGeom>
          <a:solidFill>
            <a:srgbClr val="C9002B"/>
          </a:solidFill>
          <a:ln w="12700">
            <a:solidFill>
              <a:srgbClr val="C9002B"/>
            </a:solidFill>
            <a:prstDash val="solid"/>
          </a:ln>
        </p:spPr>
      </p:sp>
      <p:pic>
        <p:nvPicPr>
          <p:cNvPr id="10" name="Image 0" descr="preencoded.png">    </p:cNvPr>
          <p:cNvPicPr>
            <a:picLocks noChangeAspect="1"/>
          </p:cNvPicPr>
          <p:nvPr/>
        </p:nvPicPr>
        <p:blipFill>
          <a:blip r:embed="rId1"/>
          <a:stretch>
            <a:fillRect/>
          </a:stretch>
        </p:blipFill>
        <p:spPr>
          <a:xfrm>
            <a:off x="7898130" y="1954530"/>
            <a:ext cx="342900" cy="342900"/>
          </a:xfrm>
          <a:prstGeom prst="rect">
            <a:avLst/>
          </a:prstGeom>
        </p:spPr>
      </p:pic>
      <p:sp>
        <p:nvSpPr>
          <p:cNvPr id="11" name="Text 8"/>
          <p:cNvSpPr txBox="1"/>
          <p:nvPr/>
        </p:nvSpPr>
        <p:spPr>
          <a:xfrm>
            <a:off x="8595360" y="1783080"/>
            <a:ext cx="2834640" cy="365760"/>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試合の日の効果が見える</a:t>
            </a:r>
            <a:endParaRPr lang="en-US" sz="1600" dirty="0"/>
          </a:p>
        </p:txBody>
      </p:sp>
      <p:sp>
        <p:nvSpPr>
          <p:cNvPr id="12" name="Text 9"/>
          <p:cNvSpPr txBox="1"/>
          <p:nvPr/>
        </p:nvSpPr>
        <p:spPr>
          <a:xfrm>
            <a:off x="8595360" y="2167128"/>
            <a:ext cx="2834640" cy="292608"/>
          </a:xfrm>
          <a:prstGeom prst="rect">
            <a:avLst/>
          </a:prstGeom>
          <a:noFill/>
          <a:ln/>
        </p:spPr>
        <p:txBody>
          <a:bodyPr wrap="square" lIns="0" tIns="0" rIns="0" bIns="0" rtlCol="0" anchor="ctr"/>
          <a:lstStyle/>
          <a:p>
            <a:pPr indent="0" marL="0">
              <a:buNone/>
            </a:pPr>
            <a:r>
              <a:rPr lang="en-US" sz="1200" dirty="0">
                <a:solidFill>
                  <a:srgbClr val="BAC8D4"/>
                </a:solidFill>
                <a:latin typeface="Meiryo" pitchFamily="34" charset="0"/>
                <a:ea typeface="Meiryo" pitchFamily="34" charset="-122"/>
                <a:cs typeface="Meiryo" pitchFamily="34" charset="-120"/>
              </a:rPr>
              <a:t>来場者がまちのどこに流れたか</a:t>
            </a:r>
            <a:endParaRPr lang="en-US" sz="1200" dirty="0"/>
          </a:p>
        </p:txBody>
      </p:sp>
      <p:sp>
        <p:nvSpPr>
          <p:cNvPr id="13" name="Shape 10"/>
          <p:cNvSpPr/>
          <p:nvPr/>
        </p:nvSpPr>
        <p:spPr>
          <a:xfrm>
            <a:off x="7498080" y="2926080"/>
            <a:ext cx="4023360" cy="1051560"/>
          </a:xfrm>
          <a:prstGeom prst="roundRect">
            <a:avLst>
              <a:gd name="adj" fmla="val 8696"/>
            </a:avLst>
          </a:prstGeom>
          <a:solidFill>
            <a:srgbClr val="22394F"/>
          </a:solidFill>
          <a:ln w="12700">
            <a:solidFill>
              <a:srgbClr val="2F4A63"/>
            </a:solidFill>
            <a:prstDash val="solid"/>
          </a:ln>
        </p:spPr>
      </p:sp>
      <p:sp>
        <p:nvSpPr>
          <p:cNvPr id="14" name="Shape 11"/>
          <p:cNvSpPr/>
          <p:nvPr/>
        </p:nvSpPr>
        <p:spPr>
          <a:xfrm>
            <a:off x="7726680" y="3108960"/>
            <a:ext cx="685800" cy="685800"/>
          </a:xfrm>
          <a:prstGeom prst="ellipse">
            <a:avLst/>
          </a:prstGeom>
          <a:solidFill>
            <a:srgbClr val="C9002B"/>
          </a:solidFill>
          <a:ln w="12700">
            <a:solidFill>
              <a:srgbClr val="C9002B"/>
            </a:solidFill>
            <a:prstDash val="solid"/>
          </a:ln>
        </p:spPr>
      </p:sp>
      <p:pic>
        <p:nvPicPr>
          <p:cNvPr id="15" name="Image 1" descr="preencoded.png">    </p:cNvPr>
          <p:cNvPicPr>
            <a:picLocks noChangeAspect="1"/>
          </p:cNvPicPr>
          <p:nvPr/>
        </p:nvPicPr>
        <p:blipFill>
          <a:blip r:embed="rId2"/>
          <a:stretch>
            <a:fillRect/>
          </a:stretch>
        </p:blipFill>
        <p:spPr>
          <a:xfrm>
            <a:off x="7898130" y="3280410"/>
            <a:ext cx="342900" cy="342900"/>
          </a:xfrm>
          <a:prstGeom prst="rect">
            <a:avLst/>
          </a:prstGeom>
        </p:spPr>
      </p:pic>
      <p:sp>
        <p:nvSpPr>
          <p:cNvPr id="16" name="Text 12"/>
          <p:cNvSpPr txBox="1"/>
          <p:nvPr/>
        </p:nvSpPr>
        <p:spPr>
          <a:xfrm>
            <a:off x="8595360" y="3108960"/>
            <a:ext cx="2834640" cy="365760"/>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小さく始められる</a:t>
            </a:r>
            <a:endParaRPr lang="en-US" sz="1600" dirty="0"/>
          </a:p>
        </p:txBody>
      </p:sp>
      <p:sp>
        <p:nvSpPr>
          <p:cNvPr id="17" name="Text 13"/>
          <p:cNvSpPr txBox="1"/>
          <p:nvPr/>
        </p:nvSpPr>
        <p:spPr>
          <a:xfrm>
            <a:off x="8595360" y="3493008"/>
            <a:ext cx="2834640" cy="292608"/>
          </a:xfrm>
          <a:prstGeom prst="rect">
            <a:avLst/>
          </a:prstGeom>
          <a:noFill/>
          <a:ln/>
        </p:spPr>
        <p:txBody>
          <a:bodyPr wrap="square" lIns="0" tIns="0" rIns="0" bIns="0" rtlCol="0" anchor="ctr"/>
          <a:lstStyle/>
          <a:p>
            <a:pPr indent="0" marL="0">
              <a:buNone/>
            </a:pPr>
            <a:r>
              <a:rPr lang="en-US" sz="1200" dirty="0">
                <a:solidFill>
                  <a:srgbClr val="BAC8D4"/>
                </a:solidFill>
                <a:latin typeface="Meiryo" pitchFamily="34" charset="0"/>
                <a:ea typeface="Meiryo" pitchFamily="34" charset="-122"/>
                <a:cs typeface="Meiryo" pitchFamily="34" charset="-120"/>
              </a:rPr>
              <a:t>試合1回・調査1回から</a:t>
            </a:r>
            <a:endParaRPr lang="en-US" sz="1200" dirty="0"/>
          </a:p>
        </p:txBody>
      </p:sp>
      <p:sp>
        <p:nvSpPr>
          <p:cNvPr id="18" name="Shape 14"/>
          <p:cNvSpPr/>
          <p:nvPr/>
        </p:nvSpPr>
        <p:spPr>
          <a:xfrm>
            <a:off x="7498080" y="4251960"/>
            <a:ext cx="4023360" cy="1051560"/>
          </a:xfrm>
          <a:prstGeom prst="roundRect">
            <a:avLst>
              <a:gd name="adj" fmla="val 8696"/>
            </a:avLst>
          </a:prstGeom>
          <a:solidFill>
            <a:srgbClr val="22394F"/>
          </a:solidFill>
          <a:ln w="12700">
            <a:solidFill>
              <a:srgbClr val="2F4A63"/>
            </a:solidFill>
            <a:prstDash val="solid"/>
          </a:ln>
        </p:spPr>
      </p:sp>
      <p:sp>
        <p:nvSpPr>
          <p:cNvPr id="19" name="Shape 15"/>
          <p:cNvSpPr/>
          <p:nvPr/>
        </p:nvSpPr>
        <p:spPr>
          <a:xfrm>
            <a:off x="7726680" y="4434840"/>
            <a:ext cx="685800" cy="685800"/>
          </a:xfrm>
          <a:prstGeom prst="ellipse">
            <a:avLst/>
          </a:prstGeom>
          <a:solidFill>
            <a:srgbClr val="C9002B"/>
          </a:solidFill>
          <a:ln w="12700">
            <a:solidFill>
              <a:srgbClr val="C9002B"/>
            </a:solidFill>
            <a:prstDash val="solid"/>
          </a:ln>
        </p:spPr>
      </p:sp>
      <p:pic>
        <p:nvPicPr>
          <p:cNvPr id="20" name="Image 2" descr="preencoded.png">    </p:cNvPr>
          <p:cNvPicPr>
            <a:picLocks noChangeAspect="1"/>
          </p:cNvPicPr>
          <p:nvPr/>
        </p:nvPicPr>
        <p:blipFill>
          <a:blip r:embed="rId3"/>
          <a:stretch>
            <a:fillRect/>
          </a:stretch>
        </p:blipFill>
        <p:spPr>
          <a:xfrm>
            <a:off x="7898130" y="4606290"/>
            <a:ext cx="342900" cy="342900"/>
          </a:xfrm>
          <a:prstGeom prst="rect">
            <a:avLst/>
          </a:prstGeom>
        </p:spPr>
      </p:pic>
      <p:sp>
        <p:nvSpPr>
          <p:cNvPr id="21" name="Text 16"/>
          <p:cNvSpPr txBox="1"/>
          <p:nvPr/>
        </p:nvSpPr>
        <p:spPr>
          <a:xfrm>
            <a:off x="8595360" y="4434840"/>
            <a:ext cx="2834640" cy="365760"/>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説明に使える</a:t>
            </a:r>
            <a:endParaRPr lang="en-US" sz="1600" dirty="0"/>
          </a:p>
        </p:txBody>
      </p:sp>
      <p:sp>
        <p:nvSpPr>
          <p:cNvPr id="22" name="Text 17"/>
          <p:cNvSpPr txBox="1"/>
          <p:nvPr/>
        </p:nvSpPr>
        <p:spPr>
          <a:xfrm>
            <a:off x="8595360" y="4818888"/>
            <a:ext cx="2834640" cy="292608"/>
          </a:xfrm>
          <a:prstGeom prst="rect">
            <a:avLst/>
          </a:prstGeom>
          <a:noFill/>
          <a:ln/>
        </p:spPr>
        <p:txBody>
          <a:bodyPr wrap="square" lIns="0" tIns="0" rIns="0" bIns="0" rtlCol="0" anchor="ctr"/>
          <a:lstStyle/>
          <a:p>
            <a:pPr indent="0" marL="0">
              <a:buNone/>
            </a:pPr>
            <a:r>
              <a:rPr lang="en-US" sz="1200" dirty="0">
                <a:solidFill>
                  <a:srgbClr val="BAC8D4"/>
                </a:solidFill>
                <a:latin typeface="Meiryo" pitchFamily="34" charset="0"/>
                <a:ea typeface="Meiryo" pitchFamily="34" charset="-122"/>
                <a:cs typeface="Meiryo" pitchFamily="34" charset="-120"/>
              </a:rPr>
              <a:t>総会・議会・補助金申請に1枚資料</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はじめに</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ご提案の要旨</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まず1回、小さく試して、効果が見えたら広げる。お店や担当者の手間は増やしません</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02</a:t>
            </a:r>
            <a:endParaRPr lang="en-US" sz="1000" dirty="0"/>
          </a:p>
        </p:txBody>
      </p:sp>
      <p:sp>
        <p:nvSpPr>
          <p:cNvPr id="6" name="Shape 4"/>
          <p:cNvSpPr/>
          <p:nvPr/>
        </p:nvSpPr>
        <p:spPr>
          <a:xfrm>
            <a:off x="548640" y="1783080"/>
            <a:ext cx="11064240" cy="941832"/>
          </a:xfrm>
          <a:prstGeom prst="roundRect">
            <a:avLst>
              <a:gd name="adj" fmla="val 7767"/>
            </a:avLst>
          </a:prstGeom>
          <a:solidFill>
            <a:srgbClr val="13283C"/>
          </a:solidFill>
          <a:ln w="12700">
            <a:solidFill>
              <a:srgbClr val="13283C"/>
            </a:solidFill>
            <a:prstDash val="solid"/>
          </a:ln>
        </p:spPr>
      </p:sp>
      <p:sp>
        <p:nvSpPr>
          <p:cNvPr id="7" name="Shape 5"/>
          <p:cNvSpPr/>
          <p:nvPr/>
        </p:nvSpPr>
        <p:spPr>
          <a:xfrm>
            <a:off x="777240" y="1956816"/>
            <a:ext cx="594360" cy="594360"/>
          </a:xfrm>
          <a:prstGeom prst="ellipse">
            <a:avLst/>
          </a:prstGeom>
          <a:solidFill>
            <a:srgbClr val="C9002B"/>
          </a:solidFill>
          <a:ln w="12700">
            <a:solidFill>
              <a:srgbClr val="C9002B"/>
            </a:solidFill>
            <a:prstDash val="solid"/>
          </a:ln>
        </p:spPr>
      </p:sp>
      <p:pic>
        <p:nvPicPr>
          <p:cNvPr id="8" name="Image 0" descr="preencoded.png">    </p:cNvPr>
          <p:cNvPicPr>
            <a:picLocks noChangeAspect="1"/>
          </p:cNvPicPr>
          <p:nvPr/>
        </p:nvPicPr>
        <p:blipFill>
          <a:blip r:embed="rId1"/>
          <a:stretch>
            <a:fillRect/>
          </a:stretch>
        </p:blipFill>
        <p:spPr>
          <a:xfrm>
            <a:off x="925830" y="2105406"/>
            <a:ext cx="297180" cy="297180"/>
          </a:xfrm>
          <a:prstGeom prst="rect">
            <a:avLst/>
          </a:prstGeom>
        </p:spPr>
      </p:pic>
      <p:sp>
        <p:nvSpPr>
          <p:cNvPr id="9" name="Text 6"/>
          <p:cNvSpPr txBox="1"/>
          <p:nvPr/>
        </p:nvSpPr>
        <p:spPr>
          <a:xfrm>
            <a:off x="1600200" y="1783080"/>
            <a:ext cx="2926080" cy="941832"/>
          </a:xfrm>
          <a:prstGeom prst="rect">
            <a:avLst/>
          </a:prstGeom>
          <a:noFill/>
          <a:ln/>
        </p:spPr>
        <p:txBody>
          <a:bodyPr wrap="square" lIns="0" tIns="0" rIns="0" bIns="0" rtlCol="0" anchor="ctr"/>
          <a:lstStyle/>
          <a:p>
            <a:pPr indent="0" marL="0">
              <a:buNone/>
            </a:pPr>
            <a:r>
              <a:rPr lang="en-US" sz="1500" b="1" dirty="0">
                <a:solidFill>
                  <a:srgbClr val="FF8FA3"/>
                </a:solidFill>
                <a:latin typeface="Meiryo" pitchFamily="34" charset="0"/>
                <a:ea typeface="Meiryo" pitchFamily="34" charset="-122"/>
                <a:cs typeface="Meiryo" pitchFamily="34" charset="-120"/>
              </a:rPr>
              <a:t>ご判断いただきたいこと</a:t>
            </a:r>
            <a:endParaRPr lang="en-US" sz="1500" dirty="0"/>
          </a:p>
        </p:txBody>
      </p:sp>
      <p:sp>
        <p:nvSpPr>
          <p:cNvPr id="10" name="Text 7"/>
          <p:cNvSpPr txBox="1"/>
          <p:nvPr/>
        </p:nvSpPr>
        <p:spPr>
          <a:xfrm>
            <a:off x="4572000" y="1783080"/>
            <a:ext cx="6858000" cy="941832"/>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試合の日の来場者を、どの店・どの時間・どんな告知で迎えるか</a:t>
            </a:r>
            <a:endParaRPr lang="en-US" sz="1400" dirty="0"/>
          </a:p>
        </p:txBody>
      </p:sp>
      <p:sp>
        <p:nvSpPr>
          <p:cNvPr id="11" name="Shape 8"/>
          <p:cNvSpPr/>
          <p:nvPr/>
        </p:nvSpPr>
        <p:spPr>
          <a:xfrm>
            <a:off x="548640" y="2862072"/>
            <a:ext cx="11064240" cy="941832"/>
          </a:xfrm>
          <a:prstGeom prst="roundRect">
            <a:avLst>
              <a:gd name="adj" fmla="val 7767"/>
            </a:avLst>
          </a:prstGeom>
          <a:solidFill>
            <a:srgbClr val="F2F5F8"/>
          </a:solidFill>
          <a:ln w="12700">
            <a:solidFill>
              <a:srgbClr val="F2F5F8"/>
            </a:solidFill>
            <a:prstDash val="solid"/>
          </a:ln>
        </p:spPr>
      </p:sp>
      <p:sp>
        <p:nvSpPr>
          <p:cNvPr id="12" name="Shape 9"/>
          <p:cNvSpPr/>
          <p:nvPr/>
        </p:nvSpPr>
        <p:spPr>
          <a:xfrm>
            <a:off x="777240" y="3035808"/>
            <a:ext cx="594360" cy="594360"/>
          </a:xfrm>
          <a:prstGeom prst="ellipse">
            <a:avLst/>
          </a:prstGeom>
          <a:solidFill>
            <a:srgbClr val="C9002B"/>
          </a:solidFill>
          <a:ln w="12700">
            <a:solidFill>
              <a:srgbClr val="C9002B"/>
            </a:solidFill>
            <a:prstDash val="solid"/>
          </a:ln>
        </p:spPr>
      </p:sp>
      <p:pic>
        <p:nvPicPr>
          <p:cNvPr id="13" name="Image 1" descr="preencoded.png">    </p:cNvPr>
          <p:cNvPicPr>
            <a:picLocks noChangeAspect="1"/>
          </p:cNvPicPr>
          <p:nvPr/>
        </p:nvPicPr>
        <p:blipFill>
          <a:blip r:embed="rId2"/>
          <a:stretch>
            <a:fillRect/>
          </a:stretch>
        </p:blipFill>
        <p:spPr>
          <a:xfrm>
            <a:off x="925830" y="3184398"/>
            <a:ext cx="297180" cy="297180"/>
          </a:xfrm>
          <a:prstGeom prst="rect">
            <a:avLst/>
          </a:prstGeom>
        </p:spPr>
      </p:pic>
      <p:sp>
        <p:nvSpPr>
          <p:cNvPr id="14" name="Text 10"/>
          <p:cNvSpPr txBox="1"/>
          <p:nvPr/>
        </p:nvSpPr>
        <p:spPr>
          <a:xfrm>
            <a:off x="1600200" y="2862072"/>
            <a:ext cx="2926080" cy="941832"/>
          </a:xfrm>
          <a:prstGeom prst="rect">
            <a:avLst/>
          </a:prstGeom>
          <a:noFill/>
          <a:ln/>
        </p:spPr>
        <p:txBody>
          <a:bodyPr wrap="square" lIns="0" tIns="0" rIns="0" bIns="0" rtlCol="0" anchor="ctr"/>
          <a:lstStyle/>
          <a:p>
            <a:pPr indent="0" marL="0">
              <a:buNone/>
            </a:pPr>
            <a:r>
              <a:rPr lang="en-US" sz="1500" b="1" dirty="0">
                <a:solidFill>
                  <a:srgbClr val="13283C"/>
                </a:solidFill>
                <a:latin typeface="Meiryo" pitchFamily="34" charset="0"/>
                <a:ea typeface="Meiryo" pitchFamily="34" charset="-122"/>
                <a:cs typeface="Meiryo" pitchFamily="34" charset="-120"/>
              </a:rPr>
              <a:t>最初にやること</a:t>
            </a:r>
            <a:endParaRPr lang="en-US" sz="1500" dirty="0"/>
          </a:p>
        </p:txBody>
      </p:sp>
      <p:sp>
        <p:nvSpPr>
          <p:cNvPr id="15" name="Text 11"/>
          <p:cNvSpPr txBox="1"/>
          <p:nvPr/>
        </p:nvSpPr>
        <p:spPr>
          <a:xfrm>
            <a:off x="4572000" y="2862072"/>
            <a:ext cx="6858000" cy="941832"/>
          </a:xfrm>
          <a:prstGeom prst="rect">
            <a:avLst/>
          </a:prstGeom>
          <a:noFill/>
          <a:ln/>
        </p:spPr>
        <p:txBody>
          <a:bodyPr wrap="square" lIns="0" tIns="0" rIns="0" bIns="0" rtlCol="0" anchor="ctr"/>
          <a:lstStyle/>
          <a:p>
            <a:pPr indent="0" marL="0">
              <a:buNone/>
            </a:pPr>
            <a:r>
              <a:rPr lang="en-US" sz="1400" dirty="0">
                <a:solidFill>
                  <a:srgbClr val="1B2B3D"/>
                </a:solidFill>
                <a:latin typeface="Meiryo" pitchFamily="34" charset="0"/>
                <a:ea typeface="Meiryo" pitchFamily="34" charset="-122"/>
                <a:cs typeface="Meiryo" pitchFamily="34" charset="-120"/>
              </a:rPr>
              <a:t>1つのサービスで、1回のイベントを調べる（例：近所で来ていない人へのアンケート1回）</a:t>
            </a:r>
            <a:endParaRPr lang="en-US" sz="1400" dirty="0"/>
          </a:p>
        </p:txBody>
      </p:sp>
      <p:sp>
        <p:nvSpPr>
          <p:cNvPr id="16" name="Shape 12"/>
          <p:cNvSpPr/>
          <p:nvPr/>
        </p:nvSpPr>
        <p:spPr>
          <a:xfrm>
            <a:off x="548640" y="3941064"/>
            <a:ext cx="11064240" cy="941832"/>
          </a:xfrm>
          <a:prstGeom prst="roundRect">
            <a:avLst>
              <a:gd name="adj" fmla="val 7767"/>
            </a:avLst>
          </a:prstGeom>
          <a:solidFill>
            <a:srgbClr val="F2F5F8"/>
          </a:solidFill>
          <a:ln w="12700">
            <a:solidFill>
              <a:srgbClr val="F2F5F8"/>
            </a:solidFill>
            <a:prstDash val="solid"/>
          </a:ln>
        </p:spPr>
      </p:sp>
      <p:sp>
        <p:nvSpPr>
          <p:cNvPr id="17" name="Shape 13"/>
          <p:cNvSpPr/>
          <p:nvPr/>
        </p:nvSpPr>
        <p:spPr>
          <a:xfrm>
            <a:off x="777240" y="4114800"/>
            <a:ext cx="594360" cy="594360"/>
          </a:xfrm>
          <a:prstGeom prst="ellipse">
            <a:avLst/>
          </a:prstGeom>
          <a:solidFill>
            <a:srgbClr val="C9002B"/>
          </a:solidFill>
          <a:ln w="12700">
            <a:solidFill>
              <a:srgbClr val="C9002B"/>
            </a:solidFill>
            <a:prstDash val="solid"/>
          </a:ln>
        </p:spPr>
      </p:sp>
      <p:pic>
        <p:nvPicPr>
          <p:cNvPr id="18" name="Image 2" descr="preencoded.png">    </p:cNvPr>
          <p:cNvPicPr>
            <a:picLocks noChangeAspect="1"/>
          </p:cNvPicPr>
          <p:nvPr/>
        </p:nvPicPr>
        <p:blipFill>
          <a:blip r:embed="rId3"/>
          <a:stretch>
            <a:fillRect/>
          </a:stretch>
        </p:blipFill>
        <p:spPr>
          <a:xfrm>
            <a:off x="925830" y="4263390"/>
            <a:ext cx="297180" cy="297180"/>
          </a:xfrm>
          <a:prstGeom prst="rect">
            <a:avLst/>
          </a:prstGeom>
        </p:spPr>
      </p:pic>
      <p:sp>
        <p:nvSpPr>
          <p:cNvPr id="19" name="Text 14"/>
          <p:cNvSpPr txBox="1"/>
          <p:nvPr/>
        </p:nvSpPr>
        <p:spPr>
          <a:xfrm>
            <a:off x="1600200" y="3941064"/>
            <a:ext cx="2926080" cy="941832"/>
          </a:xfrm>
          <a:prstGeom prst="rect">
            <a:avLst/>
          </a:prstGeom>
          <a:noFill/>
          <a:ln/>
        </p:spPr>
        <p:txBody>
          <a:bodyPr wrap="square" lIns="0" tIns="0" rIns="0" bIns="0" rtlCol="0" anchor="ctr"/>
          <a:lstStyle/>
          <a:p>
            <a:pPr indent="0" marL="0">
              <a:buNone/>
            </a:pPr>
            <a:r>
              <a:rPr lang="en-US" sz="1500" b="1" dirty="0">
                <a:solidFill>
                  <a:srgbClr val="13283C"/>
                </a:solidFill>
                <a:latin typeface="Meiryo" pitchFamily="34" charset="0"/>
                <a:ea typeface="Meiryo" pitchFamily="34" charset="-122"/>
                <a:cs typeface="Meiryo" pitchFamily="34" charset="-120"/>
              </a:rPr>
              <a:t>お渡しするもの</a:t>
            </a:r>
            <a:endParaRPr lang="en-US" sz="1500" dirty="0"/>
          </a:p>
        </p:txBody>
      </p:sp>
      <p:sp>
        <p:nvSpPr>
          <p:cNvPr id="20" name="Text 15"/>
          <p:cNvSpPr txBox="1"/>
          <p:nvPr/>
        </p:nvSpPr>
        <p:spPr>
          <a:xfrm>
            <a:off x="4572000" y="3941064"/>
            <a:ext cx="6858000" cy="941832"/>
          </a:xfrm>
          <a:prstGeom prst="rect">
            <a:avLst/>
          </a:prstGeom>
          <a:noFill/>
          <a:ln/>
        </p:spPr>
        <p:txBody>
          <a:bodyPr wrap="square" lIns="0" tIns="0" rIns="0" bIns="0" rtlCol="0" anchor="ctr"/>
          <a:lstStyle/>
          <a:p>
            <a:pPr indent="0" marL="0">
              <a:buNone/>
            </a:pPr>
            <a:r>
              <a:rPr lang="en-US" sz="1400" dirty="0">
                <a:solidFill>
                  <a:srgbClr val="1B2B3D"/>
                </a:solidFill>
                <a:latin typeface="Meiryo" pitchFamily="34" charset="0"/>
                <a:ea typeface="Meiryo" pitchFamily="34" charset="-122"/>
                <a:cs typeface="Meiryo" pitchFamily="34" charset="-120"/>
              </a:rPr>
              <a:t>報告書と、総会・議会・補助金申請にそのまま使える「1枚まとめ」</a:t>
            </a:r>
            <a:endParaRPr lang="en-US" sz="1400" dirty="0"/>
          </a:p>
        </p:txBody>
      </p:sp>
      <p:sp>
        <p:nvSpPr>
          <p:cNvPr id="21" name="Shape 16"/>
          <p:cNvSpPr/>
          <p:nvPr/>
        </p:nvSpPr>
        <p:spPr>
          <a:xfrm>
            <a:off x="548640" y="5020056"/>
            <a:ext cx="11064240" cy="941832"/>
          </a:xfrm>
          <a:prstGeom prst="roundRect">
            <a:avLst>
              <a:gd name="adj" fmla="val 7767"/>
            </a:avLst>
          </a:prstGeom>
          <a:solidFill>
            <a:srgbClr val="F2F5F8"/>
          </a:solidFill>
          <a:ln w="12700">
            <a:solidFill>
              <a:srgbClr val="F2F5F8"/>
            </a:solidFill>
            <a:prstDash val="solid"/>
          </a:ln>
        </p:spPr>
      </p:sp>
      <p:sp>
        <p:nvSpPr>
          <p:cNvPr id="22" name="Shape 17"/>
          <p:cNvSpPr/>
          <p:nvPr/>
        </p:nvSpPr>
        <p:spPr>
          <a:xfrm>
            <a:off x="777240" y="5193792"/>
            <a:ext cx="594360" cy="594360"/>
          </a:xfrm>
          <a:prstGeom prst="ellipse">
            <a:avLst/>
          </a:prstGeom>
          <a:solidFill>
            <a:srgbClr val="C9002B"/>
          </a:solidFill>
          <a:ln w="12700">
            <a:solidFill>
              <a:srgbClr val="C9002B"/>
            </a:solidFill>
            <a:prstDash val="solid"/>
          </a:ln>
        </p:spPr>
      </p:sp>
      <p:pic>
        <p:nvPicPr>
          <p:cNvPr id="23" name="Image 3" descr="preencoded.png">    </p:cNvPr>
          <p:cNvPicPr>
            <a:picLocks noChangeAspect="1"/>
          </p:cNvPicPr>
          <p:nvPr/>
        </p:nvPicPr>
        <p:blipFill>
          <a:blip r:embed="rId4"/>
          <a:stretch>
            <a:fillRect/>
          </a:stretch>
        </p:blipFill>
        <p:spPr>
          <a:xfrm>
            <a:off x="925830" y="5342382"/>
            <a:ext cx="297180" cy="297180"/>
          </a:xfrm>
          <a:prstGeom prst="rect">
            <a:avLst/>
          </a:prstGeom>
        </p:spPr>
      </p:pic>
      <p:sp>
        <p:nvSpPr>
          <p:cNvPr id="24" name="Text 18"/>
          <p:cNvSpPr txBox="1"/>
          <p:nvPr/>
        </p:nvSpPr>
        <p:spPr>
          <a:xfrm>
            <a:off x="1600200" y="5020056"/>
            <a:ext cx="2926080" cy="941832"/>
          </a:xfrm>
          <a:prstGeom prst="rect">
            <a:avLst/>
          </a:prstGeom>
          <a:noFill/>
          <a:ln/>
        </p:spPr>
        <p:txBody>
          <a:bodyPr wrap="square" lIns="0" tIns="0" rIns="0" bIns="0" rtlCol="0" anchor="ctr"/>
          <a:lstStyle/>
          <a:p>
            <a:pPr indent="0" marL="0">
              <a:buNone/>
            </a:pPr>
            <a:r>
              <a:rPr lang="en-US" sz="1500" b="1" dirty="0">
                <a:solidFill>
                  <a:srgbClr val="13283C"/>
                </a:solidFill>
                <a:latin typeface="Meiryo" pitchFamily="34" charset="0"/>
                <a:ea typeface="Meiryo" pitchFamily="34" charset="-122"/>
                <a:cs typeface="Meiryo" pitchFamily="34" charset="-120"/>
              </a:rPr>
              <a:t>費用の目安</a:t>
            </a:r>
            <a:endParaRPr lang="en-US" sz="1500" dirty="0"/>
          </a:p>
        </p:txBody>
      </p:sp>
      <p:sp>
        <p:nvSpPr>
          <p:cNvPr id="25" name="Text 19"/>
          <p:cNvSpPr txBox="1"/>
          <p:nvPr/>
        </p:nvSpPr>
        <p:spPr>
          <a:xfrm>
            <a:off x="4572000" y="5020056"/>
            <a:ext cx="6858000" cy="941832"/>
          </a:xfrm>
          <a:prstGeom prst="rect">
            <a:avLst/>
          </a:prstGeom>
          <a:noFill/>
          <a:ln/>
        </p:spPr>
        <p:txBody>
          <a:bodyPr wrap="square" lIns="0" tIns="0" rIns="0" bIns="0" rtlCol="0" anchor="ctr"/>
          <a:lstStyle/>
          <a:p>
            <a:pPr indent="0" marL="0">
              <a:buNone/>
            </a:pPr>
            <a:r>
              <a:rPr lang="en-US" sz="1400" dirty="0">
                <a:solidFill>
                  <a:srgbClr val="1B2B3D"/>
                </a:solidFill>
                <a:latin typeface="Meiryo" pitchFamily="34" charset="0"/>
                <a:ea typeface="Meiryo" pitchFamily="34" charset="-122"/>
                <a:cs typeface="Meiryo" pitchFamily="34" charset="-120"/>
              </a:rPr>
              <a:t>調査1回なら最低27.5万円（税込）から。補助金の活用もご相談ください</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01　お悩み</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こんなお悩みはありませんか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商店街やまちの担当の方から、よく伺うお悩みです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03</a:t>
            </a:r>
            <a:endParaRPr lang="en-US" sz="1000" dirty="0"/>
          </a:p>
        </p:txBody>
      </p:sp>
      <p:sp>
        <p:nvSpPr>
          <p:cNvPr id="6" name="Shape 4"/>
          <p:cNvSpPr/>
          <p:nvPr/>
        </p:nvSpPr>
        <p:spPr>
          <a:xfrm>
            <a:off x="548640" y="1783080"/>
            <a:ext cx="2651760" cy="2148840"/>
          </a:xfrm>
          <a:prstGeom prst="roundRect">
            <a:avLst>
              <a:gd name="adj" fmla="val 3404"/>
            </a:avLst>
          </a:prstGeom>
          <a:solidFill>
            <a:srgbClr val="F2F5F8"/>
          </a:solidFill>
          <a:ln w="12700">
            <a:solidFill>
              <a:srgbClr val="F2F5F8"/>
            </a:solidFill>
            <a:prstDash val="solid"/>
          </a:ln>
        </p:spPr>
      </p:sp>
      <p:sp>
        <p:nvSpPr>
          <p:cNvPr id="7" name="Shape 5"/>
          <p:cNvSpPr/>
          <p:nvPr/>
        </p:nvSpPr>
        <p:spPr>
          <a:xfrm>
            <a:off x="777240" y="1965960"/>
            <a:ext cx="594360" cy="594360"/>
          </a:xfrm>
          <a:prstGeom prst="ellipse">
            <a:avLst/>
          </a:prstGeom>
          <a:solidFill>
            <a:srgbClr val="13283C"/>
          </a:solidFill>
          <a:ln w="12700">
            <a:solidFill>
              <a:srgbClr val="13283C"/>
            </a:solidFill>
            <a:prstDash val="solid"/>
          </a:ln>
        </p:spPr>
      </p:sp>
      <p:pic>
        <p:nvPicPr>
          <p:cNvPr id="8" name="Image 0" descr="preencoded.png">    </p:cNvPr>
          <p:cNvPicPr>
            <a:picLocks noChangeAspect="1"/>
          </p:cNvPicPr>
          <p:nvPr/>
        </p:nvPicPr>
        <p:blipFill>
          <a:blip r:embed="rId1"/>
          <a:stretch>
            <a:fillRect/>
          </a:stretch>
        </p:blipFill>
        <p:spPr>
          <a:xfrm>
            <a:off x="925830" y="2114550"/>
            <a:ext cx="297180" cy="297180"/>
          </a:xfrm>
          <a:prstGeom prst="rect">
            <a:avLst/>
          </a:prstGeom>
        </p:spPr>
      </p:pic>
      <p:sp>
        <p:nvSpPr>
          <p:cNvPr id="9" name="Text 6"/>
          <p:cNvSpPr txBox="1"/>
          <p:nvPr/>
        </p:nvSpPr>
        <p:spPr>
          <a:xfrm>
            <a:off x="777240" y="2697480"/>
            <a:ext cx="2331720" cy="411480"/>
          </a:xfrm>
          <a:prstGeom prst="rect">
            <a:avLst/>
          </a:prstGeom>
          <a:noFill/>
          <a:ln/>
        </p:spPr>
        <p:txBody>
          <a:bodyPr wrap="square" lIns="0" tIns="0" rIns="0" bIns="0" rtlCol="0" anchor="t"/>
          <a:lstStyle/>
          <a:p>
            <a:pPr indent="0" marL="0">
              <a:buNone/>
            </a:pPr>
            <a:r>
              <a:rPr lang="en-US" sz="1350" b="1" dirty="0">
                <a:solidFill>
                  <a:srgbClr val="13283C"/>
                </a:solidFill>
                <a:latin typeface="Meiryo" pitchFamily="34" charset="0"/>
                <a:ea typeface="Meiryo" pitchFamily="34" charset="-122"/>
                <a:cs typeface="Meiryo" pitchFamily="34" charset="-120"/>
              </a:rPr>
              <a:t>人が減った気がする</a:t>
            </a:r>
            <a:endParaRPr lang="en-US" sz="1350" dirty="0"/>
          </a:p>
        </p:txBody>
      </p:sp>
      <p:sp>
        <p:nvSpPr>
          <p:cNvPr id="10" name="Text 7"/>
          <p:cNvSpPr txBox="1"/>
          <p:nvPr/>
        </p:nvSpPr>
        <p:spPr>
          <a:xfrm>
            <a:off x="777240" y="3154680"/>
            <a:ext cx="2286000" cy="685800"/>
          </a:xfrm>
          <a:prstGeom prst="rect">
            <a:avLst/>
          </a:prstGeom>
          <a:noFill/>
          <a:ln/>
        </p:spPr>
        <p:txBody>
          <a:bodyPr wrap="square" lIns="0" tIns="0" rIns="0" bIns="0" rtlCol="0" anchor="t"/>
          <a:lstStyle/>
          <a:p>
            <a:pPr indent="0" marL="0">
              <a:buNone/>
            </a:pPr>
            <a:r>
              <a:rPr lang="en-US" sz="1200" dirty="0">
                <a:solidFill>
                  <a:srgbClr val="5A6675"/>
                </a:solidFill>
                <a:latin typeface="Meiryo" pitchFamily="34" charset="0"/>
                <a:ea typeface="Meiryo" pitchFamily="34" charset="-122"/>
                <a:cs typeface="Meiryo" pitchFamily="34" charset="-120"/>
              </a:rPr>
              <a:t>でも、どれくらい減ったのか数字がない</a:t>
            </a:r>
            <a:endParaRPr lang="en-US" sz="1200" dirty="0"/>
          </a:p>
        </p:txBody>
      </p:sp>
      <p:sp>
        <p:nvSpPr>
          <p:cNvPr id="11" name="Shape 8"/>
          <p:cNvSpPr/>
          <p:nvPr/>
        </p:nvSpPr>
        <p:spPr>
          <a:xfrm>
            <a:off x="3355848" y="1783080"/>
            <a:ext cx="2651760" cy="2148840"/>
          </a:xfrm>
          <a:prstGeom prst="roundRect">
            <a:avLst>
              <a:gd name="adj" fmla="val 3404"/>
            </a:avLst>
          </a:prstGeom>
          <a:solidFill>
            <a:srgbClr val="F2F5F8"/>
          </a:solidFill>
          <a:ln w="12700">
            <a:solidFill>
              <a:srgbClr val="F2F5F8"/>
            </a:solidFill>
            <a:prstDash val="solid"/>
          </a:ln>
        </p:spPr>
      </p:sp>
      <p:sp>
        <p:nvSpPr>
          <p:cNvPr id="12" name="Shape 9"/>
          <p:cNvSpPr/>
          <p:nvPr/>
        </p:nvSpPr>
        <p:spPr>
          <a:xfrm>
            <a:off x="3584448" y="1965960"/>
            <a:ext cx="594360" cy="594360"/>
          </a:xfrm>
          <a:prstGeom prst="ellipse">
            <a:avLst/>
          </a:prstGeom>
          <a:solidFill>
            <a:srgbClr val="13283C"/>
          </a:solidFill>
          <a:ln w="12700">
            <a:solidFill>
              <a:srgbClr val="13283C"/>
            </a:solidFill>
            <a:prstDash val="solid"/>
          </a:ln>
        </p:spPr>
      </p:sp>
      <p:pic>
        <p:nvPicPr>
          <p:cNvPr id="13" name="Image 1" descr="preencoded.png">    </p:cNvPr>
          <p:cNvPicPr>
            <a:picLocks noChangeAspect="1"/>
          </p:cNvPicPr>
          <p:nvPr/>
        </p:nvPicPr>
        <p:blipFill>
          <a:blip r:embed="rId2"/>
          <a:stretch>
            <a:fillRect/>
          </a:stretch>
        </p:blipFill>
        <p:spPr>
          <a:xfrm>
            <a:off x="3733038" y="2114550"/>
            <a:ext cx="297180" cy="297180"/>
          </a:xfrm>
          <a:prstGeom prst="rect">
            <a:avLst/>
          </a:prstGeom>
        </p:spPr>
      </p:pic>
      <p:sp>
        <p:nvSpPr>
          <p:cNvPr id="14" name="Text 10"/>
          <p:cNvSpPr txBox="1"/>
          <p:nvPr/>
        </p:nvSpPr>
        <p:spPr>
          <a:xfrm>
            <a:off x="3584448" y="2697480"/>
            <a:ext cx="2331720" cy="411480"/>
          </a:xfrm>
          <a:prstGeom prst="rect">
            <a:avLst/>
          </a:prstGeom>
          <a:noFill/>
          <a:ln/>
        </p:spPr>
        <p:txBody>
          <a:bodyPr wrap="square" lIns="0" tIns="0" rIns="0" bIns="0" rtlCol="0" anchor="t"/>
          <a:lstStyle/>
          <a:p>
            <a:pPr indent="0" marL="0">
              <a:buNone/>
            </a:pPr>
            <a:r>
              <a:rPr lang="en-US" sz="1350" b="1" dirty="0">
                <a:solidFill>
                  <a:srgbClr val="13283C"/>
                </a:solidFill>
                <a:latin typeface="Meiryo" pitchFamily="34" charset="0"/>
                <a:ea typeface="Meiryo" pitchFamily="34" charset="-122"/>
                <a:cs typeface="Meiryo" pitchFamily="34" charset="-120"/>
              </a:rPr>
              <a:t>イベントの効果が分からない</a:t>
            </a:r>
            <a:endParaRPr lang="en-US" sz="1350" dirty="0"/>
          </a:p>
        </p:txBody>
      </p:sp>
      <p:sp>
        <p:nvSpPr>
          <p:cNvPr id="15" name="Text 11"/>
          <p:cNvSpPr txBox="1"/>
          <p:nvPr/>
        </p:nvSpPr>
        <p:spPr>
          <a:xfrm>
            <a:off x="3584448" y="3154680"/>
            <a:ext cx="2286000" cy="685800"/>
          </a:xfrm>
          <a:prstGeom prst="rect">
            <a:avLst/>
          </a:prstGeom>
          <a:noFill/>
          <a:ln/>
        </p:spPr>
        <p:txBody>
          <a:bodyPr wrap="square" lIns="0" tIns="0" rIns="0" bIns="0" rtlCol="0" anchor="t"/>
          <a:lstStyle/>
          <a:p>
            <a:pPr indent="0" marL="0">
              <a:buNone/>
            </a:pPr>
            <a:r>
              <a:rPr lang="en-US" sz="1200" dirty="0">
                <a:solidFill>
                  <a:srgbClr val="5A6675"/>
                </a:solidFill>
                <a:latin typeface="Meiryo" pitchFamily="34" charset="0"/>
                <a:ea typeface="Meiryo" pitchFamily="34" charset="-122"/>
                <a:cs typeface="Meiryo" pitchFamily="34" charset="-120"/>
              </a:rPr>
              <a:t>にぎわったが、新しいお客様につながったか不明</a:t>
            </a:r>
            <a:endParaRPr lang="en-US" sz="1200" dirty="0"/>
          </a:p>
        </p:txBody>
      </p:sp>
      <p:sp>
        <p:nvSpPr>
          <p:cNvPr id="16" name="Shape 12"/>
          <p:cNvSpPr/>
          <p:nvPr/>
        </p:nvSpPr>
        <p:spPr>
          <a:xfrm>
            <a:off x="6163056" y="1783080"/>
            <a:ext cx="2651760" cy="2148840"/>
          </a:xfrm>
          <a:prstGeom prst="roundRect">
            <a:avLst>
              <a:gd name="adj" fmla="val 3404"/>
            </a:avLst>
          </a:prstGeom>
          <a:solidFill>
            <a:srgbClr val="F2F5F8"/>
          </a:solidFill>
          <a:ln w="12700">
            <a:solidFill>
              <a:srgbClr val="F2F5F8"/>
            </a:solidFill>
            <a:prstDash val="solid"/>
          </a:ln>
        </p:spPr>
      </p:sp>
      <p:sp>
        <p:nvSpPr>
          <p:cNvPr id="17" name="Shape 13"/>
          <p:cNvSpPr/>
          <p:nvPr/>
        </p:nvSpPr>
        <p:spPr>
          <a:xfrm>
            <a:off x="6391656" y="1965960"/>
            <a:ext cx="594360" cy="594360"/>
          </a:xfrm>
          <a:prstGeom prst="ellipse">
            <a:avLst/>
          </a:prstGeom>
          <a:solidFill>
            <a:srgbClr val="13283C"/>
          </a:solidFill>
          <a:ln w="12700">
            <a:solidFill>
              <a:srgbClr val="13283C"/>
            </a:solidFill>
            <a:prstDash val="solid"/>
          </a:ln>
        </p:spPr>
      </p:sp>
      <p:pic>
        <p:nvPicPr>
          <p:cNvPr id="18" name="Image 2" descr="preencoded.png">    </p:cNvPr>
          <p:cNvPicPr>
            <a:picLocks noChangeAspect="1"/>
          </p:cNvPicPr>
          <p:nvPr/>
        </p:nvPicPr>
        <p:blipFill>
          <a:blip r:embed="rId3"/>
          <a:stretch>
            <a:fillRect/>
          </a:stretch>
        </p:blipFill>
        <p:spPr>
          <a:xfrm>
            <a:off x="6540246" y="2114550"/>
            <a:ext cx="297180" cy="297180"/>
          </a:xfrm>
          <a:prstGeom prst="rect">
            <a:avLst/>
          </a:prstGeom>
        </p:spPr>
      </p:pic>
      <p:sp>
        <p:nvSpPr>
          <p:cNvPr id="19" name="Text 14"/>
          <p:cNvSpPr txBox="1"/>
          <p:nvPr/>
        </p:nvSpPr>
        <p:spPr>
          <a:xfrm>
            <a:off x="6391656" y="2697480"/>
            <a:ext cx="2331720" cy="411480"/>
          </a:xfrm>
          <a:prstGeom prst="rect">
            <a:avLst/>
          </a:prstGeom>
          <a:noFill/>
          <a:ln/>
        </p:spPr>
        <p:txBody>
          <a:bodyPr wrap="square" lIns="0" tIns="0" rIns="0" bIns="0" rtlCol="0" anchor="t"/>
          <a:lstStyle/>
          <a:p>
            <a:pPr indent="0" marL="0">
              <a:buNone/>
            </a:pPr>
            <a:r>
              <a:rPr lang="en-US" sz="1350" b="1" dirty="0">
                <a:solidFill>
                  <a:srgbClr val="13283C"/>
                </a:solidFill>
                <a:latin typeface="Meiryo" pitchFamily="34" charset="0"/>
                <a:ea typeface="Meiryo" pitchFamily="34" charset="-122"/>
                <a:cs typeface="Meiryo" pitchFamily="34" charset="-120"/>
              </a:rPr>
              <a:t>若い人・近所の人が来ない</a:t>
            </a:r>
            <a:endParaRPr lang="en-US" sz="1350" dirty="0"/>
          </a:p>
        </p:txBody>
      </p:sp>
      <p:sp>
        <p:nvSpPr>
          <p:cNvPr id="20" name="Text 15"/>
          <p:cNvSpPr txBox="1"/>
          <p:nvPr/>
        </p:nvSpPr>
        <p:spPr>
          <a:xfrm>
            <a:off x="6391656" y="3154680"/>
            <a:ext cx="2286000" cy="685800"/>
          </a:xfrm>
          <a:prstGeom prst="rect">
            <a:avLst/>
          </a:prstGeom>
          <a:noFill/>
          <a:ln/>
        </p:spPr>
        <p:txBody>
          <a:bodyPr wrap="square" lIns="0" tIns="0" rIns="0" bIns="0" rtlCol="0" anchor="t"/>
          <a:lstStyle/>
          <a:p>
            <a:pPr indent="0" marL="0">
              <a:buNone/>
            </a:pPr>
            <a:r>
              <a:rPr lang="en-US" sz="1200" dirty="0">
                <a:solidFill>
                  <a:srgbClr val="5A6675"/>
                </a:solidFill>
                <a:latin typeface="Meiryo" pitchFamily="34" charset="0"/>
                <a:ea typeface="Meiryo" pitchFamily="34" charset="-122"/>
                <a:cs typeface="Meiryo" pitchFamily="34" charset="-120"/>
              </a:rPr>
              <a:t>なぜ来ないのか、理由が分からない</a:t>
            </a:r>
            <a:endParaRPr lang="en-US" sz="1200" dirty="0"/>
          </a:p>
        </p:txBody>
      </p:sp>
      <p:sp>
        <p:nvSpPr>
          <p:cNvPr id="21" name="Shape 16"/>
          <p:cNvSpPr/>
          <p:nvPr/>
        </p:nvSpPr>
        <p:spPr>
          <a:xfrm>
            <a:off x="8970264" y="1783080"/>
            <a:ext cx="2651760" cy="2148840"/>
          </a:xfrm>
          <a:prstGeom prst="roundRect">
            <a:avLst>
              <a:gd name="adj" fmla="val 3404"/>
            </a:avLst>
          </a:prstGeom>
          <a:solidFill>
            <a:srgbClr val="F2F5F8"/>
          </a:solidFill>
          <a:ln w="12700">
            <a:solidFill>
              <a:srgbClr val="F2F5F8"/>
            </a:solidFill>
            <a:prstDash val="solid"/>
          </a:ln>
        </p:spPr>
      </p:sp>
      <p:sp>
        <p:nvSpPr>
          <p:cNvPr id="22" name="Shape 17"/>
          <p:cNvSpPr/>
          <p:nvPr/>
        </p:nvSpPr>
        <p:spPr>
          <a:xfrm>
            <a:off x="9198864" y="1965960"/>
            <a:ext cx="594360" cy="594360"/>
          </a:xfrm>
          <a:prstGeom prst="ellipse">
            <a:avLst/>
          </a:prstGeom>
          <a:solidFill>
            <a:srgbClr val="13283C"/>
          </a:solidFill>
          <a:ln w="12700">
            <a:solidFill>
              <a:srgbClr val="13283C"/>
            </a:solidFill>
            <a:prstDash val="solid"/>
          </a:ln>
        </p:spPr>
      </p:sp>
      <p:pic>
        <p:nvPicPr>
          <p:cNvPr id="23" name="Image 3" descr="preencoded.png">    </p:cNvPr>
          <p:cNvPicPr>
            <a:picLocks noChangeAspect="1"/>
          </p:cNvPicPr>
          <p:nvPr/>
        </p:nvPicPr>
        <p:blipFill>
          <a:blip r:embed="rId4"/>
          <a:stretch>
            <a:fillRect/>
          </a:stretch>
        </p:blipFill>
        <p:spPr>
          <a:xfrm>
            <a:off x="9347454" y="2114550"/>
            <a:ext cx="297180" cy="297180"/>
          </a:xfrm>
          <a:prstGeom prst="rect">
            <a:avLst/>
          </a:prstGeom>
        </p:spPr>
      </p:pic>
      <p:sp>
        <p:nvSpPr>
          <p:cNvPr id="24" name="Text 18"/>
          <p:cNvSpPr txBox="1"/>
          <p:nvPr/>
        </p:nvSpPr>
        <p:spPr>
          <a:xfrm>
            <a:off x="9198864" y="2697480"/>
            <a:ext cx="2331720" cy="411480"/>
          </a:xfrm>
          <a:prstGeom prst="rect">
            <a:avLst/>
          </a:prstGeom>
          <a:noFill/>
          <a:ln/>
        </p:spPr>
        <p:txBody>
          <a:bodyPr wrap="square" lIns="0" tIns="0" rIns="0" bIns="0" rtlCol="0" anchor="t"/>
          <a:lstStyle/>
          <a:p>
            <a:pPr indent="0" marL="0">
              <a:buNone/>
            </a:pPr>
            <a:r>
              <a:rPr lang="en-US" sz="1350" b="1" dirty="0">
                <a:solidFill>
                  <a:srgbClr val="13283C"/>
                </a:solidFill>
                <a:latin typeface="Meiryo" pitchFamily="34" charset="0"/>
                <a:ea typeface="Meiryo" pitchFamily="34" charset="-122"/>
                <a:cs typeface="Meiryo" pitchFamily="34" charset="-120"/>
              </a:rPr>
              <a:t>説明の材料がない</a:t>
            </a:r>
            <a:endParaRPr lang="en-US" sz="1350" dirty="0"/>
          </a:p>
        </p:txBody>
      </p:sp>
      <p:sp>
        <p:nvSpPr>
          <p:cNvPr id="25" name="Text 19"/>
          <p:cNvSpPr txBox="1"/>
          <p:nvPr/>
        </p:nvSpPr>
        <p:spPr>
          <a:xfrm>
            <a:off x="9198864" y="3154680"/>
            <a:ext cx="2286000" cy="685800"/>
          </a:xfrm>
          <a:prstGeom prst="rect">
            <a:avLst/>
          </a:prstGeom>
          <a:noFill/>
          <a:ln/>
        </p:spPr>
        <p:txBody>
          <a:bodyPr wrap="square" lIns="0" tIns="0" rIns="0" bIns="0" rtlCol="0" anchor="t"/>
          <a:lstStyle/>
          <a:p>
            <a:pPr indent="0" marL="0">
              <a:buNone/>
            </a:pPr>
            <a:r>
              <a:rPr lang="en-US" sz="1200" dirty="0">
                <a:solidFill>
                  <a:srgbClr val="5A6675"/>
                </a:solidFill>
                <a:latin typeface="Meiryo" pitchFamily="34" charset="0"/>
                <a:ea typeface="Meiryo" pitchFamily="34" charset="-122"/>
                <a:cs typeface="Meiryo" pitchFamily="34" charset="-120"/>
              </a:rPr>
              <a:t>総会・議会・補助金の申請で効果を数字で示せない</a:t>
            </a:r>
            <a:endParaRPr lang="en-US" sz="1200" dirty="0"/>
          </a:p>
        </p:txBody>
      </p:sp>
      <p:sp>
        <p:nvSpPr>
          <p:cNvPr id="26" name="Text 20"/>
          <p:cNvSpPr txBox="1"/>
          <p:nvPr/>
        </p:nvSpPr>
        <p:spPr>
          <a:xfrm>
            <a:off x="548640" y="4160520"/>
            <a:ext cx="4572000" cy="292608"/>
          </a:xfrm>
          <a:prstGeom prst="rect">
            <a:avLst/>
          </a:prstGeom>
          <a:noFill/>
          <a:ln/>
        </p:spPr>
        <p:txBody>
          <a:bodyPr wrap="square" lIns="0" tIns="0" rIns="0" bIns="0" rtlCol="0" anchor="t"/>
          <a:lstStyle/>
          <a:p>
            <a:pPr indent="0" marL="0">
              <a:buNone/>
            </a:pPr>
            <a:r>
              <a:rPr lang="en-US" sz="1300" b="1" dirty="0">
                <a:solidFill>
                  <a:srgbClr val="C9002B"/>
                </a:solidFill>
                <a:latin typeface="Meiryo" pitchFamily="34" charset="0"/>
                <a:ea typeface="Meiryo" pitchFamily="34" charset="-122"/>
                <a:cs typeface="Meiryo" pitchFamily="34" charset="-120"/>
              </a:rPr>
              <a:t>たとえば、こんな場面で</a:t>
            </a:r>
            <a:endParaRPr lang="en-US" sz="1300" dirty="0"/>
          </a:p>
        </p:txBody>
      </p:sp>
      <p:sp>
        <p:nvSpPr>
          <p:cNvPr id="27" name="Shape 21"/>
          <p:cNvSpPr/>
          <p:nvPr/>
        </p:nvSpPr>
        <p:spPr>
          <a:xfrm>
            <a:off x="548640" y="4526280"/>
            <a:ext cx="3566160" cy="1600200"/>
          </a:xfrm>
          <a:prstGeom prst="roundRect">
            <a:avLst>
              <a:gd name="adj" fmla="val 4571"/>
            </a:avLst>
          </a:prstGeom>
          <a:solidFill>
            <a:srgbClr val="FBEAEE"/>
          </a:solidFill>
          <a:ln w="12700">
            <a:solidFill>
              <a:srgbClr val="FBEAEE"/>
            </a:solidFill>
            <a:prstDash val="solid"/>
          </a:ln>
        </p:spPr>
      </p:sp>
      <p:sp>
        <p:nvSpPr>
          <p:cNvPr id="28" name="Shape 22"/>
          <p:cNvSpPr/>
          <p:nvPr/>
        </p:nvSpPr>
        <p:spPr>
          <a:xfrm>
            <a:off x="731520" y="4681728"/>
            <a:ext cx="502920" cy="502920"/>
          </a:xfrm>
          <a:prstGeom prst="ellipse">
            <a:avLst/>
          </a:prstGeom>
          <a:solidFill>
            <a:srgbClr val="C9002B"/>
          </a:solidFill>
          <a:ln w="12700">
            <a:solidFill>
              <a:srgbClr val="C9002B"/>
            </a:solidFill>
            <a:prstDash val="solid"/>
          </a:ln>
        </p:spPr>
      </p:sp>
      <p:pic>
        <p:nvPicPr>
          <p:cNvPr id="29" name="Image 4" descr="preencoded.png">    </p:cNvPr>
          <p:cNvPicPr>
            <a:picLocks noChangeAspect="1"/>
          </p:cNvPicPr>
          <p:nvPr/>
        </p:nvPicPr>
        <p:blipFill>
          <a:blip r:embed="rId5"/>
          <a:stretch>
            <a:fillRect/>
          </a:stretch>
        </p:blipFill>
        <p:spPr>
          <a:xfrm>
            <a:off x="857250" y="4807458"/>
            <a:ext cx="251460" cy="251460"/>
          </a:xfrm>
          <a:prstGeom prst="rect">
            <a:avLst/>
          </a:prstGeom>
        </p:spPr>
      </p:pic>
      <p:sp>
        <p:nvSpPr>
          <p:cNvPr id="30" name="Text 23"/>
          <p:cNvSpPr txBox="1"/>
          <p:nvPr/>
        </p:nvSpPr>
        <p:spPr>
          <a:xfrm>
            <a:off x="1371600" y="4681728"/>
            <a:ext cx="2651760" cy="502920"/>
          </a:xfrm>
          <a:prstGeom prst="rect">
            <a:avLst/>
          </a:prstGeom>
          <a:noFill/>
          <a:ln/>
        </p:spPr>
        <p:txBody>
          <a:bodyPr wrap="square" lIns="0" tIns="0" rIns="0" bIns="0" rtlCol="0" anchor="ctr"/>
          <a:lstStyle/>
          <a:p>
            <a:pPr indent="0" marL="0">
              <a:buNone/>
            </a:pPr>
            <a:r>
              <a:rPr lang="en-US" sz="1350" b="1" dirty="0">
                <a:solidFill>
                  <a:srgbClr val="13283C"/>
                </a:solidFill>
                <a:latin typeface="Meiryo" pitchFamily="34" charset="0"/>
                <a:ea typeface="Meiryo" pitchFamily="34" charset="-122"/>
                <a:cs typeface="Meiryo" pitchFamily="34" charset="-120"/>
              </a:rPr>
              <a:t>三宮・元町の商店街振興組合</a:t>
            </a:r>
            <a:endParaRPr lang="en-US" sz="1350" dirty="0"/>
          </a:p>
        </p:txBody>
      </p:sp>
      <p:sp>
        <p:nvSpPr>
          <p:cNvPr id="31" name="Text 24"/>
          <p:cNvSpPr txBox="1"/>
          <p:nvPr/>
        </p:nvSpPr>
        <p:spPr>
          <a:xfrm>
            <a:off x="731520" y="5303520"/>
            <a:ext cx="3246120" cy="731520"/>
          </a:xfrm>
          <a:prstGeom prst="rect">
            <a:avLst/>
          </a:prstGeom>
          <a:noFill/>
          <a:ln/>
        </p:spPr>
        <p:txBody>
          <a:bodyPr wrap="square" lIns="0" tIns="0" rIns="0" bIns="0" rtlCol="0" anchor="t"/>
          <a:lstStyle/>
          <a:p>
            <a:pPr indent="0" marL="0">
              <a:buNone/>
            </a:pPr>
            <a:r>
              <a:rPr lang="en-US" sz="1200" dirty="0">
                <a:solidFill>
                  <a:srgbClr val="1B2B3D"/>
                </a:solidFill>
                <a:latin typeface="Meiryo" pitchFamily="34" charset="0"/>
                <a:ea typeface="Meiryo" pitchFamily="34" charset="-122"/>
                <a:cs typeface="Meiryo" pitchFamily="34" charset="-120"/>
              </a:rPr>
              <a:t>試合の日の来場者が、商店街に立ち寄っているか知りたい</a:t>
            </a:r>
            <a:endParaRPr lang="en-US" sz="1200" dirty="0"/>
          </a:p>
        </p:txBody>
      </p:sp>
      <p:sp>
        <p:nvSpPr>
          <p:cNvPr id="32" name="Shape 25"/>
          <p:cNvSpPr/>
          <p:nvPr/>
        </p:nvSpPr>
        <p:spPr>
          <a:xfrm>
            <a:off x="4297680" y="4526280"/>
            <a:ext cx="3566160" cy="1600200"/>
          </a:xfrm>
          <a:prstGeom prst="roundRect">
            <a:avLst>
              <a:gd name="adj" fmla="val 4571"/>
            </a:avLst>
          </a:prstGeom>
          <a:solidFill>
            <a:srgbClr val="FBEAEE"/>
          </a:solidFill>
          <a:ln w="12700">
            <a:solidFill>
              <a:srgbClr val="FBEAEE"/>
            </a:solidFill>
            <a:prstDash val="solid"/>
          </a:ln>
        </p:spPr>
      </p:sp>
      <p:sp>
        <p:nvSpPr>
          <p:cNvPr id="33" name="Shape 26"/>
          <p:cNvSpPr/>
          <p:nvPr/>
        </p:nvSpPr>
        <p:spPr>
          <a:xfrm>
            <a:off x="4480560" y="4681728"/>
            <a:ext cx="502920" cy="502920"/>
          </a:xfrm>
          <a:prstGeom prst="ellipse">
            <a:avLst/>
          </a:prstGeom>
          <a:solidFill>
            <a:srgbClr val="C9002B"/>
          </a:solidFill>
          <a:ln w="12700">
            <a:solidFill>
              <a:srgbClr val="C9002B"/>
            </a:solidFill>
            <a:prstDash val="solid"/>
          </a:ln>
        </p:spPr>
      </p:sp>
      <p:pic>
        <p:nvPicPr>
          <p:cNvPr id="34" name="Image 5" descr="preencoded.png">    </p:cNvPr>
          <p:cNvPicPr>
            <a:picLocks noChangeAspect="1"/>
          </p:cNvPicPr>
          <p:nvPr/>
        </p:nvPicPr>
        <p:blipFill>
          <a:blip r:embed="rId6"/>
          <a:stretch>
            <a:fillRect/>
          </a:stretch>
        </p:blipFill>
        <p:spPr>
          <a:xfrm>
            <a:off x="4606290" y="4807458"/>
            <a:ext cx="251460" cy="251460"/>
          </a:xfrm>
          <a:prstGeom prst="rect">
            <a:avLst/>
          </a:prstGeom>
        </p:spPr>
      </p:pic>
      <p:sp>
        <p:nvSpPr>
          <p:cNvPr id="35" name="Text 27"/>
          <p:cNvSpPr txBox="1"/>
          <p:nvPr/>
        </p:nvSpPr>
        <p:spPr>
          <a:xfrm>
            <a:off x="5120640" y="4681728"/>
            <a:ext cx="2651760" cy="502920"/>
          </a:xfrm>
          <a:prstGeom prst="rect">
            <a:avLst/>
          </a:prstGeom>
          <a:noFill/>
          <a:ln/>
        </p:spPr>
        <p:txBody>
          <a:bodyPr wrap="square" lIns="0" tIns="0" rIns="0" bIns="0" rtlCol="0" anchor="ctr"/>
          <a:lstStyle/>
          <a:p>
            <a:pPr indent="0" marL="0">
              <a:buNone/>
            </a:pPr>
            <a:r>
              <a:rPr lang="en-US" sz="1350" b="1" dirty="0">
                <a:solidFill>
                  <a:srgbClr val="13283C"/>
                </a:solidFill>
                <a:latin typeface="Meiryo" pitchFamily="34" charset="0"/>
                <a:ea typeface="Meiryo" pitchFamily="34" charset="-122"/>
                <a:cs typeface="Meiryo" pitchFamily="34" charset="-120"/>
              </a:rPr>
              <a:t>商店街の店舗</a:t>
            </a:r>
            <a:endParaRPr lang="en-US" sz="1350" dirty="0"/>
          </a:p>
        </p:txBody>
      </p:sp>
      <p:sp>
        <p:nvSpPr>
          <p:cNvPr id="36" name="Text 28"/>
          <p:cNvSpPr txBox="1"/>
          <p:nvPr/>
        </p:nvSpPr>
        <p:spPr>
          <a:xfrm>
            <a:off x="4480560" y="5303520"/>
            <a:ext cx="3246120" cy="731520"/>
          </a:xfrm>
          <a:prstGeom prst="rect">
            <a:avLst/>
          </a:prstGeom>
          <a:noFill/>
          <a:ln/>
        </p:spPr>
        <p:txBody>
          <a:bodyPr wrap="square" lIns="0" tIns="0" rIns="0" bIns="0" rtlCol="0" anchor="t"/>
          <a:lstStyle/>
          <a:p>
            <a:pPr indent="0" marL="0">
              <a:buNone/>
            </a:pPr>
            <a:r>
              <a:rPr lang="en-US" sz="1200" dirty="0">
                <a:solidFill>
                  <a:srgbClr val="1B2B3D"/>
                </a:solidFill>
                <a:latin typeface="Meiryo" pitchFamily="34" charset="0"/>
                <a:ea typeface="Meiryo" pitchFamily="34" charset="-122"/>
                <a:cs typeface="Meiryo" pitchFamily="34" charset="-120"/>
              </a:rPr>
              <a:t>試合の前後に合わせて、営業時間や品ぞろえを変えたい</a:t>
            </a:r>
            <a:endParaRPr lang="en-US" sz="1200" dirty="0"/>
          </a:p>
        </p:txBody>
      </p:sp>
      <p:sp>
        <p:nvSpPr>
          <p:cNvPr id="37" name="Shape 29"/>
          <p:cNvSpPr/>
          <p:nvPr/>
        </p:nvSpPr>
        <p:spPr>
          <a:xfrm>
            <a:off x="8046720" y="4526280"/>
            <a:ext cx="3566160" cy="1600200"/>
          </a:xfrm>
          <a:prstGeom prst="roundRect">
            <a:avLst>
              <a:gd name="adj" fmla="val 4571"/>
            </a:avLst>
          </a:prstGeom>
          <a:solidFill>
            <a:srgbClr val="FBEAEE"/>
          </a:solidFill>
          <a:ln w="12700">
            <a:solidFill>
              <a:srgbClr val="FBEAEE"/>
            </a:solidFill>
            <a:prstDash val="solid"/>
          </a:ln>
        </p:spPr>
      </p:sp>
      <p:sp>
        <p:nvSpPr>
          <p:cNvPr id="38" name="Shape 30"/>
          <p:cNvSpPr/>
          <p:nvPr/>
        </p:nvSpPr>
        <p:spPr>
          <a:xfrm>
            <a:off x="8229600" y="4681728"/>
            <a:ext cx="502920" cy="502920"/>
          </a:xfrm>
          <a:prstGeom prst="ellipse">
            <a:avLst/>
          </a:prstGeom>
          <a:solidFill>
            <a:srgbClr val="C9002B"/>
          </a:solidFill>
          <a:ln w="12700">
            <a:solidFill>
              <a:srgbClr val="C9002B"/>
            </a:solidFill>
            <a:prstDash val="solid"/>
          </a:ln>
        </p:spPr>
      </p:sp>
      <p:pic>
        <p:nvPicPr>
          <p:cNvPr id="39" name="Image 6" descr="preencoded.png">    </p:cNvPr>
          <p:cNvPicPr>
            <a:picLocks noChangeAspect="1"/>
          </p:cNvPicPr>
          <p:nvPr/>
        </p:nvPicPr>
        <p:blipFill>
          <a:blip r:embed="rId7"/>
          <a:stretch>
            <a:fillRect/>
          </a:stretch>
        </p:blipFill>
        <p:spPr>
          <a:xfrm>
            <a:off x="8355330" y="4807458"/>
            <a:ext cx="251460" cy="251460"/>
          </a:xfrm>
          <a:prstGeom prst="rect">
            <a:avLst/>
          </a:prstGeom>
        </p:spPr>
      </p:pic>
      <p:sp>
        <p:nvSpPr>
          <p:cNvPr id="40" name="Text 31"/>
          <p:cNvSpPr txBox="1"/>
          <p:nvPr/>
        </p:nvSpPr>
        <p:spPr>
          <a:xfrm>
            <a:off x="8869680" y="4681728"/>
            <a:ext cx="2651760" cy="502920"/>
          </a:xfrm>
          <a:prstGeom prst="rect">
            <a:avLst/>
          </a:prstGeom>
          <a:noFill/>
          <a:ln/>
        </p:spPr>
        <p:txBody>
          <a:bodyPr wrap="square" lIns="0" tIns="0" rIns="0" bIns="0" rtlCol="0" anchor="ctr"/>
          <a:lstStyle/>
          <a:p>
            <a:pPr indent="0" marL="0">
              <a:buNone/>
            </a:pPr>
            <a:r>
              <a:rPr lang="en-US" sz="1350" b="1" dirty="0">
                <a:solidFill>
                  <a:srgbClr val="13283C"/>
                </a:solidFill>
                <a:latin typeface="Meiryo" pitchFamily="34" charset="0"/>
                <a:ea typeface="Meiryo" pitchFamily="34" charset="-122"/>
                <a:cs typeface="Meiryo" pitchFamily="34" charset="-120"/>
              </a:rPr>
              <a:t>神戸市（商工・観光）</a:t>
            </a:r>
            <a:endParaRPr lang="en-US" sz="1350" dirty="0"/>
          </a:p>
        </p:txBody>
      </p:sp>
      <p:sp>
        <p:nvSpPr>
          <p:cNvPr id="41" name="Text 32"/>
          <p:cNvSpPr txBox="1"/>
          <p:nvPr/>
        </p:nvSpPr>
        <p:spPr>
          <a:xfrm>
            <a:off x="8229600" y="5303520"/>
            <a:ext cx="3246120" cy="731520"/>
          </a:xfrm>
          <a:prstGeom prst="rect">
            <a:avLst/>
          </a:prstGeom>
          <a:noFill/>
          <a:ln/>
        </p:spPr>
        <p:txBody>
          <a:bodyPr wrap="square" lIns="0" tIns="0" rIns="0" bIns="0" rtlCol="0" anchor="t"/>
          <a:lstStyle/>
          <a:p>
            <a:pPr indent="0" marL="0">
              <a:buNone/>
            </a:pPr>
            <a:r>
              <a:rPr lang="en-US" sz="1200" dirty="0">
                <a:solidFill>
                  <a:srgbClr val="1B2B3D"/>
                </a:solidFill>
                <a:latin typeface="Meiryo" pitchFamily="34" charset="0"/>
                <a:ea typeface="Meiryo" pitchFamily="34" charset="-122"/>
                <a:cs typeface="Meiryo" pitchFamily="34" charset="-120"/>
              </a:rPr>
              <a:t>アリーナのにぎわいを、まち全体の回遊につなげたい</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01　神戸の今</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神戸ストークスの試合が、まちに生むにぎわい</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GLION ARENA KOBEの開業で、試合の日に大勢の人が神戸のまちを訪れています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04</a:t>
            </a:r>
            <a:endParaRPr lang="en-US" sz="1000" dirty="0"/>
          </a:p>
        </p:txBody>
      </p:sp>
      <p:sp>
        <p:nvSpPr>
          <p:cNvPr id="6" name="Shape 4"/>
          <p:cNvSpPr/>
          <p:nvPr/>
        </p:nvSpPr>
        <p:spPr>
          <a:xfrm>
            <a:off x="548640" y="1737360"/>
            <a:ext cx="2651760" cy="1463040"/>
          </a:xfrm>
          <a:prstGeom prst="roundRect">
            <a:avLst>
              <a:gd name="adj" fmla="val 5000"/>
            </a:avLst>
          </a:prstGeom>
          <a:solidFill>
            <a:srgbClr val="F2F5F8"/>
          </a:solidFill>
          <a:ln w="12700">
            <a:solidFill>
              <a:srgbClr val="F2F5F8"/>
            </a:solidFill>
            <a:prstDash val="solid"/>
          </a:ln>
        </p:spPr>
      </p:sp>
      <p:sp>
        <p:nvSpPr>
          <p:cNvPr id="7" name="Text 5"/>
          <p:cNvSpPr txBox="1"/>
          <p:nvPr/>
        </p:nvSpPr>
        <p:spPr>
          <a:xfrm>
            <a:off x="731520" y="1828800"/>
            <a:ext cx="2286000" cy="548640"/>
          </a:xfrm>
          <a:prstGeom prst="rect">
            <a:avLst/>
          </a:prstGeom>
          <a:noFill/>
          <a:ln/>
        </p:spPr>
        <p:txBody>
          <a:bodyPr wrap="square" lIns="0" tIns="0" rIns="0" bIns="0" rtlCol="0" anchor="ctr"/>
          <a:lstStyle/>
          <a:p>
            <a:pPr indent="0" marL="0">
              <a:buNone/>
            </a:pPr>
            <a:r>
              <a:rPr lang="en-US" sz="2600" b="1" dirty="0">
                <a:solidFill>
                  <a:srgbClr val="C9002B"/>
                </a:solidFill>
                <a:latin typeface="Meiryo" pitchFamily="34" charset="0"/>
                <a:ea typeface="Meiryo" pitchFamily="34" charset="-122"/>
                <a:cs typeface="Meiryo" pitchFamily="34" charset="-120"/>
              </a:rPr>
              <a:t>10,168席</a:t>
            </a:r>
            <a:endParaRPr lang="en-US" sz="2600" dirty="0"/>
          </a:p>
        </p:txBody>
      </p:sp>
      <p:sp>
        <p:nvSpPr>
          <p:cNvPr id="8" name="Text 6"/>
          <p:cNvSpPr txBox="1"/>
          <p:nvPr/>
        </p:nvSpPr>
        <p:spPr>
          <a:xfrm>
            <a:off x="731520" y="2395728"/>
            <a:ext cx="2331720" cy="320040"/>
          </a:xfrm>
          <a:prstGeom prst="rect">
            <a:avLst/>
          </a:prstGeom>
          <a:noFill/>
          <a:ln/>
        </p:spPr>
        <p:txBody>
          <a:bodyPr wrap="square" lIns="0" tIns="0" rIns="0" bIns="0" rtlCol="0" anchor="t"/>
          <a:lstStyle/>
          <a:p>
            <a:pPr indent="0" marL="0">
              <a:buNone/>
            </a:pPr>
            <a:r>
              <a:rPr lang="en-US" sz="1150" b="1" dirty="0">
                <a:solidFill>
                  <a:srgbClr val="1B2B3D"/>
                </a:solidFill>
                <a:latin typeface="Meiryo" pitchFamily="34" charset="0"/>
                <a:ea typeface="Meiryo" pitchFamily="34" charset="-122"/>
                <a:cs typeface="Meiryo" pitchFamily="34" charset="-120"/>
              </a:rPr>
              <a:t>GLION ARENA KOBEの座席数</a:t>
            </a:r>
            <a:endParaRPr lang="en-US" sz="1150" dirty="0"/>
          </a:p>
        </p:txBody>
      </p:sp>
      <p:sp>
        <p:nvSpPr>
          <p:cNvPr id="9" name="Text 7"/>
          <p:cNvSpPr txBox="1"/>
          <p:nvPr/>
        </p:nvSpPr>
        <p:spPr>
          <a:xfrm>
            <a:off x="731520" y="2724912"/>
            <a:ext cx="2331720" cy="320040"/>
          </a:xfrm>
          <a:prstGeom prst="rect">
            <a:avLst/>
          </a:prstGeom>
          <a:noFill/>
          <a:ln/>
        </p:spPr>
        <p:txBody>
          <a:bodyPr wrap="square" lIns="0" tIns="0" rIns="0" bIns="0" rtlCol="0" anchor="t"/>
          <a:lstStyle/>
          <a:p>
            <a:pPr indent="0" marL="0">
              <a:buNone/>
            </a:pPr>
            <a:r>
              <a:rPr lang="en-US" sz="1050" dirty="0">
                <a:solidFill>
                  <a:srgbClr val="5A6675"/>
                </a:solidFill>
                <a:latin typeface="Meiryo" pitchFamily="34" charset="0"/>
                <a:ea typeface="Meiryo" pitchFamily="34" charset="-122"/>
                <a:cs typeface="Meiryo" pitchFamily="34" charset="-120"/>
              </a:rPr>
              <a:t>2025年4月開業</a:t>
            </a:r>
            <a:endParaRPr lang="en-US" sz="1050" dirty="0"/>
          </a:p>
        </p:txBody>
      </p:sp>
      <p:sp>
        <p:nvSpPr>
          <p:cNvPr id="10" name="Shape 8"/>
          <p:cNvSpPr/>
          <p:nvPr/>
        </p:nvSpPr>
        <p:spPr>
          <a:xfrm>
            <a:off x="3355848" y="1737360"/>
            <a:ext cx="2651760" cy="1463040"/>
          </a:xfrm>
          <a:prstGeom prst="roundRect">
            <a:avLst>
              <a:gd name="adj" fmla="val 5000"/>
            </a:avLst>
          </a:prstGeom>
          <a:solidFill>
            <a:srgbClr val="F2F5F8"/>
          </a:solidFill>
          <a:ln w="12700">
            <a:solidFill>
              <a:srgbClr val="F2F5F8"/>
            </a:solidFill>
            <a:prstDash val="solid"/>
          </a:ln>
        </p:spPr>
      </p:sp>
      <p:sp>
        <p:nvSpPr>
          <p:cNvPr id="11" name="Text 9"/>
          <p:cNvSpPr txBox="1"/>
          <p:nvPr/>
        </p:nvSpPr>
        <p:spPr>
          <a:xfrm>
            <a:off x="3538728" y="1828800"/>
            <a:ext cx="2286000" cy="548640"/>
          </a:xfrm>
          <a:prstGeom prst="rect">
            <a:avLst/>
          </a:prstGeom>
          <a:noFill/>
          <a:ln/>
        </p:spPr>
        <p:txBody>
          <a:bodyPr wrap="square" lIns="0" tIns="0" rIns="0" bIns="0" rtlCol="0" anchor="ctr"/>
          <a:lstStyle/>
          <a:p>
            <a:pPr indent="0" marL="0">
              <a:buNone/>
            </a:pPr>
            <a:r>
              <a:rPr lang="en-US" sz="2600" b="1" dirty="0">
                <a:solidFill>
                  <a:srgbClr val="C9002B"/>
                </a:solidFill>
                <a:latin typeface="Meiryo" pitchFamily="34" charset="0"/>
                <a:ea typeface="Meiryo" pitchFamily="34" charset="-122"/>
                <a:cs typeface="Meiryo" pitchFamily="34" charset="-120"/>
              </a:rPr>
              <a:t>5,874人</a:t>
            </a:r>
            <a:endParaRPr lang="en-US" sz="2600" dirty="0"/>
          </a:p>
        </p:txBody>
      </p:sp>
      <p:sp>
        <p:nvSpPr>
          <p:cNvPr id="12" name="Text 10"/>
          <p:cNvSpPr txBox="1"/>
          <p:nvPr/>
        </p:nvSpPr>
        <p:spPr>
          <a:xfrm>
            <a:off x="3538728" y="2395728"/>
            <a:ext cx="2331720" cy="320040"/>
          </a:xfrm>
          <a:prstGeom prst="rect">
            <a:avLst/>
          </a:prstGeom>
          <a:noFill/>
          <a:ln/>
        </p:spPr>
        <p:txBody>
          <a:bodyPr wrap="square" lIns="0" tIns="0" rIns="0" bIns="0" rtlCol="0" anchor="t"/>
          <a:lstStyle/>
          <a:p>
            <a:pPr indent="0" marL="0">
              <a:buNone/>
            </a:pPr>
            <a:r>
              <a:rPr lang="en-US" sz="1150" b="1" dirty="0">
                <a:solidFill>
                  <a:srgbClr val="1B2B3D"/>
                </a:solidFill>
                <a:latin typeface="Meiryo" pitchFamily="34" charset="0"/>
                <a:ea typeface="Meiryo" pitchFamily="34" charset="-122"/>
                <a:cs typeface="Meiryo" pitchFamily="34" charset="-120"/>
              </a:rPr>
              <a:t>2025-26シーズン平均入場者数</a:t>
            </a:r>
            <a:endParaRPr lang="en-US" sz="1150" dirty="0"/>
          </a:p>
        </p:txBody>
      </p:sp>
      <p:sp>
        <p:nvSpPr>
          <p:cNvPr id="13" name="Text 11"/>
          <p:cNvSpPr txBox="1"/>
          <p:nvPr/>
        </p:nvSpPr>
        <p:spPr>
          <a:xfrm>
            <a:off x="3538728" y="2724912"/>
            <a:ext cx="2331720" cy="320040"/>
          </a:xfrm>
          <a:prstGeom prst="rect">
            <a:avLst/>
          </a:prstGeom>
          <a:noFill/>
          <a:ln/>
        </p:spPr>
        <p:txBody>
          <a:bodyPr wrap="square" lIns="0" tIns="0" rIns="0" bIns="0" rtlCol="0" anchor="t"/>
          <a:lstStyle/>
          <a:p>
            <a:pPr indent="0" marL="0">
              <a:buNone/>
            </a:pPr>
            <a:r>
              <a:rPr lang="en-US" sz="1050" dirty="0">
                <a:solidFill>
                  <a:srgbClr val="5A6675"/>
                </a:solidFill>
                <a:latin typeface="Meiryo" pitchFamily="34" charset="0"/>
                <a:ea typeface="Meiryo" pitchFamily="34" charset="-122"/>
                <a:cs typeface="Meiryo" pitchFamily="34" charset="-120"/>
              </a:rPr>
              <a:t>B2最多・前年の約2倍</a:t>
            </a:r>
            <a:endParaRPr lang="en-US" sz="1050" dirty="0"/>
          </a:p>
        </p:txBody>
      </p:sp>
      <p:sp>
        <p:nvSpPr>
          <p:cNvPr id="14" name="Shape 12"/>
          <p:cNvSpPr/>
          <p:nvPr/>
        </p:nvSpPr>
        <p:spPr>
          <a:xfrm>
            <a:off x="6163056" y="1737360"/>
            <a:ext cx="2651760" cy="1463040"/>
          </a:xfrm>
          <a:prstGeom prst="roundRect">
            <a:avLst>
              <a:gd name="adj" fmla="val 5000"/>
            </a:avLst>
          </a:prstGeom>
          <a:solidFill>
            <a:srgbClr val="F2F5F8"/>
          </a:solidFill>
          <a:ln w="12700">
            <a:solidFill>
              <a:srgbClr val="F2F5F8"/>
            </a:solidFill>
            <a:prstDash val="solid"/>
          </a:ln>
        </p:spPr>
      </p:sp>
      <p:sp>
        <p:nvSpPr>
          <p:cNvPr id="15" name="Text 13"/>
          <p:cNvSpPr txBox="1"/>
          <p:nvPr/>
        </p:nvSpPr>
        <p:spPr>
          <a:xfrm>
            <a:off x="6345936" y="1828800"/>
            <a:ext cx="2286000" cy="548640"/>
          </a:xfrm>
          <a:prstGeom prst="rect">
            <a:avLst/>
          </a:prstGeom>
          <a:noFill/>
          <a:ln/>
        </p:spPr>
        <p:txBody>
          <a:bodyPr wrap="square" lIns="0" tIns="0" rIns="0" bIns="0" rtlCol="0" anchor="ctr"/>
          <a:lstStyle/>
          <a:p>
            <a:pPr indent="0" marL="0">
              <a:buNone/>
            </a:pPr>
            <a:r>
              <a:rPr lang="en-US" sz="2600" b="1" dirty="0">
                <a:solidFill>
                  <a:srgbClr val="C9002B"/>
                </a:solidFill>
                <a:latin typeface="Meiryo" pitchFamily="34" charset="0"/>
                <a:ea typeface="Meiryo" pitchFamily="34" charset="-122"/>
                <a:cs typeface="Meiryo" pitchFamily="34" charset="-120"/>
              </a:rPr>
              <a:t>178,678人</a:t>
            </a:r>
            <a:endParaRPr lang="en-US" sz="2600" dirty="0"/>
          </a:p>
        </p:txBody>
      </p:sp>
      <p:sp>
        <p:nvSpPr>
          <p:cNvPr id="16" name="Text 14"/>
          <p:cNvSpPr txBox="1"/>
          <p:nvPr/>
        </p:nvSpPr>
        <p:spPr>
          <a:xfrm>
            <a:off x="6345936" y="2395728"/>
            <a:ext cx="2331720" cy="320040"/>
          </a:xfrm>
          <a:prstGeom prst="rect">
            <a:avLst/>
          </a:prstGeom>
          <a:noFill/>
          <a:ln/>
        </p:spPr>
        <p:txBody>
          <a:bodyPr wrap="square" lIns="0" tIns="0" rIns="0" bIns="0" rtlCol="0" anchor="t"/>
          <a:lstStyle/>
          <a:p>
            <a:pPr indent="0" marL="0">
              <a:buNone/>
            </a:pPr>
            <a:r>
              <a:rPr lang="en-US" sz="1150" b="1" dirty="0">
                <a:solidFill>
                  <a:srgbClr val="1B2B3D"/>
                </a:solidFill>
                <a:latin typeface="Meiryo" pitchFamily="34" charset="0"/>
                <a:ea typeface="Meiryo" pitchFamily="34" charset="-122"/>
                <a:cs typeface="Meiryo" pitchFamily="34" charset="-120"/>
              </a:rPr>
              <a:t>開業1年のホーム来場者数</a:t>
            </a:r>
            <a:endParaRPr lang="en-US" sz="1150" dirty="0"/>
          </a:p>
        </p:txBody>
      </p:sp>
      <p:sp>
        <p:nvSpPr>
          <p:cNvPr id="17" name="Text 15"/>
          <p:cNvSpPr txBox="1"/>
          <p:nvPr/>
        </p:nvSpPr>
        <p:spPr>
          <a:xfrm>
            <a:off x="6345936" y="2724912"/>
            <a:ext cx="2331720" cy="320040"/>
          </a:xfrm>
          <a:prstGeom prst="rect">
            <a:avLst/>
          </a:prstGeom>
          <a:noFill/>
          <a:ln/>
        </p:spPr>
        <p:txBody>
          <a:bodyPr wrap="square" lIns="0" tIns="0" rIns="0" bIns="0" rtlCol="0" anchor="t"/>
          <a:lstStyle/>
          <a:p>
            <a:pPr indent="0" marL="0">
              <a:buNone/>
            </a:pPr>
            <a:r>
              <a:rPr lang="en-US" sz="1050" dirty="0">
                <a:solidFill>
                  <a:srgbClr val="5A6675"/>
                </a:solidFill>
                <a:latin typeface="Meiryo" pitchFamily="34" charset="0"/>
                <a:ea typeface="Meiryo" pitchFamily="34" charset="-122"/>
                <a:cs typeface="Meiryo" pitchFamily="34" charset="-120"/>
              </a:rPr>
              <a:t>2025/4/5〜2026/4/4</a:t>
            </a:r>
            <a:endParaRPr lang="en-US" sz="1050" dirty="0"/>
          </a:p>
        </p:txBody>
      </p:sp>
      <p:sp>
        <p:nvSpPr>
          <p:cNvPr id="18" name="Shape 16"/>
          <p:cNvSpPr/>
          <p:nvPr/>
        </p:nvSpPr>
        <p:spPr>
          <a:xfrm>
            <a:off x="8970264" y="1737360"/>
            <a:ext cx="2651760" cy="1463040"/>
          </a:xfrm>
          <a:prstGeom prst="roundRect">
            <a:avLst>
              <a:gd name="adj" fmla="val 5000"/>
            </a:avLst>
          </a:prstGeom>
          <a:solidFill>
            <a:srgbClr val="F2F5F8"/>
          </a:solidFill>
          <a:ln w="12700">
            <a:solidFill>
              <a:srgbClr val="F2F5F8"/>
            </a:solidFill>
            <a:prstDash val="solid"/>
          </a:ln>
        </p:spPr>
      </p:sp>
      <p:sp>
        <p:nvSpPr>
          <p:cNvPr id="19" name="Text 17"/>
          <p:cNvSpPr txBox="1"/>
          <p:nvPr/>
        </p:nvSpPr>
        <p:spPr>
          <a:xfrm>
            <a:off x="9153144" y="1828800"/>
            <a:ext cx="2286000" cy="548640"/>
          </a:xfrm>
          <a:prstGeom prst="rect">
            <a:avLst/>
          </a:prstGeom>
          <a:noFill/>
          <a:ln/>
        </p:spPr>
        <p:txBody>
          <a:bodyPr wrap="square" lIns="0" tIns="0" rIns="0" bIns="0" rtlCol="0" anchor="ctr"/>
          <a:lstStyle/>
          <a:p>
            <a:pPr indent="0" marL="0">
              <a:buNone/>
            </a:pPr>
            <a:r>
              <a:rPr lang="en-US" sz="2600" b="1" dirty="0">
                <a:solidFill>
                  <a:srgbClr val="C9002B"/>
                </a:solidFill>
                <a:latin typeface="Meiryo" pitchFamily="34" charset="0"/>
                <a:ea typeface="Meiryo" pitchFamily="34" charset="-122"/>
                <a:cs typeface="Meiryo" pitchFamily="34" charset="-120"/>
              </a:rPr>
              <a:t>約7分</a:t>
            </a:r>
            <a:endParaRPr lang="en-US" sz="2600" dirty="0"/>
          </a:p>
        </p:txBody>
      </p:sp>
      <p:sp>
        <p:nvSpPr>
          <p:cNvPr id="20" name="Text 18"/>
          <p:cNvSpPr txBox="1"/>
          <p:nvPr/>
        </p:nvSpPr>
        <p:spPr>
          <a:xfrm>
            <a:off x="9153144" y="2395728"/>
            <a:ext cx="2331720" cy="320040"/>
          </a:xfrm>
          <a:prstGeom prst="rect">
            <a:avLst/>
          </a:prstGeom>
          <a:noFill/>
          <a:ln/>
        </p:spPr>
        <p:txBody>
          <a:bodyPr wrap="square" lIns="0" tIns="0" rIns="0" bIns="0" rtlCol="0" anchor="t"/>
          <a:lstStyle/>
          <a:p>
            <a:pPr indent="0" marL="0">
              <a:buNone/>
            </a:pPr>
            <a:r>
              <a:rPr lang="en-US" sz="1150" b="1" dirty="0">
                <a:solidFill>
                  <a:srgbClr val="1B2B3D"/>
                </a:solidFill>
                <a:latin typeface="Meiryo" pitchFamily="34" charset="0"/>
                <a:ea typeface="Meiryo" pitchFamily="34" charset="-122"/>
                <a:cs typeface="Meiryo" pitchFamily="34" charset="-120"/>
              </a:rPr>
              <a:t>三宮⇔アリーナのシャトルバス</a:t>
            </a:r>
            <a:endParaRPr lang="en-US" sz="1150" dirty="0"/>
          </a:p>
        </p:txBody>
      </p:sp>
      <p:sp>
        <p:nvSpPr>
          <p:cNvPr id="21" name="Text 19"/>
          <p:cNvSpPr txBox="1"/>
          <p:nvPr/>
        </p:nvSpPr>
        <p:spPr>
          <a:xfrm>
            <a:off x="9153144" y="2724912"/>
            <a:ext cx="2331720" cy="320040"/>
          </a:xfrm>
          <a:prstGeom prst="rect">
            <a:avLst/>
          </a:prstGeom>
          <a:noFill/>
          <a:ln/>
        </p:spPr>
        <p:txBody>
          <a:bodyPr wrap="square" lIns="0" tIns="0" rIns="0" bIns="0" rtlCol="0" anchor="t"/>
          <a:lstStyle/>
          <a:p>
            <a:pPr indent="0" marL="0">
              <a:buNone/>
            </a:pPr>
            <a:r>
              <a:rPr lang="en-US" sz="1050" dirty="0">
                <a:solidFill>
                  <a:srgbClr val="5A6675"/>
                </a:solidFill>
                <a:latin typeface="Meiryo" pitchFamily="34" charset="0"/>
                <a:ea typeface="Meiryo" pitchFamily="34" charset="-122"/>
                <a:cs typeface="Meiryo" pitchFamily="34" charset="-120"/>
              </a:rPr>
              <a:t>神姫バス×ストークス</a:t>
            </a:r>
            <a:endParaRPr lang="en-US" sz="1050" dirty="0"/>
          </a:p>
        </p:txBody>
      </p:sp>
      <p:sp>
        <p:nvSpPr>
          <p:cNvPr id="22" name="Shape 20"/>
          <p:cNvSpPr/>
          <p:nvPr/>
        </p:nvSpPr>
        <p:spPr>
          <a:xfrm>
            <a:off x="548640" y="3429000"/>
            <a:ext cx="6035040" cy="2697480"/>
          </a:xfrm>
          <a:prstGeom prst="roundRect">
            <a:avLst>
              <a:gd name="adj" fmla="val 2712"/>
            </a:avLst>
          </a:prstGeom>
          <a:solidFill>
            <a:srgbClr val="13283C"/>
          </a:solidFill>
          <a:ln w="12700">
            <a:solidFill>
              <a:srgbClr val="13283C"/>
            </a:solidFill>
            <a:prstDash val="solid"/>
          </a:ln>
        </p:spPr>
      </p:sp>
      <p:sp>
        <p:nvSpPr>
          <p:cNvPr id="23" name="Text 21"/>
          <p:cNvSpPr txBox="1"/>
          <p:nvPr/>
        </p:nvSpPr>
        <p:spPr>
          <a:xfrm>
            <a:off x="777240" y="3547872"/>
            <a:ext cx="5486400" cy="292608"/>
          </a:xfrm>
          <a:prstGeom prst="rect">
            <a:avLst/>
          </a:prstGeom>
          <a:noFill/>
          <a:ln/>
        </p:spPr>
        <p:txBody>
          <a:bodyPr wrap="square" lIns="0" tIns="0" rIns="0" bIns="0" rtlCol="0" anchor="t"/>
          <a:lstStyle/>
          <a:p>
            <a:pPr indent="0" marL="0">
              <a:buNone/>
            </a:pPr>
            <a:r>
              <a:rPr lang="en-US" sz="1250" b="1" dirty="0">
                <a:solidFill>
                  <a:srgbClr val="FF8FA3"/>
                </a:solidFill>
                <a:latin typeface="Meiryo" pitchFamily="34" charset="0"/>
                <a:ea typeface="Meiryo" pitchFamily="34" charset="-122"/>
                <a:cs typeface="Meiryo" pitchFamily="34" charset="-120"/>
              </a:rPr>
              <a:t>1日のイベントの経済効果（公表値）</a:t>
            </a:r>
            <a:endParaRPr lang="en-US" sz="1250" dirty="0"/>
          </a:p>
        </p:txBody>
      </p:sp>
      <p:sp>
        <p:nvSpPr>
          <p:cNvPr id="24" name="Text 22"/>
          <p:cNvSpPr txBox="1"/>
          <p:nvPr/>
        </p:nvSpPr>
        <p:spPr>
          <a:xfrm>
            <a:off x="777240" y="3840480"/>
            <a:ext cx="3291840" cy="960120"/>
          </a:xfrm>
          <a:prstGeom prst="rect">
            <a:avLst/>
          </a:prstGeom>
          <a:noFill/>
          <a:ln/>
        </p:spPr>
        <p:txBody>
          <a:bodyPr wrap="square" lIns="0" tIns="0" rIns="0" bIns="0" rtlCol="0" anchor="ctr"/>
          <a:lstStyle/>
          <a:p>
            <a:pPr indent="0" marL="0">
              <a:buNone/>
            </a:pPr>
            <a:r>
              <a:rPr lang="en-US" sz="5400" b="1" dirty="0">
                <a:solidFill>
                  <a:srgbClr val="FFFFFF"/>
                </a:solidFill>
                <a:latin typeface="Meiryo" pitchFamily="34" charset="0"/>
                <a:ea typeface="Meiryo" pitchFamily="34" charset="-122"/>
                <a:cs typeface="Meiryo" pitchFamily="34" charset="-120"/>
              </a:rPr>
              <a:t>約1.9</a:t>
            </a:r>
            <a:pPr indent="0" marL="0">
              <a:buNone/>
            </a:pPr>
            <a:r>
              <a:rPr lang="en-US" sz="2200" b="1" dirty="0">
                <a:solidFill>
                  <a:srgbClr val="FFFFFF"/>
                </a:solidFill>
                <a:latin typeface="Meiryo" pitchFamily="34" charset="0"/>
                <a:ea typeface="Meiryo" pitchFamily="34" charset="-122"/>
                <a:cs typeface="Meiryo" pitchFamily="34" charset="-120"/>
              </a:rPr>
              <a:t>億円</a:t>
            </a:r>
            <a:endParaRPr lang="en-US" sz="5400" dirty="0"/>
          </a:p>
        </p:txBody>
      </p:sp>
      <p:sp>
        <p:nvSpPr>
          <p:cNvPr id="25" name="Text 23"/>
          <p:cNvSpPr txBox="1"/>
          <p:nvPr/>
        </p:nvSpPr>
        <p:spPr>
          <a:xfrm>
            <a:off x="777240" y="4846320"/>
            <a:ext cx="5669280" cy="731520"/>
          </a:xfrm>
          <a:prstGeom prst="rect">
            <a:avLst/>
          </a:prstGeom>
          <a:noFill/>
          <a:ln/>
        </p:spPr>
        <p:txBody>
          <a:bodyPr wrap="square" lIns="0" tIns="0" rIns="0" bIns="0" rtlCol="0" anchor="t"/>
          <a:lstStyle/>
          <a:p>
            <a:pPr indent="0" marL="0">
              <a:buNone/>
            </a:pPr>
            <a:r>
              <a:rPr lang="en-US" sz="1150" dirty="0">
                <a:solidFill>
                  <a:srgbClr val="DDE5EC"/>
                </a:solidFill>
                <a:latin typeface="Meiryo" pitchFamily="34" charset="0"/>
                <a:ea typeface="Meiryo" pitchFamily="34" charset="-122"/>
                <a:cs typeface="Meiryo" pitchFamily="34" charset="-120"/>
              </a:rPr>
              <a:t>KOBE RISING -2025-（Bリーグ6クラブのプレシーズンイベント）</a:t>
            </a:r>
            <a:endParaRPr lang="en-US" sz="1150" dirty="0"/>
          </a:p>
          <a:p>
            <a:pPr indent="0" marL="0">
              <a:buNone/>
            </a:pPr>
            <a:r>
              <a:rPr lang="en-US" sz="1150" dirty="0">
                <a:solidFill>
                  <a:srgbClr val="DDE5EC"/>
                </a:solidFill>
                <a:latin typeface="Meiryo" pitchFamily="34" charset="0"/>
                <a:ea typeface="Meiryo" pitchFamily="34" charset="-122"/>
                <a:cs typeface="Meiryo" pitchFamily="34" charset="-120"/>
              </a:rPr>
              <a:t>来場者6,930人／直接効果 約1.2億円／生産誘発倍率1.56倍</a:t>
            </a:r>
            <a:endParaRPr lang="en-US" sz="1150" dirty="0"/>
          </a:p>
        </p:txBody>
      </p:sp>
      <p:sp>
        <p:nvSpPr>
          <p:cNvPr id="26" name="Text 24"/>
          <p:cNvSpPr txBox="1"/>
          <p:nvPr/>
        </p:nvSpPr>
        <p:spPr>
          <a:xfrm>
            <a:off x="777240" y="5669280"/>
            <a:ext cx="5669280" cy="320040"/>
          </a:xfrm>
          <a:prstGeom prst="rect">
            <a:avLst/>
          </a:prstGeom>
          <a:noFill/>
          <a:ln/>
        </p:spPr>
        <p:txBody>
          <a:bodyPr wrap="square" lIns="0" tIns="0" rIns="0" bIns="0" rtlCol="0" anchor="t"/>
          <a:lstStyle/>
          <a:p>
            <a:pPr indent="0" marL="0">
              <a:buNone/>
            </a:pPr>
            <a:r>
              <a:rPr lang="en-US" sz="1000" dirty="0">
                <a:solidFill>
                  <a:srgbClr val="BAC8D4"/>
                </a:solidFill>
                <a:latin typeface="Meiryo" pitchFamily="34" charset="0"/>
                <a:ea typeface="Meiryo" pitchFamily="34" charset="-122"/>
                <a:cs typeface="Meiryo" pitchFamily="34" charset="-120"/>
              </a:rPr>
              <a:t>同志社大学・One Bright KOBE・神戸ストークスほかによる共同研究</a:t>
            </a:r>
            <a:endParaRPr lang="en-US" sz="1000" dirty="0"/>
          </a:p>
        </p:txBody>
      </p:sp>
      <p:sp>
        <p:nvSpPr>
          <p:cNvPr id="27" name="Shape 25"/>
          <p:cNvSpPr/>
          <p:nvPr/>
        </p:nvSpPr>
        <p:spPr>
          <a:xfrm>
            <a:off x="6766560" y="3429000"/>
            <a:ext cx="4846320" cy="2697480"/>
          </a:xfrm>
          <a:prstGeom prst="roundRect">
            <a:avLst>
              <a:gd name="adj" fmla="val 2712"/>
            </a:avLst>
          </a:prstGeom>
          <a:solidFill>
            <a:srgbClr val="F2F5F8"/>
          </a:solidFill>
          <a:ln w="12700">
            <a:solidFill>
              <a:srgbClr val="F2F5F8"/>
            </a:solidFill>
            <a:prstDash val="solid"/>
          </a:ln>
        </p:spPr>
      </p:sp>
      <p:sp>
        <p:nvSpPr>
          <p:cNvPr id="28" name="Text 26"/>
          <p:cNvSpPr txBox="1"/>
          <p:nvPr/>
        </p:nvSpPr>
        <p:spPr>
          <a:xfrm>
            <a:off x="6949440" y="3547872"/>
            <a:ext cx="4572000" cy="292608"/>
          </a:xfrm>
          <a:prstGeom prst="rect">
            <a:avLst/>
          </a:prstGeom>
          <a:noFill/>
          <a:ln/>
        </p:spPr>
        <p:txBody>
          <a:bodyPr wrap="square" lIns="0" tIns="0" rIns="0" bIns="0" rtlCol="0" anchor="t"/>
          <a:lstStyle/>
          <a:p>
            <a:pPr indent="0" marL="0">
              <a:buNone/>
            </a:pPr>
            <a:r>
              <a:rPr lang="en-US" sz="1250" b="1" dirty="0">
                <a:solidFill>
                  <a:srgbClr val="C9002B"/>
                </a:solidFill>
                <a:latin typeface="Meiryo" pitchFamily="34" charset="0"/>
                <a:ea typeface="Meiryo" pitchFamily="34" charset="-122"/>
                <a:cs typeface="Meiryo" pitchFamily="34" charset="-120"/>
              </a:rPr>
              <a:t>通常の試合だと、どれくらい？（参考の単純計算）</a:t>
            </a:r>
            <a:endParaRPr lang="en-US" sz="1250" dirty="0"/>
          </a:p>
        </p:txBody>
      </p:sp>
      <p:sp>
        <p:nvSpPr>
          <p:cNvPr id="29" name="Text 27"/>
          <p:cNvSpPr txBox="1"/>
          <p:nvPr/>
        </p:nvSpPr>
        <p:spPr>
          <a:xfrm>
            <a:off x="6949440" y="3931920"/>
            <a:ext cx="4572000" cy="731520"/>
          </a:xfrm>
          <a:prstGeom prst="rect">
            <a:avLst/>
          </a:prstGeom>
          <a:noFill/>
          <a:ln/>
        </p:spPr>
        <p:txBody>
          <a:bodyPr wrap="square" lIns="0" tIns="0" rIns="0" bIns="0" rtlCol="0" anchor="t"/>
          <a:lstStyle/>
          <a:p>
            <a:pPr indent="0" marL="0">
              <a:buNone/>
            </a:pPr>
            <a:r>
              <a:rPr lang="en-US" sz="1300" dirty="0">
                <a:solidFill>
                  <a:srgbClr val="1B2B3D"/>
                </a:solidFill>
                <a:latin typeface="Meiryo" pitchFamily="34" charset="0"/>
                <a:ea typeface="Meiryo" pitchFamily="34" charset="-122"/>
                <a:cs typeface="Meiryo" pitchFamily="34" charset="-120"/>
              </a:rPr>
              <a:t>1.9億円 ÷ 6,930人 ＝ 1人あたり約2.7万円</a:t>
            </a:r>
            <a:endParaRPr lang="en-US" sz="1300" dirty="0"/>
          </a:p>
          <a:p>
            <a:pPr indent="0" marL="0">
              <a:buNone/>
            </a:pPr>
            <a:r>
              <a:rPr lang="en-US" sz="1300" dirty="0">
                <a:solidFill>
                  <a:srgbClr val="1B2B3D"/>
                </a:solidFill>
                <a:latin typeface="Meiryo" pitchFamily="34" charset="0"/>
                <a:ea typeface="Meiryo" pitchFamily="34" charset="-122"/>
                <a:cs typeface="Meiryo" pitchFamily="34" charset="-120"/>
              </a:rPr>
              <a:t>× 平均入場 5,874人 ＝ </a:t>
            </a:r>
            <a:pPr indent="0" marL="0">
              <a:buNone/>
            </a:pPr>
            <a:r>
              <a:rPr lang="en-US" sz="1300" b="1" dirty="0">
                <a:solidFill>
                  <a:srgbClr val="C9002B"/>
                </a:solidFill>
                <a:latin typeface="Meiryo" pitchFamily="34" charset="0"/>
                <a:ea typeface="Meiryo" pitchFamily="34" charset="-122"/>
                <a:cs typeface="Meiryo" pitchFamily="34" charset="-120"/>
              </a:rPr>
              <a:t>約1.6億円規模</a:t>
            </a:r>
            <a:endParaRPr lang="en-US" sz="1300" dirty="0"/>
          </a:p>
        </p:txBody>
      </p:sp>
      <p:sp>
        <p:nvSpPr>
          <p:cNvPr id="30" name="Text 28"/>
          <p:cNvSpPr txBox="1"/>
          <p:nvPr/>
        </p:nvSpPr>
        <p:spPr>
          <a:xfrm>
            <a:off x="6949440" y="4709160"/>
            <a:ext cx="4526280" cy="548640"/>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参考：川崎フロンターレの実証では、来場者に限った周辺消費の効果は1試合あたり2,419万円</a:t>
            </a:r>
            <a:endParaRPr lang="en-US" sz="1100" dirty="0"/>
          </a:p>
        </p:txBody>
      </p:sp>
      <p:sp>
        <p:nvSpPr>
          <p:cNvPr id="31" name="Text 29"/>
          <p:cNvSpPr txBox="1"/>
          <p:nvPr/>
        </p:nvSpPr>
        <p:spPr>
          <a:xfrm>
            <a:off x="6949440" y="5303520"/>
            <a:ext cx="4526280" cy="731520"/>
          </a:xfrm>
          <a:prstGeom prst="rect">
            <a:avLst/>
          </a:prstGeom>
          <a:noFill/>
          <a:ln/>
        </p:spPr>
        <p:txBody>
          <a:bodyPr wrap="square" lIns="0" tIns="0" rIns="0" bIns="0" rtlCol="0" anchor="t"/>
          <a:lstStyle/>
          <a:p>
            <a:pPr indent="0" marL="0">
              <a:buNone/>
            </a:pPr>
            <a:r>
              <a:rPr lang="en-US" sz="1150" b="1" dirty="0">
                <a:solidFill>
                  <a:srgbClr val="1B2B3D"/>
                </a:solidFill>
                <a:latin typeface="Meiryo" pitchFamily="34" charset="0"/>
                <a:ea typeface="Meiryo" pitchFamily="34" charset="-122"/>
                <a:cs typeface="Meiryo" pitchFamily="34" charset="-120"/>
              </a:rPr>
              <a:t>数え方で数字は大きく変わります。だから、自分たちのまちに実際どれだけ落ちているかを測ることが大切です</a:t>
            </a:r>
            <a:endParaRPr lang="en-US" sz="1150" dirty="0"/>
          </a:p>
        </p:txBody>
      </p:sp>
      <p:sp>
        <p:nvSpPr>
          <p:cNvPr id="32" name="Text 30"/>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単純計算はイベントの運営費も含む効果を人数で割ったもので、通常の試合にそのまま当てはまるものではありません。平均入場者数は報道値</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02　ご提案</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そのにぎわいを、商店街に届ける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試合の前後に「まちに寄ってもらう」ことを、データで確かめながら増やします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05</a:t>
            </a:r>
            <a:endParaRPr lang="en-US" sz="1000" dirty="0"/>
          </a:p>
        </p:txBody>
      </p:sp>
      <p:sp>
        <p:nvSpPr>
          <p:cNvPr id="6" name="Shape 4"/>
          <p:cNvSpPr/>
          <p:nvPr/>
        </p:nvSpPr>
        <p:spPr>
          <a:xfrm>
            <a:off x="548640" y="1737360"/>
            <a:ext cx="3383280" cy="2743200"/>
          </a:xfrm>
          <a:prstGeom prst="roundRect">
            <a:avLst>
              <a:gd name="adj" fmla="val 2667"/>
            </a:avLst>
          </a:prstGeom>
          <a:solidFill>
            <a:srgbClr val="F2F5F8"/>
          </a:solidFill>
          <a:ln w="12700">
            <a:solidFill>
              <a:srgbClr val="F2F5F8"/>
            </a:solidFill>
            <a:prstDash val="solid"/>
          </a:ln>
        </p:spPr>
      </p:sp>
      <p:sp>
        <p:nvSpPr>
          <p:cNvPr id="7" name="Shape 5"/>
          <p:cNvSpPr/>
          <p:nvPr/>
        </p:nvSpPr>
        <p:spPr>
          <a:xfrm>
            <a:off x="777240" y="1901952"/>
            <a:ext cx="594360" cy="594360"/>
          </a:xfrm>
          <a:prstGeom prst="ellipse">
            <a:avLst/>
          </a:prstGeom>
          <a:solidFill>
            <a:srgbClr val="C9002B"/>
          </a:solidFill>
          <a:ln w="12700">
            <a:solidFill>
              <a:srgbClr val="C9002B"/>
            </a:solidFill>
            <a:prstDash val="solid"/>
          </a:ln>
        </p:spPr>
      </p:sp>
      <p:sp>
        <p:nvSpPr>
          <p:cNvPr id="8" name="Text 6"/>
          <p:cNvSpPr txBox="1"/>
          <p:nvPr/>
        </p:nvSpPr>
        <p:spPr>
          <a:xfrm>
            <a:off x="777240" y="1901952"/>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1</a:t>
            </a:r>
            <a:endParaRPr lang="en-US" sz="2000" dirty="0"/>
          </a:p>
        </p:txBody>
      </p:sp>
      <p:pic>
        <p:nvPicPr>
          <p:cNvPr id="9" name="Image 0" descr="preencoded.png">    </p:cNvPr>
          <p:cNvPicPr>
            <a:picLocks noChangeAspect="1"/>
          </p:cNvPicPr>
          <p:nvPr/>
        </p:nvPicPr>
        <p:blipFill>
          <a:blip r:embed="rId1"/>
          <a:stretch>
            <a:fillRect/>
          </a:stretch>
        </p:blipFill>
        <p:spPr>
          <a:xfrm>
            <a:off x="3291840" y="1993392"/>
            <a:ext cx="411480" cy="411480"/>
          </a:xfrm>
          <a:prstGeom prst="rect">
            <a:avLst/>
          </a:prstGeom>
        </p:spPr>
      </p:pic>
      <p:sp>
        <p:nvSpPr>
          <p:cNvPr id="10" name="Text 7"/>
          <p:cNvSpPr txBox="1"/>
          <p:nvPr/>
        </p:nvSpPr>
        <p:spPr>
          <a:xfrm>
            <a:off x="777240" y="2633472"/>
            <a:ext cx="3017520" cy="411480"/>
          </a:xfrm>
          <a:prstGeom prst="rect">
            <a:avLst/>
          </a:prstGeom>
          <a:noFill/>
          <a:ln/>
        </p:spPr>
        <p:txBody>
          <a:bodyPr wrap="square" lIns="0" tIns="0" rIns="0" bIns="0" rtlCol="0" anchor="t"/>
          <a:lstStyle/>
          <a:p>
            <a:pPr indent="0" marL="0">
              <a:buNone/>
            </a:pPr>
            <a:r>
              <a:rPr lang="en-US" sz="1600" b="1" dirty="0">
                <a:solidFill>
                  <a:srgbClr val="13283C"/>
                </a:solidFill>
                <a:latin typeface="Meiryo" pitchFamily="34" charset="0"/>
                <a:ea typeface="Meiryo" pitchFamily="34" charset="-122"/>
                <a:cs typeface="Meiryo" pitchFamily="34" charset="-120"/>
              </a:rPr>
              <a:t>試合の日の人の流れを見る</a:t>
            </a:r>
            <a:endParaRPr lang="en-US" sz="1600" dirty="0"/>
          </a:p>
        </p:txBody>
      </p:sp>
      <p:sp>
        <p:nvSpPr>
          <p:cNvPr id="11" name="Text 8"/>
          <p:cNvSpPr txBox="1"/>
          <p:nvPr/>
        </p:nvSpPr>
        <p:spPr>
          <a:xfrm>
            <a:off x="777240" y="3090672"/>
            <a:ext cx="2194560" cy="292608"/>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モバイル空間統計</a:t>
            </a:r>
            <a:endParaRPr lang="en-US" sz="1050" dirty="0"/>
          </a:p>
        </p:txBody>
      </p:sp>
      <p:sp>
        <p:nvSpPr>
          <p:cNvPr id="12" name="Text 9"/>
          <p:cNvSpPr txBox="1"/>
          <p:nvPr/>
        </p:nvSpPr>
        <p:spPr>
          <a:xfrm>
            <a:off x="777240" y="3474720"/>
            <a:ext cx="2971800" cy="914400"/>
          </a:xfrm>
          <a:prstGeom prst="rect">
            <a:avLst/>
          </a:prstGeom>
          <a:noFill/>
          <a:ln/>
        </p:spPr>
        <p:txBody>
          <a:bodyPr wrap="square" lIns="0" tIns="0" rIns="0" bIns="0" rtlCol="0" anchor="t"/>
          <a:lstStyle/>
          <a:p>
            <a:pPr indent="0" marL="0">
              <a:buNone/>
            </a:pPr>
            <a:r>
              <a:rPr lang="en-US" sz="1200" dirty="0">
                <a:solidFill>
                  <a:srgbClr val="1B2B3D"/>
                </a:solidFill>
                <a:latin typeface="Meiryo" pitchFamily="34" charset="0"/>
                <a:ea typeface="Meiryo" pitchFamily="34" charset="-122"/>
                <a:cs typeface="Meiryo" pitchFamily="34" charset="-120"/>
              </a:rPr>
              <a:t>試合日と普段の日の三宮・元町の人の数を比べる。試合の後にどのエリアに滞在したかも分析できます</a:t>
            </a:r>
            <a:endParaRPr lang="en-US" sz="1200" dirty="0"/>
          </a:p>
        </p:txBody>
      </p:sp>
      <p:pic>
        <p:nvPicPr>
          <p:cNvPr id="13" name="Image 1" descr="preencoded.png">    </p:cNvPr>
          <p:cNvPicPr>
            <a:picLocks noChangeAspect="1"/>
          </p:cNvPicPr>
          <p:nvPr/>
        </p:nvPicPr>
        <p:blipFill>
          <a:blip r:embed="rId2"/>
          <a:stretch>
            <a:fillRect/>
          </a:stretch>
        </p:blipFill>
        <p:spPr>
          <a:xfrm>
            <a:off x="4023360" y="2971800"/>
            <a:ext cx="274320" cy="274320"/>
          </a:xfrm>
          <a:prstGeom prst="rect">
            <a:avLst/>
          </a:prstGeom>
        </p:spPr>
      </p:pic>
      <p:sp>
        <p:nvSpPr>
          <p:cNvPr id="14" name="Shape 10"/>
          <p:cNvSpPr/>
          <p:nvPr/>
        </p:nvSpPr>
        <p:spPr>
          <a:xfrm>
            <a:off x="4389120" y="1737360"/>
            <a:ext cx="3383280" cy="2743200"/>
          </a:xfrm>
          <a:prstGeom prst="roundRect">
            <a:avLst>
              <a:gd name="adj" fmla="val 2667"/>
            </a:avLst>
          </a:prstGeom>
          <a:solidFill>
            <a:srgbClr val="F2F5F8"/>
          </a:solidFill>
          <a:ln w="12700">
            <a:solidFill>
              <a:srgbClr val="F2F5F8"/>
            </a:solidFill>
            <a:prstDash val="solid"/>
          </a:ln>
        </p:spPr>
      </p:sp>
      <p:sp>
        <p:nvSpPr>
          <p:cNvPr id="15" name="Shape 11"/>
          <p:cNvSpPr/>
          <p:nvPr/>
        </p:nvSpPr>
        <p:spPr>
          <a:xfrm>
            <a:off x="4617720" y="1901952"/>
            <a:ext cx="594360" cy="594360"/>
          </a:xfrm>
          <a:prstGeom prst="ellipse">
            <a:avLst/>
          </a:prstGeom>
          <a:solidFill>
            <a:srgbClr val="C9002B"/>
          </a:solidFill>
          <a:ln w="12700">
            <a:solidFill>
              <a:srgbClr val="C9002B"/>
            </a:solidFill>
            <a:prstDash val="solid"/>
          </a:ln>
        </p:spPr>
      </p:sp>
      <p:sp>
        <p:nvSpPr>
          <p:cNvPr id="16" name="Text 12"/>
          <p:cNvSpPr txBox="1"/>
          <p:nvPr/>
        </p:nvSpPr>
        <p:spPr>
          <a:xfrm>
            <a:off x="4617720" y="1901952"/>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2</a:t>
            </a:r>
            <a:endParaRPr lang="en-US" sz="2000" dirty="0"/>
          </a:p>
        </p:txBody>
      </p:sp>
      <p:pic>
        <p:nvPicPr>
          <p:cNvPr id="17" name="Image 2" descr="preencoded.png">    </p:cNvPr>
          <p:cNvPicPr>
            <a:picLocks noChangeAspect="1"/>
          </p:cNvPicPr>
          <p:nvPr/>
        </p:nvPicPr>
        <p:blipFill>
          <a:blip r:embed="rId3"/>
          <a:stretch>
            <a:fillRect/>
          </a:stretch>
        </p:blipFill>
        <p:spPr>
          <a:xfrm>
            <a:off x="7132320" y="1993392"/>
            <a:ext cx="411480" cy="411480"/>
          </a:xfrm>
          <a:prstGeom prst="rect">
            <a:avLst/>
          </a:prstGeom>
        </p:spPr>
      </p:pic>
      <p:sp>
        <p:nvSpPr>
          <p:cNvPr id="18" name="Text 13"/>
          <p:cNvSpPr txBox="1"/>
          <p:nvPr/>
        </p:nvSpPr>
        <p:spPr>
          <a:xfrm>
            <a:off x="4617720" y="2633472"/>
            <a:ext cx="3017520" cy="411480"/>
          </a:xfrm>
          <a:prstGeom prst="rect">
            <a:avLst/>
          </a:prstGeom>
          <a:noFill/>
          <a:ln/>
        </p:spPr>
        <p:txBody>
          <a:bodyPr wrap="square" lIns="0" tIns="0" rIns="0" bIns="0" rtlCol="0" anchor="t"/>
          <a:lstStyle/>
          <a:p>
            <a:pPr indent="0" marL="0">
              <a:buNone/>
            </a:pPr>
            <a:r>
              <a:rPr lang="en-US" sz="1600" b="1" dirty="0">
                <a:solidFill>
                  <a:srgbClr val="13283C"/>
                </a:solidFill>
                <a:latin typeface="Meiryo" pitchFamily="34" charset="0"/>
                <a:ea typeface="Meiryo" pitchFamily="34" charset="-122"/>
                <a:cs typeface="Meiryo" pitchFamily="34" charset="-120"/>
              </a:rPr>
              <a:t>寄らなかった理由を聞く</a:t>
            </a:r>
            <a:endParaRPr lang="en-US" sz="1600" dirty="0"/>
          </a:p>
        </p:txBody>
      </p:sp>
      <p:sp>
        <p:nvSpPr>
          <p:cNvPr id="19" name="Text 14"/>
          <p:cNvSpPr txBox="1"/>
          <p:nvPr/>
        </p:nvSpPr>
        <p:spPr>
          <a:xfrm>
            <a:off x="4617720" y="3090672"/>
            <a:ext cx="2194560" cy="292608"/>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プレミアパネル</a:t>
            </a:r>
            <a:endParaRPr lang="en-US" sz="1050" dirty="0"/>
          </a:p>
        </p:txBody>
      </p:sp>
      <p:sp>
        <p:nvSpPr>
          <p:cNvPr id="20" name="Text 15"/>
          <p:cNvSpPr txBox="1"/>
          <p:nvPr/>
        </p:nvSpPr>
        <p:spPr>
          <a:xfrm>
            <a:off x="4617720" y="3474720"/>
            <a:ext cx="2971800" cy="914400"/>
          </a:xfrm>
          <a:prstGeom prst="rect">
            <a:avLst/>
          </a:prstGeom>
          <a:noFill/>
          <a:ln/>
        </p:spPr>
        <p:txBody>
          <a:bodyPr wrap="square" lIns="0" tIns="0" rIns="0" bIns="0" rtlCol="0" anchor="t"/>
          <a:lstStyle/>
          <a:p>
            <a:pPr indent="0" marL="0">
              <a:buNone/>
            </a:pPr>
            <a:r>
              <a:rPr lang="en-US" sz="1200" dirty="0">
                <a:solidFill>
                  <a:srgbClr val="1B2B3D"/>
                </a:solidFill>
                <a:latin typeface="Meiryo" pitchFamily="34" charset="0"/>
                <a:ea typeface="Meiryo" pitchFamily="34" charset="-122"/>
                <a:cs typeface="Meiryo" pitchFamily="34" charset="-120"/>
              </a:rPr>
              <a:t>観戦した人・近所の人に、商店街に寄ったか・寄らなかった理由を聞く</a:t>
            </a:r>
            <a:endParaRPr lang="en-US" sz="1200" dirty="0"/>
          </a:p>
        </p:txBody>
      </p:sp>
      <p:pic>
        <p:nvPicPr>
          <p:cNvPr id="21" name="Image 3" descr="preencoded.png">    </p:cNvPr>
          <p:cNvPicPr>
            <a:picLocks noChangeAspect="1"/>
          </p:cNvPicPr>
          <p:nvPr/>
        </p:nvPicPr>
        <p:blipFill>
          <a:blip r:embed="rId4"/>
          <a:stretch>
            <a:fillRect/>
          </a:stretch>
        </p:blipFill>
        <p:spPr>
          <a:xfrm>
            <a:off x="7863840" y="2971800"/>
            <a:ext cx="274320" cy="274320"/>
          </a:xfrm>
          <a:prstGeom prst="rect">
            <a:avLst/>
          </a:prstGeom>
        </p:spPr>
      </p:pic>
      <p:sp>
        <p:nvSpPr>
          <p:cNvPr id="22" name="Shape 16"/>
          <p:cNvSpPr/>
          <p:nvPr/>
        </p:nvSpPr>
        <p:spPr>
          <a:xfrm>
            <a:off x="8229600" y="1737360"/>
            <a:ext cx="3383280" cy="2743200"/>
          </a:xfrm>
          <a:prstGeom prst="roundRect">
            <a:avLst>
              <a:gd name="adj" fmla="val 2667"/>
            </a:avLst>
          </a:prstGeom>
          <a:solidFill>
            <a:srgbClr val="F2F5F8"/>
          </a:solidFill>
          <a:ln w="12700">
            <a:solidFill>
              <a:srgbClr val="F2F5F8"/>
            </a:solidFill>
            <a:prstDash val="solid"/>
          </a:ln>
        </p:spPr>
      </p:sp>
      <p:sp>
        <p:nvSpPr>
          <p:cNvPr id="23" name="Shape 17"/>
          <p:cNvSpPr/>
          <p:nvPr/>
        </p:nvSpPr>
        <p:spPr>
          <a:xfrm>
            <a:off x="8458200" y="1901952"/>
            <a:ext cx="594360" cy="594360"/>
          </a:xfrm>
          <a:prstGeom prst="ellipse">
            <a:avLst/>
          </a:prstGeom>
          <a:solidFill>
            <a:srgbClr val="C9002B"/>
          </a:solidFill>
          <a:ln w="12700">
            <a:solidFill>
              <a:srgbClr val="C9002B"/>
            </a:solidFill>
            <a:prstDash val="solid"/>
          </a:ln>
        </p:spPr>
      </p:sp>
      <p:sp>
        <p:nvSpPr>
          <p:cNvPr id="24" name="Text 18"/>
          <p:cNvSpPr txBox="1"/>
          <p:nvPr/>
        </p:nvSpPr>
        <p:spPr>
          <a:xfrm>
            <a:off x="8458200" y="1901952"/>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3</a:t>
            </a:r>
            <a:endParaRPr lang="en-US" sz="2000" dirty="0"/>
          </a:p>
        </p:txBody>
      </p:sp>
      <p:pic>
        <p:nvPicPr>
          <p:cNvPr id="25" name="Image 4" descr="preencoded.png">    </p:cNvPr>
          <p:cNvPicPr>
            <a:picLocks noChangeAspect="1"/>
          </p:cNvPicPr>
          <p:nvPr/>
        </p:nvPicPr>
        <p:blipFill>
          <a:blip r:embed="rId5"/>
          <a:stretch>
            <a:fillRect/>
          </a:stretch>
        </p:blipFill>
        <p:spPr>
          <a:xfrm>
            <a:off x="10972800" y="1993392"/>
            <a:ext cx="411480" cy="411480"/>
          </a:xfrm>
          <a:prstGeom prst="rect">
            <a:avLst/>
          </a:prstGeom>
        </p:spPr>
      </p:pic>
      <p:sp>
        <p:nvSpPr>
          <p:cNvPr id="26" name="Text 19"/>
          <p:cNvSpPr txBox="1"/>
          <p:nvPr/>
        </p:nvSpPr>
        <p:spPr>
          <a:xfrm>
            <a:off x="8458200" y="2633472"/>
            <a:ext cx="3017520" cy="411480"/>
          </a:xfrm>
          <a:prstGeom prst="rect">
            <a:avLst/>
          </a:prstGeom>
          <a:noFill/>
          <a:ln/>
        </p:spPr>
        <p:txBody>
          <a:bodyPr wrap="square" lIns="0" tIns="0" rIns="0" bIns="0" rtlCol="0" anchor="t"/>
          <a:lstStyle/>
          <a:p>
            <a:pPr indent="0" marL="0">
              <a:buNone/>
            </a:pPr>
            <a:r>
              <a:rPr lang="en-US" sz="1600" b="1" dirty="0">
                <a:solidFill>
                  <a:srgbClr val="13283C"/>
                </a:solidFill>
                <a:latin typeface="Meiryo" pitchFamily="34" charset="0"/>
                <a:ea typeface="Meiryo" pitchFamily="34" charset="-122"/>
                <a:cs typeface="Meiryo" pitchFamily="34" charset="-120"/>
              </a:rPr>
              <a:t>試合に合わせて告知する</a:t>
            </a:r>
            <a:endParaRPr lang="en-US" sz="1600" dirty="0"/>
          </a:p>
        </p:txBody>
      </p:sp>
      <p:sp>
        <p:nvSpPr>
          <p:cNvPr id="27" name="Text 20"/>
          <p:cNvSpPr txBox="1"/>
          <p:nvPr/>
        </p:nvSpPr>
        <p:spPr>
          <a:xfrm>
            <a:off x="8458200" y="3090672"/>
            <a:ext cx="2194560" cy="292608"/>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docomo Ad Network</a:t>
            </a:r>
            <a:endParaRPr lang="en-US" sz="1050" dirty="0"/>
          </a:p>
        </p:txBody>
      </p:sp>
      <p:sp>
        <p:nvSpPr>
          <p:cNvPr id="28" name="Text 21"/>
          <p:cNvSpPr txBox="1"/>
          <p:nvPr/>
        </p:nvSpPr>
        <p:spPr>
          <a:xfrm>
            <a:off x="8458200" y="3474720"/>
            <a:ext cx="2971800" cy="914400"/>
          </a:xfrm>
          <a:prstGeom prst="rect">
            <a:avLst/>
          </a:prstGeom>
          <a:noFill/>
          <a:ln/>
        </p:spPr>
        <p:txBody>
          <a:bodyPr wrap="square" lIns="0" tIns="0" rIns="0" bIns="0" rtlCol="0" anchor="t"/>
          <a:lstStyle/>
          <a:p>
            <a:pPr indent="0" marL="0">
              <a:buNone/>
            </a:pPr>
            <a:r>
              <a:rPr lang="en-US" sz="1200" dirty="0">
                <a:solidFill>
                  <a:srgbClr val="1B2B3D"/>
                </a:solidFill>
                <a:latin typeface="Meiryo" pitchFamily="34" charset="0"/>
                <a:ea typeface="Meiryo" pitchFamily="34" charset="-122"/>
                <a:cs typeface="Meiryo" pitchFamily="34" charset="-120"/>
              </a:rPr>
              <a:t>試合日・来訪元に合わせて、商店街の店やキャンペーンを告知する</a:t>
            </a:r>
            <a:endParaRPr lang="en-US" sz="1200" dirty="0"/>
          </a:p>
        </p:txBody>
      </p:sp>
      <p:sp>
        <p:nvSpPr>
          <p:cNvPr id="29" name="Shape 22"/>
          <p:cNvSpPr/>
          <p:nvPr/>
        </p:nvSpPr>
        <p:spPr>
          <a:xfrm>
            <a:off x="548640" y="4663440"/>
            <a:ext cx="11064240" cy="1463040"/>
          </a:xfrm>
          <a:prstGeom prst="roundRect">
            <a:avLst>
              <a:gd name="adj" fmla="val 5000"/>
            </a:avLst>
          </a:prstGeom>
          <a:solidFill>
            <a:srgbClr val="FBEAEE"/>
          </a:solidFill>
          <a:ln w="12700">
            <a:solidFill>
              <a:srgbClr val="FBEAEE"/>
            </a:solidFill>
            <a:prstDash val="solid"/>
          </a:ln>
        </p:spPr>
      </p:sp>
      <p:sp>
        <p:nvSpPr>
          <p:cNvPr id="30" name="Text 23"/>
          <p:cNvSpPr txBox="1"/>
          <p:nvPr/>
        </p:nvSpPr>
        <p:spPr>
          <a:xfrm>
            <a:off x="777240" y="4800600"/>
            <a:ext cx="2011680" cy="310896"/>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これまでの取り組み</a:t>
            </a:r>
            <a:endParaRPr lang="en-US" sz="1100" dirty="0"/>
          </a:p>
        </p:txBody>
      </p:sp>
      <p:sp>
        <p:nvSpPr>
          <p:cNvPr id="31" name="Text 24"/>
          <p:cNvSpPr txBox="1"/>
          <p:nvPr/>
        </p:nvSpPr>
        <p:spPr>
          <a:xfrm>
            <a:off x="777240" y="5166360"/>
            <a:ext cx="7680960" cy="868680"/>
          </a:xfrm>
          <a:prstGeom prst="rect">
            <a:avLst/>
          </a:prstGeom>
          <a:noFill/>
          <a:ln/>
        </p:spPr>
        <p:txBody>
          <a:bodyPr wrap="square" lIns="0" tIns="0" rIns="0" bIns="0" rtlCol="0" anchor="t"/>
          <a:lstStyle/>
          <a:p>
            <a:pPr indent="0" marL="0">
              <a:buNone/>
            </a:pPr>
            <a:r>
              <a:rPr lang="en-US" sz="1200" dirty="0">
                <a:solidFill>
                  <a:srgbClr val="1B2B3D"/>
                </a:solidFill>
                <a:latin typeface="Meiryo" pitchFamily="34" charset="0"/>
                <a:ea typeface="Meiryo" pitchFamily="34" charset="-122"/>
                <a:cs typeface="Meiryo" pitchFamily="34" charset="-120"/>
              </a:rPr>
              <a:t>2025年12月、NTTドコモ関西・南京町商店街振興組合・One Bright KOBEが、南京町やGLION ARENA KOBE、TOTTEI PARKの125店舗で「d払い」キャンペーンを実施。神戸ストークスとも連携し、三宮・元町と港の周遊を促しました。</a:t>
            </a:r>
            <a:endParaRPr lang="en-US" sz="1200" dirty="0"/>
          </a:p>
        </p:txBody>
      </p:sp>
      <p:sp>
        <p:nvSpPr>
          <p:cNvPr id="32" name="Shape 25"/>
          <p:cNvSpPr/>
          <p:nvPr/>
        </p:nvSpPr>
        <p:spPr>
          <a:xfrm>
            <a:off x="8641080" y="4800600"/>
            <a:ext cx="2788920" cy="1188720"/>
          </a:xfrm>
          <a:prstGeom prst="roundRect">
            <a:avLst>
              <a:gd name="adj" fmla="val 6154"/>
            </a:avLst>
          </a:prstGeom>
          <a:solidFill>
            <a:srgbClr val="13283C"/>
          </a:solidFill>
          <a:ln w="12700">
            <a:solidFill>
              <a:srgbClr val="13283C"/>
            </a:solidFill>
            <a:prstDash val="solid"/>
          </a:ln>
        </p:spPr>
      </p:sp>
      <p:sp>
        <p:nvSpPr>
          <p:cNvPr id="33" name="Text 26"/>
          <p:cNvSpPr txBox="1"/>
          <p:nvPr/>
        </p:nvSpPr>
        <p:spPr>
          <a:xfrm>
            <a:off x="8778240" y="4864608"/>
            <a:ext cx="2560320" cy="274320"/>
          </a:xfrm>
          <a:prstGeom prst="rect">
            <a:avLst/>
          </a:prstGeom>
          <a:noFill/>
          <a:ln/>
        </p:spPr>
        <p:txBody>
          <a:bodyPr wrap="square" lIns="0" tIns="0" rIns="0" bIns="0" rtlCol="0" anchor="t"/>
          <a:lstStyle/>
          <a:p>
            <a:pPr indent="0" marL="0">
              <a:buNone/>
            </a:pPr>
            <a:r>
              <a:rPr lang="en-US" sz="1100" b="1" dirty="0">
                <a:solidFill>
                  <a:srgbClr val="FF8FA3"/>
                </a:solidFill>
                <a:latin typeface="Meiryo" pitchFamily="34" charset="0"/>
                <a:ea typeface="Meiryo" pitchFamily="34" charset="-122"/>
                <a:cs typeface="Meiryo" pitchFamily="34" charset="-120"/>
              </a:rPr>
              <a:t>次の一歩</a:t>
            </a:r>
            <a:endParaRPr lang="en-US" sz="1100" dirty="0"/>
          </a:p>
        </p:txBody>
      </p:sp>
      <p:sp>
        <p:nvSpPr>
          <p:cNvPr id="34" name="Text 27"/>
          <p:cNvSpPr txBox="1"/>
          <p:nvPr/>
        </p:nvSpPr>
        <p:spPr>
          <a:xfrm>
            <a:off x="8778240" y="5138928"/>
            <a:ext cx="2560320" cy="822960"/>
          </a:xfrm>
          <a:prstGeom prst="rect">
            <a:avLst/>
          </a:prstGeom>
          <a:noFill/>
          <a:ln/>
        </p:spPr>
        <p:txBody>
          <a:bodyPr wrap="square" lIns="0" tIns="0" rIns="0" bIns="0" rtlCol="0" anchor="t"/>
          <a:lstStyle/>
          <a:p>
            <a:pPr indent="0" marL="0">
              <a:buNone/>
            </a:pPr>
            <a:r>
              <a:rPr lang="en-US" sz="1200" b="1" dirty="0">
                <a:solidFill>
                  <a:srgbClr val="FFFFFF"/>
                </a:solidFill>
                <a:latin typeface="Meiryo" pitchFamily="34" charset="0"/>
                <a:ea typeface="Meiryo" pitchFamily="34" charset="-122"/>
                <a:cs typeface="Meiryo" pitchFamily="34" charset="-120"/>
              </a:rPr>
              <a:t>こうした取り組みの効果を、データで測って次に生かす</a:t>
            </a:r>
            <a:endParaRPr lang="en-US" sz="1200" dirty="0"/>
          </a:p>
        </p:txBody>
      </p:sp>
      <p:sp>
        <p:nvSpPr>
          <p:cNvPr id="35" name="Text 28"/>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試合後の滞在先の分析はモバイル空間統計のオプション機能（みやぎん経済研究所の事例で活用）。分析できる範囲はメニューにより異なります</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02　ご提案</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まずは1つのサービスから</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お悩みに合う1つを選んで始められます。3つ全部をそろえる必要はありません</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06</a:t>
            </a:r>
            <a:endParaRPr lang="en-US" sz="1000" dirty="0"/>
          </a:p>
        </p:txBody>
      </p:sp>
      <p:sp>
        <p:nvSpPr>
          <p:cNvPr id="6" name="Shape 4"/>
          <p:cNvSpPr/>
          <p:nvPr/>
        </p:nvSpPr>
        <p:spPr>
          <a:xfrm>
            <a:off x="548640" y="1783080"/>
            <a:ext cx="3566160" cy="4206240"/>
          </a:xfrm>
          <a:prstGeom prst="roundRect">
            <a:avLst>
              <a:gd name="adj" fmla="val 2051"/>
            </a:avLst>
          </a:prstGeom>
          <a:solidFill>
            <a:srgbClr val="FFFFFF"/>
          </a:solidFill>
          <a:ln w="12700">
            <a:solidFill>
              <a:srgbClr val="C9002B"/>
            </a:solidFill>
            <a:prstDash val="solid"/>
          </a:ln>
        </p:spPr>
      </p:sp>
      <p:sp>
        <p:nvSpPr>
          <p:cNvPr id="7" name="Text 5"/>
          <p:cNvSpPr txBox="1"/>
          <p:nvPr/>
        </p:nvSpPr>
        <p:spPr>
          <a:xfrm>
            <a:off x="777240" y="1938528"/>
            <a:ext cx="3108960" cy="256032"/>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こんなときに</a:t>
            </a:r>
            <a:endParaRPr lang="en-US" sz="1100" dirty="0"/>
          </a:p>
        </p:txBody>
      </p:sp>
      <p:sp>
        <p:nvSpPr>
          <p:cNvPr id="8" name="Text 6"/>
          <p:cNvSpPr txBox="1"/>
          <p:nvPr/>
        </p:nvSpPr>
        <p:spPr>
          <a:xfrm>
            <a:off x="777240" y="2212848"/>
            <a:ext cx="3154680" cy="548640"/>
          </a:xfrm>
          <a:prstGeom prst="rect">
            <a:avLst/>
          </a:prstGeom>
          <a:noFill/>
          <a:ln/>
        </p:spPr>
        <p:txBody>
          <a:bodyPr wrap="square" lIns="0" tIns="0" rIns="0" bIns="0" rtlCol="0" anchor="t"/>
          <a:lstStyle/>
          <a:p>
            <a:pPr indent="0" marL="0">
              <a:buNone/>
            </a:pPr>
            <a:r>
              <a:rPr lang="en-US" sz="1500" b="1" dirty="0">
                <a:solidFill>
                  <a:srgbClr val="13283C"/>
                </a:solidFill>
                <a:latin typeface="Meiryo" pitchFamily="34" charset="0"/>
                <a:ea typeface="Meiryo" pitchFamily="34" charset="-122"/>
                <a:cs typeface="Meiryo" pitchFamily="34" charset="-120"/>
              </a:rPr>
              <a:t>「来なかった理由を知りたい」</a:t>
            </a:r>
            <a:endParaRPr lang="en-US" sz="1500" dirty="0"/>
          </a:p>
        </p:txBody>
      </p:sp>
      <p:sp>
        <p:nvSpPr>
          <p:cNvPr id="9" name="Shape 7"/>
          <p:cNvSpPr/>
          <p:nvPr/>
        </p:nvSpPr>
        <p:spPr>
          <a:xfrm>
            <a:off x="777240" y="2926080"/>
            <a:ext cx="594360" cy="594360"/>
          </a:xfrm>
          <a:prstGeom prst="ellipse">
            <a:avLst/>
          </a:prstGeom>
          <a:solidFill>
            <a:srgbClr val="C9002B"/>
          </a:solidFill>
          <a:ln w="12700">
            <a:solidFill>
              <a:srgbClr val="C9002B"/>
            </a:solidFill>
            <a:prstDash val="solid"/>
          </a:ln>
        </p:spPr>
      </p:sp>
      <p:pic>
        <p:nvPicPr>
          <p:cNvPr id="10" name="Image 0" descr="preencoded.png">    </p:cNvPr>
          <p:cNvPicPr>
            <a:picLocks noChangeAspect="1"/>
          </p:cNvPicPr>
          <p:nvPr/>
        </p:nvPicPr>
        <p:blipFill>
          <a:blip r:embed="rId1"/>
          <a:stretch>
            <a:fillRect/>
          </a:stretch>
        </p:blipFill>
        <p:spPr>
          <a:xfrm>
            <a:off x="925830" y="3074670"/>
            <a:ext cx="297180" cy="297180"/>
          </a:xfrm>
          <a:prstGeom prst="rect">
            <a:avLst/>
          </a:prstGeom>
        </p:spPr>
      </p:pic>
      <p:sp>
        <p:nvSpPr>
          <p:cNvPr id="11" name="Text 8"/>
          <p:cNvSpPr txBox="1"/>
          <p:nvPr/>
        </p:nvSpPr>
        <p:spPr>
          <a:xfrm>
            <a:off x="1508760" y="2926080"/>
            <a:ext cx="2514600" cy="594360"/>
          </a:xfrm>
          <a:prstGeom prst="rect">
            <a:avLst/>
          </a:prstGeom>
          <a:noFill/>
          <a:ln/>
        </p:spPr>
        <p:txBody>
          <a:bodyPr wrap="square" lIns="0" tIns="0" rIns="0" bIns="0" rtlCol="0" anchor="ctr"/>
          <a:lstStyle/>
          <a:p>
            <a:pPr indent="0" marL="0">
              <a:buNone/>
            </a:pPr>
            <a:r>
              <a:rPr lang="en-US" sz="1500" b="1" dirty="0">
                <a:solidFill>
                  <a:srgbClr val="1B2B3D"/>
                </a:solidFill>
                <a:latin typeface="Meiryo" pitchFamily="34" charset="0"/>
                <a:ea typeface="Meiryo" pitchFamily="34" charset="-122"/>
                <a:cs typeface="Meiryo" pitchFamily="34" charset="-120"/>
              </a:rPr>
              <a:t>プレミアパネル</a:t>
            </a:r>
            <a:endParaRPr lang="en-US" sz="1500" dirty="0"/>
          </a:p>
        </p:txBody>
      </p:sp>
      <p:sp>
        <p:nvSpPr>
          <p:cNvPr id="12" name="Text 9"/>
          <p:cNvSpPr txBox="1"/>
          <p:nvPr/>
        </p:nvSpPr>
        <p:spPr>
          <a:xfrm>
            <a:off x="777240" y="3657600"/>
            <a:ext cx="3154680" cy="777240"/>
          </a:xfrm>
          <a:prstGeom prst="rect">
            <a:avLst/>
          </a:prstGeom>
          <a:noFill/>
          <a:ln/>
        </p:spPr>
        <p:txBody>
          <a:bodyPr wrap="square" lIns="0" tIns="0" rIns="0" bIns="0" rtlCol="0" anchor="t"/>
          <a:lstStyle/>
          <a:p>
            <a:pPr indent="0" marL="0">
              <a:buNone/>
            </a:pPr>
            <a:r>
              <a:rPr lang="en-US" sz="1250" dirty="0">
                <a:solidFill>
                  <a:srgbClr val="1B2B3D"/>
                </a:solidFill>
                <a:latin typeface="Meiryo" pitchFamily="34" charset="0"/>
                <a:ea typeface="Meiryo" pitchFamily="34" charset="-122"/>
                <a:cs typeface="Meiryo" pitchFamily="34" charset="-120"/>
              </a:rPr>
              <a:t>近隣の人に、イベントを知っていたか・なぜ来なかったかを聞く</a:t>
            </a:r>
            <a:endParaRPr lang="en-US" sz="1250" dirty="0"/>
          </a:p>
        </p:txBody>
      </p:sp>
      <p:sp>
        <p:nvSpPr>
          <p:cNvPr id="13" name="Shape 10"/>
          <p:cNvSpPr/>
          <p:nvPr/>
        </p:nvSpPr>
        <p:spPr>
          <a:xfrm>
            <a:off x="777240" y="4526280"/>
            <a:ext cx="3108960" cy="0"/>
          </a:xfrm>
          <a:prstGeom prst="line">
            <a:avLst/>
          </a:prstGeom>
          <a:noFill/>
          <a:ln w="12700">
            <a:solidFill>
              <a:srgbClr val="D5DDE5"/>
            </a:solidFill>
            <a:prstDash val="solid"/>
          </a:ln>
        </p:spPr>
      </p:sp>
      <p:sp>
        <p:nvSpPr>
          <p:cNvPr id="14" name="Text 11"/>
          <p:cNvSpPr txBox="1"/>
          <p:nvPr/>
        </p:nvSpPr>
        <p:spPr>
          <a:xfrm>
            <a:off x="777240" y="4617720"/>
            <a:ext cx="3154680" cy="640080"/>
          </a:xfrm>
          <a:prstGeom prst="rect">
            <a:avLst/>
          </a:prstGeom>
          <a:noFill/>
          <a:ln/>
        </p:spPr>
        <p:txBody>
          <a:bodyPr wrap="square" lIns="0" tIns="0" rIns="0" bIns="0" rtlCol="0" anchor="ctr"/>
          <a:lstStyle/>
          <a:p>
            <a:pPr indent="0" marL="0">
              <a:buNone/>
            </a:pPr>
            <a:r>
              <a:rPr lang="en-US" sz="1300" b="1" dirty="0">
                <a:solidFill>
                  <a:srgbClr val="C9002B"/>
                </a:solidFill>
                <a:latin typeface="Meiryo" pitchFamily="34" charset="0"/>
                <a:ea typeface="Meiryo" pitchFamily="34" charset="-122"/>
                <a:cs typeface="Meiryo" pitchFamily="34" charset="-120"/>
              </a:rPr>
              <a:t>最低 27.5万円／回（税込）</a:t>
            </a:r>
            <a:endParaRPr lang="en-US" sz="1300" dirty="0"/>
          </a:p>
        </p:txBody>
      </p:sp>
      <p:sp>
        <p:nvSpPr>
          <p:cNvPr id="15" name="Text 12"/>
          <p:cNvSpPr txBox="1"/>
          <p:nvPr/>
        </p:nvSpPr>
        <p:spPr>
          <a:xfrm>
            <a:off x="777240" y="5376672"/>
            <a:ext cx="2011680" cy="329184"/>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最初の1つにおすすめ</a:t>
            </a:r>
            <a:endParaRPr lang="en-US" sz="1100" dirty="0"/>
          </a:p>
        </p:txBody>
      </p:sp>
      <p:sp>
        <p:nvSpPr>
          <p:cNvPr id="16" name="Shape 13"/>
          <p:cNvSpPr/>
          <p:nvPr/>
        </p:nvSpPr>
        <p:spPr>
          <a:xfrm>
            <a:off x="4297680" y="1783080"/>
            <a:ext cx="3566160" cy="4206240"/>
          </a:xfrm>
          <a:prstGeom prst="roundRect">
            <a:avLst>
              <a:gd name="adj" fmla="val 2051"/>
            </a:avLst>
          </a:prstGeom>
          <a:solidFill>
            <a:srgbClr val="F2F5F8"/>
          </a:solidFill>
          <a:ln w="12700">
            <a:solidFill>
              <a:srgbClr val="F2F5F8"/>
            </a:solidFill>
            <a:prstDash val="solid"/>
          </a:ln>
        </p:spPr>
      </p:sp>
      <p:sp>
        <p:nvSpPr>
          <p:cNvPr id="17" name="Text 14"/>
          <p:cNvSpPr txBox="1"/>
          <p:nvPr/>
        </p:nvSpPr>
        <p:spPr>
          <a:xfrm>
            <a:off x="4526280" y="1938528"/>
            <a:ext cx="3108960" cy="256032"/>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こんなときに</a:t>
            </a:r>
            <a:endParaRPr lang="en-US" sz="1100" dirty="0"/>
          </a:p>
        </p:txBody>
      </p:sp>
      <p:sp>
        <p:nvSpPr>
          <p:cNvPr id="18" name="Text 15"/>
          <p:cNvSpPr txBox="1"/>
          <p:nvPr/>
        </p:nvSpPr>
        <p:spPr>
          <a:xfrm>
            <a:off x="4526280" y="2212848"/>
            <a:ext cx="3154680" cy="548640"/>
          </a:xfrm>
          <a:prstGeom prst="rect">
            <a:avLst/>
          </a:prstGeom>
          <a:noFill/>
          <a:ln/>
        </p:spPr>
        <p:txBody>
          <a:bodyPr wrap="square" lIns="0" tIns="0" rIns="0" bIns="0" rtlCol="0" anchor="t"/>
          <a:lstStyle/>
          <a:p>
            <a:pPr indent="0" marL="0">
              <a:buNone/>
            </a:pPr>
            <a:r>
              <a:rPr lang="en-US" sz="1500" b="1" dirty="0">
                <a:solidFill>
                  <a:srgbClr val="13283C"/>
                </a:solidFill>
                <a:latin typeface="Meiryo" pitchFamily="34" charset="0"/>
                <a:ea typeface="Meiryo" pitchFamily="34" charset="-122"/>
                <a:cs typeface="Meiryo" pitchFamily="34" charset="-120"/>
              </a:rPr>
              <a:t>「誰が・どこから来たか知りたい」</a:t>
            </a:r>
            <a:endParaRPr lang="en-US" sz="1500" dirty="0"/>
          </a:p>
        </p:txBody>
      </p:sp>
      <p:sp>
        <p:nvSpPr>
          <p:cNvPr id="19" name="Shape 16"/>
          <p:cNvSpPr/>
          <p:nvPr/>
        </p:nvSpPr>
        <p:spPr>
          <a:xfrm>
            <a:off x="4526280" y="2926080"/>
            <a:ext cx="594360" cy="594360"/>
          </a:xfrm>
          <a:prstGeom prst="ellipse">
            <a:avLst/>
          </a:prstGeom>
          <a:solidFill>
            <a:srgbClr val="C9002B"/>
          </a:solidFill>
          <a:ln w="12700">
            <a:solidFill>
              <a:srgbClr val="C9002B"/>
            </a:solidFill>
            <a:prstDash val="solid"/>
          </a:ln>
        </p:spPr>
      </p:sp>
      <p:pic>
        <p:nvPicPr>
          <p:cNvPr id="20" name="Image 1" descr="preencoded.png">    </p:cNvPr>
          <p:cNvPicPr>
            <a:picLocks noChangeAspect="1"/>
          </p:cNvPicPr>
          <p:nvPr/>
        </p:nvPicPr>
        <p:blipFill>
          <a:blip r:embed="rId2"/>
          <a:stretch>
            <a:fillRect/>
          </a:stretch>
        </p:blipFill>
        <p:spPr>
          <a:xfrm>
            <a:off x="4674870" y="3074670"/>
            <a:ext cx="297180" cy="297180"/>
          </a:xfrm>
          <a:prstGeom prst="rect">
            <a:avLst/>
          </a:prstGeom>
        </p:spPr>
      </p:pic>
      <p:sp>
        <p:nvSpPr>
          <p:cNvPr id="21" name="Text 17"/>
          <p:cNvSpPr txBox="1"/>
          <p:nvPr/>
        </p:nvSpPr>
        <p:spPr>
          <a:xfrm>
            <a:off x="5257800" y="2926080"/>
            <a:ext cx="2514600" cy="594360"/>
          </a:xfrm>
          <a:prstGeom prst="rect">
            <a:avLst/>
          </a:prstGeom>
          <a:noFill/>
          <a:ln/>
        </p:spPr>
        <p:txBody>
          <a:bodyPr wrap="square" lIns="0" tIns="0" rIns="0" bIns="0" rtlCol="0" anchor="ctr"/>
          <a:lstStyle/>
          <a:p>
            <a:pPr indent="0" marL="0">
              <a:buNone/>
            </a:pPr>
            <a:r>
              <a:rPr lang="en-US" sz="1500" b="1" dirty="0">
                <a:solidFill>
                  <a:srgbClr val="1B2B3D"/>
                </a:solidFill>
                <a:latin typeface="Meiryo" pitchFamily="34" charset="0"/>
                <a:ea typeface="Meiryo" pitchFamily="34" charset="-122"/>
                <a:cs typeface="Meiryo" pitchFamily="34" charset="-120"/>
              </a:rPr>
              <a:t>モバイル空間統計</a:t>
            </a:r>
            <a:endParaRPr lang="en-US" sz="1500" dirty="0"/>
          </a:p>
        </p:txBody>
      </p:sp>
      <p:sp>
        <p:nvSpPr>
          <p:cNvPr id="22" name="Text 18"/>
          <p:cNvSpPr txBox="1"/>
          <p:nvPr/>
        </p:nvSpPr>
        <p:spPr>
          <a:xfrm>
            <a:off x="4526280" y="3657600"/>
            <a:ext cx="3154680" cy="777240"/>
          </a:xfrm>
          <a:prstGeom prst="rect">
            <a:avLst/>
          </a:prstGeom>
          <a:noFill/>
          <a:ln/>
        </p:spPr>
        <p:txBody>
          <a:bodyPr wrap="square" lIns="0" tIns="0" rIns="0" bIns="0" rtlCol="0" anchor="t"/>
          <a:lstStyle/>
          <a:p>
            <a:pPr indent="0" marL="0">
              <a:buNone/>
            </a:pPr>
            <a:r>
              <a:rPr lang="en-US" sz="1250" dirty="0">
                <a:solidFill>
                  <a:srgbClr val="1B2B3D"/>
                </a:solidFill>
                <a:latin typeface="Meiryo" pitchFamily="34" charset="0"/>
                <a:ea typeface="Meiryo" pitchFamily="34" charset="-122"/>
                <a:cs typeface="Meiryo" pitchFamily="34" charset="-120"/>
              </a:rPr>
              <a:t>当日と普段の日の人の数、来訪元、年代を比べる</a:t>
            </a:r>
            <a:endParaRPr lang="en-US" sz="1250" dirty="0"/>
          </a:p>
        </p:txBody>
      </p:sp>
      <p:sp>
        <p:nvSpPr>
          <p:cNvPr id="23" name="Shape 19"/>
          <p:cNvSpPr/>
          <p:nvPr/>
        </p:nvSpPr>
        <p:spPr>
          <a:xfrm>
            <a:off x="4526280" y="4526280"/>
            <a:ext cx="3108960" cy="0"/>
          </a:xfrm>
          <a:prstGeom prst="line">
            <a:avLst/>
          </a:prstGeom>
          <a:noFill/>
          <a:ln w="12700">
            <a:solidFill>
              <a:srgbClr val="D5DDE5"/>
            </a:solidFill>
            <a:prstDash val="solid"/>
          </a:ln>
        </p:spPr>
      </p:sp>
      <p:sp>
        <p:nvSpPr>
          <p:cNvPr id="24" name="Text 20"/>
          <p:cNvSpPr txBox="1"/>
          <p:nvPr/>
        </p:nvSpPr>
        <p:spPr>
          <a:xfrm>
            <a:off x="4526280" y="4617720"/>
            <a:ext cx="3154680" cy="640080"/>
          </a:xfrm>
          <a:prstGeom prst="rect">
            <a:avLst/>
          </a:prstGeom>
          <a:noFill/>
          <a:ln/>
        </p:spPr>
        <p:txBody>
          <a:bodyPr wrap="square" lIns="0" tIns="0" rIns="0" bIns="0" rtlCol="0" anchor="ctr"/>
          <a:lstStyle/>
          <a:p>
            <a:pPr indent="0" marL="0">
              <a:buNone/>
            </a:pPr>
            <a:r>
              <a:rPr lang="en-US" sz="1300" b="1" dirty="0">
                <a:solidFill>
                  <a:srgbClr val="C9002B"/>
                </a:solidFill>
                <a:latin typeface="Meiryo" pitchFamily="34" charset="0"/>
                <a:ea typeface="Meiryo" pitchFamily="34" charset="-122"/>
                <a:cs typeface="Meiryo" pitchFamily="34" charset="-120"/>
              </a:rPr>
              <a:t>スポット分析は個別見積</a:t>
            </a:r>
            <a:endParaRPr lang="en-US" sz="1300" dirty="0"/>
          </a:p>
          <a:p>
            <a:pPr indent="0" marL="0">
              <a:buNone/>
            </a:pPr>
            <a:r>
              <a:rPr lang="en-US" sz="1300" b="1" dirty="0">
                <a:solidFill>
                  <a:srgbClr val="C9002B"/>
                </a:solidFill>
                <a:latin typeface="Meiryo" pitchFamily="34" charset="0"/>
                <a:ea typeface="Meiryo" pitchFamily="34" charset="-122"/>
                <a:cs typeface="Meiryo" pitchFamily="34" charset="-120"/>
              </a:rPr>
              <a:t>人口マップは月額9万円〜</a:t>
            </a:r>
            <a:endParaRPr lang="en-US" sz="1300" dirty="0"/>
          </a:p>
        </p:txBody>
      </p:sp>
      <p:sp>
        <p:nvSpPr>
          <p:cNvPr id="25" name="Shape 21"/>
          <p:cNvSpPr/>
          <p:nvPr/>
        </p:nvSpPr>
        <p:spPr>
          <a:xfrm>
            <a:off x="8046720" y="1783080"/>
            <a:ext cx="3566160" cy="4206240"/>
          </a:xfrm>
          <a:prstGeom prst="roundRect">
            <a:avLst>
              <a:gd name="adj" fmla="val 2051"/>
            </a:avLst>
          </a:prstGeom>
          <a:solidFill>
            <a:srgbClr val="F2F5F8"/>
          </a:solidFill>
          <a:ln w="12700">
            <a:solidFill>
              <a:srgbClr val="F2F5F8"/>
            </a:solidFill>
            <a:prstDash val="solid"/>
          </a:ln>
        </p:spPr>
      </p:sp>
      <p:sp>
        <p:nvSpPr>
          <p:cNvPr id="26" name="Text 22"/>
          <p:cNvSpPr txBox="1"/>
          <p:nvPr/>
        </p:nvSpPr>
        <p:spPr>
          <a:xfrm>
            <a:off x="8275320" y="1938528"/>
            <a:ext cx="3108960" cy="256032"/>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こんなときに</a:t>
            </a:r>
            <a:endParaRPr lang="en-US" sz="1100" dirty="0"/>
          </a:p>
        </p:txBody>
      </p:sp>
      <p:sp>
        <p:nvSpPr>
          <p:cNvPr id="27" name="Text 23"/>
          <p:cNvSpPr txBox="1"/>
          <p:nvPr/>
        </p:nvSpPr>
        <p:spPr>
          <a:xfrm>
            <a:off x="8275320" y="2212848"/>
            <a:ext cx="3154680" cy="548640"/>
          </a:xfrm>
          <a:prstGeom prst="rect">
            <a:avLst/>
          </a:prstGeom>
          <a:noFill/>
          <a:ln/>
        </p:spPr>
        <p:txBody>
          <a:bodyPr wrap="square" lIns="0" tIns="0" rIns="0" bIns="0" rtlCol="0" anchor="t"/>
          <a:lstStyle/>
          <a:p>
            <a:pPr indent="0" marL="0">
              <a:buNone/>
            </a:pPr>
            <a:r>
              <a:rPr lang="en-US" sz="1500" b="1" dirty="0">
                <a:solidFill>
                  <a:srgbClr val="13283C"/>
                </a:solidFill>
                <a:latin typeface="Meiryo" pitchFamily="34" charset="0"/>
                <a:ea typeface="Meiryo" pitchFamily="34" charset="-122"/>
                <a:cs typeface="Meiryo" pitchFamily="34" charset="-120"/>
              </a:rPr>
              <a:t>「新しい人に届けたい」</a:t>
            </a:r>
            <a:endParaRPr lang="en-US" sz="1500" dirty="0"/>
          </a:p>
        </p:txBody>
      </p:sp>
      <p:sp>
        <p:nvSpPr>
          <p:cNvPr id="28" name="Shape 24"/>
          <p:cNvSpPr/>
          <p:nvPr/>
        </p:nvSpPr>
        <p:spPr>
          <a:xfrm>
            <a:off x="8275320" y="2926080"/>
            <a:ext cx="594360" cy="594360"/>
          </a:xfrm>
          <a:prstGeom prst="ellipse">
            <a:avLst/>
          </a:prstGeom>
          <a:solidFill>
            <a:srgbClr val="C9002B"/>
          </a:solidFill>
          <a:ln w="12700">
            <a:solidFill>
              <a:srgbClr val="C9002B"/>
            </a:solidFill>
            <a:prstDash val="solid"/>
          </a:ln>
        </p:spPr>
      </p:sp>
      <p:pic>
        <p:nvPicPr>
          <p:cNvPr id="29" name="Image 2" descr="preencoded.png">    </p:cNvPr>
          <p:cNvPicPr>
            <a:picLocks noChangeAspect="1"/>
          </p:cNvPicPr>
          <p:nvPr/>
        </p:nvPicPr>
        <p:blipFill>
          <a:blip r:embed="rId3"/>
          <a:stretch>
            <a:fillRect/>
          </a:stretch>
        </p:blipFill>
        <p:spPr>
          <a:xfrm>
            <a:off x="8423910" y="3074670"/>
            <a:ext cx="297180" cy="297180"/>
          </a:xfrm>
          <a:prstGeom prst="rect">
            <a:avLst/>
          </a:prstGeom>
        </p:spPr>
      </p:pic>
      <p:sp>
        <p:nvSpPr>
          <p:cNvPr id="30" name="Text 25"/>
          <p:cNvSpPr txBox="1"/>
          <p:nvPr/>
        </p:nvSpPr>
        <p:spPr>
          <a:xfrm>
            <a:off x="9006840" y="2926080"/>
            <a:ext cx="2514600" cy="594360"/>
          </a:xfrm>
          <a:prstGeom prst="rect">
            <a:avLst/>
          </a:prstGeom>
          <a:noFill/>
          <a:ln/>
        </p:spPr>
        <p:txBody>
          <a:bodyPr wrap="square" lIns="0" tIns="0" rIns="0" bIns="0" rtlCol="0" anchor="ctr"/>
          <a:lstStyle/>
          <a:p>
            <a:pPr indent="0" marL="0">
              <a:buNone/>
            </a:pPr>
            <a:r>
              <a:rPr lang="en-US" sz="1500" b="1" dirty="0">
                <a:solidFill>
                  <a:srgbClr val="1B2B3D"/>
                </a:solidFill>
                <a:latin typeface="Meiryo" pitchFamily="34" charset="0"/>
                <a:ea typeface="Meiryo" pitchFamily="34" charset="-122"/>
                <a:cs typeface="Meiryo" pitchFamily="34" charset="-120"/>
              </a:rPr>
              <a:t>docomo Ad Network</a:t>
            </a:r>
            <a:endParaRPr lang="en-US" sz="1500" dirty="0"/>
          </a:p>
        </p:txBody>
      </p:sp>
      <p:sp>
        <p:nvSpPr>
          <p:cNvPr id="31" name="Text 26"/>
          <p:cNvSpPr txBox="1"/>
          <p:nvPr/>
        </p:nvSpPr>
        <p:spPr>
          <a:xfrm>
            <a:off x="8275320" y="3657600"/>
            <a:ext cx="3154680" cy="777240"/>
          </a:xfrm>
          <a:prstGeom prst="rect">
            <a:avLst/>
          </a:prstGeom>
          <a:noFill/>
          <a:ln/>
        </p:spPr>
        <p:txBody>
          <a:bodyPr wrap="square" lIns="0" tIns="0" rIns="0" bIns="0" rtlCol="0" anchor="t"/>
          <a:lstStyle/>
          <a:p>
            <a:pPr indent="0" marL="0">
              <a:buNone/>
            </a:pPr>
            <a:r>
              <a:rPr lang="en-US" sz="1250" dirty="0">
                <a:solidFill>
                  <a:srgbClr val="1B2B3D"/>
                </a:solidFill>
                <a:latin typeface="Meiryo" pitchFamily="34" charset="0"/>
                <a:ea typeface="Meiryo" pitchFamily="34" charset="-122"/>
                <a:cs typeface="Meiryo" pitchFamily="34" charset="-120"/>
              </a:rPr>
              <a:t>ドコモのデータで対象を絞り、イベントを告知する</a:t>
            </a:r>
            <a:endParaRPr lang="en-US" sz="1250" dirty="0"/>
          </a:p>
        </p:txBody>
      </p:sp>
      <p:sp>
        <p:nvSpPr>
          <p:cNvPr id="32" name="Shape 27"/>
          <p:cNvSpPr/>
          <p:nvPr/>
        </p:nvSpPr>
        <p:spPr>
          <a:xfrm>
            <a:off x="8275320" y="4526280"/>
            <a:ext cx="3108960" cy="0"/>
          </a:xfrm>
          <a:prstGeom prst="line">
            <a:avLst/>
          </a:prstGeom>
          <a:noFill/>
          <a:ln w="12700">
            <a:solidFill>
              <a:srgbClr val="D5DDE5"/>
            </a:solidFill>
            <a:prstDash val="solid"/>
          </a:ln>
        </p:spPr>
      </p:sp>
      <p:sp>
        <p:nvSpPr>
          <p:cNvPr id="33" name="Text 28"/>
          <p:cNvSpPr txBox="1"/>
          <p:nvPr/>
        </p:nvSpPr>
        <p:spPr>
          <a:xfrm>
            <a:off x="8275320" y="4617720"/>
            <a:ext cx="3154680" cy="640080"/>
          </a:xfrm>
          <a:prstGeom prst="rect">
            <a:avLst/>
          </a:prstGeom>
          <a:noFill/>
          <a:ln/>
        </p:spPr>
        <p:txBody>
          <a:bodyPr wrap="square" lIns="0" tIns="0" rIns="0" bIns="0" rtlCol="0" anchor="ctr"/>
          <a:lstStyle/>
          <a:p>
            <a:pPr indent="0" marL="0">
              <a:buNone/>
            </a:pPr>
            <a:r>
              <a:rPr lang="en-US" sz="1300" b="1" dirty="0">
                <a:solidFill>
                  <a:srgbClr val="C9002B"/>
                </a:solidFill>
                <a:latin typeface="Meiryo" pitchFamily="34" charset="0"/>
                <a:ea typeface="Meiryo" pitchFamily="34" charset="-122"/>
                <a:cs typeface="Meiryo" pitchFamily="34" charset="-120"/>
              </a:rPr>
              <a:t>予算に応じて個別見積</a:t>
            </a:r>
            <a:endParaRPr lang="en-US" sz="1300" dirty="0"/>
          </a:p>
        </p:txBody>
      </p:sp>
      <p:sp>
        <p:nvSpPr>
          <p:cNvPr id="34" name="Text 29"/>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料金は2026年9月時点の公開情報の例。対象・設問・期間などの条件で変わるため、正式見積でお示しします</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02　ご提案</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モバイル空間統計：誰が・どこから来たか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ドコモの携帯電話ネットワークの運用データから、地域の人の数を推計します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07</a:t>
            </a:r>
            <a:endParaRPr lang="en-US" sz="1000" dirty="0"/>
          </a:p>
        </p:txBody>
      </p:sp>
      <p:sp>
        <p:nvSpPr>
          <p:cNvPr id="6" name="Shape 4"/>
          <p:cNvSpPr/>
          <p:nvPr/>
        </p:nvSpPr>
        <p:spPr>
          <a:xfrm>
            <a:off x="548640" y="1783080"/>
            <a:ext cx="1828800" cy="1417320"/>
          </a:xfrm>
          <a:prstGeom prst="roundRect">
            <a:avLst>
              <a:gd name="adj" fmla="val 5161"/>
            </a:avLst>
          </a:prstGeom>
          <a:solidFill>
            <a:srgbClr val="F2F5F8"/>
          </a:solidFill>
          <a:ln w="12700">
            <a:solidFill>
              <a:srgbClr val="F2F5F8"/>
            </a:solidFill>
            <a:prstDash val="solid"/>
          </a:ln>
        </p:spPr>
      </p:sp>
      <p:pic>
        <p:nvPicPr>
          <p:cNvPr id="7" name="Image 0" descr="preencoded.png">    </p:cNvPr>
          <p:cNvPicPr>
            <a:picLocks noChangeAspect="1"/>
          </p:cNvPicPr>
          <p:nvPr/>
        </p:nvPicPr>
        <p:blipFill>
          <a:blip r:embed="rId1"/>
          <a:stretch>
            <a:fillRect/>
          </a:stretch>
        </p:blipFill>
        <p:spPr>
          <a:xfrm>
            <a:off x="731520" y="1920240"/>
            <a:ext cx="310896" cy="310896"/>
          </a:xfrm>
          <a:prstGeom prst="rect">
            <a:avLst/>
          </a:prstGeom>
        </p:spPr>
      </p:pic>
      <p:sp>
        <p:nvSpPr>
          <p:cNvPr id="8" name="Text 5"/>
          <p:cNvSpPr txBox="1"/>
          <p:nvPr/>
        </p:nvSpPr>
        <p:spPr>
          <a:xfrm>
            <a:off x="731520" y="2331720"/>
            <a:ext cx="1600200" cy="411480"/>
          </a:xfrm>
          <a:prstGeom prst="rect">
            <a:avLst/>
          </a:prstGeom>
          <a:noFill/>
          <a:ln/>
        </p:spPr>
        <p:txBody>
          <a:bodyPr wrap="square" lIns="0" tIns="0" rIns="0" bIns="0" rtlCol="0" anchor="ctr">
            <a:normAutofit/>
          </a:bodyPr>
          <a:lstStyle/>
          <a:p>
            <a:pPr indent="0" marL="0">
              <a:buNone/>
            </a:pPr>
            <a:r>
              <a:rPr lang="en-US" sz="1800" b="1" dirty="0">
                <a:solidFill>
                  <a:srgbClr val="C9002B"/>
                </a:solidFill>
                <a:latin typeface="Meiryo" pitchFamily="34" charset="0"/>
                <a:ea typeface="Meiryo" pitchFamily="34" charset="-122"/>
                <a:cs typeface="Meiryo" pitchFamily="34" charset="-120"/>
              </a:rPr>
              <a:t>約8,900万台</a:t>
            </a:r>
            <a:endParaRPr lang="en-US" sz="1800" dirty="0"/>
          </a:p>
        </p:txBody>
      </p:sp>
      <p:sp>
        <p:nvSpPr>
          <p:cNvPr id="9" name="Text 6"/>
          <p:cNvSpPr txBox="1"/>
          <p:nvPr/>
        </p:nvSpPr>
        <p:spPr>
          <a:xfrm>
            <a:off x="731520" y="2788920"/>
            <a:ext cx="1600200" cy="27432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国内の運用データ規模</a:t>
            </a:r>
            <a:endParaRPr lang="en-US" sz="1100" dirty="0"/>
          </a:p>
        </p:txBody>
      </p:sp>
      <p:sp>
        <p:nvSpPr>
          <p:cNvPr id="10" name="Shape 7"/>
          <p:cNvSpPr/>
          <p:nvPr/>
        </p:nvSpPr>
        <p:spPr>
          <a:xfrm>
            <a:off x="2560320" y="1783080"/>
            <a:ext cx="1828800" cy="1417320"/>
          </a:xfrm>
          <a:prstGeom prst="roundRect">
            <a:avLst>
              <a:gd name="adj" fmla="val 5161"/>
            </a:avLst>
          </a:prstGeom>
          <a:solidFill>
            <a:srgbClr val="F2F5F8"/>
          </a:solidFill>
          <a:ln w="12700">
            <a:solidFill>
              <a:srgbClr val="F2F5F8"/>
            </a:solidFill>
            <a:prstDash val="solid"/>
          </a:ln>
        </p:spPr>
      </p:sp>
      <p:pic>
        <p:nvPicPr>
          <p:cNvPr id="11" name="Image 1" descr="preencoded.png">    </p:cNvPr>
          <p:cNvPicPr>
            <a:picLocks noChangeAspect="1"/>
          </p:cNvPicPr>
          <p:nvPr/>
        </p:nvPicPr>
        <p:blipFill>
          <a:blip r:embed="rId2"/>
          <a:stretch>
            <a:fillRect/>
          </a:stretch>
        </p:blipFill>
        <p:spPr>
          <a:xfrm>
            <a:off x="2743200" y="1920240"/>
            <a:ext cx="310896" cy="310896"/>
          </a:xfrm>
          <a:prstGeom prst="rect">
            <a:avLst/>
          </a:prstGeom>
        </p:spPr>
      </p:pic>
      <p:sp>
        <p:nvSpPr>
          <p:cNvPr id="12" name="Text 8"/>
          <p:cNvSpPr txBox="1"/>
          <p:nvPr/>
        </p:nvSpPr>
        <p:spPr>
          <a:xfrm>
            <a:off x="2743200" y="2331720"/>
            <a:ext cx="1600200" cy="411480"/>
          </a:xfrm>
          <a:prstGeom prst="rect">
            <a:avLst/>
          </a:prstGeom>
          <a:noFill/>
          <a:ln/>
        </p:spPr>
        <p:txBody>
          <a:bodyPr wrap="square" lIns="0" tIns="0" rIns="0" bIns="0" rtlCol="0" anchor="ctr">
            <a:normAutofit/>
          </a:bodyPr>
          <a:lstStyle/>
          <a:p>
            <a:pPr indent="0" marL="0">
              <a:buNone/>
            </a:pPr>
            <a:r>
              <a:rPr lang="en-US" sz="1800" b="1" dirty="0">
                <a:solidFill>
                  <a:srgbClr val="C9002B"/>
                </a:solidFill>
                <a:latin typeface="Meiryo" pitchFamily="34" charset="0"/>
                <a:ea typeface="Meiryo" pitchFamily="34" charset="-122"/>
                <a:cs typeface="Meiryo" pitchFamily="34" charset="-120"/>
              </a:rPr>
              <a:t>1時間ごと</a:t>
            </a:r>
            <a:endParaRPr lang="en-US" sz="1800" dirty="0"/>
          </a:p>
        </p:txBody>
      </p:sp>
      <p:sp>
        <p:nvSpPr>
          <p:cNvPr id="13" name="Text 9"/>
          <p:cNvSpPr txBox="1"/>
          <p:nvPr/>
        </p:nvSpPr>
        <p:spPr>
          <a:xfrm>
            <a:off x="2743200" y="2788920"/>
            <a:ext cx="1600200" cy="27432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の人の数が分かる</a:t>
            </a:r>
            <a:endParaRPr lang="en-US" sz="1100" dirty="0"/>
          </a:p>
        </p:txBody>
      </p:sp>
      <p:sp>
        <p:nvSpPr>
          <p:cNvPr id="14" name="Shape 10"/>
          <p:cNvSpPr/>
          <p:nvPr/>
        </p:nvSpPr>
        <p:spPr>
          <a:xfrm>
            <a:off x="4572000" y="1783080"/>
            <a:ext cx="1828800" cy="1417320"/>
          </a:xfrm>
          <a:prstGeom prst="roundRect">
            <a:avLst>
              <a:gd name="adj" fmla="val 5161"/>
            </a:avLst>
          </a:prstGeom>
          <a:solidFill>
            <a:srgbClr val="F2F5F8"/>
          </a:solidFill>
          <a:ln w="12700">
            <a:solidFill>
              <a:srgbClr val="F2F5F8"/>
            </a:solidFill>
            <a:prstDash val="solid"/>
          </a:ln>
        </p:spPr>
      </p:sp>
      <p:pic>
        <p:nvPicPr>
          <p:cNvPr id="15" name="Image 2" descr="preencoded.png">    </p:cNvPr>
          <p:cNvPicPr>
            <a:picLocks noChangeAspect="1"/>
          </p:cNvPicPr>
          <p:nvPr/>
        </p:nvPicPr>
        <p:blipFill>
          <a:blip r:embed="rId3"/>
          <a:stretch>
            <a:fillRect/>
          </a:stretch>
        </p:blipFill>
        <p:spPr>
          <a:xfrm>
            <a:off x="4754880" y="1920240"/>
            <a:ext cx="310896" cy="310896"/>
          </a:xfrm>
          <a:prstGeom prst="rect">
            <a:avLst/>
          </a:prstGeom>
        </p:spPr>
      </p:pic>
      <p:sp>
        <p:nvSpPr>
          <p:cNvPr id="16" name="Text 11"/>
          <p:cNvSpPr txBox="1"/>
          <p:nvPr/>
        </p:nvSpPr>
        <p:spPr>
          <a:xfrm>
            <a:off x="4754880" y="2331720"/>
            <a:ext cx="1600200" cy="411480"/>
          </a:xfrm>
          <a:prstGeom prst="rect">
            <a:avLst/>
          </a:prstGeom>
          <a:noFill/>
          <a:ln/>
        </p:spPr>
        <p:txBody>
          <a:bodyPr wrap="square" lIns="0" tIns="0" rIns="0" bIns="0" rtlCol="0" anchor="ctr">
            <a:normAutofit/>
          </a:bodyPr>
          <a:lstStyle/>
          <a:p>
            <a:pPr indent="0" marL="0">
              <a:buNone/>
            </a:pPr>
            <a:r>
              <a:rPr lang="en-US" sz="1800" b="1" dirty="0">
                <a:solidFill>
                  <a:srgbClr val="C9002B"/>
                </a:solidFill>
                <a:latin typeface="Meiryo" pitchFamily="34" charset="0"/>
                <a:ea typeface="Meiryo" pitchFamily="34" charset="-122"/>
                <a:cs typeface="Meiryo" pitchFamily="34" charset="-120"/>
              </a:rPr>
              <a:t>個人特定なし</a:t>
            </a:r>
            <a:endParaRPr lang="en-US" sz="1800" dirty="0"/>
          </a:p>
        </p:txBody>
      </p:sp>
      <p:sp>
        <p:nvSpPr>
          <p:cNvPr id="17" name="Text 12"/>
          <p:cNvSpPr txBox="1"/>
          <p:nvPr/>
        </p:nvSpPr>
        <p:spPr>
          <a:xfrm>
            <a:off x="4754880" y="2788920"/>
            <a:ext cx="1600200" cy="27432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集団の人数だけの統計</a:t>
            </a:r>
            <a:endParaRPr lang="en-US" sz="1100" dirty="0"/>
          </a:p>
        </p:txBody>
      </p:sp>
      <p:sp>
        <p:nvSpPr>
          <p:cNvPr id="18" name="Text 13"/>
          <p:cNvSpPr txBox="1"/>
          <p:nvPr/>
        </p:nvSpPr>
        <p:spPr>
          <a:xfrm>
            <a:off x="548640" y="3474720"/>
            <a:ext cx="5760720" cy="320040"/>
          </a:xfrm>
          <a:prstGeom prst="rect">
            <a:avLst/>
          </a:prstGeom>
          <a:noFill/>
          <a:ln/>
        </p:spPr>
        <p:txBody>
          <a:bodyPr wrap="square" lIns="0" tIns="0" rIns="0" bIns="0" rtlCol="0" anchor="t"/>
          <a:lstStyle/>
          <a:p>
            <a:pPr indent="0" marL="0">
              <a:buNone/>
            </a:pPr>
            <a:r>
              <a:rPr lang="en-US" sz="1400" b="1" dirty="0">
                <a:solidFill>
                  <a:srgbClr val="C9002B"/>
                </a:solidFill>
                <a:latin typeface="Meiryo" pitchFamily="34" charset="0"/>
                <a:ea typeface="Meiryo" pitchFamily="34" charset="-122"/>
                <a:cs typeface="Meiryo" pitchFamily="34" charset="-120"/>
              </a:rPr>
              <a:t>たとえば、こんなことが分かります</a:t>
            </a:r>
            <a:endParaRPr lang="en-US" sz="1400" dirty="0"/>
          </a:p>
        </p:txBody>
      </p:sp>
      <p:sp>
        <p:nvSpPr>
          <p:cNvPr id="19" name="Text 14"/>
          <p:cNvSpPr txBox="1"/>
          <p:nvPr/>
        </p:nvSpPr>
        <p:spPr>
          <a:xfrm>
            <a:off x="548640" y="3840480"/>
            <a:ext cx="5760720" cy="1188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B2B3D"/>
                </a:solidFill>
                <a:latin typeface="Meiryo" pitchFamily="34" charset="0"/>
                <a:ea typeface="Meiryo" pitchFamily="34" charset="-122"/>
                <a:cs typeface="Meiryo" pitchFamily="34" charset="-120"/>
              </a:rPr>
              <a:t>イベントの日は、普段の日より何人多かったか</a:t>
            </a:r>
            <a:endParaRPr lang="en-US" sz="1350" dirty="0"/>
          </a:p>
          <a:p>
            <a:pPr marL="342900" indent="-342900">
              <a:spcAft>
                <a:spcPts val="600"/>
              </a:spcAft>
              <a:buSzPct val="100000"/>
              <a:buChar char="•"/>
            </a:pPr>
            <a:r>
              <a:rPr lang="en-US" sz="1350" dirty="0">
                <a:solidFill>
                  <a:srgbClr val="1B2B3D"/>
                </a:solidFill>
                <a:latin typeface="Meiryo" pitchFamily="34" charset="0"/>
                <a:ea typeface="Meiryo" pitchFamily="34" charset="-122"/>
                <a:cs typeface="Meiryo" pitchFamily="34" charset="-120"/>
              </a:rPr>
              <a:t>近所・市内・市外の、どこから来ていたか</a:t>
            </a:r>
            <a:endParaRPr lang="en-US" sz="1350" dirty="0"/>
          </a:p>
          <a:p>
            <a:pPr marL="342900" indent="-342900">
              <a:spcAft>
                <a:spcPts val="600"/>
              </a:spcAft>
              <a:buSzPct val="100000"/>
              <a:buChar char="•"/>
            </a:pPr>
            <a:r>
              <a:rPr lang="en-US" sz="1350" dirty="0">
                <a:solidFill>
                  <a:srgbClr val="1B2B3D"/>
                </a:solidFill>
                <a:latin typeface="Meiryo" pitchFamily="34" charset="0"/>
                <a:ea typeface="Meiryo" pitchFamily="34" charset="-122"/>
                <a:cs typeface="Meiryo" pitchFamily="34" charset="-120"/>
              </a:rPr>
              <a:t>何時ごろが一番混んでいたか</a:t>
            </a:r>
            <a:endParaRPr lang="en-US" sz="1350" dirty="0"/>
          </a:p>
        </p:txBody>
      </p:sp>
      <p:pic>
        <p:nvPicPr>
          <p:cNvPr id="20" name="Image 3" descr="preencoded.png">    </p:cNvPr>
          <p:cNvPicPr>
            <a:picLocks noChangeAspect="1"/>
          </p:cNvPicPr>
          <p:nvPr/>
        </p:nvPicPr>
        <p:blipFill>
          <a:blip r:embed="rId4"/>
          <a:stretch>
            <a:fillRect/>
          </a:stretch>
        </p:blipFill>
        <p:spPr>
          <a:xfrm>
            <a:off x="6675120" y="1783080"/>
            <a:ext cx="4937760" cy="2752344"/>
          </a:xfrm>
          <a:prstGeom prst="rect">
            <a:avLst/>
          </a:prstGeom>
        </p:spPr>
      </p:pic>
      <p:sp>
        <p:nvSpPr>
          <p:cNvPr id="21" name="Shape 15"/>
          <p:cNvSpPr/>
          <p:nvPr/>
        </p:nvSpPr>
        <p:spPr>
          <a:xfrm>
            <a:off x="6675120" y="1783080"/>
            <a:ext cx="4937760" cy="2752344"/>
          </a:xfrm>
          <a:prstGeom prst="rect">
            <a:avLst/>
          </a:prstGeom>
          <a:ln w="12700">
            <a:solidFill>
              <a:srgbClr val="D5DDE5"/>
            </a:solidFill>
            <a:prstDash val="solid"/>
          </a:ln>
        </p:spPr>
      </p:sp>
      <p:sp>
        <p:nvSpPr>
          <p:cNvPr id="22" name="Text 16"/>
          <p:cNvSpPr txBox="1"/>
          <p:nvPr/>
        </p:nvSpPr>
        <p:spPr>
          <a:xfrm>
            <a:off x="6675120" y="4590288"/>
            <a:ext cx="4937760" cy="256032"/>
          </a:xfrm>
          <a:prstGeom prst="rect">
            <a:avLst/>
          </a:prstGeom>
          <a:noFill/>
          <a:ln/>
        </p:spPr>
        <p:txBody>
          <a:bodyPr wrap="square" lIns="0" tIns="0" rIns="0" bIns="0" rtlCol="0" anchor="t"/>
          <a:lstStyle/>
          <a:p>
            <a:pPr indent="0" marL="0">
              <a:buNone/>
            </a:pPr>
            <a:r>
              <a:rPr lang="en-US" sz="1000" dirty="0">
                <a:solidFill>
                  <a:srgbClr val="5A6675"/>
                </a:solidFill>
                <a:latin typeface="Meiryo" pitchFamily="34" charset="0"/>
                <a:ea typeface="Meiryo" pitchFamily="34" charset="-122"/>
                <a:cs typeface="Meiryo" pitchFamily="34" charset="-120"/>
              </a:rPr>
              <a:t>公式サイトの人口マップ掲載イメージ</a:t>
            </a:r>
            <a:endParaRPr lang="en-US" sz="1000" dirty="0"/>
          </a:p>
        </p:txBody>
      </p:sp>
      <p:sp>
        <p:nvSpPr>
          <p:cNvPr id="23" name="Shape 17"/>
          <p:cNvSpPr/>
          <p:nvPr/>
        </p:nvSpPr>
        <p:spPr>
          <a:xfrm>
            <a:off x="548640" y="5212080"/>
            <a:ext cx="11064240" cy="731520"/>
          </a:xfrm>
          <a:prstGeom prst="roundRect">
            <a:avLst>
              <a:gd name="adj" fmla="val 10000"/>
            </a:avLst>
          </a:prstGeom>
          <a:solidFill>
            <a:srgbClr val="FBEAEE"/>
          </a:solidFill>
          <a:ln w="12700">
            <a:solidFill>
              <a:srgbClr val="FBEAEE"/>
            </a:solidFill>
            <a:prstDash val="solid"/>
          </a:ln>
        </p:spPr>
      </p:sp>
      <p:sp>
        <p:nvSpPr>
          <p:cNvPr id="24" name="Text 18"/>
          <p:cNvSpPr txBox="1"/>
          <p:nvPr/>
        </p:nvSpPr>
        <p:spPr>
          <a:xfrm>
            <a:off x="777240" y="5212080"/>
            <a:ext cx="10607040" cy="731520"/>
          </a:xfrm>
          <a:prstGeom prst="rect">
            <a:avLst/>
          </a:prstGeom>
          <a:noFill/>
          <a:ln/>
        </p:spPr>
        <p:txBody>
          <a:bodyPr wrap="square" lIns="0" tIns="0" rIns="0" bIns="0" rtlCol="0" anchor="ctr"/>
          <a:lstStyle/>
          <a:p>
            <a:pPr indent="0" marL="0">
              <a:buNone/>
            </a:pPr>
            <a:r>
              <a:rPr lang="en-US" sz="1300" b="1" dirty="0">
                <a:solidFill>
                  <a:srgbClr val="1B2B3D"/>
                </a:solidFill>
                <a:latin typeface="Meiryo" pitchFamily="34" charset="0"/>
                <a:ea typeface="Meiryo" pitchFamily="34" charset="-122"/>
                <a:cs typeface="Meiryo" pitchFamily="34" charset="-120"/>
              </a:rPr>
              <a:t>商店街周辺の「推計の人の数」です。お店の来店数や売上とは分けて見ます</a:t>
            </a:r>
            <a:endParaRPr lang="en-US" sz="1300" dirty="0"/>
          </a:p>
        </p:txBody>
      </p:sp>
      <p:sp>
        <p:nvSpPr>
          <p:cNvPr id="25" name="Text 19"/>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取得できる地域・期間・属性・細かさはメニューにより異なります（500mメッシュが基本、一部都市は250m・125m）</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02　ご提案</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プレミアパネル：来なかった理由を聞く</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dポイントクラブ会員に、地域や年代を指定してアンケートできます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08</a:t>
            </a:r>
            <a:endParaRPr lang="en-US" sz="1000" dirty="0"/>
          </a:p>
        </p:txBody>
      </p:sp>
      <p:sp>
        <p:nvSpPr>
          <p:cNvPr id="6" name="Text 4"/>
          <p:cNvSpPr txBox="1"/>
          <p:nvPr/>
        </p:nvSpPr>
        <p:spPr>
          <a:xfrm>
            <a:off x="548640" y="1828800"/>
            <a:ext cx="3657600" cy="274320"/>
          </a:xfrm>
          <a:prstGeom prst="rect">
            <a:avLst/>
          </a:prstGeom>
          <a:noFill/>
          <a:ln/>
        </p:spPr>
        <p:txBody>
          <a:bodyPr wrap="square" lIns="0" tIns="0" rIns="0" bIns="0" rtlCol="0" anchor="t"/>
          <a:lstStyle/>
          <a:p>
            <a:pPr indent="0" marL="0">
              <a:buNone/>
            </a:pPr>
            <a:r>
              <a:rPr lang="en-US" sz="1200" b="1" dirty="0">
                <a:solidFill>
                  <a:srgbClr val="5A6675"/>
                </a:solidFill>
                <a:latin typeface="Meiryo" pitchFamily="34" charset="0"/>
                <a:ea typeface="Meiryo" pitchFamily="34" charset="-122"/>
                <a:cs typeface="Meiryo" pitchFamily="34" charset="-120"/>
              </a:rPr>
              <a:t>アンケート回答対象者</a:t>
            </a:r>
            <a:endParaRPr lang="en-US" sz="1200" dirty="0"/>
          </a:p>
        </p:txBody>
      </p:sp>
      <p:sp>
        <p:nvSpPr>
          <p:cNvPr id="7" name="Text 5"/>
          <p:cNvSpPr txBox="1"/>
          <p:nvPr/>
        </p:nvSpPr>
        <p:spPr>
          <a:xfrm>
            <a:off x="548640" y="2103120"/>
            <a:ext cx="3840480" cy="1005840"/>
          </a:xfrm>
          <a:prstGeom prst="rect">
            <a:avLst/>
          </a:prstGeom>
          <a:noFill/>
          <a:ln/>
        </p:spPr>
        <p:txBody>
          <a:bodyPr wrap="square" lIns="0" tIns="0" rIns="0" bIns="0" rtlCol="0" anchor="b"/>
          <a:lstStyle/>
          <a:p>
            <a:pPr indent="0" marL="0">
              <a:buNone/>
            </a:pPr>
            <a:r>
              <a:rPr lang="en-US" sz="6000" b="1" dirty="0">
                <a:solidFill>
                  <a:srgbClr val="C9002B"/>
                </a:solidFill>
                <a:latin typeface="Meiryo" pitchFamily="34" charset="0"/>
                <a:ea typeface="Meiryo" pitchFamily="34" charset="-122"/>
                <a:cs typeface="Meiryo" pitchFamily="34" charset="-120"/>
              </a:rPr>
              <a:t>約600</a:t>
            </a:r>
            <a:pPr indent="0" marL="0">
              <a:buNone/>
            </a:pPr>
            <a:r>
              <a:rPr lang="en-US" sz="2400" b="1" dirty="0">
                <a:solidFill>
                  <a:srgbClr val="C9002B"/>
                </a:solidFill>
                <a:latin typeface="Meiryo" pitchFamily="34" charset="0"/>
                <a:ea typeface="Meiryo" pitchFamily="34" charset="-122"/>
                <a:cs typeface="Meiryo" pitchFamily="34" charset="-120"/>
              </a:rPr>
              <a:t>万人</a:t>
            </a:r>
            <a:endParaRPr lang="en-US" sz="6000" dirty="0"/>
          </a:p>
        </p:txBody>
      </p:sp>
      <p:sp>
        <p:nvSpPr>
          <p:cNvPr id="8" name="Text 6"/>
          <p:cNvSpPr txBox="1"/>
          <p:nvPr/>
        </p:nvSpPr>
        <p:spPr>
          <a:xfrm>
            <a:off x="548640" y="3154680"/>
            <a:ext cx="3657600" cy="27432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（2026年1月時点）</a:t>
            </a:r>
            <a:endParaRPr lang="en-US" sz="1100" dirty="0"/>
          </a:p>
        </p:txBody>
      </p:sp>
      <p:sp>
        <p:nvSpPr>
          <p:cNvPr id="9" name="Shape 7"/>
          <p:cNvSpPr/>
          <p:nvPr/>
        </p:nvSpPr>
        <p:spPr>
          <a:xfrm>
            <a:off x="548640" y="3657600"/>
            <a:ext cx="3657600" cy="914400"/>
          </a:xfrm>
          <a:prstGeom prst="roundRect">
            <a:avLst>
              <a:gd name="adj" fmla="val 8000"/>
            </a:avLst>
          </a:prstGeom>
          <a:solidFill>
            <a:srgbClr val="F2F5F8"/>
          </a:solidFill>
          <a:ln w="12700">
            <a:solidFill>
              <a:srgbClr val="F2F5F8"/>
            </a:solidFill>
            <a:prstDash val="solid"/>
          </a:ln>
        </p:spPr>
      </p:sp>
      <p:pic>
        <p:nvPicPr>
          <p:cNvPr id="10" name="Image 0" descr="preencoded.png">    </p:cNvPr>
          <p:cNvPicPr>
            <a:picLocks noChangeAspect="1"/>
          </p:cNvPicPr>
          <p:nvPr/>
        </p:nvPicPr>
        <p:blipFill>
          <a:blip r:embed="rId1"/>
          <a:stretch>
            <a:fillRect/>
          </a:stretch>
        </p:blipFill>
        <p:spPr>
          <a:xfrm>
            <a:off x="777240" y="3913632"/>
            <a:ext cx="384048" cy="384048"/>
          </a:xfrm>
          <a:prstGeom prst="rect">
            <a:avLst/>
          </a:prstGeom>
        </p:spPr>
      </p:pic>
      <p:sp>
        <p:nvSpPr>
          <p:cNvPr id="11" name="Text 8"/>
          <p:cNvSpPr txBox="1"/>
          <p:nvPr/>
        </p:nvSpPr>
        <p:spPr>
          <a:xfrm>
            <a:off x="1325880" y="3749040"/>
            <a:ext cx="2743200" cy="731520"/>
          </a:xfrm>
          <a:prstGeom prst="rect">
            <a:avLst/>
          </a:prstGeom>
          <a:noFill/>
          <a:ln/>
        </p:spPr>
        <p:txBody>
          <a:bodyPr wrap="square" lIns="0" tIns="0" rIns="0" bIns="0" rtlCol="0" anchor="ctr"/>
          <a:lstStyle/>
          <a:p>
            <a:pPr indent="0" marL="0">
              <a:buNone/>
            </a:pPr>
            <a:r>
              <a:rPr lang="en-US" sz="1800" b="1" dirty="0">
                <a:solidFill>
                  <a:srgbClr val="C9002B"/>
                </a:solidFill>
                <a:latin typeface="Meiryo" pitchFamily="34" charset="0"/>
                <a:ea typeface="Meiryo" pitchFamily="34" charset="-122"/>
                <a:cs typeface="Meiryo" pitchFamily="34" charset="-120"/>
              </a:rPr>
              <a:t>100種以上</a:t>
            </a:r>
            <a:pPr indent="0" marL="0">
              <a:buNone/>
            </a:pPr>
            <a:endParaRPr lang="en-US" sz="1800" dirty="0"/>
          </a:p>
          <a:p>
            <a:pPr indent="0" marL="0">
              <a:buNone/>
            </a:pPr>
            <a:r>
              <a:rPr lang="en-US" sz="1200" dirty="0">
                <a:solidFill>
                  <a:srgbClr val="1B2B3D"/>
                </a:solidFill>
                <a:latin typeface="Meiryo" pitchFamily="34" charset="0"/>
                <a:ea typeface="Meiryo" pitchFamily="34" charset="-122"/>
                <a:cs typeface="Meiryo" pitchFamily="34" charset="-120"/>
              </a:rPr>
              <a:t>の属性で回答者を絞り込み</a:t>
            </a:r>
            <a:endParaRPr lang="en-US" sz="1800" dirty="0"/>
          </a:p>
        </p:txBody>
      </p:sp>
      <p:sp>
        <p:nvSpPr>
          <p:cNvPr id="12" name="Text 9"/>
          <p:cNvSpPr txBox="1"/>
          <p:nvPr/>
        </p:nvSpPr>
        <p:spPr>
          <a:xfrm>
            <a:off x="4663440" y="1828800"/>
            <a:ext cx="3474720" cy="320040"/>
          </a:xfrm>
          <a:prstGeom prst="rect">
            <a:avLst/>
          </a:prstGeom>
          <a:noFill/>
          <a:ln/>
        </p:spPr>
        <p:txBody>
          <a:bodyPr wrap="square" lIns="0" tIns="0" rIns="0" bIns="0" rtlCol="0" anchor="t"/>
          <a:lstStyle/>
          <a:p>
            <a:pPr indent="0" marL="0">
              <a:buNone/>
            </a:pPr>
            <a:r>
              <a:rPr lang="en-US" sz="1500" b="1" dirty="0">
                <a:solidFill>
                  <a:srgbClr val="C9002B"/>
                </a:solidFill>
                <a:latin typeface="Meiryo" pitchFamily="34" charset="0"/>
                <a:ea typeface="Meiryo" pitchFamily="34" charset="-122"/>
                <a:cs typeface="Meiryo" pitchFamily="34" charset="-120"/>
              </a:rPr>
              <a:t>聞く内容の例</a:t>
            </a:r>
            <a:endParaRPr lang="en-US" sz="1500" dirty="0"/>
          </a:p>
        </p:txBody>
      </p:sp>
      <p:sp>
        <p:nvSpPr>
          <p:cNvPr id="13" name="Shape 10"/>
          <p:cNvSpPr/>
          <p:nvPr/>
        </p:nvSpPr>
        <p:spPr>
          <a:xfrm>
            <a:off x="4663440" y="2286000"/>
            <a:ext cx="3474720" cy="621792"/>
          </a:xfrm>
          <a:prstGeom prst="roundRect">
            <a:avLst>
              <a:gd name="adj" fmla="val 11765"/>
            </a:avLst>
          </a:prstGeom>
          <a:solidFill>
            <a:srgbClr val="F2F5F8"/>
          </a:solidFill>
          <a:ln w="12700">
            <a:solidFill>
              <a:srgbClr val="F2F5F8"/>
            </a:solidFill>
            <a:prstDash val="solid"/>
          </a:ln>
        </p:spPr>
      </p:sp>
      <p:sp>
        <p:nvSpPr>
          <p:cNvPr id="14" name="Text 11"/>
          <p:cNvSpPr txBox="1"/>
          <p:nvPr/>
        </p:nvSpPr>
        <p:spPr>
          <a:xfrm>
            <a:off x="4800600" y="2432304"/>
            <a:ext cx="548640" cy="329184"/>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Q1</a:t>
            </a:r>
            <a:endParaRPr lang="en-US" sz="1100" dirty="0"/>
          </a:p>
        </p:txBody>
      </p:sp>
      <p:sp>
        <p:nvSpPr>
          <p:cNvPr id="15" name="Text 12"/>
          <p:cNvSpPr txBox="1"/>
          <p:nvPr/>
        </p:nvSpPr>
        <p:spPr>
          <a:xfrm>
            <a:off x="5486400" y="2286000"/>
            <a:ext cx="2606040" cy="621792"/>
          </a:xfrm>
          <a:prstGeom prst="rect">
            <a:avLst/>
          </a:prstGeom>
          <a:noFill/>
          <a:ln/>
        </p:spPr>
        <p:txBody>
          <a:bodyPr wrap="square" lIns="0" tIns="0" rIns="0" bIns="0" rtlCol="0" anchor="ctr"/>
          <a:lstStyle/>
          <a:p>
            <a:pPr indent="0" marL="0">
              <a:buNone/>
            </a:pPr>
            <a:r>
              <a:rPr lang="en-US" sz="1300" b="1" dirty="0">
                <a:solidFill>
                  <a:srgbClr val="1B2B3D"/>
                </a:solidFill>
                <a:latin typeface="Meiryo" pitchFamily="34" charset="0"/>
                <a:ea typeface="Meiryo" pitchFamily="34" charset="-122"/>
                <a:cs typeface="Meiryo" pitchFamily="34" charset="-120"/>
              </a:rPr>
              <a:t>イベントを知っていたか</a:t>
            </a:r>
            <a:endParaRPr lang="en-US" sz="1300" dirty="0"/>
          </a:p>
        </p:txBody>
      </p:sp>
      <p:sp>
        <p:nvSpPr>
          <p:cNvPr id="16" name="Shape 13"/>
          <p:cNvSpPr/>
          <p:nvPr/>
        </p:nvSpPr>
        <p:spPr>
          <a:xfrm>
            <a:off x="4663440" y="3063240"/>
            <a:ext cx="3474720" cy="621792"/>
          </a:xfrm>
          <a:prstGeom prst="roundRect">
            <a:avLst>
              <a:gd name="adj" fmla="val 11765"/>
            </a:avLst>
          </a:prstGeom>
          <a:solidFill>
            <a:srgbClr val="F2F5F8"/>
          </a:solidFill>
          <a:ln w="12700">
            <a:solidFill>
              <a:srgbClr val="F2F5F8"/>
            </a:solidFill>
            <a:prstDash val="solid"/>
          </a:ln>
        </p:spPr>
      </p:sp>
      <p:sp>
        <p:nvSpPr>
          <p:cNvPr id="17" name="Text 14"/>
          <p:cNvSpPr txBox="1"/>
          <p:nvPr/>
        </p:nvSpPr>
        <p:spPr>
          <a:xfrm>
            <a:off x="4800600" y="3209544"/>
            <a:ext cx="548640" cy="329184"/>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Q2</a:t>
            </a:r>
            <a:endParaRPr lang="en-US" sz="1100" dirty="0"/>
          </a:p>
        </p:txBody>
      </p:sp>
      <p:sp>
        <p:nvSpPr>
          <p:cNvPr id="18" name="Text 15"/>
          <p:cNvSpPr txBox="1"/>
          <p:nvPr/>
        </p:nvSpPr>
        <p:spPr>
          <a:xfrm>
            <a:off x="5486400" y="3063240"/>
            <a:ext cx="2606040" cy="621792"/>
          </a:xfrm>
          <a:prstGeom prst="rect">
            <a:avLst/>
          </a:prstGeom>
          <a:noFill/>
          <a:ln/>
        </p:spPr>
        <p:txBody>
          <a:bodyPr wrap="square" lIns="0" tIns="0" rIns="0" bIns="0" rtlCol="0" anchor="ctr"/>
          <a:lstStyle/>
          <a:p>
            <a:pPr indent="0" marL="0">
              <a:buNone/>
            </a:pPr>
            <a:r>
              <a:rPr lang="en-US" sz="1300" b="1" dirty="0">
                <a:solidFill>
                  <a:srgbClr val="1B2B3D"/>
                </a:solidFill>
                <a:latin typeface="Meiryo" pitchFamily="34" charset="0"/>
                <a:ea typeface="Meiryo" pitchFamily="34" charset="-122"/>
                <a:cs typeface="Meiryo" pitchFamily="34" charset="-120"/>
              </a:rPr>
              <a:t>来なかった理由は何か</a:t>
            </a:r>
            <a:endParaRPr lang="en-US" sz="1300" dirty="0"/>
          </a:p>
        </p:txBody>
      </p:sp>
      <p:sp>
        <p:nvSpPr>
          <p:cNvPr id="19" name="Shape 16"/>
          <p:cNvSpPr/>
          <p:nvPr/>
        </p:nvSpPr>
        <p:spPr>
          <a:xfrm>
            <a:off x="4663440" y="3840480"/>
            <a:ext cx="3474720" cy="621792"/>
          </a:xfrm>
          <a:prstGeom prst="roundRect">
            <a:avLst>
              <a:gd name="adj" fmla="val 11765"/>
            </a:avLst>
          </a:prstGeom>
          <a:solidFill>
            <a:srgbClr val="F2F5F8"/>
          </a:solidFill>
          <a:ln w="12700">
            <a:solidFill>
              <a:srgbClr val="F2F5F8"/>
            </a:solidFill>
            <a:prstDash val="solid"/>
          </a:ln>
        </p:spPr>
      </p:sp>
      <p:sp>
        <p:nvSpPr>
          <p:cNvPr id="20" name="Text 17"/>
          <p:cNvSpPr txBox="1"/>
          <p:nvPr/>
        </p:nvSpPr>
        <p:spPr>
          <a:xfrm>
            <a:off x="4800600" y="3986784"/>
            <a:ext cx="548640" cy="329184"/>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Q3</a:t>
            </a:r>
            <a:endParaRPr lang="en-US" sz="1100" dirty="0"/>
          </a:p>
        </p:txBody>
      </p:sp>
      <p:sp>
        <p:nvSpPr>
          <p:cNvPr id="21" name="Text 18"/>
          <p:cNvSpPr txBox="1"/>
          <p:nvPr/>
        </p:nvSpPr>
        <p:spPr>
          <a:xfrm>
            <a:off x="5486400" y="3840480"/>
            <a:ext cx="2606040" cy="621792"/>
          </a:xfrm>
          <a:prstGeom prst="rect">
            <a:avLst/>
          </a:prstGeom>
          <a:noFill/>
          <a:ln/>
        </p:spPr>
        <p:txBody>
          <a:bodyPr wrap="square" lIns="0" tIns="0" rIns="0" bIns="0" rtlCol="0" anchor="ctr"/>
          <a:lstStyle/>
          <a:p>
            <a:pPr indent="0" marL="0">
              <a:buNone/>
            </a:pPr>
            <a:r>
              <a:rPr lang="en-US" sz="1300" b="1" dirty="0">
                <a:solidFill>
                  <a:srgbClr val="1B2B3D"/>
                </a:solidFill>
                <a:latin typeface="Meiryo" pitchFamily="34" charset="0"/>
                <a:ea typeface="Meiryo" pitchFamily="34" charset="-122"/>
                <a:cs typeface="Meiryo" pitchFamily="34" charset="-120"/>
              </a:rPr>
              <a:t>どんな条件なら行きたいか</a:t>
            </a:r>
            <a:endParaRPr lang="en-US" sz="1300" dirty="0"/>
          </a:p>
        </p:txBody>
      </p:sp>
      <p:pic>
        <p:nvPicPr>
          <p:cNvPr id="22" name="Image 1" descr="preencoded.png">    </p:cNvPr>
          <p:cNvPicPr>
            <a:picLocks noChangeAspect="1"/>
          </p:cNvPicPr>
          <p:nvPr/>
        </p:nvPicPr>
        <p:blipFill>
          <a:blip r:embed="rId2"/>
          <a:stretch>
            <a:fillRect/>
          </a:stretch>
        </p:blipFill>
        <p:spPr>
          <a:xfrm>
            <a:off x="8503920" y="1783080"/>
            <a:ext cx="3108960" cy="2852928"/>
          </a:xfrm>
          <a:prstGeom prst="rect">
            <a:avLst/>
          </a:prstGeom>
        </p:spPr>
      </p:pic>
      <p:sp>
        <p:nvSpPr>
          <p:cNvPr id="23" name="Shape 19"/>
          <p:cNvSpPr/>
          <p:nvPr/>
        </p:nvSpPr>
        <p:spPr>
          <a:xfrm>
            <a:off x="548640" y="4892040"/>
            <a:ext cx="11064240" cy="914400"/>
          </a:xfrm>
          <a:prstGeom prst="roundRect">
            <a:avLst>
              <a:gd name="adj" fmla="val 8000"/>
            </a:avLst>
          </a:prstGeom>
          <a:solidFill>
            <a:srgbClr val="FBEAEE"/>
          </a:solidFill>
          <a:ln w="12700">
            <a:solidFill>
              <a:srgbClr val="FBEAEE"/>
            </a:solidFill>
            <a:prstDash val="solid"/>
          </a:ln>
        </p:spPr>
      </p:sp>
      <p:pic>
        <p:nvPicPr>
          <p:cNvPr id="24" name="Image 2" descr="preencoded.png">    </p:cNvPr>
          <p:cNvPicPr>
            <a:picLocks noChangeAspect="1"/>
          </p:cNvPicPr>
          <p:nvPr/>
        </p:nvPicPr>
        <p:blipFill>
          <a:blip r:embed="rId3"/>
          <a:stretch>
            <a:fillRect/>
          </a:stretch>
        </p:blipFill>
        <p:spPr>
          <a:xfrm>
            <a:off x="777240" y="5166360"/>
            <a:ext cx="365760" cy="365760"/>
          </a:xfrm>
          <a:prstGeom prst="rect">
            <a:avLst/>
          </a:prstGeom>
        </p:spPr>
      </p:pic>
      <p:sp>
        <p:nvSpPr>
          <p:cNvPr id="25" name="Text 20"/>
          <p:cNvSpPr txBox="1"/>
          <p:nvPr/>
        </p:nvSpPr>
        <p:spPr>
          <a:xfrm>
            <a:off x="1325880" y="4892040"/>
            <a:ext cx="10058400" cy="914400"/>
          </a:xfrm>
          <a:prstGeom prst="rect">
            <a:avLst/>
          </a:prstGeom>
          <a:noFill/>
          <a:ln/>
        </p:spPr>
        <p:txBody>
          <a:bodyPr wrap="square" lIns="0" tIns="0" rIns="0" bIns="0" rtlCol="0" anchor="ctr"/>
          <a:lstStyle/>
          <a:p>
            <a:pPr indent="0" marL="0">
              <a:buNone/>
            </a:pPr>
            <a:r>
              <a:rPr lang="en-US" sz="1300" dirty="0">
                <a:solidFill>
                  <a:srgbClr val="1B2B3D"/>
                </a:solidFill>
                <a:latin typeface="Meiryo" pitchFamily="34" charset="0"/>
                <a:ea typeface="Meiryo" pitchFamily="34" charset="-122"/>
                <a:cs typeface="Meiryo" pitchFamily="34" charset="-120"/>
              </a:rPr>
              <a:t>小さな町など対象を狭くし過ぎると、回答が集まりにくくなります。近隣の市町まで広げるなど、集まる範囲を一緒に決めます。</a:t>
            </a:r>
            <a:endParaRPr lang="en-US" sz="1300" dirty="0"/>
          </a:p>
        </p:txBody>
      </p:sp>
      <p:sp>
        <p:nvSpPr>
          <p:cNvPr id="26" name="Text 21"/>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約600万人は回答対象者の規模で、必要な回答数を保証する数ではありません</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02　ご提案</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docomo Ad Network：新しい人に届ける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ドコモのデータで対象を絞り、ドコモの接点や一般メディアで告知します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09</a:t>
            </a:r>
            <a:endParaRPr lang="en-US" sz="1000" dirty="0"/>
          </a:p>
        </p:txBody>
      </p:sp>
      <p:sp>
        <p:nvSpPr>
          <p:cNvPr id="6" name="Text 4"/>
          <p:cNvSpPr txBox="1"/>
          <p:nvPr/>
        </p:nvSpPr>
        <p:spPr>
          <a:xfrm>
            <a:off x="548640" y="1783080"/>
            <a:ext cx="5120640" cy="320040"/>
          </a:xfrm>
          <a:prstGeom prst="rect">
            <a:avLst/>
          </a:prstGeom>
          <a:noFill/>
          <a:ln/>
        </p:spPr>
        <p:txBody>
          <a:bodyPr wrap="square" lIns="0" tIns="0" rIns="0" bIns="0" rtlCol="0" anchor="t"/>
          <a:lstStyle/>
          <a:p>
            <a:pPr indent="0" marL="0">
              <a:buNone/>
            </a:pPr>
            <a:r>
              <a:rPr lang="en-US" sz="1500" b="1" dirty="0">
                <a:solidFill>
                  <a:srgbClr val="C9002B"/>
                </a:solidFill>
                <a:latin typeface="Meiryo" pitchFamily="34" charset="0"/>
                <a:ea typeface="Meiryo" pitchFamily="34" charset="-122"/>
                <a:cs typeface="Meiryo" pitchFamily="34" charset="-120"/>
              </a:rPr>
              <a:t>できること</a:t>
            </a:r>
            <a:endParaRPr lang="en-US" sz="1500" dirty="0"/>
          </a:p>
        </p:txBody>
      </p:sp>
      <p:sp>
        <p:nvSpPr>
          <p:cNvPr id="7" name="Text 5"/>
          <p:cNvSpPr txBox="1"/>
          <p:nvPr/>
        </p:nvSpPr>
        <p:spPr>
          <a:xfrm>
            <a:off x="548640" y="2130552"/>
            <a:ext cx="5212080" cy="822960"/>
          </a:xfrm>
          <a:prstGeom prst="rect">
            <a:avLst/>
          </a:prstGeom>
          <a:noFill/>
          <a:ln/>
        </p:spPr>
        <p:txBody>
          <a:bodyPr wrap="square" lIns="0" tIns="0" rIns="0" bIns="0" rtlCol="0" anchor="t"/>
          <a:lstStyle/>
          <a:p>
            <a:pPr indent="0" marL="0">
              <a:buNone/>
            </a:pPr>
            <a:r>
              <a:rPr lang="en-US" sz="1350" dirty="0">
                <a:solidFill>
                  <a:srgbClr val="1B2B3D"/>
                </a:solidFill>
                <a:latin typeface="Meiryo" pitchFamily="34" charset="0"/>
                <a:ea typeface="Meiryo" pitchFamily="34" charset="-122"/>
                <a:cs typeface="Meiryo" pitchFamily="34" charset="-120"/>
              </a:rPr>
              <a:t>地域・年代・関心などで対象を絞り、dメニュー・dポイントクラブ・メッセージSなどで告知する。</a:t>
            </a:r>
            <a:endParaRPr lang="en-US" sz="1350" dirty="0"/>
          </a:p>
        </p:txBody>
      </p:sp>
      <p:sp>
        <p:nvSpPr>
          <p:cNvPr id="8" name="Text 6"/>
          <p:cNvSpPr txBox="1"/>
          <p:nvPr/>
        </p:nvSpPr>
        <p:spPr>
          <a:xfrm>
            <a:off x="548640" y="3063240"/>
            <a:ext cx="5120640" cy="320040"/>
          </a:xfrm>
          <a:prstGeom prst="rect">
            <a:avLst/>
          </a:prstGeom>
          <a:noFill/>
          <a:ln/>
        </p:spPr>
        <p:txBody>
          <a:bodyPr wrap="square" lIns="0" tIns="0" rIns="0" bIns="0" rtlCol="0" anchor="t"/>
          <a:lstStyle/>
          <a:p>
            <a:pPr indent="0" marL="0">
              <a:buNone/>
            </a:pPr>
            <a:r>
              <a:rPr lang="en-US" sz="1500" b="1" dirty="0">
                <a:solidFill>
                  <a:srgbClr val="C9002B"/>
                </a:solidFill>
                <a:latin typeface="Meiryo" pitchFamily="34" charset="0"/>
                <a:ea typeface="Meiryo" pitchFamily="34" charset="-122"/>
                <a:cs typeface="Meiryo" pitchFamily="34" charset="-120"/>
              </a:rPr>
              <a:t>小さな予算で使うコツ</a:t>
            </a:r>
            <a:endParaRPr lang="en-US" sz="1500" dirty="0"/>
          </a:p>
        </p:txBody>
      </p:sp>
      <p:sp>
        <p:nvSpPr>
          <p:cNvPr id="9" name="Text 7"/>
          <p:cNvSpPr txBox="1"/>
          <p:nvPr/>
        </p:nvSpPr>
        <p:spPr>
          <a:xfrm>
            <a:off x="548640" y="3429000"/>
            <a:ext cx="521208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2B3D"/>
                </a:solidFill>
                <a:latin typeface="Meiryo" pitchFamily="34" charset="0"/>
                <a:ea typeface="Meiryo" pitchFamily="34" charset="-122"/>
                <a:cs typeface="Meiryo" pitchFamily="34" charset="-120"/>
              </a:rPr>
              <a:t>告知するイベントと地域を1つに絞る</a:t>
            </a:r>
            <a:endParaRPr lang="en-US" sz="1300" dirty="0"/>
          </a:p>
          <a:p>
            <a:pPr marL="342900" indent="-342900">
              <a:spcAft>
                <a:spcPts val="600"/>
              </a:spcAft>
              <a:buSzPct val="100000"/>
              <a:buChar char="•"/>
            </a:pPr>
            <a:r>
              <a:rPr lang="en-US" sz="1300" dirty="0">
                <a:solidFill>
                  <a:srgbClr val="1B2B3D"/>
                </a:solidFill>
                <a:latin typeface="Meiryo" pitchFamily="34" charset="0"/>
                <a:ea typeface="Meiryo" pitchFamily="34" charset="-122"/>
                <a:cs typeface="Meiryo" pitchFamily="34" charset="-120"/>
              </a:rPr>
              <a:t>申込ページと計測方法を先に決める</a:t>
            </a:r>
            <a:endParaRPr lang="en-US" sz="1300" dirty="0"/>
          </a:p>
          <a:p>
            <a:pPr marL="342900" indent="-342900">
              <a:spcAft>
                <a:spcPts val="600"/>
              </a:spcAft>
              <a:buSzPct val="100000"/>
              <a:buChar char="•"/>
            </a:pPr>
            <a:r>
              <a:rPr lang="en-US" sz="1300" dirty="0">
                <a:solidFill>
                  <a:srgbClr val="1B2B3D"/>
                </a:solidFill>
                <a:latin typeface="Meiryo" pitchFamily="34" charset="0"/>
                <a:ea typeface="Meiryo" pitchFamily="34" charset="-122"/>
                <a:cs typeface="Meiryo" pitchFamily="34" charset="-120"/>
              </a:rPr>
              <a:t>アンケートで分かった「来ない理由」に合わせた文章にする</a:t>
            </a:r>
            <a:endParaRPr lang="en-US" sz="1300" dirty="0"/>
          </a:p>
        </p:txBody>
      </p:sp>
      <p:pic>
        <p:nvPicPr>
          <p:cNvPr id="10" name="Image 0" descr="preencoded.png">    </p:cNvPr>
          <p:cNvPicPr>
            <a:picLocks noChangeAspect="1"/>
          </p:cNvPicPr>
          <p:nvPr/>
        </p:nvPicPr>
        <p:blipFill>
          <a:blip r:embed="rId1"/>
          <a:stretch>
            <a:fillRect/>
          </a:stretch>
        </p:blipFill>
        <p:spPr>
          <a:xfrm>
            <a:off x="6172200" y="1783080"/>
            <a:ext cx="5440680" cy="3429000"/>
          </a:xfrm>
          <a:prstGeom prst="rect">
            <a:avLst/>
          </a:prstGeom>
        </p:spPr>
      </p:pic>
      <p:sp>
        <p:nvSpPr>
          <p:cNvPr id="11" name="Text 8"/>
          <p:cNvSpPr txBox="1"/>
          <p:nvPr/>
        </p:nvSpPr>
        <p:spPr>
          <a:xfrm>
            <a:off x="6172200" y="5257800"/>
            <a:ext cx="5440680" cy="256032"/>
          </a:xfrm>
          <a:prstGeom prst="rect">
            <a:avLst/>
          </a:prstGeom>
          <a:noFill/>
          <a:ln/>
        </p:spPr>
        <p:txBody>
          <a:bodyPr wrap="square" lIns="0" tIns="0" rIns="0" bIns="0" rtlCol="0" anchor="t"/>
          <a:lstStyle/>
          <a:p>
            <a:pPr indent="0" marL="0">
              <a:buNone/>
            </a:pPr>
            <a:r>
              <a:rPr lang="en-US" sz="1000" dirty="0">
                <a:solidFill>
                  <a:srgbClr val="5A6675"/>
                </a:solidFill>
                <a:latin typeface="Meiryo" pitchFamily="34" charset="0"/>
                <a:ea typeface="Meiryo" pitchFamily="34" charset="-122"/>
                <a:cs typeface="Meiryo" pitchFamily="34" charset="-120"/>
              </a:rPr>
              <a:t>配信先の例（公式サイト掲載図）</a:t>
            </a:r>
            <a:endParaRPr lang="en-US" sz="1000" dirty="0"/>
          </a:p>
        </p:txBody>
      </p:sp>
      <p:sp>
        <p:nvSpPr>
          <p:cNvPr id="12" name="Shape 9"/>
          <p:cNvSpPr/>
          <p:nvPr/>
        </p:nvSpPr>
        <p:spPr>
          <a:xfrm>
            <a:off x="548640" y="5577840"/>
            <a:ext cx="11064240" cy="658368"/>
          </a:xfrm>
          <a:prstGeom prst="roundRect">
            <a:avLst>
              <a:gd name="adj" fmla="val 11111"/>
            </a:avLst>
          </a:prstGeom>
          <a:solidFill>
            <a:srgbClr val="FBEAEE"/>
          </a:solidFill>
          <a:ln w="12700">
            <a:solidFill>
              <a:srgbClr val="FBEAEE"/>
            </a:solidFill>
            <a:prstDash val="solid"/>
          </a:ln>
        </p:spPr>
      </p:sp>
      <p:sp>
        <p:nvSpPr>
          <p:cNvPr id="13" name="Text 10"/>
          <p:cNvSpPr txBox="1"/>
          <p:nvPr/>
        </p:nvSpPr>
        <p:spPr>
          <a:xfrm>
            <a:off x="731520" y="5751576"/>
            <a:ext cx="1005840" cy="310896"/>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最新動向</a:t>
            </a:r>
            <a:endParaRPr lang="en-US" sz="1100" dirty="0"/>
          </a:p>
        </p:txBody>
      </p:sp>
      <p:sp>
        <p:nvSpPr>
          <p:cNvPr id="14" name="Text 11"/>
          <p:cNvSpPr txBox="1"/>
          <p:nvPr/>
        </p:nvSpPr>
        <p:spPr>
          <a:xfrm>
            <a:off x="1874520" y="5577840"/>
            <a:ext cx="9601200" cy="658368"/>
          </a:xfrm>
          <a:prstGeom prst="rect">
            <a:avLst/>
          </a:prstGeom>
          <a:noFill/>
          <a:ln/>
        </p:spPr>
        <p:txBody>
          <a:bodyPr wrap="square" lIns="0" tIns="0" rIns="0" bIns="0" rtlCol="0" anchor="ctr"/>
          <a:lstStyle/>
          <a:p>
            <a:pPr indent="0" marL="0">
              <a:buNone/>
            </a:pPr>
            <a:r>
              <a:rPr lang="en-US" sz="1200" b="1" dirty="0">
                <a:solidFill>
                  <a:srgbClr val="1B2B3D"/>
                </a:solidFill>
                <a:latin typeface="Meiryo" pitchFamily="34" charset="0"/>
                <a:ea typeface="Meiryo" pitchFamily="34" charset="-122"/>
                <a:cs typeface="Meiryo" pitchFamily="34" charset="-120"/>
              </a:rPr>
              <a:t>2026年7月1日から運営はCARTA ZERO。</a:t>
            </a:r>
            <a:pPr indent="0" marL="0">
              <a:buNone/>
            </a:pPr>
            <a:r>
              <a:rPr lang="en-US" sz="1200" dirty="0">
                <a:solidFill>
                  <a:srgbClr val="1B2B3D"/>
                </a:solidFill>
                <a:latin typeface="Meiryo" pitchFamily="34" charset="0"/>
                <a:ea typeface="Meiryo" pitchFamily="34" charset="-122"/>
                <a:cs typeface="Meiryo" pitchFamily="34" charset="-120"/>
              </a:rPr>
              <a:t>「docomo data square Ads」として販売され、Google・Meta・LINEなどでもドコモデータを活用可能</a:t>
            </a:r>
            <a:endParaRPr lang="en-US" sz="1200" dirty="0"/>
          </a:p>
        </p:txBody>
      </p:sp>
      <p:sp>
        <p:nvSpPr>
          <p:cNvPr id="15" name="Text 12"/>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最低出稿額・課金方式はメニューにより異なり、個別見積です。広告の成果は保証されません</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02　ご提案</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担当者の手間を増やしません</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設計から報告まで当社が担当します。お願いするのは3つだけです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10</a:t>
            </a:r>
            <a:endParaRPr lang="en-US" sz="1000" dirty="0"/>
          </a:p>
        </p:txBody>
      </p:sp>
      <p:sp>
        <p:nvSpPr>
          <p:cNvPr id="6" name="Text 4"/>
          <p:cNvSpPr txBox="1"/>
          <p:nvPr/>
        </p:nvSpPr>
        <p:spPr>
          <a:xfrm>
            <a:off x="548640" y="1783080"/>
            <a:ext cx="6400800" cy="320040"/>
          </a:xfrm>
          <a:prstGeom prst="rect">
            <a:avLst/>
          </a:prstGeom>
          <a:noFill/>
          <a:ln/>
        </p:spPr>
        <p:txBody>
          <a:bodyPr wrap="square" lIns="0" tIns="0" rIns="0" bIns="0" rtlCol="0" anchor="t"/>
          <a:lstStyle/>
          <a:p>
            <a:pPr indent="0" marL="0">
              <a:buNone/>
            </a:pPr>
            <a:r>
              <a:rPr lang="en-US" sz="1500" b="1" dirty="0">
                <a:solidFill>
                  <a:srgbClr val="C9002B"/>
                </a:solidFill>
                <a:latin typeface="Meiryo" pitchFamily="34" charset="0"/>
                <a:ea typeface="Meiryo" pitchFamily="34" charset="-122"/>
                <a:cs typeface="Meiryo" pitchFamily="34" charset="-120"/>
              </a:rPr>
              <a:t>当社が担当すること</a:t>
            </a:r>
            <a:endParaRPr lang="en-US" sz="1500" dirty="0"/>
          </a:p>
        </p:txBody>
      </p:sp>
      <p:sp>
        <p:nvSpPr>
          <p:cNvPr id="7" name="Shape 5"/>
          <p:cNvSpPr/>
          <p:nvPr/>
        </p:nvSpPr>
        <p:spPr>
          <a:xfrm>
            <a:off x="548640" y="2194560"/>
            <a:ext cx="3291840" cy="822960"/>
          </a:xfrm>
          <a:prstGeom prst="roundRect">
            <a:avLst>
              <a:gd name="adj" fmla="val 8889"/>
            </a:avLst>
          </a:prstGeom>
          <a:solidFill>
            <a:srgbClr val="F2F5F8"/>
          </a:solidFill>
          <a:ln w="12700">
            <a:solidFill>
              <a:srgbClr val="F2F5F8"/>
            </a:solidFill>
            <a:prstDash val="solid"/>
          </a:ln>
        </p:spPr>
      </p:sp>
      <p:pic>
        <p:nvPicPr>
          <p:cNvPr id="8" name="Image 0" descr="preencoded.png">    </p:cNvPr>
          <p:cNvPicPr>
            <a:picLocks noChangeAspect="1"/>
          </p:cNvPicPr>
          <p:nvPr/>
        </p:nvPicPr>
        <p:blipFill>
          <a:blip r:embed="rId1"/>
          <a:stretch>
            <a:fillRect/>
          </a:stretch>
        </p:blipFill>
        <p:spPr>
          <a:xfrm>
            <a:off x="731520" y="2441448"/>
            <a:ext cx="329184" cy="329184"/>
          </a:xfrm>
          <a:prstGeom prst="rect">
            <a:avLst/>
          </a:prstGeom>
        </p:spPr>
      </p:pic>
      <p:sp>
        <p:nvSpPr>
          <p:cNvPr id="9" name="Text 6"/>
          <p:cNvSpPr txBox="1"/>
          <p:nvPr/>
        </p:nvSpPr>
        <p:spPr>
          <a:xfrm>
            <a:off x="1188720" y="2194560"/>
            <a:ext cx="2560320" cy="822960"/>
          </a:xfrm>
          <a:prstGeom prst="rect">
            <a:avLst/>
          </a:prstGeom>
          <a:noFill/>
          <a:ln/>
        </p:spPr>
        <p:txBody>
          <a:bodyPr wrap="square" lIns="0" tIns="0" rIns="0" bIns="0" rtlCol="0" anchor="ctr"/>
          <a:lstStyle/>
          <a:p>
            <a:pPr indent="0" marL="0">
              <a:buNone/>
            </a:pPr>
            <a:r>
              <a:rPr lang="en-US" sz="1250" b="1" dirty="0">
                <a:solidFill>
                  <a:srgbClr val="1B2B3D"/>
                </a:solidFill>
                <a:latin typeface="Meiryo" pitchFamily="34" charset="0"/>
                <a:ea typeface="Meiryo" pitchFamily="34" charset="-122"/>
                <a:cs typeface="Meiryo" pitchFamily="34" charset="-120"/>
              </a:rPr>
              <a:t>アンケートの設問と対象の設計</a:t>
            </a:r>
            <a:endParaRPr lang="en-US" sz="1250" dirty="0"/>
          </a:p>
        </p:txBody>
      </p:sp>
      <p:sp>
        <p:nvSpPr>
          <p:cNvPr id="10" name="Shape 7"/>
          <p:cNvSpPr/>
          <p:nvPr/>
        </p:nvSpPr>
        <p:spPr>
          <a:xfrm>
            <a:off x="3977640" y="2194560"/>
            <a:ext cx="3291840" cy="822960"/>
          </a:xfrm>
          <a:prstGeom prst="roundRect">
            <a:avLst>
              <a:gd name="adj" fmla="val 8889"/>
            </a:avLst>
          </a:prstGeom>
          <a:solidFill>
            <a:srgbClr val="F2F5F8"/>
          </a:solidFill>
          <a:ln w="12700">
            <a:solidFill>
              <a:srgbClr val="F2F5F8"/>
            </a:solidFill>
            <a:prstDash val="solid"/>
          </a:ln>
        </p:spPr>
      </p:sp>
      <p:pic>
        <p:nvPicPr>
          <p:cNvPr id="11" name="Image 1" descr="preencoded.png">    </p:cNvPr>
          <p:cNvPicPr>
            <a:picLocks noChangeAspect="1"/>
          </p:cNvPicPr>
          <p:nvPr/>
        </p:nvPicPr>
        <p:blipFill>
          <a:blip r:embed="rId2"/>
          <a:stretch>
            <a:fillRect/>
          </a:stretch>
        </p:blipFill>
        <p:spPr>
          <a:xfrm>
            <a:off x="4160520" y="2441448"/>
            <a:ext cx="329184" cy="329184"/>
          </a:xfrm>
          <a:prstGeom prst="rect">
            <a:avLst/>
          </a:prstGeom>
        </p:spPr>
      </p:pic>
      <p:sp>
        <p:nvSpPr>
          <p:cNvPr id="12" name="Text 8"/>
          <p:cNvSpPr txBox="1"/>
          <p:nvPr/>
        </p:nvSpPr>
        <p:spPr>
          <a:xfrm>
            <a:off x="4617720" y="2194560"/>
            <a:ext cx="2560320" cy="822960"/>
          </a:xfrm>
          <a:prstGeom prst="rect">
            <a:avLst/>
          </a:prstGeom>
          <a:noFill/>
          <a:ln/>
        </p:spPr>
        <p:txBody>
          <a:bodyPr wrap="square" lIns="0" tIns="0" rIns="0" bIns="0" rtlCol="0" anchor="ctr"/>
          <a:lstStyle/>
          <a:p>
            <a:pPr indent="0" marL="0">
              <a:buNone/>
            </a:pPr>
            <a:r>
              <a:rPr lang="en-US" sz="1250" b="1" dirty="0">
                <a:solidFill>
                  <a:srgbClr val="1B2B3D"/>
                </a:solidFill>
                <a:latin typeface="Meiryo" pitchFamily="34" charset="0"/>
                <a:ea typeface="Meiryo" pitchFamily="34" charset="-122"/>
                <a:cs typeface="Meiryo" pitchFamily="34" charset="-120"/>
              </a:rPr>
              <a:t>人流データの分析条件の設定</a:t>
            </a:r>
            <a:endParaRPr lang="en-US" sz="1250" dirty="0"/>
          </a:p>
        </p:txBody>
      </p:sp>
      <p:sp>
        <p:nvSpPr>
          <p:cNvPr id="13" name="Shape 9"/>
          <p:cNvSpPr/>
          <p:nvPr/>
        </p:nvSpPr>
        <p:spPr>
          <a:xfrm>
            <a:off x="548640" y="3154680"/>
            <a:ext cx="3291840" cy="822960"/>
          </a:xfrm>
          <a:prstGeom prst="roundRect">
            <a:avLst>
              <a:gd name="adj" fmla="val 8889"/>
            </a:avLst>
          </a:prstGeom>
          <a:solidFill>
            <a:srgbClr val="F2F5F8"/>
          </a:solidFill>
          <a:ln w="12700">
            <a:solidFill>
              <a:srgbClr val="F2F5F8"/>
            </a:solidFill>
            <a:prstDash val="solid"/>
          </a:ln>
        </p:spPr>
      </p:sp>
      <p:pic>
        <p:nvPicPr>
          <p:cNvPr id="14" name="Image 2" descr="preencoded.png">    </p:cNvPr>
          <p:cNvPicPr>
            <a:picLocks noChangeAspect="1"/>
          </p:cNvPicPr>
          <p:nvPr/>
        </p:nvPicPr>
        <p:blipFill>
          <a:blip r:embed="rId3"/>
          <a:stretch>
            <a:fillRect/>
          </a:stretch>
        </p:blipFill>
        <p:spPr>
          <a:xfrm>
            <a:off x="731520" y="3401568"/>
            <a:ext cx="329184" cy="329184"/>
          </a:xfrm>
          <a:prstGeom prst="rect">
            <a:avLst/>
          </a:prstGeom>
        </p:spPr>
      </p:pic>
      <p:sp>
        <p:nvSpPr>
          <p:cNvPr id="15" name="Text 10"/>
          <p:cNvSpPr txBox="1"/>
          <p:nvPr/>
        </p:nvSpPr>
        <p:spPr>
          <a:xfrm>
            <a:off x="1188720" y="3154680"/>
            <a:ext cx="2560320" cy="822960"/>
          </a:xfrm>
          <a:prstGeom prst="rect">
            <a:avLst/>
          </a:prstGeom>
          <a:noFill/>
          <a:ln/>
        </p:spPr>
        <p:txBody>
          <a:bodyPr wrap="square" lIns="0" tIns="0" rIns="0" bIns="0" rtlCol="0" anchor="ctr"/>
          <a:lstStyle/>
          <a:p>
            <a:pPr indent="0" marL="0">
              <a:buNone/>
            </a:pPr>
            <a:r>
              <a:rPr lang="en-US" sz="1250" b="1" dirty="0">
                <a:solidFill>
                  <a:srgbClr val="1B2B3D"/>
                </a:solidFill>
                <a:latin typeface="Meiryo" pitchFamily="34" charset="0"/>
                <a:ea typeface="Meiryo" pitchFamily="34" charset="-122"/>
                <a:cs typeface="Meiryo" pitchFamily="34" charset="-120"/>
              </a:rPr>
              <a:t>提供元への発注・日程調整</a:t>
            </a:r>
            <a:endParaRPr lang="en-US" sz="1250" dirty="0"/>
          </a:p>
        </p:txBody>
      </p:sp>
      <p:sp>
        <p:nvSpPr>
          <p:cNvPr id="16" name="Shape 11"/>
          <p:cNvSpPr/>
          <p:nvPr/>
        </p:nvSpPr>
        <p:spPr>
          <a:xfrm>
            <a:off x="3977640" y="3154680"/>
            <a:ext cx="3291840" cy="822960"/>
          </a:xfrm>
          <a:prstGeom prst="roundRect">
            <a:avLst>
              <a:gd name="adj" fmla="val 8889"/>
            </a:avLst>
          </a:prstGeom>
          <a:solidFill>
            <a:srgbClr val="F2F5F8"/>
          </a:solidFill>
          <a:ln w="12700">
            <a:solidFill>
              <a:srgbClr val="F2F5F8"/>
            </a:solidFill>
            <a:prstDash val="solid"/>
          </a:ln>
        </p:spPr>
      </p:sp>
      <p:pic>
        <p:nvPicPr>
          <p:cNvPr id="17" name="Image 3" descr="preencoded.png">    </p:cNvPr>
          <p:cNvPicPr>
            <a:picLocks noChangeAspect="1"/>
          </p:cNvPicPr>
          <p:nvPr/>
        </p:nvPicPr>
        <p:blipFill>
          <a:blip r:embed="rId4"/>
          <a:stretch>
            <a:fillRect/>
          </a:stretch>
        </p:blipFill>
        <p:spPr>
          <a:xfrm>
            <a:off x="4160520" y="3401568"/>
            <a:ext cx="329184" cy="329184"/>
          </a:xfrm>
          <a:prstGeom prst="rect">
            <a:avLst/>
          </a:prstGeom>
        </p:spPr>
      </p:pic>
      <p:sp>
        <p:nvSpPr>
          <p:cNvPr id="18" name="Text 12"/>
          <p:cNvSpPr txBox="1"/>
          <p:nvPr/>
        </p:nvSpPr>
        <p:spPr>
          <a:xfrm>
            <a:off x="4617720" y="3154680"/>
            <a:ext cx="2560320" cy="822960"/>
          </a:xfrm>
          <a:prstGeom prst="rect">
            <a:avLst/>
          </a:prstGeom>
          <a:noFill/>
          <a:ln/>
        </p:spPr>
        <p:txBody>
          <a:bodyPr wrap="square" lIns="0" tIns="0" rIns="0" bIns="0" rtlCol="0" anchor="ctr"/>
          <a:lstStyle/>
          <a:p>
            <a:pPr indent="0" marL="0">
              <a:buNone/>
            </a:pPr>
            <a:r>
              <a:rPr lang="en-US" sz="1250" b="1" dirty="0">
                <a:solidFill>
                  <a:srgbClr val="1B2B3D"/>
                </a:solidFill>
                <a:latin typeface="Meiryo" pitchFamily="34" charset="0"/>
                <a:ea typeface="Meiryo" pitchFamily="34" charset="-122"/>
                <a:cs typeface="Meiryo" pitchFamily="34" charset="-120"/>
              </a:rPr>
              <a:t>報告書と「1枚まとめ」の作成</a:t>
            </a:r>
            <a:endParaRPr lang="en-US" sz="1250" dirty="0"/>
          </a:p>
        </p:txBody>
      </p:sp>
      <p:sp>
        <p:nvSpPr>
          <p:cNvPr id="19" name="Shape 13"/>
          <p:cNvSpPr/>
          <p:nvPr/>
        </p:nvSpPr>
        <p:spPr>
          <a:xfrm>
            <a:off x="548640" y="4114800"/>
            <a:ext cx="3291840" cy="822960"/>
          </a:xfrm>
          <a:prstGeom prst="roundRect">
            <a:avLst>
              <a:gd name="adj" fmla="val 8889"/>
            </a:avLst>
          </a:prstGeom>
          <a:solidFill>
            <a:srgbClr val="F2F5F8"/>
          </a:solidFill>
          <a:ln w="12700">
            <a:solidFill>
              <a:srgbClr val="F2F5F8"/>
            </a:solidFill>
            <a:prstDash val="solid"/>
          </a:ln>
        </p:spPr>
      </p:sp>
      <p:pic>
        <p:nvPicPr>
          <p:cNvPr id="20" name="Image 4" descr="preencoded.png">    </p:cNvPr>
          <p:cNvPicPr>
            <a:picLocks noChangeAspect="1"/>
          </p:cNvPicPr>
          <p:nvPr/>
        </p:nvPicPr>
        <p:blipFill>
          <a:blip r:embed="rId5"/>
          <a:stretch>
            <a:fillRect/>
          </a:stretch>
        </p:blipFill>
        <p:spPr>
          <a:xfrm>
            <a:off x="731520" y="4361688"/>
            <a:ext cx="329184" cy="329184"/>
          </a:xfrm>
          <a:prstGeom prst="rect">
            <a:avLst/>
          </a:prstGeom>
        </p:spPr>
      </p:pic>
      <p:sp>
        <p:nvSpPr>
          <p:cNvPr id="21" name="Text 14"/>
          <p:cNvSpPr txBox="1"/>
          <p:nvPr/>
        </p:nvSpPr>
        <p:spPr>
          <a:xfrm>
            <a:off x="1188720" y="4114800"/>
            <a:ext cx="2560320" cy="822960"/>
          </a:xfrm>
          <a:prstGeom prst="rect">
            <a:avLst/>
          </a:prstGeom>
          <a:noFill/>
          <a:ln/>
        </p:spPr>
        <p:txBody>
          <a:bodyPr wrap="square" lIns="0" tIns="0" rIns="0" bIns="0" rtlCol="0" anchor="ctr"/>
          <a:lstStyle/>
          <a:p>
            <a:pPr indent="0" marL="0">
              <a:buNone/>
            </a:pPr>
            <a:r>
              <a:rPr lang="en-US" sz="1250" b="1" dirty="0">
                <a:solidFill>
                  <a:srgbClr val="1B2B3D"/>
                </a:solidFill>
                <a:latin typeface="Meiryo" pitchFamily="34" charset="0"/>
                <a:ea typeface="Meiryo" pitchFamily="34" charset="-122"/>
                <a:cs typeface="Meiryo" pitchFamily="34" charset="-120"/>
              </a:rPr>
              <a:t>報告会（30分）での説明</a:t>
            </a:r>
            <a:endParaRPr lang="en-US" sz="1250" dirty="0"/>
          </a:p>
        </p:txBody>
      </p:sp>
      <p:sp>
        <p:nvSpPr>
          <p:cNvPr id="22" name="Shape 15"/>
          <p:cNvSpPr/>
          <p:nvPr/>
        </p:nvSpPr>
        <p:spPr>
          <a:xfrm>
            <a:off x="3977640" y="4114800"/>
            <a:ext cx="3291840" cy="822960"/>
          </a:xfrm>
          <a:prstGeom prst="roundRect">
            <a:avLst>
              <a:gd name="adj" fmla="val 8889"/>
            </a:avLst>
          </a:prstGeom>
          <a:solidFill>
            <a:srgbClr val="F2F5F8"/>
          </a:solidFill>
          <a:ln w="12700">
            <a:solidFill>
              <a:srgbClr val="F2F5F8"/>
            </a:solidFill>
            <a:prstDash val="solid"/>
          </a:ln>
        </p:spPr>
      </p:sp>
      <p:pic>
        <p:nvPicPr>
          <p:cNvPr id="23" name="Image 5" descr="preencoded.png">    </p:cNvPr>
          <p:cNvPicPr>
            <a:picLocks noChangeAspect="1"/>
          </p:cNvPicPr>
          <p:nvPr/>
        </p:nvPicPr>
        <p:blipFill>
          <a:blip r:embed="rId6"/>
          <a:stretch>
            <a:fillRect/>
          </a:stretch>
        </p:blipFill>
        <p:spPr>
          <a:xfrm>
            <a:off x="4160520" y="4361688"/>
            <a:ext cx="329184" cy="329184"/>
          </a:xfrm>
          <a:prstGeom prst="rect">
            <a:avLst/>
          </a:prstGeom>
        </p:spPr>
      </p:pic>
      <p:sp>
        <p:nvSpPr>
          <p:cNvPr id="24" name="Text 16"/>
          <p:cNvSpPr txBox="1"/>
          <p:nvPr/>
        </p:nvSpPr>
        <p:spPr>
          <a:xfrm>
            <a:off x="4617720" y="4114800"/>
            <a:ext cx="2560320" cy="822960"/>
          </a:xfrm>
          <a:prstGeom prst="rect">
            <a:avLst/>
          </a:prstGeom>
          <a:noFill/>
          <a:ln/>
        </p:spPr>
        <p:txBody>
          <a:bodyPr wrap="square" lIns="0" tIns="0" rIns="0" bIns="0" rtlCol="0" anchor="ctr"/>
          <a:lstStyle/>
          <a:p>
            <a:pPr indent="0" marL="0">
              <a:buNone/>
            </a:pPr>
            <a:r>
              <a:rPr lang="en-US" sz="1250" b="1" dirty="0">
                <a:solidFill>
                  <a:srgbClr val="1B2B3D"/>
                </a:solidFill>
                <a:latin typeface="Meiryo" pitchFamily="34" charset="0"/>
                <a:ea typeface="Meiryo" pitchFamily="34" charset="-122"/>
                <a:cs typeface="Meiryo" pitchFamily="34" charset="-120"/>
              </a:rPr>
              <a:t>総会・予算要求・補助金申請用の資料づくりのお手伝い</a:t>
            </a:r>
            <a:endParaRPr lang="en-US" sz="1250" dirty="0"/>
          </a:p>
        </p:txBody>
      </p:sp>
      <p:sp>
        <p:nvSpPr>
          <p:cNvPr id="25" name="Shape 17"/>
          <p:cNvSpPr/>
          <p:nvPr/>
        </p:nvSpPr>
        <p:spPr>
          <a:xfrm>
            <a:off x="7589520" y="1783080"/>
            <a:ext cx="4023360" cy="4251960"/>
          </a:xfrm>
          <a:prstGeom prst="roundRect">
            <a:avLst>
              <a:gd name="adj" fmla="val 1818"/>
            </a:avLst>
          </a:prstGeom>
          <a:solidFill>
            <a:srgbClr val="13283C"/>
          </a:solidFill>
          <a:ln w="12700">
            <a:solidFill>
              <a:srgbClr val="13283C"/>
            </a:solidFill>
            <a:prstDash val="solid"/>
          </a:ln>
        </p:spPr>
      </p:sp>
      <p:sp>
        <p:nvSpPr>
          <p:cNvPr id="26" name="Text 18"/>
          <p:cNvSpPr txBox="1"/>
          <p:nvPr/>
        </p:nvSpPr>
        <p:spPr>
          <a:xfrm>
            <a:off x="7818120" y="1920240"/>
            <a:ext cx="3657600" cy="365760"/>
          </a:xfrm>
          <a:prstGeom prst="rect">
            <a:avLst/>
          </a:prstGeom>
          <a:noFill/>
          <a:ln/>
        </p:spPr>
        <p:txBody>
          <a:bodyPr wrap="square" lIns="0" tIns="0" rIns="0" bIns="0" rtlCol="0" anchor="t"/>
          <a:lstStyle/>
          <a:p>
            <a:pPr indent="0" marL="0">
              <a:buNone/>
            </a:pPr>
            <a:r>
              <a:rPr lang="en-US" sz="1500" b="1" dirty="0">
                <a:solidFill>
                  <a:srgbClr val="FF8FA3"/>
                </a:solidFill>
                <a:latin typeface="Meiryo" pitchFamily="34" charset="0"/>
                <a:ea typeface="Meiryo" pitchFamily="34" charset="-122"/>
                <a:cs typeface="Meiryo" pitchFamily="34" charset="-120"/>
              </a:rPr>
              <a:t>お客様にお願いすること</a:t>
            </a:r>
            <a:endParaRPr lang="en-US" sz="1500" dirty="0"/>
          </a:p>
        </p:txBody>
      </p:sp>
      <p:sp>
        <p:nvSpPr>
          <p:cNvPr id="27" name="Shape 19"/>
          <p:cNvSpPr/>
          <p:nvPr/>
        </p:nvSpPr>
        <p:spPr>
          <a:xfrm>
            <a:off x="7818120" y="2468880"/>
            <a:ext cx="548640" cy="548640"/>
          </a:xfrm>
          <a:prstGeom prst="ellipse">
            <a:avLst/>
          </a:prstGeom>
          <a:solidFill>
            <a:srgbClr val="C9002B"/>
          </a:solidFill>
          <a:ln w="12700">
            <a:solidFill>
              <a:srgbClr val="C9002B"/>
            </a:solidFill>
            <a:prstDash val="solid"/>
          </a:ln>
        </p:spPr>
      </p:sp>
      <p:sp>
        <p:nvSpPr>
          <p:cNvPr id="28" name="Text 20"/>
          <p:cNvSpPr txBox="1"/>
          <p:nvPr/>
        </p:nvSpPr>
        <p:spPr>
          <a:xfrm>
            <a:off x="7818120" y="2468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1</a:t>
            </a:r>
            <a:endParaRPr lang="en-US" sz="1800" dirty="0"/>
          </a:p>
        </p:txBody>
      </p:sp>
      <p:sp>
        <p:nvSpPr>
          <p:cNvPr id="29" name="Text 21"/>
          <p:cNvSpPr txBox="1"/>
          <p:nvPr/>
        </p:nvSpPr>
        <p:spPr>
          <a:xfrm>
            <a:off x="8503920" y="2450592"/>
            <a:ext cx="3017520" cy="365760"/>
          </a:xfrm>
          <a:prstGeom prst="rect">
            <a:avLst/>
          </a:prstGeom>
          <a:noFill/>
          <a:ln/>
        </p:spPr>
        <p:txBody>
          <a:bodyPr wrap="square" lIns="0" tIns="0" rIns="0" bIns="0" rtlCol="0" anchor="t"/>
          <a:lstStyle/>
          <a:p>
            <a:pPr indent="0" marL="0">
              <a:buNone/>
            </a:pPr>
            <a:r>
              <a:rPr lang="en-US" sz="1400" b="1" dirty="0">
                <a:solidFill>
                  <a:srgbClr val="FFFFFF"/>
                </a:solidFill>
                <a:latin typeface="Meiryo" pitchFamily="34" charset="0"/>
                <a:ea typeface="Meiryo" pitchFamily="34" charset="-122"/>
                <a:cs typeface="Meiryo" pitchFamily="34" charset="-120"/>
              </a:rPr>
              <a:t>目的と対象イベントを決める</a:t>
            </a:r>
            <a:endParaRPr lang="en-US" sz="1400" dirty="0"/>
          </a:p>
        </p:txBody>
      </p:sp>
      <p:sp>
        <p:nvSpPr>
          <p:cNvPr id="30" name="Text 22"/>
          <p:cNvSpPr txBox="1"/>
          <p:nvPr/>
        </p:nvSpPr>
        <p:spPr>
          <a:xfrm>
            <a:off x="8503920" y="2816352"/>
            <a:ext cx="3017520" cy="292608"/>
          </a:xfrm>
          <a:prstGeom prst="rect">
            <a:avLst/>
          </a:prstGeom>
          <a:noFill/>
          <a:ln/>
        </p:spPr>
        <p:txBody>
          <a:bodyPr wrap="square" lIns="0" tIns="0" rIns="0" bIns="0" rtlCol="0" anchor="t"/>
          <a:lstStyle/>
          <a:p>
            <a:pPr indent="0" marL="0">
              <a:buNone/>
            </a:pPr>
            <a:r>
              <a:rPr lang="en-US" sz="1200" dirty="0">
                <a:solidFill>
                  <a:srgbClr val="BAC8D4"/>
                </a:solidFill>
                <a:latin typeface="Meiryo" pitchFamily="34" charset="0"/>
                <a:ea typeface="Meiryo" pitchFamily="34" charset="-122"/>
                <a:cs typeface="Meiryo" pitchFamily="34" charset="-120"/>
              </a:rPr>
              <a:t>約1時間の打ち合わせ</a:t>
            </a:r>
            <a:endParaRPr lang="en-US" sz="1200" dirty="0"/>
          </a:p>
        </p:txBody>
      </p:sp>
      <p:sp>
        <p:nvSpPr>
          <p:cNvPr id="31" name="Shape 23"/>
          <p:cNvSpPr/>
          <p:nvPr/>
        </p:nvSpPr>
        <p:spPr>
          <a:xfrm>
            <a:off x="7818120" y="3611880"/>
            <a:ext cx="548640" cy="548640"/>
          </a:xfrm>
          <a:prstGeom prst="ellipse">
            <a:avLst/>
          </a:prstGeom>
          <a:solidFill>
            <a:srgbClr val="C9002B"/>
          </a:solidFill>
          <a:ln w="12700">
            <a:solidFill>
              <a:srgbClr val="C9002B"/>
            </a:solidFill>
            <a:prstDash val="solid"/>
          </a:ln>
        </p:spPr>
      </p:sp>
      <p:sp>
        <p:nvSpPr>
          <p:cNvPr id="32" name="Text 24"/>
          <p:cNvSpPr txBox="1"/>
          <p:nvPr/>
        </p:nvSpPr>
        <p:spPr>
          <a:xfrm>
            <a:off x="7818120" y="3611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2</a:t>
            </a:r>
            <a:endParaRPr lang="en-US" sz="1800" dirty="0"/>
          </a:p>
        </p:txBody>
      </p:sp>
      <p:sp>
        <p:nvSpPr>
          <p:cNvPr id="33" name="Text 25"/>
          <p:cNvSpPr txBox="1"/>
          <p:nvPr/>
        </p:nvSpPr>
        <p:spPr>
          <a:xfrm>
            <a:off x="8503920" y="3593592"/>
            <a:ext cx="3017520" cy="365760"/>
          </a:xfrm>
          <a:prstGeom prst="rect">
            <a:avLst/>
          </a:prstGeom>
          <a:noFill/>
          <a:ln/>
        </p:spPr>
        <p:txBody>
          <a:bodyPr wrap="square" lIns="0" tIns="0" rIns="0" bIns="0" rtlCol="0" anchor="t"/>
          <a:lstStyle/>
          <a:p>
            <a:pPr indent="0" marL="0">
              <a:buNone/>
            </a:pPr>
            <a:r>
              <a:rPr lang="en-US" sz="1400" b="1" dirty="0">
                <a:solidFill>
                  <a:srgbClr val="FFFFFF"/>
                </a:solidFill>
                <a:latin typeface="Meiryo" pitchFamily="34" charset="0"/>
                <a:ea typeface="Meiryo" pitchFamily="34" charset="-122"/>
                <a:cs typeface="Meiryo" pitchFamily="34" charset="-120"/>
              </a:rPr>
              <a:t>過去の通行量・売上などを共有</a:t>
            </a:r>
            <a:endParaRPr lang="en-US" sz="1400" dirty="0"/>
          </a:p>
        </p:txBody>
      </p:sp>
      <p:sp>
        <p:nvSpPr>
          <p:cNvPr id="34" name="Text 26"/>
          <p:cNvSpPr txBox="1"/>
          <p:nvPr/>
        </p:nvSpPr>
        <p:spPr>
          <a:xfrm>
            <a:off x="8503920" y="3959352"/>
            <a:ext cx="3017520" cy="292608"/>
          </a:xfrm>
          <a:prstGeom prst="rect">
            <a:avLst/>
          </a:prstGeom>
          <a:noFill/>
          <a:ln/>
        </p:spPr>
        <p:txBody>
          <a:bodyPr wrap="square" lIns="0" tIns="0" rIns="0" bIns="0" rtlCol="0" anchor="t"/>
          <a:lstStyle/>
          <a:p>
            <a:pPr indent="0" marL="0">
              <a:buNone/>
            </a:pPr>
            <a:r>
              <a:rPr lang="en-US" sz="1200" dirty="0">
                <a:solidFill>
                  <a:srgbClr val="BAC8D4"/>
                </a:solidFill>
                <a:latin typeface="Meiryo" pitchFamily="34" charset="0"/>
                <a:ea typeface="Meiryo" pitchFamily="34" charset="-122"/>
                <a:cs typeface="Meiryo" pitchFamily="34" charset="-120"/>
              </a:rPr>
              <a:t>手元にある範囲で</a:t>
            </a:r>
            <a:endParaRPr lang="en-US" sz="1200" dirty="0"/>
          </a:p>
        </p:txBody>
      </p:sp>
      <p:sp>
        <p:nvSpPr>
          <p:cNvPr id="35" name="Shape 27"/>
          <p:cNvSpPr/>
          <p:nvPr/>
        </p:nvSpPr>
        <p:spPr>
          <a:xfrm>
            <a:off x="7818120" y="4754880"/>
            <a:ext cx="548640" cy="548640"/>
          </a:xfrm>
          <a:prstGeom prst="ellipse">
            <a:avLst/>
          </a:prstGeom>
          <a:solidFill>
            <a:srgbClr val="C9002B"/>
          </a:solidFill>
          <a:ln w="12700">
            <a:solidFill>
              <a:srgbClr val="C9002B"/>
            </a:solidFill>
            <a:prstDash val="solid"/>
          </a:ln>
        </p:spPr>
      </p:sp>
      <p:sp>
        <p:nvSpPr>
          <p:cNvPr id="36" name="Text 28"/>
          <p:cNvSpPr txBox="1"/>
          <p:nvPr/>
        </p:nvSpPr>
        <p:spPr>
          <a:xfrm>
            <a:off x="7818120" y="4754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3</a:t>
            </a:r>
            <a:endParaRPr lang="en-US" sz="1800" dirty="0"/>
          </a:p>
        </p:txBody>
      </p:sp>
      <p:sp>
        <p:nvSpPr>
          <p:cNvPr id="37" name="Text 29"/>
          <p:cNvSpPr txBox="1"/>
          <p:nvPr/>
        </p:nvSpPr>
        <p:spPr>
          <a:xfrm>
            <a:off x="8503920" y="4736592"/>
            <a:ext cx="3017520" cy="365760"/>
          </a:xfrm>
          <a:prstGeom prst="rect">
            <a:avLst/>
          </a:prstGeom>
          <a:noFill/>
          <a:ln/>
        </p:spPr>
        <p:txBody>
          <a:bodyPr wrap="square" lIns="0" tIns="0" rIns="0" bIns="0" rtlCol="0" anchor="t"/>
          <a:lstStyle/>
          <a:p>
            <a:pPr indent="0" marL="0">
              <a:buNone/>
            </a:pPr>
            <a:r>
              <a:rPr lang="en-US" sz="1400" b="1" dirty="0">
                <a:solidFill>
                  <a:srgbClr val="FFFFFF"/>
                </a:solidFill>
                <a:latin typeface="Meiryo" pitchFamily="34" charset="0"/>
                <a:ea typeface="Meiryo" pitchFamily="34" charset="-122"/>
                <a:cs typeface="Meiryo" pitchFamily="34" charset="-120"/>
              </a:rPr>
              <a:t>報告会に参加する</a:t>
            </a:r>
            <a:endParaRPr lang="en-US" sz="1400" dirty="0"/>
          </a:p>
        </p:txBody>
      </p:sp>
      <p:sp>
        <p:nvSpPr>
          <p:cNvPr id="38" name="Text 30"/>
          <p:cNvSpPr txBox="1"/>
          <p:nvPr/>
        </p:nvSpPr>
        <p:spPr>
          <a:xfrm>
            <a:off x="8503920" y="5102352"/>
            <a:ext cx="3017520" cy="292608"/>
          </a:xfrm>
          <a:prstGeom prst="rect">
            <a:avLst/>
          </a:prstGeom>
          <a:noFill/>
          <a:ln/>
        </p:spPr>
        <p:txBody>
          <a:bodyPr wrap="square" lIns="0" tIns="0" rIns="0" bIns="0" rtlCol="0" anchor="t"/>
          <a:lstStyle/>
          <a:p>
            <a:pPr indent="0" marL="0">
              <a:buNone/>
            </a:pPr>
            <a:r>
              <a:rPr lang="en-US" sz="1200" dirty="0">
                <a:solidFill>
                  <a:srgbClr val="BAC8D4"/>
                </a:solidFill>
                <a:latin typeface="Meiryo" pitchFamily="34" charset="0"/>
                <a:ea typeface="Meiryo" pitchFamily="34" charset="-122"/>
                <a:cs typeface="Meiryo" pitchFamily="34" charset="-120"/>
              </a:rPr>
              <a:t>約30分</a:t>
            </a:r>
            <a:endParaRPr lang="en-US" sz="1200" dirty="0"/>
          </a:p>
        </p:txBody>
      </p:sp>
      <p:sp>
        <p:nvSpPr>
          <p:cNvPr id="39" name="Text 31"/>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当社の支援範囲は契約内容によります。範囲と費用はお見積でお示しします</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03　アウトプット</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お渡しする「1枚まとめ」のイメージ</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総会・議会・補助金の報告に、そのまま使える形でお渡しします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11</a:t>
            </a:r>
            <a:endParaRPr lang="en-US" sz="1000" dirty="0"/>
          </a:p>
        </p:txBody>
      </p:sp>
      <p:sp>
        <p:nvSpPr>
          <p:cNvPr id="6" name="Shape 4"/>
          <p:cNvSpPr/>
          <p:nvPr/>
        </p:nvSpPr>
        <p:spPr>
          <a:xfrm>
            <a:off x="548640" y="1783080"/>
            <a:ext cx="11064240" cy="4343400"/>
          </a:xfrm>
          <a:prstGeom prst="roundRect">
            <a:avLst>
              <a:gd name="adj" fmla="val 1684"/>
            </a:avLst>
          </a:prstGeom>
          <a:solidFill>
            <a:srgbClr val="FFFFFF"/>
          </a:solidFill>
          <a:ln w="12700">
            <a:solidFill>
              <a:srgbClr val="D5DDE5"/>
            </a:solidFill>
            <a:prstDash val="solid"/>
          </a:ln>
        </p:spPr>
      </p:sp>
      <p:sp>
        <p:nvSpPr>
          <p:cNvPr id="7" name="Text 5"/>
          <p:cNvSpPr txBox="1"/>
          <p:nvPr/>
        </p:nvSpPr>
        <p:spPr>
          <a:xfrm>
            <a:off x="9601200" y="1920240"/>
            <a:ext cx="1828800" cy="274320"/>
          </a:xfrm>
          <a:prstGeom prst="roundRect">
            <a:avLst>
              <a:gd name="adj" fmla="val 50000"/>
            </a:avLst>
          </a:prstGeom>
          <a:solidFill>
            <a:srgbClr val="FFFFFF"/>
          </a:solidFill>
          <a:ln>
            <a:solidFill>
              <a:srgbClr val="C9002B"/>
            </a:solidFill>
          </a:ln>
        </p:spPr>
        <p:txBody>
          <a:bodyPr wrap="square" lIns="0" tIns="0" rIns="0" bIns="0" rtlCol="0" anchor="ctr"/>
          <a:lstStyle/>
          <a:p>
            <a:pPr algn="ctr" indent="0" marL="0">
              <a:buNone/>
            </a:pPr>
            <a:r>
              <a:rPr lang="en-US" sz="1000" b="1" dirty="0">
                <a:solidFill>
                  <a:srgbClr val="C9002B"/>
                </a:solidFill>
                <a:latin typeface="Meiryo" pitchFamily="34" charset="0"/>
                <a:ea typeface="Meiryo" pitchFamily="34" charset="-122"/>
                <a:cs typeface="Meiryo" pitchFamily="34" charset="-120"/>
              </a:rPr>
              <a:t>イメージ（架空の数値）</a:t>
            </a:r>
            <a:endParaRPr lang="en-US" sz="1000" dirty="0"/>
          </a:p>
        </p:txBody>
      </p:sp>
      <p:sp>
        <p:nvSpPr>
          <p:cNvPr id="8" name="Text 6"/>
          <p:cNvSpPr txBox="1"/>
          <p:nvPr/>
        </p:nvSpPr>
        <p:spPr>
          <a:xfrm>
            <a:off x="822960" y="1920240"/>
            <a:ext cx="8595360" cy="365760"/>
          </a:xfrm>
          <a:prstGeom prst="rect">
            <a:avLst/>
          </a:prstGeom>
          <a:noFill/>
          <a:ln/>
        </p:spPr>
        <p:txBody>
          <a:bodyPr wrap="square" lIns="0" tIns="0" rIns="0" bIns="0" rtlCol="0" anchor="t"/>
          <a:lstStyle/>
          <a:p>
            <a:pPr indent="0" marL="0">
              <a:buNone/>
            </a:pPr>
            <a:r>
              <a:rPr lang="en-US" sz="1550" b="1" dirty="0">
                <a:solidFill>
                  <a:srgbClr val="13283C"/>
                </a:solidFill>
                <a:latin typeface="Meiryo" pitchFamily="34" charset="0"/>
                <a:ea typeface="Meiryo" pitchFamily="34" charset="-122"/>
                <a:cs typeface="Meiryo" pitchFamily="34" charset="-120"/>
              </a:rPr>
              <a:t>〇〇商店街 ストークス試合日の来街者データまとめ（2026年11月）</a:t>
            </a:r>
            <a:endParaRPr lang="en-US" sz="1550" dirty="0"/>
          </a:p>
        </p:txBody>
      </p:sp>
      <p:sp>
        <p:nvSpPr>
          <p:cNvPr id="9" name="Shape 7"/>
          <p:cNvSpPr/>
          <p:nvPr/>
        </p:nvSpPr>
        <p:spPr>
          <a:xfrm>
            <a:off x="822960" y="2468880"/>
            <a:ext cx="2331720" cy="1600200"/>
          </a:xfrm>
          <a:prstGeom prst="roundRect">
            <a:avLst>
              <a:gd name="adj" fmla="val 4571"/>
            </a:avLst>
          </a:prstGeom>
          <a:solidFill>
            <a:srgbClr val="F2F5F8"/>
          </a:solidFill>
          <a:ln w="12700">
            <a:solidFill>
              <a:srgbClr val="F2F5F8"/>
            </a:solidFill>
            <a:prstDash val="solid"/>
          </a:ln>
        </p:spPr>
      </p:sp>
      <p:sp>
        <p:nvSpPr>
          <p:cNvPr id="10" name="Text 8"/>
          <p:cNvSpPr txBox="1"/>
          <p:nvPr/>
        </p:nvSpPr>
        <p:spPr>
          <a:xfrm>
            <a:off x="960120" y="2560320"/>
            <a:ext cx="2057400" cy="685800"/>
          </a:xfrm>
          <a:prstGeom prst="rect">
            <a:avLst/>
          </a:prstGeom>
          <a:noFill/>
          <a:ln/>
        </p:spPr>
        <p:txBody>
          <a:bodyPr wrap="square" lIns="0" tIns="0" rIns="0" bIns="0" rtlCol="0" anchor="ctr"/>
          <a:lstStyle/>
          <a:p>
            <a:pPr algn="ctr" indent="0" marL="0">
              <a:buNone/>
            </a:pPr>
            <a:r>
              <a:rPr lang="en-US" sz="3000" b="1" dirty="0">
                <a:solidFill>
                  <a:srgbClr val="C9002B"/>
                </a:solidFill>
                <a:latin typeface="Meiryo" pitchFamily="34" charset="0"/>
                <a:ea typeface="Meiryo" pitchFamily="34" charset="-122"/>
                <a:cs typeface="Meiryo" pitchFamily="34" charset="-120"/>
              </a:rPr>
              <a:t>約1.4倍</a:t>
            </a:r>
            <a:endParaRPr lang="en-US" sz="3000" dirty="0"/>
          </a:p>
        </p:txBody>
      </p:sp>
      <p:sp>
        <p:nvSpPr>
          <p:cNvPr id="11" name="Text 9"/>
          <p:cNvSpPr txBox="1"/>
          <p:nvPr/>
        </p:nvSpPr>
        <p:spPr>
          <a:xfrm>
            <a:off x="960120" y="3246120"/>
            <a:ext cx="2057400" cy="731520"/>
          </a:xfrm>
          <a:prstGeom prst="rect">
            <a:avLst/>
          </a:prstGeom>
          <a:noFill/>
          <a:ln/>
        </p:spPr>
        <p:txBody>
          <a:bodyPr wrap="square" lIns="0" tIns="0" rIns="0" bIns="0" rtlCol="0" anchor="t"/>
          <a:lstStyle/>
          <a:p>
            <a:pPr algn="ctr" indent="0" marL="0">
              <a:buNone/>
            </a:pPr>
            <a:r>
              <a:rPr lang="en-US" sz="1100" dirty="0">
                <a:solidFill>
                  <a:srgbClr val="1B2B3D"/>
                </a:solidFill>
                <a:latin typeface="Meiryo" pitchFamily="34" charset="0"/>
                <a:ea typeface="Meiryo" pitchFamily="34" charset="-122"/>
                <a:cs typeface="Meiryo" pitchFamily="34" charset="-120"/>
              </a:rPr>
              <a:t>試合日の商店街周辺の人の数</a:t>
            </a:r>
            <a:endParaRPr lang="en-US" sz="1100" dirty="0"/>
          </a:p>
          <a:p>
            <a:pPr algn="ctr" indent="0" marL="0">
              <a:buNone/>
            </a:pPr>
            <a:r>
              <a:rPr lang="en-US" sz="1100" dirty="0">
                <a:solidFill>
                  <a:srgbClr val="1B2B3D"/>
                </a:solidFill>
                <a:latin typeface="Meiryo" pitchFamily="34" charset="0"/>
                <a:ea typeface="Meiryo" pitchFamily="34" charset="-122"/>
                <a:cs typeface="Meiryo" pitchFamily="34" charset="-120"/>
              </a:rPr>
              <a:t>（試合のない土曜日との比較）</a:t>
            </a:r>
            <a:endParaRPr lang="en-US" sz="1100" dirty="0"/>
          </a:p>
        </p:txBody>
      </p:sp>
      <p:sp>
        <p:nvSpPr>
          <p:cNvPr id="12" name="Shape 10"/>
          <p:cNvSpPr/>
          <p:nvPr/>
        </p:nvSpPr>
        <p:spPr>
          <a:xfrm>
            <a:off x="3337560" y="2468880"/>
            <a:ext cx="2331720" cy="1600200"/>
          </a:xfrm>
          <a:prstGeom prst="roundRect">
            <a:avLst>
              <a:gd name="adj" fmla="val 4571"/>
            </a:avLst>
          </a:prstGeom>
          <a:solidFill>
            <a:srgbClr val="F2F5F8"/>
          </a:solidFill>
          <a:ln w="12700">
            <a:solidFill>
              <a:srgbClr val="F2F5F8"/>
            </a:solidFill>
            <a:prstDash val="solid"/>
          </a:ln>
        </p:spPr>
      </p:sp>
      <p:sp>
        <p:nvSpPr>
          <p:cNvPr id="13" name="Text 11"/>
          <p:cNvSpPr txBox="1"/>
          <p:nvPr/>
        </p:nvSpPr>
        <p:spPr>
          <a:xfrm>
            <a:off x="3474720" y="2560320"/>
            <a:ext cx="2057400" cy="685800"/>
          </a:xfrm>
          <a:prstGeom prst="rect">
            <a:avLst/>
          </a:prstGeom>
          <a:noFill/>
          <a:ln/>
        </p:spPr>
        <p:txBody>
          <a:bodyPr wrap="square" lIns="0" tIns="0" rIns="0" bIns="0" rtlCol="0" anchor="ctr"/>
          <a:lstStyle/>
          <a:p>
            <a:pPr algn="ctr" indent="0" marL="0">
              <a:buNone/>
            </a:pPr>
            <a:r>
              <a:rPr lang="en-US" sz="3000" b="1" dirty="0">
                <a:solidFill>
                  <a:srgbClr val="C9002B"/>
                </a:solidFill>
                <a:latin typeface="Meiryo" pitchFamily="34" charset="0"/>
                <a:ea typeface="Meiryo" pitchFamily="34" charset="-122"/>
                <a:cs typeface="Meiryo" pitchFamily="34" charset="-120"/>
              </a:rPr>
              <a:t>32%</a:t>
            </a:r>
            <a:endParaRPr lang="en-US" sz="3000" dirty="0"/>
          </a:p>
        </p:txBody>
      </p:sp>
      <p:sp>
        <p:nvSpPr>
          <p:cNvPr id="14" name="Text 12"/>
          <p:cNvSpPr txBox="1"/>
          <p:nvPr/>
        </p:nvSpPr>
        <p:spPr>
          <a:xfrm>
            <a:off x="3474720" y="3246120"/>
            <a:ext cx="2057400" cy="731520"/>
          </a:xfrm>
          <a:prstGeom prst="rect">
            <a:avLst/>
          </a:prstGeom>
          <a:noFill/>
          <a:ln/>
        </p:spPr>
        <p:txBody>
          <a:bodyPr wrap="square" lIns="0" tIns="0" rIns="0" bIns="0" rtlCol="0" anchor="t"/>
          <a:lstStyle/>
          <a:p>
            <a:pPr algn="ctr" indent="0" marL="0">
              <a:buNone/>
            </a:pPr>
            <a:r>
              <a:rPr lang="en-US" sz="1100" dirty="0">
                <a:solidFill>
                  <a:srgbClr val="1B2B3D"/>
                </a:solidFill>
                <a:latin typeface="Meiryo" pitchFamily="34" charset="0"/>
                <a:ea typeface="Meiryo" pitchFamily="34" charset="-122"/>
                <a:cs typeface="Meiryo" pitchFamily="34" charset="-120"/>
              </a:rPr>
              <a:t>観戦後に三宮・元町に</a:t>
            </a:r>
            <a:endParaRPr lang="en-US" sz="1100" dirty="0"/>
          </a:p>
          <a:p>
            <a:pPr algn="ctr" indent="0" marL="0">
              <a:buNone/>
            </a:pPr>
            <a:r>
              <a:rPr lang="en-US" sz="1100" dirty="0">
                <a:solidFill>
                  <a:srgbClr val="1B2B3D"/>
                </a:solidFill>
                <a:latin typeface="Meiryo" pitchFamily="34" charset="0"/>
                <a:ea typeface="Meiryo" pitchFamily="34" charset="-122"/>
                <a:cs typeface="Meiryo" pitchFamily="34" charset="-120"/>
              </a:rPr>
              <a:t>立ち寄った人の割合</a:t>
            </a:r>
            <a:endParaRPr lang="en-US" sz="1100" dirty="0"/>
          </a:p>
        </p:txBody>
      </p:sp>
      <p:sp>
        <p:nvSpPr>
          <p:cNvPr id="15" name="Shape 13"/>
          <p:cNvSpPr/>
          <p:nvPr/>
        </p:nvSpPr>
        <p:spPr>
          <a:xfrm>
            <a:off x="5852160" y="2468880"/>
            <a:ext cx="2331720" cy="1600200"/>
          </a:xfrm>
          <a:prstGeom prst="roundRect">
            <a:avLst>
              <a:gd name="adj" fmla="val 4571"/>
            </a:avLst>
          </a:prstGeom>
          <a:solidFill>
            <a:srgbClr val="F2F5F8"/>
          </a:solidFill>
          <a:ln w="12700">
            <a:solidFill>
              <a:srgbClr val="F2F5F8"/>
            </a:solidFill>
            <a:prstDash val="solid"/>
          </a:ln>
        </p:spPr>
      </p:sp>
      <p:sp>
        <p:nvSpPr>
          <p:cNvPr id="16" name="Text 14"/>
          <p:cNvSpPr txBox="1"/>
          <p:nvPr/>
        </p:nvSpPr>
        <p:spPr>
          <a:xfrm>
            <a:off x="5989320" y="2560320"/>
            <a:ext cx="2057400" cy="685800"/>
          </a:xfrm>
          <a:prstGeom prst="rect">
            <a:avLst/>
          </a:prstGeom>
          <a:noFill/>
          <a:ln/>
        </p:spPr>
        <p:txBody>
          <a:bodyPr wrap="square" lIns="0" tIns="0" rIns="0" bIns="0" rtlCol="0" anchor="ctr"/>
          <a:lstStyle/>
          <a:p>
            <a:pPr algn="ctr" indent="0" marL="0">
              <a:buNone/>
            </a:pPr>
            <a:r>
              <a:rPr lang="en-US" sz="3000" b="1" dirty="0">
                <a:solidFill>
                  <a:srgbClr val="C9002B"/>
                </a:solidFill>
                <a:latin typeface="Meiryo" pitchFamily="34" charset="0"/>
                <a:ea typeface="Meiryo" pitchFamily="34" charset="-122"/>
                <a:cs typeface="Meiryo" pitchFamily="34" charset="-120"/>
              </a:rPr>
              <a:t>38%</a:t>
            </a:r>
            <a:endParaRPr lang="en-US" sz="3000" dirty="0"/>
          </a:p>
        </p:txBody>
      </p:sp>
      <p:sp>
        <p:nvSpPr>
          <p:cNvPr id="17" name="Text 15"/>
          <p:cNvSpPr txBox="1"/>
          <p:nvPr/>
        </p:nvSpPr>
        <p:spPr>
          <a:xfrm>
            <a:off x="5989320" y="3246120"/>
            <a:ext cx="2057400" cy="731520"/>
          </a:xfrm>
          <a:prstGeom prst="rect">
            <a:avLst/>
          </a:prstGeom>
          <a:noFill/>
          <a:ln/>
        </p:spPr>
        <p:txBody>
          <a:bodyPr wrap="square" lIns="0" tIns="0" rIns="0" bIns="0" rtlCol="0" anchor="t"/>
          <a:lstStyle/>
          <a:p>
            <a:pPr algn="ctr" indent="0" marL="0">
              <a:buNone/>
            </a:pPr>
            <a:r>
              <a:rPr lang="en-US" sz="1100" dirty="0">
                <a:solidFill>
                  <a:srgbClr val="1B2B3D"/>
                </a:solidFill>
                <a:latin typeface="Meiryo" pitchFamily="34" charset="0"/>
                <a:ea typeface="Meiryo" pitchFamily="34" charset="-122"/>
                <a:cs typeface="Meiryo" pitchFamily="34" charset="-120"/>
              </a:rPr>
              <a:t>寄らなかった理由の1位</a:t>
            </a:r>
            <a:endParaRPr lang="en-US" sz="1100" dirty="0"/>
          </a:p>
          <a:p>
            <a:pPr algn="ctr" indent="0" marL="0">
              <a:buNone/>
            </a:pPr>
            <a:r>
              <a:rPr lang="en-US" sz="1100" dirty="0">
                <a:solidFill>
                  <a:srgbClr val="1B2B3D"/>
                </a:solidFill>
                <a:latin typeface="Meiryo" pitchFamily="34" charset="0"/>
                <a:ea typeface="Meiryo" pitchFamily="34" charset="-122"/>
                <a:cs typeface="Meiryo" pitchFamily="34" charset="-120"/>
              </a:rPr>
              <a:t>「試合後は店が閉まっている」</a:t>
            </a:r>
            <a:endParaRPr lang="en-US" sz="1100" dirty="0"/>
          </a:p>
        </p:txBody>
      </p:sp>
      <p:graphicFrame>
        <p:nvGraphicFramePr>
          <p:cNvPr id="18" name="Chart 0" descr=""/>
          <p:cNvGraphicFramePr/>
          <p:nvPr/>
        </p:nvGraphicFramePr>
        <p:xfrm>
          <a:off x="8412480" y="2377440"/>
          <a:ext cx="3017520" cy="178308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822960" y="4297680"/>
            <a:ext cx="4572000" cy="292608"/>
          </a:xfrm>
          <a:prstGeom prst="rect">
            <a:avLst/>
          </a:prstGeom>
          <a:noFill/>
          <a:ln/>
        </p:spPr>
        <p:txBody>
          <a:bodyPr wrap="square" lIns="0" tIns="0" rIns="0" bIns="0" rtlCol="0" anchor="t"/>
          <a:lstStyle/>
          <a:p>
            <a:pPr indent="0" marL="0">
              <a:buNone/>
            </a:pPr>
            <a:r>
              <a:rPr lang="en-US" sz="1300" b="1" dirty="0">
                <a:solidFill>
                  <a:srgbClr val="C9002B"/>
                </a:solidFill>
                <a:latin typeface="Meiryo" pitchFamily="34" charset="0"/>
                <a:ea typeface="Meiryo" pitchFamily="34" charset="-122"/>
                <a:cs typeface="Meiryo" pitchFamily="34" charset="-120"/>
              </a:rPr>
              <a:t>次にやること（提案）</a:t>
            </a:r>
            <a:endParaRPr lang="en-US" sz="1300" dirty="0"/>
          </a:p>
        </p:txBody>
      </p:sp>
      <p:sp>
        <p:nvSpPr>
          <p:cNvPr id="20" name="Text 17"/>
          <p:cNvSpPr txBox="1"/>
          <p:nvPr/>
        </p:nvSpPr>
        <p:spPr>
          <a:xfrm>
            <a:off x="822960" y="4617720"/>
            <a:ext cx="10424160" cy="137160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300" dirty="0">
                <a:solidFill>
                  <a:srgbClr val="1B2B3D"/>
                </a:solidFill>
                <a:latin typeface="Meiryo" pitchFamily="34" charset="0"/>
                <a:ea typeface="Meiryo" pitchFamily="34" charset="-122"/>
                <a:cs typeface="Meiryo" pitchFamily="34" charset="-120"/>
              </a:rPr>
              <a:t>試合のある日は、飲食店を中心に閉店時間を延ばす</a:t>
            </a:r>
            <a:endParaRPr lang="en-US" sz="1300" dirty="0"/>
          </a:p>
          <a:p>
            <a:pPr marL="342900" indent="-342900">
              <a:spcAft>
                <a:spcPts val="400"/>
              </a:spcAft>
              <a:buSzPct val="100000"/>
              <a:buFont typeface="+mj-lt"/>
              <a:buAutoNum type="arabicPeriod" startAt="1"/>
            </a:pPr>
            <a:r>
              <a:rPr lang="en-US" sz="1300" dirty="0">
                <a:solidFill>
                  <a:srgbClr val="1B2B3D"/>
                </a:solidFill>
                <a:latin typeface="Meiryo" pitchFamily="34" charset="0"/>
                <a:ea typeface="Meiryo" pitchFamily="34" charset="-122"/>
                <a:cs typeface="Meiryo" pitchFamily="34" charset="-120"/>
              </a:rPr>
              <a:t>試合後に寄れる店のマップを、ストークスの発信やアリーナで配る</a:t>
            </a:r>
            <a:endParaRPr lang="en-US" sz="1300" dirty="0"/>
          </a:p>
          <a:p>
            <a:pPr marL="342900" indent="-342900">
              <a:spcAft>
                <a:spcPts val="400"/>
              </a:spcAft>
              <a:buSzPct val="100000"/>
              <a:buFont typeface="+mj-lt"/>
              <a:buAutoNum type="arabicPeriod" startAt="1"/>
            </a:pPr>
            <a:r>
              <a:rPr lang="en-US" sz="1300" dirty="0">
                <a:solidFill>
                  <a:srgbClr val="1B2B3D"/>
                </a:solidFill>
                <a:latin typeface="Meiryo" pitchFamily="34" charset="0"/>
                <a:ea typeface="Meiryo" pitchFamily="34" charset="-122"/>
                <a:cs typeface="Meiryo" pitchFamily="34" charset="-120"/>
              </a:rPr>
              <a:t>次の試合でも同じ方法で比べ、効果を確かめる</a:t>
            </a:r>
            <a:endParaRPr lang="en-US" sz="1300" dirty="0"/>
          </a:p>
        </p:txBody>
      </p:sp>
      <p:sp>
        <p:nvSpPr>
          <p:cNvPr id="21" name="Text 18"/>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数値はすべて架空のイメージです。実際の報告書には詳細なグラフと分析方法を付けます</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03　アウトプット</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規模の近い活用事例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町・市・地域の団体や商店街でも、データが使われています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12</a:t>
            </a:r>
            <a:endParaRPr lang="en-US" sz="1000" dirty="0"/>
          </a:p>
        </p:txBody>
      </p:sp>
      <p:sp>
        <p:nvSpPr>
          <p:cNvPr id="6" name="Shape 4"/>
          <p:cNvSpPr/>
          <p:nvPr/>
        </p:nvSpPr>
        <p:spPr>
          <a:xfrm>
            <a:off x="548640" y="1783080"/>
            <a:ext cx="3566160" cy="2103120"/>
          </a:xfrm>
          <a:prstGeom prst="roundRect">
            <a:avLst>
              <a:gd name="adj" fmla="val 3478"/>
            </a:avLst>
          </a:prstGeom>
          <a:solidFill>
            <a:srgbClr val="FFFFFF"/>
          </a:solidFill>
          <a:ln w="12700">
            <a:solidFill>
              <a:srgbClr val="D5DDE5"/>
            </a:solidFill>
            <a:prstDash val="solid"/>
          </a:ln>
        </p:spPr>
      </p:sp>
      <p:sp>
        <p:nvSpPr>
          <p:cNvPr id="7" name="Shape 5"/>
          <p:cNvSpPr/>
          <p:nvPr/>
        </p:nvSpPr>
        <p:spPr>
          <a:xfrm>
            <a:off x="731520" y="1965960"/>
            <a:ext cx="502920" cy="502920"/>
          </a:xfrm>
          <a:prstGeom prst="ellipse">
            <a:avLst/>
          </a:prstGeom>
          <a:solidFill>
            <a:srgbClr val="13283C"/>
          </a:solidFill>
          <a:ln w="12700">
            <a:solidFill>
              <a:srgbClr val="13283C"/>
            </a:solidFill>
            <a:prstDash val="solid"/>
          </a:ln>
        </p:spPr>
      </p:sp>
      <p:pic>
        <p:nvPicPr>
          <p:cNvPr id="8" name="Image 0" descr="preencoded.png">    </p:cNvPr>
          <p:cNvPicPr>
            <a:picLocks noChangeAspect="1"/>
          </p:cNvPicPr>
          <p:nvPr/>
        </p:nvPicPr>
        <p:blipFill>
          <a:blip r:embed="rId1"/>
          <a:stretch>
            <a:fillRect/>
          </a:stretch>
        </p:blipFill>
        <p:spPr>
          <a:xfrm>
            <a:off x="857250" y="2091690"/>
            <a:ext cx="251460" cy="251460"/>
          </a:xfrm>
          <a:prstGeom prst="rect">
            <a:avLst/>
          </a:prstGeom>
        </p:spPr>
      </p:pic>
      <p:sp>
        <p:nvSpPr>
          <p:cNvPr id="9" name="Text 6"/>
          <p:cNvSpPr txBox="1"/>
          <p:nvPr/>
        </p:nvSpPr>
        <p:spPr>
          <a:xfrm>
            <a:off x="1371600" y="1911096"/>
            <a:ext cx="2011680" cy="301752"/>
          </a:xfrm>
          <a:prstGeom prst="rect">
            <a:avLst/>
          </a:prstGeom>
          <a:noFill/>
          <a:ln/>
        </p:spPr>
        <p:txBody>
          <a:bodyPr wrap="square" lIns="0" tIns="0" rIns="0" bIns="0" rtlCol="0" anchor="t">
            <a:normAutofit/>
          </a:bodyPr>
          <a:lstStyle/>
          <a:p>
            <a:pPr indent="0" marL="0">
              <a:buNone/>
            </a:pPr>
            <a:r>
              <a:rPr lang="en-US" sz="1300" b="1" dirty="0">
                <a:solidFill>
                  <a:srgbClr val="13283C"/>
                </a:solidFill>
                <a:latin typeface="Meiryo" pitchFamily="34" charset="0"/>
                <a:ea typeface="Meiryo" pitchFamily="34" charset="-122"/>
                <a:cs typeface="Meiryo" pitchFamily="34" charset="-120"/>
              </a:rPr>
              <a:t>香川県琴平町</a:t>
            </a:r>
            <a:endParaRPr lang="en-US" sz="1300" dirty="0"/>
          </a:p>
        </p:txBody>
      </p:sp>
      <p:sp>
        <p:nvSpPr>
          <p:cNvPr id="10" name="Text 7"/>
          <p:cNvSpPr txBox="1"/>
          <p:nvPr/>
        </p:nvSpPr>
        <p:spPr>
          <a:xfrm>
            <a:off x="3383280" y="1929384"/>
            <a:ext cx="594360" cy="256032"/>
          </a:xfrm>
          <a:prstGeom prst="roundRect">
            <a:avLst>
              <a:gd name="adj" fmla="val 50000"/>
            </a:avLst>
          </a:prstGeom>
          <a:solidFill>
            <a:srgbClr val="FBEAEE"/>
          </a:solidFill>
          <a:ln>
            <a:solidFill>
              <a:srgbClr val="FBEAEE"/>
            </a:solidFill>
          </a:ln>
        </p:spPr>
        <p:txBody>
          <a:bodyPr wrap="square" lIns="0" tIns="0" rIns="0" bIns="0" rtlCol="0" anchor="ctr"/>
          <a:lstStyle/>
          <a:p>
            <a:pPr algn="ctr" indent="0" marL="0">
              <a:buNone/>
            </a:pPr>
            <a:r>
              <a:rPr lang="en-US" sz="950" b="1" dirty="0">
                <a:solidFill>
                  <a:srgbClr val="C9002B"/>
                </a:solidFill>
                <a:latin typeface="Meiryo" pitchFamily="34" charset="0"/>
                <a:ea typeface="Meiryo" pitchFamily="34" charset="-122"/>
                <a:cs typeface="Meiryo" pitchFamily="34" charset="-120"/>
              </a:rPr>
              <a:t>町</a:t>
            </a:r>
            <a:endParaRPr lang="en-US" sz="950" dirty="0"/>
          </a:p>
        </p:txBody>
      </p:sp>
      <p:sp>
        <p:nvSpPr>
          <p:cNvPr id="11" name="Text 8"/>
          <p:cNvSpPr txBox="1"/>
          <p:nvPr/>
        </p:nvSpPr>
        <p:spPr>
          <a:xfrm>
            <a:off x="1371600" y="2221992"/>
            <a:ext cx="265176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空間統計＋プレミアパネル</a:t>
            </a:r>
            <a:endParaRPr lang="en-US" sz="1050" dirty="0"/>
          </a:p>
        </p:txBody>
      </p:sp>
      <p:sp>
        <p:nvSpPr>
          <p:cNvPr id="12" name="Text 9"/>
          <p:cNvSpPr txBox="1"/>
          <p:nvPr/>
        </p:nvSpPr>
        <p:spPr>
          <a:xfrm>
            <a:off x="731520" y="2587752"/>
            <a:ext cx="3200400" cy="566928"/>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参道での手書きアンケートは50件程度で、推測に頼っていた</a:t>
            </a:r>
            <a:endParaRPr lang="en-US" sz="1100" dirty="0"/>
          </a:p>
        </p:txBody>
      </p:sp>
      <p:sp>
        <p:nvSpPr>
          <p:cNvPr id="13" name="Text 10"/>
          <p:cNvSpPr txBox="1"/>
          <p:nvPr/>
        </p:nvSpPr>
        <p:spPr>
          <a:xfrm>
            <a:off x="731520" y="315468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来訪者の属性とニーズをデータでつかみ、観光戦略を立案</a:t>
            </a:r>
            <a:endParaRPr lang="en-US" sz="1100" dirty="0"/>
          </a:p>
        </p:txBody>
      </p:sp>
      <p:sp>
        <p:nvSpPr>
          <p:cNvPr id="14" name="Shape 11"/>
          <p:cNvSpPr/>
          <p:nvPr/>
        </p:nvSpPr>
        <p:spPr>
          <a:xfrm>
            <a:off x="4297680" y="1783080"/>
            <a:ext cx="3566160" cy="2103120"/>
          </a:xfrm>
          <a:prstGeom prst="roundRect">
            <a:avLst>
              <a:gd name="adj" fmla="val 3478"/>
            </a:avLst>
          </a:prstGeom>
          <a:solidFill>
            <a:srgbClr val="FFFFFF"/>
          </a:solidFill>
          <a:ln w="12700">
            <a:solidFill>
              <a:srgbClr val="D5DDE5"/>
            </a:solidFill>
            <a:prstDash val="solid"/>
          </a:ln>
        </p:spPr>
      </p:sp>
      <p:sp>
        <p:nvSpPr>
          <p:cNvPr id="15" name="Shape 12"/>
          <p:cNvSpPr/>
          <p:nvPr/>
        </p:nvSpPr>
        <p:spPr>
          <a:xfrm>
            <a:off x="4480560" y="1965960"/>
            <a:ext cx="502920" cy="502920"/>
          </a:xfrm>
          <a:prstGeom prst="ellipse">
            <a:avLst/>
          </a:prstGeom>
          <a:solidFill>
            <a:srgbClr val="13283C"/>
          </a:solidFill>
          <a:ln w="12700">
            <a:solidFill>
              <a:srgbClr val="13283C"/>
            </a:solidFill>
            <a:prstDash val="solid"/>
          </a:ln>
        </p:spPr>
      </p:sp>
      <p:pic>
        <p:nvPicPr>
          <p:cNvPr id="16" name="Image 1" descr="preencoded.png">    </p:cNvPr>
          <p:cNvPicPr>
            <a:picLocks noChangeAspect="1"/>
          </p:cNvPicPr>
          <p:nvPr/>
        </p:nvPicPr>
        <p:blipFill>
          <a:blip r:embed="rId2"/>
          <a:stretch>
            <a:fillRect/>
          </a:stretch>
        </p:blipFill>
        <p:spPr>
          <a:xfrm>
            <a:off x="4606290" y="2091690"/>
            <a:ext cx="251460" cy="251460"/>
          </a:xfrm>
          <a:prstGeom prst="rect">
            <a:avLst/>
          </a:prstGeom>
        </p:spPr>
      </p:pic>
      <p:sp>
        <p:nvSpPr>
          <p:cNvPr id="17" name="Text 13"/>
          <p:cNvSpPr txBox="1"/>
          <p:nvPr/>
        </p:nvSpPr>
        <p:spPr>
          <a:xfrm>
            <a:off x="5120640" y="1911096"/>
            <a:ext cx="2011680" cy="301752"/>
          </a:xfrm>
          <a:prstGeom prst="rect">
            <a:avLst/>
          </a:prstGeom>
          <a:noFill/>
          <a:ln/>
        </p:spPr>
        <p:txBody>
          <a:bodyPr wrap="square" lIns="0" tIns="0" rIns="0" bIns="0" rtlCol="0" anchor="t">
            <a:normAutofit/>
          </a:bodyPr>
          <a:lstStyle/>
          <a:p>
            <a:pPr indent="0" marL="0">
              <a:buNone/>
            </a:pPr>
            <a:r>
              <a:rPr lang="en-US" sz="1300" b="1" dirty="0">
                <a:solidFill>
                  <a:srgbClr val="13283C"/>
                </a:solidFill>
                <a:latin typeface="Meiryo" pitchFamily="34" charset="0"/>
                <a:ea typeface="Meiryo" pitchFamily="34" charset="-122"/>
                <a:cs typeface="Meiryo" pitchFamily="34" charset="-120"/>
              </a:rPr>
              <a:t>徳島県美馬市</a:t>
            </a:r>
            <a:endParaRPr lang="en-US" sz="1300" dirty="0"/>
          </a:p>
        </p:txBody>
      </p:sp>
      <p:sp>
        <p:nvSpPr>
          <p:cNvPr id="18" name="Text 14"/>
          <p:cNvSpPr txBox="1"/>
          <p:nvPr/>
        </p:nvSpPr>
        <p:spPr>
          <a:xfrm>
            <a:off x="7132320" y="1929384"/>
            <a:ext cx="594360" cy="256032"/>
          </a:xfrm>
          <a:prstGeom prst="roundRect">
            <a:avLst>
              <a:gd name="adj" fmla="val 50000"/>
            </a:avLst>
          </a:prstGeom>
          <a:solidFill>
            <a:srgbClr val="FBEAEE"/>
          </a:solidFill>
          <a:ln>
            <a:solidFill>
              <a:srgbClr val="FBEAEE"/>
            </a:solidFill>
          </a:ln>
        </p:spPr>
        <p:txBody>
          <a:bodyPr wrap="square" lIns="0" tIns="0" rIns="0" bIns="0" rtlCol="0" anchor="ctr"/>
          <a:lstStyle/>
          <a:p>
            <a:pPr algn="ctr" indent="0" marL="0">
              <a:buNone/>
            </a:pPr>
            <a:r>
              <a:rPr lang="en-US" sz="950" b="1" dirty="0">
                <a:solidFill>
                  <a:srgbClr val="C9002B"/>
                </a:solidFill>
                <a:latin typeface="Meiryo" pitchFamily="34" charset="0"/>
                <a:ea typeface="Meiryo" pitchFamily="34" charset="-122"/>
                <a:cs typeface="Meiryo" pitchFamily="34" charset="-120"/>
              </a:rPr>
              <a:t>市</a:t>
            </a:r>
            <a:endParaRPr lang="en-US" sz="950" dirty="0"/>
          </a:p>
        </p:txBody>
      </p:sp>
      <p:sp>
        <p:nvSpPr>
          <p:cNvPr id="19" name="Text 15"/>
          <p:cNvSpPr txBox="1"/>
          <p:nvPr/>
        </p:nvSpPr>
        <p:spPr>
          <a:xfrm>
            <a:off x="5120640" y="2221992"/>
            <a:ext cx="265176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モバイル空間統計</a:t>
            </a:r>
            <a:endParaRPr lang="en-US" sz="1050" dirty="0"/>
          </a:p>
        </p:txBody>
      </p:sp>
      <p:sp>
        <p:nvSpPr>
          <p:cNvPr id="20" name="Text 16"/>
          <p:cNvSpPr txBox="1"/>
          <p:nvPr/>
        </p:nvSpPr>
        <p:spPr>
          <a:xfrm>
            <a:off x="4480560" y="2587752"/>
            <a:ext cx="3200400" cy="566928"/>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「うだつの町並み」の観光客が伸び悩み、通過されがち</a:t>
            </a:r>
            <a:endParaRPr lang="en-US" sz="1100" dirty="0"/>
          </a:p>
        </p:txBody>
      </p:sp>
      <p:sp>
        <p:nvSpPr>
          <p:cNvPr id="21" name="Text 17"/>
          <p:cNvSpPr txBox="1"/>
          <p:nvPr/>
        </p:nvSpPr>
        <p:spPr>
          <a:xfrm>
            <a:off x="4480560" y="315468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観光客の性別・年代別データで施策を立案</a:t>
            </a:r>
            <a:endParaRPr lang="en-US" sz="1100" dirty="0"/>
          </a:p>
        </p:txBody>
      </p:sp>
      <p:sp>
        <p:nvSpPr>
          <p:cNvPr id="22" name="Shape 18"/>
          <p:cNvSpPr/>
          <p:nvPr/>
        </p:nvSpPr>
        <p:spPr>
          <a:xfrm>
            <a:off x="8046720" y="1783080"/>
            <a:ext cx="3566160" cy="2103120"/>
          </a:xfrm>
          <a:prstGeom prst="roundRect">
            <a:avLst>
              <a:gd name="adj" fmla="val 3478"/>
            </a:avLst>
          </a:prstGeom>
          <a:solidFill>
            <a:srgbClr val="FFFFFF"/>
          </a:solidFill>
          <a:ln w="12700">
            <a:solidFill>
              <a:srgbClr val="D5DDE5"/>
            </a:solidFill>
            <a:prstDash val="solid"/>
          </a:ln>
        </p:spPr>
      </p:sp>
      <p:sp>
        <p:nvSpPr>
          <p:cNvPr id="23" name="Shape 19"/>
          <p:cNvSpPr/>
          <p:nvPr/>
        </p:nvSpPr>
        <p:spPr>
          <a:xfrm>
            <a:off x="8229600" y="1965960"/>
            <a:ext cx="502920" cy="502920"/>
          </a:xfrm>
          <a:prstGeom prst="ellipse">
            <a:avLst/>
          </a:prstGeom>
          <a:solidFill>
            <a:srgbClr val="13283C"/>
          </a:solidFill>
          <a:ln w="12700">
            <a:solidFill>
              <a:srgbClr val="13283C"/>
            </a:solidFill>
            <a:prstDash val="solid"/>
          </a:ln>
        </p:spPr>
      </p:sp>
      <p:pic>
        <p:nvPicPr>
          <p:cNvPr id="24" name="Image 2" descr="preencoded.png">    </p:cNvPr>
          <p:cNvPicPr>
            <a:picLocks noChangeAspect="1"/>
          </p:cNvPicPr>
          <p:nvPr/>
        </p:nvPicPr>
        <p:blipFill>
          <a:blip r:embed="rId3"/>
          <a:stretch>
            <a:fillRect/>
          </a:stretch>
        </p:blipFill>
        <p:spPr>
          <a:xfrm>
            <a:off x="8355330" y="2091690"/>
            <a:ext cx="251460" cy="251460"/>
          </a:xfrm>
          <a:prstGeom prst="rect">
            <a:avLst/>
          </a:prstGeom>
        </p:spPr>
      </p:pic>
      <p:sp>
        <p:nvSpPr>
          <p:cNvPr id="25" name="Text 20"/>
          <p:cNvSpPr txBox="1"/>
          <p:nvPr/>
        </p:nvSpPr>
        <p:spPr>
          <a:xfrm>
            <a:off x="8869680" y="1911096"/>
            <a:ext cx="2011680" cy="301752"/>
          </a:xfrm>
          <a:prstGeom prst="rect">
            <a:avLst/>
          </a:prstGeom>
          <a:noFill/>
          <a:ln/>
        </p:spPr>
        <p:txBody>
          <a:bodyPr wrap="square" lIns="0" tIns="0" rIns="0" bIns="0" rtlCol="0" anchor="t">
            <a:normAutofit/>
          </a:bodyPr>
          <a:lstStyle/>
          <a:p>
            <a:pPr indent="0" marL="0">
              <a:buNone/>
            </a:pPr>
            <a:r>
              <a:rPr lang="en-US" sz="1300" b="1" dirty="0">
                <a:solidFill>
                  <a:srgbClr val="13283C"/>
                </a:solidFill>
                <a:latin typeface="Meiryo" pitchFamily="34" charset="0"/>
                <a:ea typeface="Meiryo" pitchFamily="34" charset="-122"/>
                <a:cs typeface="Meiryo" pitchFamily="34" charset="-120"/>
              </a:rPr>
              <a:t>熊本県玉名市</a:t>
            </a:r>
            <a:endParaRPr lang="en-US" sz="1300" dirty="0"/>
          </a:p>
        </p:txBody>
      </p:sp>
      <p:sp>
        <p:nvSpPr>
          <p:cNvPr id="26" name="Text 21"/>
          <p:cNvSpPr txBox="1"/>
          <p:nvPr/>
        </p:nvSpPr>
        <p:spPr>
          <a:xfrm>
            <a:off x="10881360" y="1929384"/>
            <a:ext cx="594360" cy="256032"/>
          </a:xfrm>
          <a:prstGeom prst="roundRect">
            <a:avLst>
              <a:gd name="adj" fmla="val 50000"/>
            </a:avLst>
          </a:prstGeom>
          <a:solidFill>
            <a:srgbClr val="FBEAEE"/>
          </a:solidFill>
          <a:ln>
            <a:solidFill>
              <a:srgbClr val="FBEAEE"/>
            </a:solidFill>
          </a:ln>
        </p:spPr>
        <p:txBody>
          <a:bodyPr wrap="square" lIns="0" tIns="0" rIns="0" bIns="0" rtlCol="0" anchor="ctr"/>
          <a:lstStyle/>
          <a:p>
            <a:pPr algn="ctr" indent="0" marL="0">
              <a:buNone/>
            </a:pPr>
            <a:r>
              <a:rPr lang="en-US" sz="950" b="1" dirty="0">
                <a:solidFill>
                  <a:srgbClr val="C9002B"/>
                </a:solidFill>
                <a:latin typeface="Meiryo" pitchFamily="34" charset="0"/>
                <a:ea typeface="Meiryo" pitchFamily="34" charset="-122"/>
                <a:cs typeface="Meiryo" pitchFamily="34" charset="-120"/>
              </a:rPr>
              <a:t>市</a:t>
            </a:r>
            <a:endParaRPr lang="en-US" sz="950" dirty="0"/>
          </a:p>
        </p:txBody>
      </p:sp>
      <p:sp>
        <p:nvSpPr>
          <p:cNvPr id="27" name="Text 22"/>
          <p:cNvSpPr txBox="1"/>
          <p:nvPr/>
        </p:nvSpPr>
        <p:spPr>
          <a:xfrm>
            <a:off x="8869680" y="2221992"/>
            <a:ext cx="265176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モバイル空間統計</a:t>
            </a:r>
            <a:endParaRPr lang="en-US" sz="1050" dirty="0"/>
          </a:p>
        </p:txBody>
      </p:sp>
      <p:sp>
        <p:nvSpPr>
          <p:cNvPr id="28" name="Text 23"/>
          <p:cNvSpPr txBox="1"/>
          <p:nvPr/>
        </p:nvSpPr>
        <p:spPr>
          <a:xfrm>
            <a:off x="8229600" y="2587752"/>
            <a:ext cx="3200400" cy="566928"/>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無料のRESASでは県単位しか見えず、国別の人数が不明</a:t>
            </a:r>
            <a:endParaRPr lang="en-US" sz="1100" dirty="0"/>
          </a:p>
        </p:txBody>
      </p:sp>
      <p:sp>
        <p:nvSpPr>
          <p:cNvPr id="29" name="Text 24"/>
          <p:cNvSpPr txBox="1"/>
          <p:nvPr/>
        </p:nvSpPr>
        <p:spPr>
          <a:xfrm>
            <a:off x="8229600" y="315468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重点国を決めて誘致し、温泉施設に泊まる外国人客が増加</a:t>
            </a:r>
            <a:endParaRPr lang="en-US" sz="1100" dirty="0"/>
          </a:p>
        </p:txBody>
      </p:sp>
      <p:sp>
        <p:nvSpPr>
          <p:cNvPr id="30" name="Shape 25"/>
          <p:cNvSpPr/>
          <p:nvPr/>
        </p:nvSpPr>
        <p:spPr>
          <a:xfrm>
            <a:off x="548640" y="4023360"/>
            <a:ext cx="3566160" cy="2103120"/>
          </a:xfrm>
          <a:prstGeom prst="roundRect">
            <a:avLst>
              <a:gd name="adj" fmla="val 3478"/>
            </a:avLst>
          </a:prstGeom>
          <a:solidFill>
            <a:srgbClr val="FFFFFF"/>
          </a:solidFill>
          <a:ln w="12700">
            <a:solidFill>
              <a:srgbClr val="D5DDE5"/>
            </a:solidFill>
            <a:prstDash val="solid"/>
          </a:ln>
        </p:spPr>
      </p:sp>
      <p:sp>
        <p:nvSpPr>
          <p:cNvPr id="31" name="Shape 26"/>
          <p:cNvSpPr/>
          <p:nvPr/>
        </p:nvSpPr>
        <p:spPr>
          <a:xfrm>
            <a:off x="731520" y="4206240"/>
            <a:ext cx="502920" cy="502920"/>
          </a:xfrm>
          <a:prstGeom prst="ellipse">
            <a:avLst/>
          </a:prstGeom>
          <a:solidFill>
            <a:srgbClr val="13283C"/>
          </a:solidFill>
          <a:ln w="12700">
            <a:solidFill>
              <a:srgbClr val="13283C"/>
            </a:solidFill>
            <a:prstDash val="solid"/>
          </a:ln>
        </p:spPr>
      </p:sp>
      <p:pic>
        <p:nvPicPr>
          <p:cNvPr id="32" name="Image 3" descr="preencoded.png">    </p:cNvPr>
          <p:cNvPicPr>
            <a:picLocks noChangeAspect="1"/>
          </p:cNvPicPr>
          <p:nvPr/>
        </p:nvPicPr>
        <p:blipFill>
          <a:blip r:embed="rId4"/>
          <a:stretch>
            <a:fillRect/>
          </a:stretch>
        </p:blipFill>
        <p:spPr>
          <a:xfrm>
            <a:off x="857250" y="4331970"/>
            <a:ext cx="251460" cy="251460"/>
          </a:xfrm>
          <a:prstGeom prst="rect">
            <a:avLst/>
          </a:prstGeom>
        </p:spPr>
      </p:pic>
      <p:sp>
        <p:nvSpPr>
          <p:cNvPr id="33" name="Text 27"/>
          <p:cNvSpPr txBox="1"/>
          <p:nvPr/>
        </p:nvSpPr>
        <p:spPr>
          <a:xfrm>
            <a:off x="1371600" y="4151376"/>
            <a:ext cx="2011680" cy="301752"/>
          </a:xfrm>
          <a:prstGeom prst="rect">
            <a:avLst/>
          </a:prstGeom>
          <a:noFill/>
          <a:ln/>
        </p:spPr>
        <p:txBody>
          <a:bodyPr wrap="square" lIns="0" tIns="0" rIns="0" bIns="0" rtlCol="0" anchor="t">
            <a:normAutofit/>
          </a:bodyPr>
          <a:lstStyle/>
          <a:p>
            <a:pPr indent="0" marL="0">
              <a:buNone/>
            </a:pPr>
            <a:r>
              <a:rPr lang="en-US" sz="1300" b="1" dirty="0">
                <a:solidFill>
                  <a:srgbClr val="13283C"/>
                </a:solidFill>
                <a:latin typeface="Meiryo" pitchFamily="34" charset="0"/>
                <a:ea typeface="Meiryo" pitchFamily="34" charset="-122"/>
                <a:cs typeface="Meiryo" pitchFamily="34" charset="-120"/>
              </a:rPr>
              <a:t>みやぎん経済研究所</a:t>
            </a:r>
            <a:endParaRPr lang="en-US" sz="1300" dirty="0"/>
          </a:p>
        </p:txBody>
      </p:sp>
      <p:sp>
        <p:nvSpPr>
          <p:cNvPr id="34" name="Text 28"/>
          <p:cNvSpPr txBox="1"/>
          <p:nvPr/>
        </p:nvSpPr>
        <p:spPr>
          <a:xfrm>
            <a:off x="3383280" y="4169664"/>
            <a:ext cx="594360" cy="256032"/>
          </a:xfrm>
          <a:prstGeom prst="roundRect">
            <a:avLst>
              <a:gd name="adj" fmla="val 50000"/>
            </a:avLst>
          </a:prstGeom>
          <a:solidFill>
            <a:srgbClr val="FBEAEE"/>
          </a:solidFill>
          <a:ln>
            <a:solidFill>
              <a:srgbClr val="FBEAEE"/>
            </a:solidFill>
          </a:ln>
        </p:spPr>
        <p:txBody>
          <a:bodyPr wrap="square" lIns="0" tIns="0" rIns="0" bIns="0" rtlCol="0" anchor="ctr"/>
          <a:lstStyle/>
          <a:p>
            <a:pPr algn="ctr" indent="0" marL="0">
              <a:buNone/>
            </a:pPr>
            <a:r>
              <a:rPr lang="en-US" sz="950" b="1" dirty="0">
                <a:solidFill>
                  <a:srgbClr val="C9002B"/>
                </a:solidFill>
                <a:latin typeface="Meiryo" pitchFamily="34" charset="0"/>
                <a:ea typeface="Meiryo" pitchFamily="34" charset="-122"/>
                <a:cs typeface="Meiryo" pitchFamily="34" charset="-120"/>
              </a:rPr>
              <a:t>団体</a:t>
            </a:r>
            <a:endParaRPr lang="en-US" sz="950" dirty="0"/>
          </a:p>
        </p:txBody>
      </p:sp>
      <p:sp>
        <p:nvSpPr>
          <p:cNvPr id="35" name="Text 29"/>
          <p:cNvSpPr txBox="1"/>
          <p:nvPr/>
        </p:nvSpPr>
        <p:spPr>
          <a:xfrm>
            <a:off x="1371600" y="4462272"/>
            <a:ext cx="265176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モバイル空間統計</a:t>
            </a:r>
            <a:endParaRPr lang="en-US" sz="1050" dirty="0"/>
          </a:p>
        </p:txBody>
      </p:sp>
      <p:sp>
        <p:nvSpPr>
          <p:cNvPr id="36" name="Text 30"/>
          <p:cNvSpPr txBox="1"/>
          <p:nvPr/>
        </p:nvSpPr>
        <p:spPr>
          <a:xfrm>
            <a:off x="731520" y="4828032"/>
            <a:ext cx="3200400" cy="566928"/>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宮崎市のアリーナ構想で、興行の経済効果を示したい</a:t>
            </a:r>
            <a:endParaRPr lang="en-US" sz="1100" dirty="0"/>
          </a:p>
        </p:txBody>
      </p:sp>
      <p:sp>
        <p:nvSpPr>
          <p:cNvPr id="37" name="Text 31"/>
          <p:cNvSpPr txBox="1"/>
          <p:nvPr/>
        </p:nvSpPr>
        <p:spPr>
          <a:xfrm>
            <a:off x="731520" y="539496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来場者の繁華街滞在・宿泊と消費額で効果を推計</a:t>
            </a:r>
            <a:endParaRPr lang="en-US" sz="1100" dirty="0"/>
          </a:p>
        </p:txBody>
      </p:sp>
      <p:sp>
        <p:nvSpPr>
          <p:cNvPr id="38" name="Shape 32"/>
          <p:cNvSpPr/>
          <p:nvPr/>
        </p:nvSpPr>
        <p:spPr>
          <a:xfrm>
            <a:off x="4297680" y="4023360"/>
            <a:ext cx="3566160" cy="2103120"/>
          </a:xfrm>
          <a:prstGeom prst="roundRect">
            <a:avLst>
              <a:gd name="adj" fmla="val 3478"/>
            </a:avLst>
          </a:prstGeom>
          <a:solidFill>
            <a:srgbClr val="FFFFFF"/>
          </a:solidFill>
          <a:ln w="12700">
            <a:solidFill>
              <a:srgbClr val="D5DDE5"/>
            </a:solidFill>
            <a:prstDash val="solid"/>
          </a:ln>
        </p:spPr>
      </p:sp>
      <p:sp>
        <p:nvSpPr>
          <p:cNvPr id="39" name="Shape 33"/>
          <p:cNvSpPr/>
          <p:nvPr/>
        </p:nvSpPr>
        <p:spPr>
          <a:xfrm>
            <a:off x="4480560" y="4206240"/>
            <a:ext cx="502920" cy="502920"/>
          </a:xfrm>
          <a:prstGeom prst="ellipse">
            <a:avLst/>
          </a:prstGeom>
          <a:solidFill>
            <a:srgbClr val="13283C"/>
          </a:solidFill>
          <a:ln w="12700">
            <a:solidFill>
              <a:srgbClr val="13283C"/>
            </a:solidFill>
            <a:prstDash val="solid"/>
          </a:ln>
        </p:spPr>
      </p:sp>
      <p:pic>
        <p:nvPicPr>
          <p:cNvPr id="40" name="Image 4" descr="preencoded.png">    </p:cNvPr>
          <p:cNvPicPr>
            <a:picLocks noChangeAspect="1"/>
          </p:cNvPicPr>
          <p:nvPr/>
        </p:nvPicPr>
        <p:blipFill>
          <a:blip r:embed="rId5"/>
          <a:stretch>
            <a:fillRect/>
          </a:stretch>
        </p:blipFill>
        <p:spPr>
          <a:xfrm>
            <a:off x="4606290" y="4331970"/>
            <a:ext cx="251460" cy="251460"/>
          </a:xfrm>
          <a:prstGeom prst="rect">
            <a:avLst/>
          </a:prstGeom>
        </p:spPr>
      </p:pic>
      <p:sp>
        <p:nvSpPr>
          <p:cNvPr id="41" name="Text 34"/>
          <p:cNvSpPr txBox="1"/>
          <p:nvPr/>
        </p:nvSpPr>
        <p:spPr>
          <a:xfrm>
            <a:off x="5120640" y="4151376"/>
            <a:ext cx="2011680" cy="301752"/>
          </a:xfrm>
          <a:prstGeom prst="rect">
            <a:avLst/>
          </a:prstGeom>
          <a:noFill/>
          <a:ln/>
        </p:spPr>
        <p:txBody>
          <a:bodyPr wrap="square" lIns="0" tIns="0" rIns="0" bIns="0" rtlCol="0" anchor="t">
            <a:normAutofit/>
          </a:bodyPr>
          <a:lstStyle/>
          <a:p>
            <a:pPr indent="0" marL="0">
              <a:buNone/>
            </a:pPr>
            <a:r>
              <a:rPr lang="en-US" sz="1300" b="1" dirty="0">
                <a:solidFill>
                  <a:srgbClr val="13283C"/>
                </a:solidFill>
                <a:latin typeface="Meiryo" pitchFamily="34" charset="0"/>
                <a:ea typeface="Meiryo" pitchFamily="34" charset="-122"/>
                <a:cs typeface="Meiryo" pitchFamily="34" charset="-120"/>
              </a:rPr>
              <a:t>川崎フロンターレ</a:t>
            </a:r>
            <a:endParaRPr lang="en-US" sz="1300" dirty="0"/>
          </a:p>
        </p:txBody>
      </p:sp>
      <p:sp>
        <p:nvSpPr>
          <p:cNvPr id="42" name="Text 35"/>
          <p:cNvSpPr txBox="1"/>
          <p:nvPr/>
        </p:nvSpPr>
        <p:spPr>
          <a:xfrm>
            <a:off x="7132320" y="4169664"/>
            <a:ext cx="594360" cy="256032"/>
          </a:xfrm>
          <a:prstGeom prst="roundRect">
            <a:avLst>
              <a:gd name="adj" fmla="val 50000"/>
            </a:avLst>
          </a:prstGeom>
          <a:solidFill>
            <a:srgbClr val="FBEAEE"/>
          </a:solidFill>
          <a:ln>
            <a:solidFill>
              <a:srgbClr val="FBEAEE"/>
            </a:solidFill>
          </a:ln>
        </p:spPr>
        <p:txBody>
          <a:bodyPr wrap="square" lIns="0" tIns="0" rIns="0" bIns="0" rtlCol="0" anchor="ctr"/>
          <a:lstStyle/>
          <a:p>
            <a:pPr algn="ctr" indent="0" marL="0">
              <a:buNone/>
            </a:pPr>
            <a:r>
              <a:rPr lang="en-US" sz="950" b="1" dirty="0">
                <a:solidFill>
                  <a:srgbClr val="C9002B"/>
                </a:solidFill>
                <a:latin typeface="Meiryo" pitchFamily="34" charset="0"/>
                <a:ea typeface="Meiryo" pitchFamily="34" charset="-122"/>
                <a:cs typeface="Meiryo" pitchFamily="34" charset="-120"/>
              </a:rPr>
              <a:t>実証</a:t>
            </a:r>
            <a:endParaRPr lang="en-US" sz="950" dirty="0"/>
          </a:p>
        </p:txBody>
      </p:sp>
      <p:sp>
        <p:nvSpPr>
          <p:cNvPr id="43" name="Text 36"/>
          <p:cNvSpPr txBox="1"/>
          <p:nvPr/>
        </p:nvSpPr>
        <p:spPr>
          <a:xfrm>
            <a:off x="5120640" y="4462272"/>
            <a:ext cx="265176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ドコモの位置・決済データ</a:t>
            </a:r>
            <a:endParaRPr lang="en-US" sz="1050" dirty="0"/>
          </a:p>
        </p:txBody>
      </p:sp>
      <p:sp>
        <p:nvSpPr>
          <p:cNvPr id="44" name="Text 37"/>
          <p:cNvSpPr txBox="1"/>
          <p:nvPr/>
        </p:nvSpPr>
        <p:spPr>
          <a:xfrm>
            <a:off x="4480560" y="4828032"/>
            <a:ext cx="3200400" cy="566928"/>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試合が地域経済に与える効果を示したい</a:t>
            </a:r>
            <a:endParaRPr lang="en-US" sz="1100" dirty="0"/>
          </a:p>
        </p:txBody>
      </p:sp>
      <p:sp>
        <p:nvSpPr>
          <p:cNvPr id="45" name="Text 38"/>
          <p:cNvSpPr txBox="1"/>
          <p:nvPr/>
        </p:nvSpPr>
        <p:spPr>
          <a:xfrm>
            <a:off x="4480560" y="539496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来場者の周辺消費から、1試合あたり2,419万円と算出</a:t>
            </a:r>
            <a:endParaRPr lang="en-US" sz="1100" dirty="0"/>
          </a:p>
        </p:txBody>
      </p:sp>
      <p:sp>
        <p:nvSpPr>
          <p:cNvPr id="46" name="Shape 39"/>
          <p:cNvSpPr/>
          <p:nvPr/>
        </p:nvSpPr>
        <p:spPr>
          <a:xfrm>
            <a:off x="8046720" y="4023360"/>
            <a:ext cx="3566160" cy="2103120"/>
          </a:xfrm>
          <a:prstGeom prst="roundRect">
            <a:avLst>
              <a:gd name="adj" fmla="val 3478"/>
            </a:avLst>
          </a:prstGeom>
          <a:solidFill>
            <a:srgbClr val="FFFFFF"/>
          </a:solidFill>
          <a:ln w="12700">
            <a:solidFill>
              <a:srgbClr val="D5DDE5"/>
            </a:solidFill>
            <a:prstDash val="solid"/>
          </a:ln>
        </p:spPr>
      </p:sp>
      <p:sp>
        <p:nvSpPr>
          <p:cNvPr id="47" name="Shape 40"/>
          <p:cNvSpPr/>
          <p:nvPr/>
        </p:nvSpPr>
        <p:spPr>
          <a:xfrm>
            <a:off x="8229600" y="4206240"/>
            <a:ext cx="502920" cy="502920"/>
          </a:xfrm>
          <a:prstGeom prst="ellipse">
            <a:avLst/>
          </a:prstGeom>
          <a:solidFill>
            <a:srgbClr val="5A6675"/>
          </a:solidFill>
          <a:ln w="12700">
            <a:solidFill>
              <a:srgbClr val="5A6675"/>
            </a:solidFill>
            <a:prstDash val="solid"/>
          </a:ln>
        </p:spPr>
      </p:sp>
      <p:pic>
        <p:nvPicPr>
          <p:cNvPr id="48" name="Image 5" descr="preencoded.png">    </p:cNvPr>
          <p:cNvPicPr>
            <a:picLocks noChangeAspect="1"/>
          </p:cNvPicPr>
          <p:nvPr/>
        </p:nvPicPr>
        <p:blipFill>
          <a:blip r:embed="rId6"/>
          <a:stretch>
            <a:fillRect/>
          </a:stretch>
        </p:blipFill>
        <p:spPr>
          <a:xfrm>
            <a:off x="8355330" y="4331970"/>
            <a:ext cx="251460" cy="251460"/>
          </a:xfrm>
          <a:prstGeom prst="rect">
            <a:avLst/>
          </a:prstGeom>
        </p:spPr>
      </p:pic>
      <p:sp>
        <p:nvSpPr>
          <p:cNvPr id="49" name="Text 41"/>
          <p:cNvSpPr txBox="1"/>
          <p:nvPr/>
        </p:nvSpPr>
        <p:spPr>
          <a:xfrm>
            <a:off x="8869680" y="4151376"/>
            <a:ext cx="2011680" cy="301752"/>
          </a:xfrm>
          <a:prstGeom prst="rect">
            <a:avLst/>
          </a:prstGeom>
          <a:noFill/>
          <a:ln/>
        </p:spPr>
        <p:txBody>
          <a:bodyPr wrap="square" lIns="0" tIns="0" rIns="0" bIns="0" rtlCol="0" anchor="t">
            <a:normAutofit/>
          </a:bodyPr>
          <a:lstStyle/>
          <a:p>
            <a:pPr indent="0" marL="0">
              <a:buNone/>
            </a:pPr>
            <a:r>
              <a:rPr lang="en-US" sz="1300" b="1" dirty="0">
                <a:solidFill>
                  <a:srgbClr val="13283C"/>
                </a:solidFill>
                <a:latin typeface="Meiryo" pitchFamily="34" charset="0"/>
                <a:ea typeface="Meiryo" pitchFamily="34" charset="-122"/>
                <a:cs typeface="Meiryo" pitchFamily="34" charset="-120"/>
              </a:rPr>
              <a:t>ハッピーロード大山</a:t>
            </a:r>
            <a:endParaRPr lang="en-US" sz="1300" dirty="0"/>
          </a:p>
        </p:txBody>
      </p:sp>
      <p:sp>
        <p:nvSpPr>
          <p:cNvPr id="50" name="Text 42"/>
          <p:cNvSpPr txBox="1"/>
          <p:nvPr/>
        </p:nvSpPr>
        <p:spPr>
          <a:xfrm>
            <a:off x="10881360" y="4169664"/>
            <a:ext cx="594360" cy="256032"/>
          </a:xfrm>
          <a:prstGeom prst="roundRect">
            <a:avLst>
              <a:gd name="adj" fmla="val 50000"/>
            </a:avLst>
          </a:prstGeom>
          <a:solidFill>
            <a:srgbClr val="F2F5F8"/>
          </a:solidFill>
          <a:ln>
            <a:solidFill>
              <a:srgbClr val="F2F5F8"/>
            </a:solidFill>
          </a:ln>
        </p:spPr>
        <p:txBody>
          <a:bodyPr wrap="square" lIns="0" tIns="0" rIns="0" bIns="0" rtlCol="0" anchor="ctr"/>
          <a:lstStyle/>
          <a:p>
            <a:pPr algn="ctr" indent="0" marL="0">
              <a:buNone/>
            </a:pPr>
            <a:r>
              <a:rPr lang="en-US" sz="950" b="1" dirty="0">
                <a:solidFill>
                  <a:srgbClr val="5A6675"/>
                </a:solidFill>
                <a:latin typeface="Meiryo" pitchFamily="34" charset="0"/>
                <a:ea typeface="Meiryo" pitchFamily="34" charset="-122"/>
                <a:cs typeface="Meiryo" pitchFamily="34" charset="-120"/>
              </a:rPr>
              <a:t>参考</a:t>
            </a:r>
            <a:endParaRPr lang="en-US" sz="950" dirty="0"/>
          </a:p>
        </p:txBody>
      </p:sp>
      <p:sp>
        <p:nvSpPr>
          <p:cNvPr id="51" name="Text 43"/>
          <p:cNvSpPr txBox="1"/>
          <p:nvPr/>
        </p:nvSpPr>
        <p:spPr>
          <a:xfrm>
            <a:off x="8869680" y="4462272"/>
            <a:ext cx="2651760" cy="256032"/>
          </a:xfrm>
          <a:prstGeom prst="rect">
            <a:avLst/>
          </a:prstGeom>
          <a:noFill/>
          <a:ln/>
        </p:spPr>
        <p:txBody>
          <a:bodyPr wrap="square" lIns="0" tIns="0" rIns="0" bIns="0" rtlCol="0" anchor="t"/>
          <a:lstStyle/>
          <a:p>
            <a:pPr indent="0" marL="0">
              <a:buNone/>
            </a:pPr>
            <a:r>
              <a:rPr lang="en-US" sz="1050" b="1" dirty="0">
                <a:solidFill>
                  <a:srgbClr val="5A6675"/>
                </a:solidFill>
                <a:latin typeface="Meiryo" pitchFamily="34" charset="0"/>
                <a:ea typeface="Meiryo" pitchFamily="34" charset="-122"/>
                <a:cs typeface="Meiryo" pitchFamily="34" charset="-120"/>
              </a:rPr>
              <a:t>商店街・スマート街路灯（他の手法）</a:t>
            </a:r>
            <a:endParaRPr lang="en-US" sz="1050" dirty="0"/>
          </a:p>
        </p:txBody>
      </p:sp>
      <p:sp>
        <p:nvSpPr>
          <p:cNvPr id="52" name="Text 44"/>
          <p:cNvSpPr txBox="1"/>
          <p:nvPr/>
        </p:nvSpPr>
        <p:spPr>
          <a:xfrm>
            <a:off x="8229600" y="4828032"/>
            <a:ext cx="3200400" cy="566928"/>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来街者数（1日約3万6千人）がコロナ禍で影響を受けた</a:t>
            </a:r>
            <a:endParaRPr lang="en-US" sz="1100" dirty="0"/>
          </a:p>
        </p:txBody>
      </p:sp>
      <p:sp>
        <p:nvSpPr>
          <p:cNvPr id="53" name="Text 45"/>
          <p:cNvSpPr txBox="1"/>
          <p:nvPr/>
        </p:nvSpPr>
        <p:spPr>
          <a:xfrm>
            <a:off x="8229600" y="539496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カメラ・センサー付き街路灯で来街者データを集め、生産性向上に活用</a:t>
            </a:r>
            <a:endParaRPr lang="en-US" sz="1100" dirty="0"/>
          </a:p>
        </p:txBody>
      </p:sp>
      <p:sp>
        <p:nvSpPr>
          <p:cNvPr id="54" name="Text 46"/>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NTTドコモビジネス・中小企業庁等の公開事例の要約。ハッピーロード大山商店街はドコモのサービスではなく参考事例。いずれも当社の実績ではありません</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04　進め方</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進め方：小さく試して、広げる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1回目の結果を見てから、次に何を足すかを一緒に決めます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13</a:t>
            </a:r>
            <a:endParaRPr lang="en-US" sz="1000" dirty="0"/>
          </a:p>
        </p:txBody>
      </p:sp>
      <p:sp>
        <p:nvSpPr>
          <p:cNvPr id="6" name="Shape 4"/>
          <p:cNvSpPr/>
          <p:nvPr/>
        </p:nvSpPr>
        <p:spPr>
          <a:xfrm>
            <a:off x="548640" y="2468880"/>
            <a:ext cx="3383280" cy="3566160"/>
          </a:xfrm>
          <a:prstGeom prst="roundRect">
            <a:avLst>
              <a:gd name="adj" fmla="val 2162"/>
            </a:avLst>
          </a:prstGeom>
          <a:solidFill>
            <a:srgbClr val="FBEAEE"/>
          </a:solidFill>
          <a:ln w="12700">
            <a:solidFill>
              <a:srgbClr val="FBEAEE"/>
            </a:solidFill>
            <a:prstDash val="solid"/>
          </a:ln>
        </p:spPr>
      </p:sp>
      <p:sp>
        <p:nvSpPr>
          <p:cNvPr id="7" name="Shape 5"/>
          <p:cNvSpPr/>
          <p:nvPr/>
        </p:nvSpPr>
        <p:spPr>
          <a:xfrm>
            <a:off x="822960" y="2697480"/>
            <a:ext cx="685800" cy="685800"/>
          </a:xfrm>
          <a:prstGeom prst="ellipse">
            <a:avLst/>
          </a:prstGeom>
          <a:solidFill>
            <a:srgbClr val="C9002B"/>
          </a:solidFill>
          <a:ln w="12700">
            <a:solidFill>
              <a:srgbClr val="C9002B"/>
            </a:solidFill>
            <a:prstDash val="solid"/>
          </a:ln>
        </p:spPr>
      </p:sp>
      <p:pic>
        <p:nvPicPr>
          <p:cNvPr id="8" name="Image 0" descr="preencoded.png">    </p:cNvPr>
          <p:cNvPicPr>
            <a:picLocks noChangeAspect="1"/>
          </p:cNvPicPr>
          <p:nvPr/>
        </p:nvPicPr>
        <p:blipFill>
          <a:blip r:embed="rId1"/>
          <a:stretch>
            <a:fillRect/>
          </a:stretch>
        </p:blipFill>
        <p:spPr>
          <a:xfrm>
            <a:off x="994410" y="2868930"/>
            <a:ext cx="342900" cy="342900"/>
          </a:xfrm>
          <a:prstGeom prst="rect">
            <a:avLst/>
          </a:prstGeom>
        </p:spPr>
      </p:pic>
      <p:sp>
        <p:nvSpPr>
          <p:cNvPr id="9" name="Text 6"/>
          <p:cNvSpPr txBox="1"/>
          <p:nvPr/>
        </p:nvSpPr>
        <p:spPr>
          <a:xfrm>
            <a:off x="1645920" y="2743200"/>
            <a:ext cx="2103120" cy="274320"/>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ステップ1</a:t>
            </a:r>
            <a:endParaRPr lang="en-US" sz="1100" dirty="0"/>
          </a:p>
        </p:txBody>
      </p:sp>
      <p:sp>
        <p:nvSpPr>
          <p:cNvPr id="10" name="Text 7"/>
          <p:cNvSpPr txBox="1"/>
          <p:nvPr/>
        </p:nvSpPr>
        <p:spPr>
          <a:xfrm>
            <a:off x="1645920" y="3017520"/>
            <a:ext cx="2194560" cy="411480"/>
          </a:xfrm>
          <a:prstGeom prst="rect">
            <a:avLst/>
          </a:prstGeom>
          <a:noFill/>
          <a:ln/>
        </p:spPr>
        <p:txBody>
          <a:bodyPr wrap="square" lIns="0" tIns="0" rIns="0" bIns="0" rtlCol="0" anchor="t"/>
          <a:lstStyle/>
          <a:p>
            <a:pPr indent="0" marL="0">
              <a:buNone/>
            </a:pPr>
            <a:r>
              <a:rPr lang="en-US" sz="1800" b="1" dirty="0">
                <a:solidFill>
                  <a:srgbClr val="13283C"/>
                </a:solidFill>
                <a:latin typeface="Meiryo" pitchFamily="34" charset="0"/>
                <a:ea typeface="Meiryo" pitchFamily="34" charset="-122"/>
                <a:cs typeface="Meiryo" pitchFamily="34" charset="-120"/>
              </a:rPr>
              <a:t>1回、試す</a:t>
            </a:r>
            <a:endParaRPr lang="en-US" sz="1800" dirty="0"/>
          </a:p>
        </p:txBody>
      </p:sp>
      <p:sp>
        <p:nvSpPr>
          <p:cNvPr id="11" name="Text 8"/>
          <p:cNvSpPr txBox="1"/>
          <p:nvPr/>
        </p:nvSpPr>
        <p:spPr>
          <a:xfrm>
            <a:off x="822960" y="3657600"/>
            <a:ext cx="2880360" cy="731520"/>
          </a:xfrm>
          <a:prstGeom prst="rect">
            <a:avLst/>
          </a:prstGeom>
          <a:noFill/>
          <a:ln/>
        </p:spPr>
        <p:txBody>
          <a:bodyPr wrap="square" lIns="0" tIns="0" rIns="0" bIns="0" rtlCol="0" anchor="t"/>
          <a:lstStyle/>
          <a:p>
            <a:pPr indent="0" marL="0">
              <a:buNone/>
            </a:pPr>
            <a:r>
              <a:rPr lang="en-US" sz="1350" dirty="0">
                <a:solidFill>
                  <a:srgbClr val="1B2B3D"/>
                </a:solidFill>
                <a:latin typeface="Meiryo" pitchFamily="34" charset="0"/>
                <a:ea typeface="Meiryo" pitchFamily="34" charset="-122"/>
                <a:cs typeface="Meiryo" pitchFamily="34" charset="-120"/>
              </a:rPr>
              <a:t>1つのサービスで、1回のイベントや売り出しを調べる</a:t>
            </a:r>
            <a:endParaRPr lang="en-US" sz="1350" dirty="0"/>
          </a:p>
        </p:txBody>
      </p:sp>
      <p:sp>
        <p:nvSpPr>
          <p:cNvPr id="12" name="Text 9"/>
          <p:cNvSpPr txBox="1"/>
          <p:nvPr/>
        </p:nvSpPr>
        <p:spPr>
          <a:xfrm>
            <a:off x="822960" y="4434840"/>
            <a:ext cx="2880360" cy="640080"/>
          </a:xfrm>
          <a:prstGeom prst="rect">
            <a:avLst/>
          </a:prstGeom>
          <a:noFill/>
          <a:ln/>
        </p:spPr>
        <p:txBody>
          <a:bodyPr wrap="square" lIns="0" tIns="0" rIns="0" bIns="0" rtlCol="0" anchor="t"/>
          <a:lstStyle/>
          <a:p>
            <a:pPr indent="0" marL="0">
              <a:buNone/>
            </a:pPr>
            <a:r>
              <a:rPr lang="en-US" sz="1150" dirty="0">
                <a:solidFill>
                  <a:srgbClr val="5A6675"/>
                </a:solidFill>
                <a:latin typeface="Meiryo" pitchFamily="34" charset="0"/>
                <a:ea typeface="Meiryo" pitchFamily="34" charset="-122"/>
                <a:cs typeface="Meiryo" pitchFamily="34" charset="-120"/>
              </a:rPr>
              <a:t>例：近所で来ていない人へのアンケート1回</a:t>
            </a:r>
            <a:endParaRPr lang="en-US" sz="1150" dirty="0"/>
          </a:p>
        </p:txBody>
      </p:sp>
      <p:pic>
        <p:nvPicPr>
          <p:cNvPr id="13" name="Image 1" descr="preencoded.png">    </p:cNvPr>
          <p:cNvPicPr>
            <a:picLocks noChangeAspect="1"/>
          </p:cNvPicPr>
          <p:nvPr/>
        </p:nvPicPr>
        <p:blipFill>
          <a:blip r:embed="rId2"/>
          <a:stretch>
            <a:fillRect/>
          </a:stretch>
        </p:blipFill>
        <p:spPr>
          <a:xfrm>
            <a:off x="4023360" y="3931920"/>
            <a:ext cx="274320" cy="274320"/>
          </a:xfrm>
          <a:prstGeom prst="rect">
            <a:avLst/>
          </a:prstGeom>
        </p:spPr>
      </p:pic>
      <p:sp>
        <p:nvSpPr>
          <p:cNvPr id="14" name="Shape 10"/>
          <p:cNvSpPr/>
          <p:nvPr/>
        </p:nvSpPr>
        <p:spPr>
          <a:xfrm>
            <a:off x="4389120" y="2148840"/>
            <a:ext cx="3383280" cy="3886200"/>
          </a:xfrm>
          <a:prstGeom prst="roundRect">
            <a:avLst>
              <a:gd name="adj" fmla="val 2162"/>
            </a:avLst>
          </a:prstGeom>
          <a:solidFill>
            <a:srgbClr val="F2F5F8"/>
          </a:solidFill>
          <a:ln w="12700">
            <a:solidFill>
              <a:srgbClr val="F2F5F8"/>
            </a:solidFill>
            <a:prstDash val="solid"/>
          </a:ln>
        </p:spPr>
      </p:sp>
      <p:sp>
        <p:nvSpPr>
          <p:cNvPr id="15" name="Shape 11"/>
          <p:cNvSpPr/>
          <p:nvPr/>
        </p:nvSpPr>
        <p:spPr>
          <a:xfrm>
            <a:off x="4663440" y="2377440"/>
            <a:ext cx="685800" cy="685800"/>
          </a:xfrm>
          <a:prstGeom prst="ellipse">
            <a:avLst/>
          </a:prstGeom>
          <a:solidFill>
            <a:srgbClr val="2F4A63"/>
          </a:solidFill>
          <a:ln w="12700">
            <a:solidFill>
              <a:srgbClr val="2F4A63"/>
            </a:solidFill>
            <a:prstDash val="solid"/>
          </a:ln>
        </p:spPr>
      </p:sp>
      <p:pic>
        <p:nvPicPr>
          <p:cNvPr id="16" name="Image 2" descr="preencoded.png">    </p:cNvPr>
          <p:cNvPicPr>
            <a:picLocks noChangeAspect="1"/>
          </p:cNvPicPr>
          <p:nvPr/>
        </p:nvPicPr>
        <p:blipFill>
          <a:blip r:embed="rId3"/>
          <a:stretch>
            <a:fillRect/>
          </a:stretch>
        </p:blipFill>
        <p:spPr>
          <a:xfrm>
            <a:off x="4834890" y="2548890"/>
            <a:ext cx="342900" cy="342900"/>
          </a:xfrm>
          <a:prstGeom prst="rect">
            <a:avLst/>
          </a:prstGeom>
        </p:spPr>
      </p:pic>
      <p:sp>
        <p:nvSpPr>
          <p:cNvPr id="17" name="Text 12"/>
          <p:cNvSpPr txBox="1"/>
          <p:nvPr/>
        </p:nvSpPr>
        <p:spPr>
          <a:xfrm>
            <a:off x="5486400" y="2423160"/>
            <a:ext cx="2103120" cy="274320"/>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ステップ2</a:t>
            </a:r>
            <a:endParaRPr lang="en-US" sz="1100" dirty="0"/>
          </a:p>
        </p:txBody>
      </p:sp>
      <p:sp>
        <p:nvSpPr>
          <p:cNvPr id="18" name="Text 13"/>
          <p:cNvSpPr txBox="1"/>
          <p:nvPr/>
        </p:nvSpPr>
        <p:spPr>
          <a:xfrm>
            <a:off x="5486400" y="2697480"/>
            <a:ext cx="2194560" cy="411480"/>
          </a:xfrm>
          <a:prstGeom prst="rect">
            <a:avLst/>
          </a:prstGeom>
          <a:noFill/>
          <a:ln/>
        </p:spPr>
        <p:txBody>
          <a:bodyPr wrap="square" lIns="0" tIns="0" rIns="0" bIns="0" rtlCol="0" anchor="t"/>
          <a:lstStyle/>
          <a:p>
            <a:pPr indent="0" marL="0">
              <a:buNone/>
            </a:pPr>
            <a:r>
              <a:rPr lang="en-US" sz="1800" b="1" dirty="0">
                <a:solidFill>
                  <a:srgbClr val="13283C"/>
                </a:solidFill>
                <a:latin typeface="Meiryo" pitchFamily="34" charset="0"/>
                <a:ea typeface="Meiryo" pitchFamily="34" charset="-122"/>
                <a:cs typeface="Meiryo" pitchFamily="34" charset="-120"/>
              </a:rPr>
              <a:t>組み合わせる</a:t>
            </a:r>
            <a:endParaRPr lang="en-US" sz="1800" dirty="0"/>
          </a:p>
        </p:txBody>
      </p:sp>
      <p:sp>
        <p:nvSpPr>
          <p:cNvPr id="19" name="Text 14"/>
          <p:cNvSpPr txBox="1"/>
          <p:nvPr/>
        </p:nvSpPr>
        <p:spPr>
          <a:xfrm>
            <a:off x="4663440" y="3337560"/>
            <a:ext cx="2880360" cy="731520"/>
          </a:xfrm>
          <a:prstGeom prst="rect">
            <a:avLst/>
          </a:prstGeom>
          <a:noFill/>
          <a:ln/>
        </p:spPr>
        <p:txBody>
          <a:bodyPr wrap="square" lIns="0" tIns="0" rIns="0" bIns="0" rtlCol="0" anchor="t"/>
          <a:lstStyle/>
          <a:p>
            <a:pPr indent="0" marL="0">
              <a:buNone/>
            </a:pPr>
            <a:r>
              <a:rPr lang="en-US" sz="1350" dirty="0">
                <a:solidFill>
                  <a:srgbClr val="1B2B3D"/>
                </a:solidFill>
                <a:latin typeface="Meiryo" pitchFamily="34" charset="0"/>
                <a:ea typeface="Meiryo" pitchFamily="34" charset="-122"/>
                <a:cs typeface="Meiryo" pitchFamily="34" charset="-120"/>
              </a:rPr>
              <a:t>結果を見て、人の動きのデータや告知を足す</a:t>
            </a:r>
            <a:endParaRPr lang="en-US" sz="1350" dirty="0"/>
          </a:p>
        </p:txBody>
      </p:sp>
      <p:sp>
        <p:nvSpPr>
          <p:cNvPr id="20" name="Text 15"/>
          <p:cNvSpPr txBox="1"/>
          <p:nvPr/>
        </p:nvSpPr>
        <p:spPr>
          <a:xfrm>
            <a:off x="4663440" y="4114800"/>
            <a:ext cx="2880360" cy="640080"/>
          </a:xfrm>
          <a:prstGeom prst="rect">
            <a:avLst/>
          </a:prstGeom>
          <a:noFill/>
          <a:ln/>
        </p:spPr>
        <p:txBody>
          <a:bodyPr wrap="square" lIns="0" tIns="0" rIns="0" bIns="0" rtlCol="0" anchor="t"/>
          <a:lstStyle/>
          <a:p>
            <a:pPr indent="0" marL="0">
              <a:buNone/>
            </a:pPr>
            <a:r>
              <a:rPr lang="en-US" sz="1150" dirty="0">
                <a:solidFill>
                  <a:srgbClr val="5A6675"/>
                </a:solidFill>
                <a:latin typeface="Meiryo" pitchFamily="34" charset="0"/>
                <a:ea typeface="Meiryo" pitchFamily="34" charset="-122"/>
                <a:cs typeface="Meiryo" pitchFamily="34" charset="-120"/>
              </a:rPr>
              <a:t>例：次の祭りで当日と普段の人の数も比べる</a:t>
            </a:r>
            <a:endParaRPr lang="en-US" sz="1150" dirty="0"/>
          </a:p>
        </p:txBody>
      </p:sp>
      <p:pic>
        <p:nvPicPr>
          <p:cNvPr id="21" name="Image 3" descr="preencoded.png">    </p:cNvPr>
          <p:cNvPicPr>
            <a:picLocks noChangeAspect="1"/>
          </p:cNvPicPr>
          <p:nvPr/>
        </p:nvPicPr>
        <p:blipFill>
          <a:blip r:embed="rId4"/>
          <a:stretch>
            <a:fillRect/>
          </a:stretch>
        </p:blipFill>
        <p:spPr>
          <a:xfrm>
            <a:off x="7863840" y="3931920"/>
            <a:ext cx="274320" cy="274320"/>
          </a:xfrm>
          <a:prstGeom prst="rect">
            <a:avLst/>
          </a:prstGeom>
        </p:spPr>
      </p:pic>
      <p:sp>
        <p:nvSpPr>
          <p:cNvPr id="22" name="Shape 16"/>
          <p:cNvSpPr/>
          <p:nvPr/>
        </p:nvSpPr>
        <p:spPr>
          <a:xfrm>
            <a:off x="8229600" y="1828800"/>
            <a:ext cx="3383280" cy="4206240"/>
          </a:xfrm>
          <a:prstGeom prst="roundRect">
            <a:avLst>
              <a:gd name="adj" fmla="val 2162"/>
            </a:avLst>
          </a:prstGeom>
          <a:solidFill>
            <a:srgbClr val="F2F5F8"/>
          </a:solidFill>
          <a:ln w="12700">
            <a:solidFill>
              <a:srgbClr val="F2F5F8"/>
            </a:solidFill>
            <a:prstDash val="solid"/>
          </a:ln>
        </p:spPr>
      </p:sp>
      <p:sp>
        <p:nvSpPr>
          <p:cNvPr id="23" name="Shape 17"/>
          <p:cNvSpPr/>
          <p:nvPr/>
        </p:nvSpPr>
        <p:spPr>
          <a:xfrm>
            <a:off x="8503920" y="2057400"/>
            <a:ext cx="685800" cy="685800"/>
          </a:xfrm>
          <a:prstGeom prst="ellipse">
            <a:avLst/>
          </a:prstGeom>
          <a:solidFill>
            <a:srgbClr val="13283C"/>
          </a:solidFill>
          <a:ln w="12700">
            <a:solidFill>
              <a:srgbClr val="13283C"/>
            </a:solidFill>
            <a:prstDash val="solid"/>
          </a:ln>
        </p:spPr>
      </p:sp>
      <p:pic>
        <p:nvPicPr>
          <p:cNvPr id="24" name="Image 4" descr="preencoded.png">    </p:cNvPr>
          <p:cNvPicPr>
            <a:picLocks noChangeAspect="1"/>
          </p:cNvPicPr>
          <p:nvPr/>
        </p:nvPicPr>
        <p:blipFill>
          <a:blip r:embed="rId5"/>
          <a:stretch>
            <a:fillRect/>
          </a:stretch>
        </p:blipFill>
        <p:spPr>
          <a:xfrm>
            <a:off x="8675370" y="2228850"/>
            <a:ext cx="342900" cy="342900"/>
          </a:xfrm>
          <a:prstGeom prst="rect">
            <a:avLst/>
          </a:prstGeom>
        </p:spPr>
      </p:pic>
      <p:sp>
        <p:nvSpPr>
          <p:cNvPr id="25" name="Text 18"/>
          <p:cNvSpPr txBox="1"/>
          <p:nvPr/>
        </p:nvSpPr>
        <p:spPr>
          <a:xfrm>
            <a:off x="9326880" y="2103120"/>
            <a:ext cx="2103120" cy="274320"/>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ステップ3</a:t>
            </a:r>
            <a:endParaRPr lang="en-US" sz="1100" dirty="0"/>
          </a:p>
        </p:txBody>
      </p:sp>
      <p:sp>
        <p:nvSpPr>
          <p:cNvPr id="26" name="Text 19"/>
          <p:cNvSpPr txBox="1"/>
          <p:nvPr/>
        </p:nvSpPr>
        <p:spPr>
          <a:xfrm>
            <a:off x="9326880" y="2377440"/>
            <a:ext cx="2194560" cy="411480"/>
          </a:xfrm>
          <a:prstGeom prst="rect">
            <a:avLst/>
          </a:prstGeom>
          <a:noFill/>
          <a:ln/>
        </p:spPr>
        <p:txBody>
          <a:bodyPr wrap="square" lIns="0" tIns="0" rIns="0" bIns="0" rtlCol="0" anchor="t"/>
          <a:lstStyle/>
          <a:p>
            <a:pPr indent="0" marL="0">
              <a:buNone/>
            </a:pPr>
            <a:r>
              <a:rPr lang="en-US" sz="1800" b="1" dirty="0">
                <a:solidFill>
                  <a:srgbClr val="13283C"/>
                </a:solidFill>
                <a:latin typeface="Meiryo" pitchFamily="34" charset="0"/>
                <a:ea typeface="Meiryo" pitchFamily="34" charset="-122"/>
                <a:cs typeface="Meiryo" pitchFamily="34" charset="-120"/>
              </a:rPr>
              <a:t>続ける</a:t>
            </a:r>
            <a:endParaRPr lang="en-US" sz="1800" dirty="0"/>
          </a:p>
        </p:txBody>
      </p:sp>
      <p:sp>
        <p:nvSpPr>
          <p:cNvPr id="27" name="Text 20"/>
          <p:cNvSpPr txBox="1"/>
          <p:nvPr/>
        </p:nvSpPr>
        <p:spPr>
          <a:xfrm>
            <a:off x="8503920" y="3017520"/>
            <a:ext cx="2880360" cy="731520"/>
          </a:xfrm>
          <a:prstGeom prst="rect">
            <a:avLst/>
          </a:prstGeom>
          <a:noFill/>
          <a:ln/>
        </p:spPr>
        <p:txBody>
          <a:bodyPr wrap="square" lIns="0" tIns="0" rIns="0" bIns="0" rtlCol="0" anchor="t"/>
          <a:lstStyle/>
          <a:p>
            <a:pPr indent="0" marL="0">
              <a:buNone/>
            </a:pPr>
            <a:r>
              <a:rPr lang="en-US" sz="1350" dirty="0">
                <a:solidFill>
                  <a:srgbClr val="1B2B3D"/>
                </a:solidFill>
                <a:latin typeface="Meiryo" pitchFamily="34" charset="0"/>
                <a:ea typeface="Meiryo" pitchFamily="34" charset="-122"/>
                <a:cs typeface="Meiryo" pitchFamily="34" charset="-120"/>
              </a:rPr>
              <a:t>季節の行事や年間の計画に合わせて続ける</a:t>
            </a:r>
            <a:endParaRPr lang="en-US" sz="1350" dirty="0"/>
          </a:p>
        </p:txBody>
      </p:sp>
      <p:sp>
        <p:nvSpPr>
          <p:cNvPr id="28" name="Text 21"/>
          <p:cNvSpPr txBox="1"/>
          <p:nvPr/>
        </p:nvSpPr>
        <p:spPr>
          <a:xfrm>
            <a:off x="8503920" y="3794760"/>
            <a:ext cx="2880360" cy="640080"/>
          </a:xfrm>
          <a:prstGeom prst="rect">
            <a:avLst/>
          </a:prstGeom>
          <a:noFill/>
          <a:ln/>
        </p:spPr>
        <p:txBody>
          <a:bodyPr wrap="square" lIns="0" tIns="0" rIns="0" bIns="0" rtlCol="0" anchor="t"/>
          <a:lstStyle/>
          <a:p>
            <a:pPr indent="0" marL="0">
              <a:buNone/>
            </a:pPr>
            <a:r>
              <a:rPr lang="en-US" sz="1150" dirty="0">
                <a:solidFill>
                  <a:srgbClr val="5A6675"/>
                </a:solidFill>
                <a:latin typeface="Meiryo" pitchFamily="34" charset="0"/>
                <a:ea typeface="Meiryo" pitchFamily="34" charset="-122"/>
                <a:cs typeface="Meiryo" pitchFamily="34" charset="-120"/>
              </a:rPr>
              <a:t>例：主な行事で毎回同じ方法で比べる</a:t>
            </a:r>
            <a:endParaRPr lang="en-US" sz="1150" dirty="0"/>
          </a:p>
        </p:txBody>
      </p:sp>
      <p:sp>
        <p:nvSpPr>
          <p:cNvPr id="29" name="Text 22"/>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どの段階でも、続けるかどうかは結果を見てご判断いただけます</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04　進め方</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プランと費用の目安</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規模とご予算に合わせて選べます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14</a:t>
            </a:r>
            <a:endParaRPr lang="en-US" sz="1000" dirty="0"/>
          </a:p>
        </p:txBody>
      </p:sp>
      <p:sp>
        <p:nvSpPr>
          <p:cNvPr id="6" name="Shape 4"/>
          <p:cNvSpPr/>
          <p:nvPr/>
        </p:nvSpPr>
        <p:spPr>
          <a:xfrm>
            <a:off x="548640" y="1783080"/>
            <a:ext cx="3566160" cy="4160520"/>
          </a:xfrm>
          <a:prstGeom prst="roundRect">
            <a:avLst>
              <a:gd name="adj" fmla="val 2051"/>
            </a:avLst>
          </a:prstGeom>
          <a:solidFill>
            <a:srgbClr val="FFFFFF"/>
          </a:solidFill>
          <a:ln w="12700">
            <a:solidFill>
              <a:srgbClr val="C9002B"/>
            </a:solidFill>
            <a:prstDash val="solid"/>
          </a:ln>
        </p:spPr>
      </p:sp>
      <p:sp>
        <p:nvSpPr>
          <p:cNvPr id="7" name="Shape 5"/>
          <p:cNvSpPr/>
          <p:nvPr/>
        </p:nvSpPr>
        <p:spPr>
          <a:xfrm>
            <a:off x="548640" y="1783080"/>
            <a:ext cx="3566160" cy="914400"/>
          </a:xfrm>
          <a:prstGeom prst="roundRect">
            <a:avLst>
              <a:gd name="adj" fmla="val 8000"/>
            </a:avLst>
          </a:prstGeom>
          <a:solidFill>
            <a:srgbClr val="C9002B"/>
          </a:solidFill>
          <a:ln w="12700">
            <a:solidFill>
              <a:srgbClr val="C9002B"/>
            </a:solidFill>
            <a:prstDash val="solid"/>
          </a:ln>
        </p:spPr>
      </p:sp>
      <p:sp>
        <p:nvSpPr>
          <p:cNvPr id="8" name="Text 6"/>
          <p:cNvSpPr txBox="1"/>
          <p:nvPr/>
        </p:nvSpPr>
        <p:spPr>
          <a:xfrm>
            <a:off x="777240" y="1828800"/>
            <a:ext cx="2194560" cy="457200"/>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お試し</a:t>
            </a:r>
            <a:endParaRPr lang="en-US" sz="1800" dirty="0"/>
          </a:p>
        </p:txBody>
      </p:sp>
      <p:sp>
        <p:nvSpPr>
          <p:cNvPr id="9" name="Text 7"/>
          <p:cNvSpPr txBox="1"/>
          <p:nvPr/>
        </p:nvSpPr>
        <p:spPr>
          <a:xfrm>
            <a:off x="777240" y="2286000"/>
            <a:ext cx="3108960" cy="320040"/>
          </a:xfrm>
          <a:prstGeom prst="rect">
            <a:avLst/>
          </a:prstGeom>
          <a:noFill/>
          <a:ln/>
        </p:spPr>
        <p:txBody>
          <a:bodyPr wrap="square" lIns="0" tIns="0" rIns="0" bIns="0" rtlCol="0" anchor="t"/>
          <a:lstStyle/>
          <a:p>
            <a:pPr indent="0" marL="0">
              <a:buNone/>
            </a:pPr>
            <a:r>
              <a:rPr lang="en-US" sz="1150" dirty="0">
                <a:solidFill>
                  <a:srgbClr val="FFFFFF"/>
                </a:solidFill>
                <a:latin typeface="Meiryo" pitchFamily="34" charset="0"/>
                <a:ea typeface="Meiryo" pitchFamily="34" charset="-122"/>
                <a:cs typeface="Meiryo" pitchFamily="34" charset="-120"/>
              </a:rPr>
              <a:t>まず1回</a:t>
            </a:r>
            <a:endParaRPr lang="en-US" sz="1150" dirty="0"/>
          </a:p>
        </p:txBody>
      </p:sp>
      <p:sp>
        <p:nvSpPr>
          <p:cNvPr id="10" name="Text 8"/>
          <p:cNvSpPr txBox="1"/>
          <p:nvPr/>
        </p:nvSpPr>
        <p:spPr>
          <a:xfrm>
            <a:off x="2971800" y="1901952"/>
            <a:ext cx="960120" cy="292608"/>
          </a:xfrm>
          <a:prstGeom prst="roundRect">
            <a:avLst>
              <a:gd name="adj" fmla="val 50000"/>
            </a:avLst>
          </a:prstGeom>
          <a:solidFill>
            <a:srgbClr val="FFFFFF"/>
          </a:solidFill>
          <a:ln>
            <a:solidFill>
              <a:srgbClr val="FFFFFF"/>
            </a:solidFill>
          </a:ln>
        </p:spPr>
        <p:txBody>
          <a:bodyPr wrap="square" lIns="0" tIns="0" rIns="0" bIns="0" rtlCol="0" anchor="ctr"/>
          <a:lstStyle/>
          <a:p>
            <a:pPr algn="ctr" indent="0" marL="0">
              <a:buNone/>
            </a:pPr>
            <a:r>
              <a:rPr lang="en-US" sz="1050" b="1" dirty="0">
                <a:solidFill>
                  <a:srgbClr val="C9002B"/>
                </a:solidFill>
                <a:latin typeface="Meiryo" pitchFamily="34" charset="0"/>
                <a:ea typeface="Meiryo" pitchFamily="34" charset="-122"/>
                <a:cs typeface="Meiryo" pitchFamily="34" charset="-120"/>
              </a:rPr>
              <a:t>おすすめ</a:t>
            </a:r>
            <a:endParaRPr lang="en-US" sz="1050" dirty="0"/>
          </a:p>
        </p:txBody>
      </p:sp>
      <p:sp>
        <p:nvSpPr>
          <p:cNvPr id="11" name="Text 9"/>
          <p:cNvSpPr txBox="1"/>
          <p:nvPr/>
        </p:nvSpPr>
        <p:spPr>
          <a:xfrm>
            <a:off x="777240" y="2880360"/>
            <a:ext cx="3154680" cy="1234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アンケート1回（来ない理由など）</a:t>
            </a:r>
            <a:endParaRPr lang="en-US" sz="1250" dirty="0"/>
          </a:p>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報告書＋1枚まとめ</a:t>
            </a:r>
            <a:endParaRPr lang="en-US" sz="1250" dirty="0"/>
          </a:p>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報告会30分</a:t>
            </a:r>
            <a:endParaRPr lang="en-US" sz="1250" dirty="0"/>
          </a:p>
        </p:txBody>
      </p:sp>
      <p:sp>
        <p:nvSpPr>
          <p:cNvPr id="12" name="Shape 10"/>
          <p:cNvSpPr/>
          <p:nvPr/>
        </p:nvSpPr>
        <p:spPr>
          <a:xfrm>
            <a:off x="777240" y="4251960"/>
            <a:ext cx="3108960" cy="0"/>
          </a:xfrm>
          <a:prstGeom prst="line">
            <a:avLst/>
          </a:prstGeom>
          <a:noFill/>
          <a:ln w="12700">
            <a:solidFill>
              <a:srgbClr val="D5DDE5"/>
            </a:solidFill>
            <a:prstDash val="solid"/>
          </a:ln>
        </p:spPr>
      </p:sp>
      <p:sp>
        <p:nvSpPr>
          <p:cNvPr id="13" name="Text 11"/>
          <p:cNvSpPr txBox="1"/>
          <p:nvPr/>
        </p:nvSpPr>
        <p:spPr>
          <a:xfrm>
            <a:off x="777240" y="4343400"/>
            <a:ext cx="3108960" cy="594360"/>
          </a:xfrm>
          <a:prstGeom prst="rect">
            <a:avLst/>
          </a:prstGeom>
          <a:noFill/>
          <a:ln/>
        </p:spPr>
        <p:txBody>
          <a:bodyPr wrap="square" lIns="0" tIns="0" rIns="0" bIns="0" rtlCol="0" anchor="ctr"/>
          <a:lstStyle/>
          <a:p>
            <a:pPr indent="0" marL="0">
              <a:buNone/>
            </a:pPr>
            <a:r>
              <a:rPr lang="en-US" sz="2400" b="1" dirty="0">
                <a:solidFill>
                  <a:srgbClr val="C9002B"/>
                </a:solidFill>
                <a:latin typeface="Meiryo" pitchFamily="34" charset="0"/>
                <a:ea typeface="Meiryo" pitchFamily="34" charset="-122"/>
                <a:cs typeface="Meiryo" pitchFamily="34" charset="-120"/>
              </a:rPr>
              <a:t>27.5万円〜</a:t>
            </a:r>
            <a:endParaRPr lang="en-US" sz="2400" dirty="0"/>
          </a:p>
        </p:txBody>
      </p:sp>
      <p:sp>
        <p:nvSpPr>
          <p:cNvPr id="14" name="Text 12"/>
          <p:cNvSpPr txBox="1"/>
          <p:nvPr/>
        </p:nvSpPr>
        <p:spPr>
          <a:xfrm>
            <a:off x="777240" y="4983480"/>
            <a:ext cx="3154680" cy="82296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（税込）調査基本料。支援費は別途お見積</a:t>
            </a:r>
            <a:endParaRPr lang="en-US" sz="1100" dirty="0"/>
          </a:p>
        </p:txBody>
      </p:sp>
      <p:sp>
        <p:nvSpPr>
          <p:cNvPr id="15" name="Shape 13"/>
          <p:cNvSpPr/>
          <p:nvPr/>
        </p:nvSpPr>
        <p:spPr>
          <a:xfrm>
            <a:off x="4297680" y="1783080"/>
            <a:ext cx="3566160" cy="4160520"/>
          </a:xfrm>
          <a:prstGeom prst="roundRect">
            <a:avLst>
              <a:gd name="adj" fmla="val 2051"/>
            </a:avLst>
          </a:prstGeom>
          <a:solidFill>
            <a:srgbClr val="F2F5F8"/>
          </a:solidFill>
          <a:ln w="12700">
            <a:solidFill>
              <a:srgbClr val="F2F5F8"/>
            </a:solidFill>
            <a:prstDash val="solid"/>
          </a:ln>
        </p:spPr>
      </p:sp>
      <p:sp>
        <p:nvSpPr>
          <p:cNvPr id="16" name="Shape 14"/>
          <p:cNvSpPr/>
          <p:nvPr/>
        </p:nvSpPr>
        <p:spPr>
          <a:xfrm>
            <a:off x="4297680" y="1783080"/>
            <a:ext cx="3566160" cy="914400"/>
          </a:xfrm>
          <a:prstGeom prst="roundRect">
            <a:avLst>
              <a:gd name="adj" fmla="val 8000"/>
            </a:avLst>
          </a:prstGeom>
          <a:solidFill>
            <a:srgbClr val="13283C"/>
          </a:solidFill>
          <a:ln w="12700">
            <a:solidFill>
              <a:srgbClr val="13283C"/>
            </a:solidFill>
            <a:prstDash val="solid"/>
          </a:ln>
        </p:spPr>
      </p:sp>
      <p:sp>
        <p:nvSpPr>
          <p:cNvPr id="17" name="Text 15"/>
          <p:cNvSpPr txBox="1"/>
          <p:nvPr/>
        </p:nvSpPr>
        <p:spPr>
          <a:xfrm>
            <a:off x="4526280" y="1828800"/>
            <a:ext cx="2194560" cy="457200"/>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スタンダード</a:t>
            </a:r>
            <a:endParaRPr lang="en-US" sz="1800" dirty="0"/>
          </a:p>
        </p:txBody>
      </p:sp>
      <p:sp>
        <p:nvSpPr>
          <p:cNvPr id="18" name="Text 16"/>
          <p:cNvSpPr txBox="1"/>
          <p:nvPr/>
        </p:nvSpPr>
        <p:spPr>
          <a:xfrm>
            <a:off x="4526280" y="2286000"/>
            <a:ext cx="3108960" cy="320040"/>
          </a:xfrm>
          <a:prstGeom prst="rect">
            <a:avLst/>
          </a:prstGeom>
          <a:noFill/>
          <a:ln/>
        </p:spPr>
        <p:txBody>
          <a:bodyPr wrap="square" lIns="0" tIns="0" rIns="0" bIns="0" rtlCol="0" anchor="t"/>
          <a:lstStyle/>
          <a:p>
            <a:pPr indent="0" marL="0">
              <a:buNone/>
            </a:pPr>
            <a:r>
              <a:rPr lang="en-US" sz="1150" dirty="0">
                <a:solidFill>
                  <a:srgbClr val="DDE5EC"/>
                </a:solidFill>
                <a:latin typeface="Meiryo" pitchFamily="34" charset="0"/>
                <a:ea typeface="Meiryo" pitchFamily="34" charset="-122"/>
                <a:cs typeface="Meiryo" pitchFamily="34" charset="-120"/>
              </a:rPr>
              <a:t>イベント1回をしっかり</a:t>
            </a:r>
            <a:endParaRPr lang="en-US" sz="1150" dirty="0"/>
          </a:p>
        </p:txBody>
      </p:sp>
      <p:sp>
        <p:nvSpPr>
          <p:cNvPr id="19" name="Text 17"/>
          <p:cNvSpPr txBox="1"/>
          <p:nvPr/>
        </p:nvSpPr>
        <p:spPr>
          <a:xfrm>
            <a:off x="4526280" y="2880360"/>
            <a:ext cx="3154680" cy="1234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アンケート1回</a:t>
            </a:r>
            <a:endParaRPr lang="en-US" sz="1250" dirty="0"/>
          </a:p>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当日と普段の日の人の数を比較</a:t>
            </a:r>
            <a:endParaRPr lang="en-US" sz="1250" dirty="0"/>
          </a:p>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必要に応じて告知</a:t>
            </a:r>
            <a:endParaRPr lang="en-US" sz="1250" dirty="0"/>
          </a:p>
        </p:txBody>
      </p:sp>
      <p:sp>
        <p:nvSpPr>
          <p:cNvPr id="20" name="Shape 18"/>
          <p:cNvSpPr/>
          <p:nvPr/>
        </p:nvSpPr>
        <p:spPr>
          <a:xfrm>
            <a:off x="4526280" y="4251960"/>
            <a:ext cx="3108960" cy="0"/>
          </a:xfrm>
          <a:prstGeom prst="line">
            <a:avLst/>
          </a:prstGeom>
          <a:noFill/>
          <a:ln w="12700">
            <a:solidFill>
              <a:srgbClr val="D5DDE5"/>
            </a:solidFill>
            <a:prstDash val="solid"/>
          </a:ln>
        </p:spPr>
      </p:sp>
      <p:sp>
        <p:nvSpPr>
          <p:cNvPr id="21" name="Text 19"/>
          <p:cNvSpPr txBox="1"/>
          <p:nvPr/>
        </p:nvSpPr>
        <p:spPr>
          <a:xfrm>
            <a:off x="4526280" y="4343400"/>
            <a:ext cx="3108960" cy="594360"/>
          </a:xfrm>
          <a:prstGeom prst="rect">
            <a:avLst/>
          </a:prstGeom>
          <a:noFill/>
          <a:ln/>
        </p:spPr>
        <p:txBody>
          <a:bodyPr wrap="square" lIns="0" tIns="0" rIns="0" bIns="0" rtlCol="0" anchor="ctr"/>
          <a:lstStyle/>
          <a:p>
            <a:pPr indent="0" marL="0">
              <a:buNone/>
            </a:pPr>
            <a:r>
              <a:rPr lang="en-US" sz="2400" b="1" dirty="0">
                <a:solidFill>
                  <a:srgbClr val="C9002B"/>
                </a:solidFill>
                <a:latin typeface="Meiryo" pitchFamily="34" charset="0"/>
                <a:ea typeface="Meiryo" pitchFamily="34" charset="-122"/>
                <a:cs typeface="Meiryo" pitchFamily="34" charset="-120"/>
              </a:rPr>
              <a:t>〔お見積額〕</a:t>
            </a:r>
            <a:endParaRPr lang="en-US" sz="2400" dirty="0"/>
          </a:p>
        </p:txBody>
      </p:sp>
      <p:sp>
        <p:nvSpPr>
          <p:cNvPr id="22" name="Text 20"/>
          <p:cNvSpPr txBox="1"/>
          <p:nvPr/>
        </p:nvSpPr>
        <p:spPr>
          <a:xfrm>
            <a:off x="4526280" y="4983480"/>
            <a:ext cx="3154680" cy="82296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自治体は少額随意契約の範囲（市区町村は100万円以下※）を目安に設計</a:t>
            </a:r>
            <a:endParaRPr lang="en-US" sz="1100" dirty="0"/>
          </a:p>
        </p:txBody>
      </p:sp>
      <p:sp>
        <p:nvSpPr>
          <p:cNvPr id="23" name="Shape 21"/>
          <p:cNvSpPr/>
          <p:nvPr/>
        </p:nvSpPr>
        <p:spPr>
          <a:xfrm>
            <a:off x="8046720" y="1783080"/>
            <a:ext cx="3566160" cy="4160520"/>
          </a:xfrm>
          <a:prstGeom prst="roundRect">
            <a:avLst>
              <a:gd name="adj" fmla="val 2051"/>
            </a:avLst>
          </a:prstGeom>
          <a:solidFill>
            <a:srgbClr val="F2F5F8"/>
          </a:solidFill>
          <a:ln w="12700">
            <a:solidFill>
              <a:srgbClr val="F2F5F8"/>
            </a:solidFill>
            <a:prstDash val="solid"/>
          </a:ln>
        </p:spPr>
      </p:sp>
      <p:sp>
        <p:nvSpPr>
          <p:cNvPr id="24" name="Shape 22"/>
          <p:cNvSpPr/>
          <p:nvPr/>
        </p:nvSpPr>
        <p:spPr>
          <a:xfrm>
            <a:off x="8046720" y="1783080"/>
            <a:ext cx="3566160" cy="914400"/>
          </a:xfrm>
          <a:prstGeom prst="roundRect">
            <a:avLst>
              <a:gd name="adj" fmla="val 8000"/>
            </a:avLst>
          </a:prstGeom>
          <a:solidFill>
            <a:srgbClr val="13283C"/>
          </a:solidFill>
          <a:ln w="12700">
            <a:solidFill>
              <a:srgbClr val="13283C"/>
            </a:solidFill>
            <a:prstDash val="solid"/>
          </a:ln>
        </p:spPr>
      </p:sp>
      <p:sp>
        <p:nvSpPr>
          <p:cNvPr id="25" name="Text 23"/>
          <p:cNvSpPr txBox="1"/>
          <p:nvPr/>
        </p:nvSpPr>
        <p:spPr>
          <a:xfrm>
            <a:off x="8275320" y="1828800"/>
            <a:ext cx="2194560" cy="457200"/>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年間</a:t>
            </a:r>
            <a:endParaRPr lang="en-US" sz="1800" dirty="0"/>
          </a:p>
        </p:txBody>
      </p:sp>
      <p:sp>
        <p:nvSpPr>
          <p:cNvPr id="26" name="Text 24"/>
          <p:cNvSpPr txBox="1"/>
          <p:nvPr/>
        </p:nvSpPr>
        <p:spPr>
          <a:xfrm>
            <a:off x="8275320" y="2286000"/>
            <a:ext cx="3108960" cy="320040"/>
          </a:xfrm>
          <a:prstGeom prst="rect">
            <a:avLst/>
          </a:prstGeom>
          <a:noFill/>
          <a:ln/>
        </p:spPr>
        <p:txBody>
          <a:bodyPr wrap="square" lIns="0" tIns="0" rIns="0" bIns="0" rtlCol="0" anchor="t"/>
          <a:lstStyle/>
          <a:p>
            <a:pPr indent="0" marL="0">
              <a:buNone/>
            </a:pPr>
            <a:r>
              <a:rPr lang="en-US" sz="1150" dirty="0">
                <a:solidFill>
                  <a:srgbClr val="DDE5EC"/>
                </a:solidFill>
                <a:latin typeface="Meiryo" pitchFamily="34" charset="0"/>
                <a:ea typeface="Meiryo" pitchFamily="34" charset="-122"/>
                <a:cs typeface="Meiryo" pitchFamily="34" charset="-120"/>
              </a:rPr>
              <a:t>年間の行事を通して</a:t>
            </a:r>
            <a:endParaRPr lang="en-US" sz="1150" dirty="0"/>
          </a:p>
        </p:txBody>
      </p:sp>
      <p:sp>
        <p:nvSpPr>
          <p:cNvPr id="27" name="Text 25"/>
          <p:cNvSpPr txBox="1"/>
          <p:nvPr/>
        </p:nvSpPr>
        <p:spPr>
          <a:xfrm>
            <a:off x="8275320" y="2880360"/>
            <a:ext cx="3154680" cy="1234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主な行事で毎回比較</a:t>
            </a:r>
            <a:endParaRPr lang="en-US" sz="1250" dirty="0"/>
          </a:p>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アンケートは季節ごと</a:t>
            </a:r>
            <a:endParaRPr lang="en-US" sz="1250" dirty="0"/>
          </a:p>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年間計画に沿った告知</a:t>
            </a:r>
            <a:endParaRPr lang="en-US" sz="1250" dirty="0"/>
          </a:p>
        </p:txBody>
      </p:sp>
      <p:sp>
        <p:nvSpPr>
          <p:cNvPr id="28" name="Shape 26"/>
          <p:cNvSpPr/>
          <p:nvPr/>
        </p:nvSpPr>
        <p:spPr>
          <a:xfrm>
            <a:off x="8275320" y="4251960"/>
            <a:ext cx="3108960" cy="0"/>
          </a:xfrm>
          <a:prstGeom prst="line">
            <a:avLst/>
          </a:prstGeom>
          <a:noFill/>
          <a:ln w="12700">
            <a:solidFill>
              <a:srgbClr val="D5DDE5"/>
            </a:solidFill>
            <a:prstDash val="solid"/>
          </a:ln>
        </p:spPr>
      </p:sp>
      <p:sp>
        <p:nvSpPr>
          <p:cNvPr id="29" name="Text 27"/>
          <p:cNvSpPr txBox="1"/>
          <p:nvPr/>
        </p:nvSpPr>
        <p:spPr>
          <a:xfrm>
            <a:off x="8275320" y="4343400"/>
            <a:ext cx="3108960" cy="594360"/>
          </a:xfrm>
          <a:prstGeom prst="rect">
            <a:avLst/>
          </a:prstGeom>
          <a:noFill/>
          <a:ln/>
        </p:spPr>
        <p:txBody>
          <a:bodyPr wrap="square" lIns="0" tIns="0" rIns="0" bIns="0" rtlCol="0" anchor="ctr"/>
          <a:lstStyle/>
          <a:p>
            <a:pPr indent="0" marL="0">
              <a:buNone/>
            </a:pPr>
            <a:r>
              <a:rPr lang="en-US" sz="2400" b="1" dirty="0">
                <a:solidFill>
                  <a:srgbClr val="C9002B"/>
                </a:solidFill>
                <a:latin typeface="Meiryo" pitchFamily="34" charset="0"/>
                <a:ea typeface="Meiryo" pitchFamily="34" charset="-122"/>
                <a:cs typeface="Meiryo" pitchFamily="34" charset="-120"/>
              </a:rPr>
              <a:t>〔お見積額〕</a:t>
            </a:r>
            <a:endParaRPr lang="en-US" sz="2400" dirty="0"/>
          </a:p>
        </p:txBody>
      </p:sp>
      <p:sp>
        <p:nvSpPr>
          <p:cNvPr id="30" name="Text 28"/>
          <p:cNvSpPr txBox="1"/>
          <p:nvPr/>
        </p:nvSpPr>
        <p:spPr>
          <a:xfrm>
            <a:off x="8275320" y="4983480"/>
            <a:ext cx="3154680" cy="82296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1回目の結果を見てからご検討ください</a:t>
            </a:r>
            <a:endParaRPr lang="en-US" sz="1100" dirty="0"/>
          </a:p>
        </p:txBody>
      </p:sp>
      <p:sp>
        <p:nvSpPr>
          <p:cNvPr id="31" name="Text 29"/>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※基準額は各自治体の規則によります。料金は2026年9月時点の公開情報の例で、条件により変わります。正式見積でお示しします</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04　進め方</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補助金で、費用を抑える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神戸市・兵庫県・国に、商店街の集客やデジタル化を支える制度があります。使えるかの確認と申請資料づくりをお手伝いします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15</a:t>
            </a:r>
            <a:endParaRPr lang="en-US" sz="1000" dirty="0"/>
          </a:p>
        </p:txBody>
      </p:sp>
      <p:sp>
        <p:nvSpPr>
          <p:cNvPr id="6" name="Shape 4"/>
          <p:cNvSpPr/>
          <p:nvPr/>
        </p:nvSpPr>
        <p:spPr>
          <a:xfrm>
            <a:off x="548640" y="1783080"/>
            <a:ext cx="5440680" cy="1645920"/>
          </a:xfrm>
          <a:prstGeom prst="roundRect">
            <a:avLst>
              <a:gd name="adj" fmla="val 4444"/>
            </a:avLst>
          </a:prstGeom>
          <a:solidFill>
            <a:srgbClr val="F2F5F8"/>
          </a:solidFill>
          <a:ln w="12700">
            <a:solidFill>
              <a:srgbClr val="F2F5F8"/>
            </a:solidFill>
            <a:prstDash val="solid"/>
          </a:ln>
        </p:spPr>
      </p:sp>
      <p:sp>
        <p:nvSpPr>
          <p:cNvPr id="7" name="Text 5"/>
          <p:cNvSpPr txBox="1"/>
          <p:nvPr/>
        </p:nvSpPr>
        <p:spPr>
          <a:xfrm>
            <a:off x="777240" y="1892808"/>
            <a:ext cx="3840480" cy="457200"/>
          </a:xfrm>
          <a:prstGeom prst="rect">
            <a:avLst/>
          </a:prstGeom>
          <a:noFill/>
          <a:ln/>
        </p:spPr>
        <p:txBody>
          <a:bodyPr wrap="square" lIns="0" tIns="0" rIns="0" bIns="0" rtlCol="0" anchor="ctr">
            <a:normAutofit/>
          </a:bodyPr>
          <a:lstStyle/>
          <a:p>
            <a:pPr indent="0" marL="0">
              <a:buNone/>
            </a:pPr>
            <a:r>
              <a:rPr lang="en-US" sz="1400" b="1" dirty="0">
                <a:solidFill>
                  <a:srgbClr val="13283C"/>
                </a:solidFill>
                <a:latin typeface="Meiryo" pitchFamily="34" charset="0"/>
                <a:ea typeface="Meiryo" pitchFamily="34" charset="-122"/>
                <a:cs typeface="Meiryo" pitchFamily="34" charset="-120"/>
              </a:rPr>
              <a:t>神戸市 地域商業活性化支援事業</a:t>
            </a:r>
            <a:endParaRPr lang="en-US" sz="1400" dirty="0"/>
          </a:p>
        </p:txBody>
      </p:sp>
      <p:sp>
        <p:nvSpPr>
          <p:cNvPr id="8" name="Text 6"/>
          <p:cNvSpPr txBox="1"/>
          <p:nvPr/>
        </p:nvSpPr>
        <p:spPr>
          <a:xfrm>
            <a:off x="4663440" y="1965960"/>
            <a:ext cx="1143000" cy="292608"/>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神戸市</a:t>
            </a:r>
            <a:endParaRPr lang="en-US" sz="1000" dirty="0"/>
          </a:p>
        </p:txBody>
      </p:sp>
      <p:sp>
        <p:nvSpPr>
          <p:cNvPr id="9" name="Text 7"/>
          <p:cNvSpPr txBox="1"/>
          <p:nvPr/>
        </p:nvSpPr>
        <p:spPr>
          <a:xfrm>
            <a:off x="777240" y="2441448"/>
            <a:ext cx="5029200" cy="868680"/>
          </a:xfrm>
          <a:prstGeom prst="rect">
            <a:avLst/>
          </a:prstGeom>
          <a:noFill/>
          <a:ln/>
        </p:spPr>
        <p:txBody>
          <a:bodyPr wrap="square" lIns="0" tIns="0" rIns="0" bIns="0" rtlCol="0" anchor="t"/>
          <a:lstStyle/>
          <a:p>
            <a:pPr indent="0" marL="0">
              <a:buNone/>
            </a:pPr>
            <a:r>
              <a:rPr lang="en-US" sz="1250" dirty="0">
                <a:solidFill>
                  <a:srgbClr val="1B2B3D"/>
                </a:solidFill>
                <a:latin typeface="Meiryo" pitchFamily="34" charset="0"/>
                <a:ea typeface="Meiryo" pitchFamily="34" charset="-122"/>
                <a:cs typeface="Meiryo" pitchFamily="34" charset="-120"/>
              </a:rPr>
              <a:t>商店街・小売市場が「集客力向上・売上向上・地域課題解決」をめざして企画・実施する事業を支援</a:t>
            </a:r>
            <a:endParaRPr lang="en-US" sz="1250" dirty="0"/>
          </a:p>
        </p:txBody>
      </p:sp>
      <p:sp>
        <p:nvSpPr>
          <p:cNvPr id="10" name="Shape 8"/>
          <p:cNvSpPr/>
          <p:nvPr/>
        </p:nvSpPr>
        <p:spPr>
          <a:xfrm>
            <a:off x="6172200" y="1783080"/>
            <a:ext cx="5440680" cy="1645920"/>
          </a:xfrm>
          <a:prstGeom prst="roundRect">
            <a:avLst>
              <a:gd name="adj" fmla="val 4444"/>
            </a:avLst>
          </a:prstGeom>
          <a:solidFill>
            <a:srgbClr val="F2F5F8"/>
          </a:solidFill>
          <a:ln w="12700">
            <a:solidFill>
              <a:srgbClr val="F2F5F8"/>
            </a:solidFill>
            <a:prstDash val="solid"/>
          </a:ln>
        </p:spPr>
      </p:sp>
      <p:sp>
        <p:nvSpPr>
          <p:cNvPr id="11" name="Text 9"/>
          <p:cNvSpPr txBox="1"/>
          <p:nvPr/>
        </p:nvSpPr>
        <p:spPr>
          <a:xfrm>
            <a:off x="6400800" y="1892808"/>
            <a:ext cx="3840480" cy="457200"/>
          </a:xfrm>
          <a:prstGeom prst="rect">
            <a:avLst/>
          </a:prstGeom>
          <a:noFill/>
          <a:ln/>
        </p:spPr>
        <p:txBody>
          <a:bodyPr wrap="square" lIns="0" tIns="0" rIns="0" bIns="0" rtlCol="0" anchor="ctr">
            <a:normAutofit/>
          </a:bodyPr>
          <a:lstStyle/>
          <a:p>
            <a:pPr indent="0" marL="0">
              <a:buNone/>
            </a:pPr>
            <a:r>
              <a:rPr lang="en-US" sz="1400" b="1" dirty="0">
                <a:solidFill>
                  <a:srgbClr val="13283C"/>
                </a:solidFill>
                <a:latin typeface="Meiryo" pitchFamily="34" charset="0"/>
                <a:ea typeface="Meiryo" pitchFamily="34" charset="-122"/>
                <a:cs typeface="Meiryo" pitchFamily="34" charset="-120"/>
              </a:rPr>
              <a:t>兵庫県 商店街ファンづくり応援事業</a:t>
            </a:r>
            <a:endParaRPr lang="en-US" sz="1400" dirty="0"/>
          </a:p>
        </p:txBody>
      </p:sp>
      <p:sp>
        <p:nvSpPr>
          <p:cNvPr id="12" name="Text 10"/>
          <p:cNvSpPr txBox="1"/>
          <p:nvPr/>
        </p:nvSpPr>
        <p:spPr>
          <a:xfrm>
            <a:off x="10287000" y="1965960"/>
            <a:ext cx="1143000" cy="292608"/>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兵庫県</a:t>
            </a:r>
            <a:endParaRPr lang="en-US" sz="1000" dirty="0"/>
          </a:p>
        </p:txBody>
      </p:sp>
      <p:sp>
        <p:nvSpPr>
          <p:cNvPr id="13" name="Text 11"/>
          <p:cNvSpPr txBox="1"/>
          <p:nvPr/>
        </p:nvSpPr>
        <p:spPr>
          <a:xfrm>
            <a:off x="6400800" y="2441448"/>
            <a:ext cx="5029200" cy="868680"/>
          </a:xfrm>
          <a:prstGeom prst="rect">
            <a:avLst/>
          </a:prstGeom>
          <a:noFill/>
          <a:ln/>
        </p:spPr>
        <p:txBody>
          <a:bodyPr wrap="square" lIns="0" tIns="0" rIns="0" bIns="0" rtlCol="0" anchor="t"/>
          <a:lstStyle/>
          <a:p>
            <a:pPr indent="0" marL="0">
              <a:buNone/>
            </a:pPr>
            <a:r>
              <a:rPr lang="en-US" sz="1250" dirty="0">
                <a:solidFill>
                  <a:srgbClr val="1B2B3D"/>
                </a:solidFill>
                <a:latin typeface="Meiryo" pitchFamily="34" charset="0"/>
                <a:ea typeface="Meiryo" pitchFamily="34" charset="-122"/>
                <a:cs typeface="Meiryo" pitchFamily="34" charset="-120"/>
              </a:rPr>
              <a:t>商店街が行う、地域性・独自性のあるイベントなどを支援（令和8年度募集）</a:t>
            </a:r>
            <a:endParaRPr lang="en-US" sz="1250" dirty="0"/>
          </a:p>
        </p:txBody>
      </p:sp>
      <p:sp>
        <p:nvSpPr>
          <p:cNvPr id="14" name="Shape 12"/>
          <p:cNvSpPr/>
          <p:nvPr/>
        </p:nvSpPr>
        <p:spPr>
          <a:xfrm>
            <a:off x="548640" y="3566160"/>
            <a:ext cx="5440680" cy="1645920"/>
          </a:xfrm>
          <a:prstGeom prst="roundRect">
            <a:avLst>
              <a:gd name="adj" fmla="val 4444"/>
            </a:avLst>
          </a:prstGeom>
          <a:solidFill>
            <a:srgbClr val="F2F5F8"/>
          </a:solidFill>
          <a:ln w="12700">
            <a:solidFill>
              <a:srgbClr val="F2F5F8"/>
            </a:solidFill>
            <a:prstDash val="solid"/>
          </a:ln>
        </p:spPr>
      </p:sp>
      <p:sp>
        <p:nvSpPr>
          <p:cNvPr id="15" name="Text 13"/>
          <p:cNvSpPr txBox="1"/>
          <p:nvPr/>
        </p:nvSpPr>
        <p:spPr>
          <a:xfrm>
            <a:off x="777240" y="3675888"/>
            <a:ext cx="3840480" cy="457200"/>
          </a:xfrm>
          <a:prstGeom prst="rect">
            <a:avLst/>
          </a:prstGeom>
          <a:noFill/>
          <a:ln/>
        </p:spPr>
        <p:txBody>
          <a:bodyPr wrap="square" lIns="0" tIns="0" rIns="0" bIns="0" rtlCol="0" anchor="ctr">
            <a:normAutofit/>
          </a:bodyPr>
          <a:lstStyle/>
          <a:p>
            <a:pPr indent="0" marL="0">
              <a:buNone/>
            </a:pPr>
            <a:r>
              <a:rPr lang="en-US" sz="1400" b="1" dirty="0">
                <a:solidFill>
                  <a:srgbClr val="13283C"/>
                </a:solidFill>
                <a:latin typeface="Meiryo" pitchFamily="34" charset="0"/>
                <a:ea typeface="Meiryo" pitchFamily="34" charset="-122"/>
                <a:cs typeface="Meiryo" pitchFamily="34" charset="-120"/>
              </a:rPr>
              <a:t>兵庫県 商店街インバウンド支援事業</a:t>
            </a:r>
            <a:endParaRPr lang="en-US" sz="1400" dirty="0"/>
          </a:p>
        </p:txBody>
      </p:sp>
      <p:sp>
        <p:nvSpPr>
          <p:cNvPr id="16" name="Text 14"/>
          <p:cNvSpPr txBox="1"/>
          <p:nvPr/>
        </p:nvSpPr>
        <p:spPr>
          <a:xfrm>
            <a:off x="4663440" y="3749040"/>
            <a:ext cx="1143000" cy="292608"/>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兵庫県</a:t>
            </a:r>
            <a:endParaRPr lang="en-US" sz="1000" dirty="0"/>
          </a:p>
        </p:txBody>
      </p:sp>
      <p:sp>
        <p:nvSpPr>
          <p:cNvPr id="17" name="Text 15"/>
          <p:cNvSpPr txBox="1"/>
          <p:nvPr/>
        </p:nvSpPr>
        <p:spPr>
          <a:xfrm>
            <a:off x="777240" y="4224528"/>
            <a:ext cx="5029200" cy="868680"/>
          </a:xfrm>
          <a:prstGeom prst="rect">
            <a:avLst/>
          </a:prstGeom>
          <a:noFill/>
          <a:ln/>
        </p:spPr>
        <p:txBody>
          <a:bodyPr wrap="square" lIns="0" tIns="0" rIns="0" bIns="0" rtlCol="0" anchor="t"/>
          <a:lstStyle/>
          <a:p>
            <a:pPr indent="0" marL="0">
              <a:buNone/>
            </a:pPr>
            <a:r>
              <a:rPr lang="en-US" sz="1250" dirty="0">
                <a:solidFill>
                  <a:srgbClr val="1B2B3D"/>
                </a:solidFill>
                <a:latin typeface="Meiryo" pitchFamily="34" charset="0"/>
                <a:ea typeface="Meiryo" pitchFamily="34" charset="-122"/>
                <a:cs typeface="Meiryo" pitchFamily="34" charset="-120"/>
              </a:rPr>
              <a:t>訪日外国人を商店街に呼び込む取組を支援（補助限度額150万円）</a:t>
            </a:r>
            <a:endParaRPr lang="en-US" sz="1250" dirty="0"/>
          </a:p>
        </p:txBody>
      </p:sp>
      <p:sp>
        <p:nvSpPr>
          <p:cNvPr id="18" name="Shape 16"/>
          <p:cNvSpPr/>
          <p:nvPr/>
        </p:nvSpPr>
        <p:spPr>
          <a:xfrm>
            <a:off x="6172200" y="3566160"/>
            <a:ext cx="5440680" cy="1645920"/>
          </a:xfrm>
          <a:prstGeom prst="roundRect">
            <a:avLst>
              <a:gd name="adj" fmla="val 4444"/>
            </a:avLst>
          </a:prstGeom>
          <a:solidFill>
            <a:srgbClr val="F2F5F8"/>
          </a:solidFill>
          <a:ln w="12700">
            <a:solidFill>
              <a:srgbClr val="F2F5F8"/>
            </a:solidFill>
            <a:prstDash val="solid"/>
          </a:ln>
        </p:spPr>
      </p:sp>
      <p:sp>
        <p:nvSpPr>
          <p:cNvPr id="19" name="Text 17"/>
          <p:cNvSpPr txBox="1"/>
          <p:nvPr/>
        </p:nvSpPr>
        <p:spPr>
          <a:xfrm>
            <a:off x="6400800" y="3675888"/>
            <a:ext cx="3840480" cy="457200"/>
          </a:xfrm>
          <a:prstGeom prst="rect">
            <a:avLst/>
          </a:prstGeom>
          <a:noFill/>
          <a:ln/>
        </p:spPr>
        <p:txBody>
          <a:bodyPr wrap="square" lIns="0" tIns="0" rIns="0" bIns="0" rtlCol="0" anchor="ctr">
            <a:normAutofit/>
          </a:bodyPr>
          <a:lstStyle/>
          <a:p>
            <a:pPr indent="0" marL="0">
              <a:buNone/>
            </a:pPr>
            <a:r>
              <a:rPr lang="en-US" sz="1400" b="1" dirty="0">
                <a:solidFill>
                  <a:srgbClr val="13283C"/>
                </a:solidFill>
                <a:latin typeface="Meiryo" pitchFamily="34" charset="0"/>
                <a:ea typeface="Meiryo" pitchFamily="34" charset="-122"/>
                <a:cs typeface="Meiryo" pitchFamily="34" charset="-120"/>
              </a:rPr>
              <a:t>デジタル化・AI導入補助金2026</a:t>
            </a:r>
            <a:endParaRPr lang="en-US" sz="1400" dirty="0"/>
          </a:p>
        </p:txBody>
      </p:sp>
      <p:sp>
        <p:nvSpPr>
          <p:cNvPr id="20" name="Text 18"/>
          <p:cNvSpPr txBox="1"/>
          <p:nvPr/>
        </p:nvSpPr>
        <p:spPr>
          <a:xfrm>
            <a:off x="10287000" y="3749040"/>
            <a:ext cx="1143000" cy="292608"/>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国／中小企業庁</a:t>
            </a:r>
            <a:endParaRPr lang="en-US" sz="1000" dirty="0"/>
          </a:p>
        </p:txBody>
      </p:sp>
      <p:sp>
        <p:nvSpPr>
          <p:cNvPr id="21" name="Text 19"/>
          <p:cNvSpPr txBox="1"/>
          <p:nvPr/>
        </p:nvSpPr>
        <p:spPr>
          <a:xfrm>
            <a:off x="6400800" y="4224528"/>
            <a:ext cx="5029200" cy="868680"/>
          </a:xfrm>
          <a:prstGeom prst="rect">
            <a:avLst/>
          </a:prstGeom>
          <a:noFill/>
          <a:ln/>
        </p:spPr>
        <p:txBody>
          <a:bodyPr wrap="square" lIns="0" tIns="0" rIns="0" bIns="0" rtlCol="0" anchor="t"/>
          <a:lstStyle/>
          <a:p>
            <a:pPr indent="0" marL="0">
              <a:buNone/>
            </a:pPr>
            <a:r>
              <a:rPr lang="en-US" sz="1250" dirty="0">
                <a:solidFill>
                  <a:srgbClr val="1B2B3D"/>
                </a:solidFill>
                <a:latin typeface="Meiryo" pitchFamily="34" charset="0"/>
                <a:ea typeface="Meiryo" pitchFamily="34" charset="-122"/>
                <a:cs typeface="Meiryo" pitchFamily="34" charset="-120"/>
              </a:rPr>
              <a:t>複数者連携枠：商店街振興組合などが10者以上で申請。消費動向分析システムなどが対象例</a:t>
            </a:r>
            <a:endParaRPr lang="en-US" sz="1250" dirty="0"/>
          </a:p>
        </p:txBody>
      </p:sp>
      <p:sp>
        <p:nvSpPr>
          <p:cNvPr id="22" name="Shape 20"/>
          <p:cNvSpPr/>
          <p:nvPr/>
        </p:nvSpPr>
        <p:spPr>
          <a:xfrm>
            <a:off x="548640" y="5440680"/>
            <a:ext cx="11064240" cy="731520"/>
          </a:xfrm>
          <a:prstGeom prst="roundRect">
            <a:avLst>
              <a:gd name="adj" fmla="val 10000"/>
            </a:avLst>
          </a:prstGeom>
          <a:solidFill>
            <a:srgbClr val="FBEAEE"/>
          </a:solidFill>
          <a:ln w="12700">
            <a:solidFill>
              <a:srgbClr val="FBEAEE"/>
            </a:solidFill>
            <a:prstDash val="solid"/>
          </a:ln>
        </p:spPr>
      </p:sp>
      <p:pic>
        <p:nvPicPr>
          <p:cNvPr id="23" name="Image 0" descr="preencoded.png">    </p:cNvPr>
          <p:cNvPicPr>
            <a:picLocks noChangeAspect="1"/>
          </p:cNvPicPr>
          <p:nvPr/>
        </p:nvPicPr>
        <p:blipFill>
          <a:blip r:embed="rId1"/>
          <a:stretch>
            <a:fillRect/>
          </a:stretch>
        </p:blipFill>
        <p:spPr>
          <a:xfrm>
            <a:off x="777240" y="5641848"/>
            <a:ext cx="329184" cy="329184"/>
          </a:xfrm>
          <a:prstGeom prst="rect">
            <a:avLst/>
          </a:prstGeom>
        </p:spPr>
      </p:pic>
      <p:sp>
        <p:nvSpPr>
          <p:cNvPr id="24" name="Text 21"/>
          <p:cNvSpPr txBox="1"/>
          <p:nvPr/>
        </p:nvSpPr>
        <p:spPr>
          <a:xfrm>
            <a:off x="1280160" y="5440680"/>
            <a:ext cx="10149840" cy="731520"/>
          </a:xfrm>
          <a:prstGeom prst="rect">
            <a:avLst/>
          </a:prstGeom>
          <a:noFill/>
          <a:ln/>
        </p:spPr>
        <p:txBody>
          <a:bodyPr wrap="square" lIns="0" tIns="0" rIns="0" bIns="0" rtlCol="0" anchor="ctr"/>
          <a:lstStyle/>
          <a:p>
            <a:pPr indent="0" marL="0">
              <a:buNone/>
            </a:pPr>
            <a:r>
              <a:rPr lang="en-US" sz="1250" b="1" dirty="0">
                <a:solidFill>
                  <a:srgbClr val="1B2B3D"/>
                </a:solidFill>
                <a:latin typeface="Meiryo" pitchFamily="34" charset="0"/>
                <a:ea typeface="Meiryo" pitchFamily="34" charset="-122"/>
                <a:cs typeface="Meiryo" pitchFamily="34" charset="-120"/>
              </a:rPr>
              <a:t>データの購入や調査が補助の対象になるかは、制度・年度・申請内容によって異なります。申請前に市・県・事務局へ一緒に確認します</a:t>
            </a:r>
            <a:endParaRPr lang="en-US" sz="1250" dirty="0"/>
          </a:p>
        </p:txBody>
      </p:sp>
      <p:sp>
        <p:nvSpPr>
          <p:cNvPr id="25" name="Text 22"/>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2026年10月時点の公開情報。募集時期・補助率・対象経費は必ず最新の募集要領で確認します</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04　進め方</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スケジュールと、決め方・契約の進め方</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ご相談から報告まで、目安は1〜2か月です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16</a:t>
            </a:r>
            <a:endParaRPr lang="en-US" sz="1000" dirty="0"/>
          </a:p>
        </p:txBody>
      </p:sp>
      <p:sp>
        <p:nvSpPr>
          <p:cNvPr id="6" name="Shape 4"/>
          <p:cNvSpPr/>
          <p:nvPr/>
        </p:nvSpPr>
        <p:spPr>
          <a:xfrm>
            <a:off x="1097280" y="2057400"/>
            <a:ext cx="9966960" cy="0"/>
          </a:xfrm>
          <a:prstGeom prst="line">
            <a:avLst/>
          </a:prstGeom>
          <a:noFill/>
          <a:ln w="38100">
            <a:solidFill>
              <a:srgbClr val="D5DDE5"/>
            </a:solidFill>
            <a:prstDash val="solid"/>
          </a:ln>
        </p:spPr>
      </p:sp>
      <p:sp>
        <p:nvSpPr>
          <p:cNvPr id="7" name="Shape 5"/>
          <p:cNvSpPr/>
          <p:nvPr/>
        </p:nvSpPr>
        <p:spPr>
          <a:xfrm>
            <a:off x="969264" y="1929384"/>
            <a:ext cx="256032" cy="256032"/>
          </a:xfrm>
          <a:prstGeom prst="ellipse">
            <a:avLst/>
          </a:prstGeom>
          <a:solidFill>
            <a:srgbClr val="13283C"/>
          </a:solidFill>
          <a:ln w="25400">
            <a:solidFill>
              <a:srgbClr val="FFFFFF"/>
            </a:solidFill>
            <a:prstDash val="solid"/>
          </a:ln>
        </p:spPr>
      </p:sp>
      <p:sp>
        <p:nvSpPr>
          <p:cNvPr id="8" name="Text 6"/>
          <p:cNvSpPr txBox="1"/>
          <p:nvPr/>
        </p:nvSpPr>
        <p:spPr>
          <a:xfrm>
            <a:off x="914400" y="2286000"/>
            <a:ext cx="2560320" cy="274320"/>
          </a:xfrm>
          <a:prstGeom prst="rect">
            <a:avLst/>
          </a:prstGeom>
          <a:noFill/>
          <a:ln/>
        </p:spPr>
        <p:txBody>
          <a:bodyPr wrap="square" lIns="0" tIns="0" rIns="0" bIns="0" rtlCol="0" anchor="t"/>
          <a:lstStyle/>
          <a:p>
            <a:pPr algn="l" indent="0" marL="0">
              <a:buNone/>
            </a:pPr>
            <a:r>
              <a:rPr lang="en-US" sz="1300" b="1" dirty="0">
                <a:solidFill>
                  <a:srgbClr val="13283C"/>
                </a:solidFill>
                <a:latin typeface="Meiryo" pitchFamily="34" charset="0"/>
                <a:ea typeface="Meiryo" pitchFamily="34" charset="-122"/>
                <a:cs typeface="Meiryo" pitchFamily="34" charset="-120"/>
              </a:rPr>
              <a:t>ご相談</a:t>
            </a:r>
            <a:endParaRPr lang="en-US" sz="1300" dirty="0"/>
          </a:p>
        </p:txBody>
      </p:sp>
      <p:sp>
        <p:nvSpPr>
          <p:cNvPr id="9" name="Text 7"/>
          <p:cNvSpPr txBox="1"/>
          <p:nvPr/>
        </p:nvSpPr>
        <p:spPr>
          <a:xfrm>
            <a:off x="914400" y="2560320"/>
            <a:ext cx="2560320" cy="256032"/>
          </a:xfrm>
          <a:prstGeom prst="rect">
            <a:avLst/>
          </a:prstGeom>
          <a:noFill/>
          <a:ln/>
        </p:spPr>
        <p:txBody>
          <a:bodyPr wrap="square" lIns="0" tIns="0" rIns="0" bIns="0" rtlCol="0" anchor="t"/>
          <a:lstStyle/>
          <a:p>
            <a:pPr algn="l" indent="0" marL="0">
              <a:buNone/>
            </a:pPr>
            <a:r>
              <a:rPr lang="en-US" sz="1100" dirty="0">
                <a:solidFill>
                  <a:srgbClr val="5A6675"/>
                </a:solidFill>
                <a:latin typeface="Meiryo" pitchFamily="34" charset="0"/>
                <a:ea typeface="Meiryo" pitchFamily="34" charset="-122"/>
                <a:cs typeface="Meiryo" pitchFamily="34" charset="-120"/>
              </a:rPr>
              <a:t>目的・対象の確認</a:t>
            </a:r>
            <a:endParaRPr lang="en-US" sz="1100" dirty="0"/>
          </a:p>
        </p:txBody>
      </p:sp>
      <p:sp>
        <p:nvSpPr>
          <p:cNvPr id="10" name="Shape 8"/>
          <p:cNvSpPr/>
          <p:nvPr/>
        </p:nvSpPr>
        <p:spPr>
          <a:xfrm>
            <a:off x="4291584" y="1929384"/>
            <a:ext cx="256032" cy="256032"/>
          </a:xfrm>
          <a:prstGeom prst="ellipse">
            <a:avLst/>
          </a:prstGeom>
          <a:solidFill>
            <a:srgbClr val="13283C"/>
          </a:solidFill>
          <a:ln w="25400">
            <a:solidFill>
              <a:srgbClr val="FFFFFF"/>
            </a:solidFill>
            <a:prstDash val="solid"/>
          </a:ln>
        </p:spPr>
      </p:sp>
      <p:sp>
        <p:nvSpPr>
          <p:cNvPr id="11" name="Text 9"/>
          <p:cNvSpPr txBox="1"/>
          <p:nvPr/>
        </p:nvSpPr>
        <p:spPr>
          <a:xfrm>
            <a:off x="3139440" y="2286000"/>
            <a:ext cx="2560320" cy="274320"/>
          </a:xfrm>
          <a:prstGeom prst="rect">
            <a:avLst/>
          </a:prstGeom>
          <a:noFill/>
          <a:ln/>
        </p:spPr>
        <p:txBody>
          <a:bodyPr wrap="square" lIns="0" tIns="0" rIns="0" bIns="0" rtlCol="0" anchor="t"/>
          <a:lstStyle/>
          <a:p>
            <a:pPr algn="ctr" indent="0" marL="0">
              <a:buNone/>
            </a:pPr>
            <a:r>
              <a:rPr lang="en-US" sz="1300" b="1" dirty="0">
                <a:solidFill>
                  <a:srgbClr val="13283C"/>
                </a:solidFill>
                <a:latin typeface="Meiryo" pitchFamily="34" charset="0"/>
                <a:ea typeface="Meiryo" pitchFamily="34" charset="-122"/>
                <a:cs typeface="Meiryo" pitchFamily="34" charset="-120"/>
              </a:rPr>
              <a:t>お見積・ご契約</a:t>
            </a:r>
            <a:endParaRPr lang="en-US" sz="1300" dirty="0"/>
          </a:p>
        </p:txBody>
      </p:sp>
      <p:sp>
        <p:nvSpPr>
          <p:cNvPr id="12" name="Text 10"/>
          <p:cNvSpPr txBox="1"/>
          <p:nvPr/>
        </p:nvSpPr>
        <p:spPr>
          <a:xfrm>
            <a:off x="3139440" y="2560320"/>
            <a:ext cx="2560320" cy="256032"/>
          </a:xfrm>
          <a:prstGeom prst="rect">
            <a:avLst/>
          </a:prstGeom>
          <a:noFill/>
          <a:ln/>
        </p:spPr>
        <p:txBody>
          <a:bodyPr wrap="square" lIns="0" tIns="0" rIns="0" bIns="0" rtlCol="0" anchor="t"/>
          <a:lstStyle/>
          <a:p>
            <a:pPr algn="ctr" indent="0" marL="0">
              <a:buNone/>
            </a:pPr>
            <a:r>
              <a:rPr lang="en-US" sz="1100" dirty="0">
                <a:solidFill>
                  <a:srgbClr val="5A6675"/>
                </a:solidFill>
                <a:latin typeface="Meiryo" pitchFamily="34" charset="0"/>
                <a:ea typeface="Meiryo" pitchFamily="34" charset="-122"/>
                <a:cs typeface="Meiryo" pitchFamily="34" charset="-120"/>
              </a:rPr>
              <a:t>2〜4週間前まで</a:t>
            </a:r>
            <a:endParaRPr lang="en-US" sz="1100" dirty="0"/>
          </a:p>
        </p:txBody>
      </p:sp>
      <p:sp>
        <p:nvSpPr>
          <p:cNvPr id="13" name="Shape 11"/>
          <p:cNvSpPr/>
          <p:nvPr/>
        </p:nvSpPr>
        <p:spPr>
          <a:xfrm>
            <a:off x="7613904" y="1929384"/>
            <a:ext cx="256032" cy="256032"/>
          </a:xfrm>
          <a:prstGeom prst="ellipse">
            <a:avLst/>
          </a:prstGeom>
          <a:solidFill>
            <a:srgbClr val="13283C"/>
          </a:solidFill>
          <a:ln w="25400">
            <a:solidFill>
              <a:srgbClr val="FFFFFF"/>
            </a:solidFill>
            <a:prstDash val="solid"/>
          </a:ln>
        </p:spPr>
      </p:sp>
      <p:sp>
        <p:nvSpPr>
          <p:cNvPr id="14" name="Text 12"/>
          <p:cNvSpPr txBox="1"/>
          <p:nvPr/>
        </p:nvSpPr>
        <p:spPr>
          <a:xfrm>
            <a:off x="6461760" y="2286000"/>
            <a:ext cx="2560320" cy="274320"/>
          </a:xfrm>
          <a:prstGeom prst="rect">
            <a:avLst/>
          </a:prstGeom>
          <a:noFill/>
          <a:ln/>
        </p:spPr>
        <p:txBody>
          <a:bodyPr wrap="square" lIns="0" tIns="0" rIns="0" bIns="0" rtlCol="0" anchor="t"/>
          <a:lstStyle/>
          <a:p>
            <a:pPr algn="ctr" indent="0" marL="0">
              <a:buNone/>
            </a:pPr>
            <a:r>
              <a:rPr lang="en-US" sz="1300" b="1" dirty="0">
                <a:solidFill>
                  <a:srgbClr val="13283C"/>
                </a:solidFill>
                <a:latin typeface="Meiryo" pitchFamily="34" charset="0"/>
                <a:ea typeface="Meiryo" pitchFamily="34" charset="-122"/>
                <a:cs typeface="Meiryo" pitchFamily="34" charset="-120"/>
              </a:rPr>
              <a:t>実施</a:t>
            </a:r>
            <a:endParaRPr lang="en-US" sz="1300" dirty="0"/>
          </a:p>
        </p:txBody>
      </p:sp>
      <p:sp>
        <p:nvSpPr>
          <p:cNvPr id="15" name="Text 13"/>
          <p:cNvSpPr txBox="1"/>
          <p:nvPr/>
        </p:nvSpPr>
        <p:spPr>
          <a:xfrm>
            <a:off x="6461760" y="2560320"/>
            <a:ext cx="2560320" cy="256032"/>
          </a:xfrm>
          <a:prstGeom prst="rect">
            <a:avLst/>
          </a:prstGeom>
          <a:noFill/>
          <a:ln/>
        </p:spPr>
        <p:txBody>
          <a:bodyPr wrap="square" lIns="0" tIns="0" rIns="0" bIns="0" rtlCol="0" anchor="t"/>
          <a:lstStyle/>
          <a:p>
            <a:pPr algn="ctr" indent="0" marL="0">
              <a:buNone/>
            </a:pPr>
            <a:r>
              <a:rPr lang="en-US" sz="1100" dirty="0">
                <a:solidFill>
                  <a:srgbClr val="5A6675"/>
                </a:solidFill>
                <a:latin typeface="Meiryo" pitchFamily="34" charset="0"/>
                <a:ea typeface="Meiryo" pitchFamily="34" charset="-122"/>
                <a:cs typeface="Meiryo" pitchFamily="34" charset="-120"/>
              </a:rPr>
              <a:t>イベント当日・調査</a:t>
            </a:r>
            <a:endParaRPr lang="en-US" sz="1100" dirty="0"/>
          </a:p>
        </p:txBody>
      </p:sp>
      <p:sp>
        <p:nvSpPr>
          <p:cNvPr id="16" name="Shape 14"/>
          <p:cNvSpPr/>
          <p:nvPr/>
        </p:nvSpPr>
        <p:spPr>
          <a:xfrm>
            <a:off x="10936224" y="1929384"/>
            <a:ext cx="256032" cy="256032"/>
          </a:xfrm>
          <a:prstGeom prst="ellipse">
            <a:avLst/>
          </a:prstGeom>
          <a:solidFill>
            <a:srgbClr val="C9002B"/>
          </a:solidFill>
          <a:ln w="25400">
            <a:solidFill>
              <a:srgbClr val="FFFFFF"/>
            </a:solidFill>
            <a:prstDash val="solid"/>
          </a:ln>
        </p:spPr>
      </p:sp>
      <p:sp>
        <p:nvSpPr>
          <p:cNvPr id="17" name="Text 15"/>
          <p:cNvSpPr txBox="1"/>
          <p:nvPr/>
        </p:nvSpPr>
        <p:spPr>
          <a:xfrm>
            <a:off x="8686800" y="2286000"/>
            <a:ext cx="2560320" cy="274320"/>
          </a:xfrm>
          <a:prstGeom prst="rect">
            <a:avLst/>
          </a:prstGeom>
          <a:noFill/>
          <a:ln/>
        </p:spPr>
        <p:txBody>
          <a:bodyPr wrap="square" lIns="0" tIns="0" rIns="0" bIns="0" rtlCol="0" anchor="t"/>
          <a:lstStyle/>
          <a:p>
            <a:pPr algn="r" indent="0" marL="0">
              <a:buNone/>
            </a:pPr>
            <a:r>
              <a:rPr lang="en-US" sz="1300" b="1" dirty="0">
                <a:solidFill>
                  <a:srgbClr val="C9002B"/>
                </a:solidFill>
                <a:latin typeface="Meiryo" pitchFamily="34" charset="0"/>
                <a:ea typeface="Meiryo" pitchFamily="34" charset="-122"/>
                <a:cs typeface="Meiryo" pitchFamily="34" charset="-120"/>
              </a:rPr>
              <a:t>ご報告</a:t>
            </a:r>
            <a:endParaRPr lang="en-US" sz="1300" dirty="0"/>
          </a:p>
        </p:txBody>
      </p:sp>
      <p:sp>
        <p:nvSpPr>
          <p:cNvPr id="18" name="Text 16"/>
          <p:cNvSpPr txBox="1"/>
          <p:nvPr/>
        </p:nvSpPr>
        <p:spPr>
          <a:xfrm>
            <a:off x="8686800" y="2560320"/>
            <a:ext cx="2560320" cy="256032"/>
          </a:xfrm>
          <a:prstGeom prst="rect">
            <a:avLst/>
          </a:prstGeom>
          <a:noFill/>
          <a:ln/>
        </p:spPr>
        <p:txBody>
          <a:bodyPr wrap="square" lIns="0" tIns="0" rIns="0" bIns="0" rtlCol="0" anchor="t"/>
          <a:lstStyle/>
          <a:p>
            <a:pPr algn="r" indent="0" marL="0">
              <a:buNone/>
            </a:pPr>
            <a:r>
              <a:rPr lang="en-US" sz="1100" dirty="0">
                <a:solidFill>
                  <a:srgbClr val="5A6675"/>
                </a:solidFill>
                <a:latin typeface="Meiryo" pitchFamily="34" charset="0"/>
                <a:ea typeface="Meiryo" pitchFamily="34" charset="-122"/>
                <a:cs typeface="Meiryo" pitchFamily="34" charset="-120"/>
              </a:rPr>
              <a:t>1枚まとめと報告会</a:t>
            </a:r>
            <a:endParaRPr lang="en-US" sz="1100" dirty="0"/>
          </a:p>
        </p:txBody>
      </p:sp>
      <p:sp>
        <p:nvSpPr>
          <p:cNvPr id="19" name="Shape 17"/>
          <p:cNvSpPr/>
          <p:nvPr/>
        </p:nvSpPr>
        <p:spPr>
          <a:xfrm>
            <a:off x="548640" y="3108960"/>
            <a:ext cx="5440680" cy="2651760"/>
          </a:xfrm>
          <a:prstGeom prst="roundRect">
            <a:avLst>
              <a:gd name="adj" fmla="val 2759"/>
            </a:avLst>
          </a:prstGeom>
          <a:solidFill>
            <a:srgbClr val="F2F5F8"/>
          </a:solidFill>
          <a:ln w="12700">
            <a:solidFill>
              <a:srgbClr val="F2F5F8"/>
            </a:solidFill>
            <a:prstDash val="solid"/>
          </a:ln>
        </p:spPr>
      </p:sp>
      <p:sp>
        <p:nvSpPr>
          <p:cNvPr id="20" name="Shape 18"/>
          <p:cNvSpPr/>
          <p:nvPr/>
        </p:nvSpPr>
        <p:spPr>
          <a:xfrm>
            <a:off x="777240" y="3291840"/>
            <a:ext cx="548640" cy="548640"/>
          </a:xfrm>
          <a:prstGeom prst="ellipse">
            <a:avLst/>
          </a:prstGeom>
          <a:solidFill>
            <a:srgbClr val="C9002B"/>
          </a:solidFill>
          <a:ln w="12700">
            <a:solidFill>
              <a:srgbClr val="C9002B"/>
            </a:solidFill>
            <a:prstDash val="solid"/>
          </a:ln>
        </p:spPr>
      </p:sp>
      <p:pic>
        <p:nvPicPr>
          <p:cNvPr id="21" name="Image 0" descr="preencoded.png">    </p:cNvPr>
          <p:cNvPicPr>
            <a:picLocks noChangeAspect="1"/>
          </p:cNvPicPr>
          <p:nvPr/>
        </p:nvPicPr>
        <p:blipFill>
          <a:blip r:embed="rId1"/>
          <a:stretch>
            <a:fillRect/>
          </a:stretch>
        </p:blipFill>
        <p:spPr>
          <a:xfrm>
            <a:off x="914400" y="3429000"/>
            <a:ext cx="274320" cy="274320"/>
          </a:xfrm>
          <a:prstGeom prst="rect">
            <a:avLst/>
          </a:prstGeom>
        </p:spPr>
      </p:pic>
      <p:sp>
        <p:nvSpPr>
          <p:cNvPr id="22" name="Text 19"/>
          <p:cNvSpPr txBox="1"/>
          <p:nvPr/>
        </p:nvSpPr>
        <p:spPr>
          <a:xfrm>
            <a:off x="1463040" y="3291840"/>
            <a:ext cx="4114800" cy="548640"/>
          </a:xfrm>
          <a:prstGeom prst="rect">
            <a:avLst/>
          </a:prstGeom>
          <a:noFill/>
          <a:ln/>
        </p:spPr>
        <p:txBody>
          <a:bodyPr wrap="square" lIns="0" tIns="0" rIns="0" bIns="0" rtlCol="0" anchor="ctr"/>
          <a:lstStyle/>
          <a:p>
            <a:pPr indent="0" marL="0">
              <a:buNone/>
            </a:pPr>
            <a:r>
              <a:rPr lang="en-US" sz="1600" b="1" dirty="0">
                <a:solidFill>
                  <a:srgbClr val="13283C"/>
                </a:solidFill>
                <a:latin typeface="Meiryo" pitchFamily="34" charset="0"/>
                <a:ea typeface="Meiryo" pitchFamily="34" charset="-122"/>
                <a:cs typeface="Meiryo" pitchFamily="34" charset="-120"/>
              </a:rPr>
              <a:t>商店街・店舗の場合</a:t>
            </a:r>
            <a:endParaRPr lang="en-US" sz="1600" dirty="0"/>
          </a:p>
        </p:txBody>
      </p:sp>
      <p:sp>
        <p:nvSpPr>
          <p:cNvPr id="23" name="Text 20"/>
          <p:cNvSpPr txBox="1"/>
          <p:nvPr/>
        </p:nvSpPr>
        <p:spPr>
          <a:xfrm>
            <a:off x="822960" y="3977640"/>
            <a:ext cx="4983480" cy="1691640"/>
          </a:xfrm>
          <a:prstGeom prst="rect">
            <a:avLst/>
          </a:prstGeom>
          <a:noFill/>
          <a:ln/>
        </p:spPr>
        <p:txBody>
          <a:bodyPr wrap="square" lIns="0" tIns="0" rIns="0" bIns="0" rtlCol="0" anchor="t"/>
          <a:lstStyle/>
          <a:p>
            <a:pPr marL="342900" indent="-342900">
              <a:spcAft>
                <a:spcPts val="1200"/>
              </a:spcAft>
              <a:buSzPct val="100000"/>
              <a:buChar char="•"/>
            </a:pPr>
            <a:r>
              <a:rPr lang="en-US" sz="1350" dirty="0">
                <a:solidFill>
                  <a:srgbClr val="1B2B3D"/>
                </a:solidFill>
                <a:latin typeface="Meiryo" pitchFamily="34" charset="0"/>
                <a:ea typeface="Meiryo" pitchFamily="34" charset="-122"/>
                <a:cs typeface="Meiryo" pitchFamily="34" charset="-120"/>
              </a:rPr>
              <a:t>1回のイベント・売り出し単位でご発注いただけます</a:t>
            </a:r>
            <a:endParaRPr lang="en-US" sz="1350" dirty="0"/>
          </a:p>
          <a:p>
            <a:pPr marL="342900" indent="-342900">
              <a:spcAft>
                <a:spcPts val="1200"/>
              </a:spcAft>
              <a:buSzPct val="100000"/>
              <a:buChar char="•"/>
            </a:pPr>
            <a:r>
              <a:rPr lang="en-US" sz="1350" dirty="0">
                <a:solidFill>
                  <a:srgbClr val="1B2B3D"/>
                </a:solidFill>
                <a:latin typeface="Meiryo" pitchFamily="34" charset="0"/>
                <a:ea typeface="Meiryo" pitchFamily="34" charset="-122"/>
                <a:cs typeface="Meiryo" pitchFamily="34" charset="-120"/>
              </a:rPr>
              <a:t>総会・理事会向けに、目的・費用・期待できることを1枚にまとめます</a:t>
            </a:r>
            <a:endParaRPr lang="en-US" sz="1350" dirty="0"/>
          </a:p>
          <a:p>
            <a:pPr marL="342900" indent="-342900">
              <a:spcAft>
                <a:spcPts val="1200"/>
              </a:spcAft>
              <a:buSzPct val="100000"/>
              <a:buChar char="•"/>
            </a:pPr>
            <a:r>
              <a:rPr lang="en-US" sz="1350" dirty="0">
                <a:solidFill>
                  <a:srgbClr val="1B2B3D"/>
                </a:solidFill>
                <a:latin typeface="Meiryo" pitchFamily="34" charset="0"/>
                <a:ea typeface="Meiryo" pitchFamily="34" charset="-122"/>
                <a:cs typeface="Meiryo" pitchFamily="34" charset="-120"/>
              </a:rPr>
              <a:t>補助金を使う場合は、募集時期に合わせて計画します</a:t>
            </a:r>
            <a:endParaRPr lang="en-US" sz="1350" dirty="0"/>
          </a:p>
        </p:txBody>
      </p:sp>
      <p:sp>
        <p:nvSpPr>
          <p:cNvPr id="24" name="Shape 21"/>
          <p:cNvSpPr/>
          <p:nvPr/>
        </p:nvSpPr>
        <p:spPr>
          <a:xfrm>
            <a:off x="6172200" y="3108960"/>
            <a:ext cx="5440680" cy="2651760"/>
          </a:xfrm>
          <a:prstGeom prst="roundRect">
            <a:avLst>
              <a:gd name="adj" fmla="val 2759"/>
            </a:avLst>
          </a:prstGeom>
          <a:solidFill>
            <a:srgbClr val="F2F5F8"/>
          </a:solidFill>
          <a:ln w="12700">
            <a:solidFill>
              <a:srgbClr val="F2F5F8"/>
            </a:solidFill>
            <a:prstDash val="solid"/>
          </a:ln>
        </p:spPr>
      </p:sp>
      <p:sp>
        <p:nvSpPr>
          <p:cNvPr id="25" name="Shape 22"/>
          <p:cNvSpPr/>
          <p:nvPr/>
        </p:nvSpPr>
        <p:spPr>
          <a:xfrm>
            <a:off x="6400800" y="3291840"/>
            <a:ext cx="548640" cy="548640"/>
          </a:xfrm>
          <a:prstGeom prst="ellipse">
            <a:avLst/>
          </a:prstGeom>
          <a:solidFill>
            <a:srgbClr val="C9002B"/>
          </a:solidFill>
          <a:ln w="12700">
            <a:solidFill>
              <a:srgbClr val="C9002B"/>
            </a:solidFill>
            <a:prstDash val="solid"/>
          </a:ln>
        </p:spPr>
      </p:sp>
      <p:pic>
        <p:nvPicPr>
          <p:cNvPr id="26" name="Image 1" descr="preencoded.png">    </p:cNvPr>
          <p:cNvPicPr>
            <a:picLocks noChangeAspect="1"/>
          </p:cNvPicPr>
          <p:nvPr/>
        </p:nvPicPr>
        <p:blipFill>
          <a:blip r:embed="rId2"/>
          <a:stretch>
            <a:fillRect/>
          </a:stretch>
        </p:blipFill>
        <p:spPr>
          <a:xfrm>
            <a:off x="6537960" y="3429000"/>
            <a:ext cx="274320" cy="274320"/>
          </a:xfrm>
          <a:prstGeom prst="rect">
            <a:avLst/>
          </a:prstGeom>
        </p:spPr>
      </p:pic>
      <p:sp>
        <p:nvSpPr>
          <p:cNvPr id="27" name="Text 23"/>
          <p:cNvSpPr txBox="1"/>
          <p:nvPr/>
        </p:nvSpPr>
        <p:spPr>
          <a:xfrm>
            <a:off x="7086600" y="3291840"/>
            <a:ext cx="4114800" cy="548640"/>
          </a:xfrm>
          <a:prstGeom prst="rect">
            <a:avLst/>
          </a:prstGeom>
          <a:noFill/>
          <a:ln/>
        </p:spPr>
        <p:txBody>
          <a:bodyPr wrap="square" lIns="0" tIns="0" rIns="0" bIns="0" rtlCol="0" anchor="ctr"/>
          <a:lstStyle/>
          <a:p>
            <a:pPr indent="0" marL="0">
              <a:buNone/>
            </a:pPr>
            <a:r>
              <a:rPr lang="en-US" sz="1600" b="1" dirty="0">
                <a:solidFill>
                  <a:srgbClr val="13283C"/>
                </a:solidFill>
                <a:latin typeface="Meiryo" pitchFamily="34" charset="0"/>
                <a:ea typeface="Meiryo" pitchFamily="34" charset="-122"/>
                <a:cs typeface="Meiryo" pitchFamily="34" charset="-120"/>
              </a:rPr>
              <a:t>自治体の場合</a:t>
            </a:r>
            <a:endParaRPr lang="en-US" sz="1600" dirty="0"/>
          </a:p>
        </p:txBody>
      </p:sp>
      <p:sp>
        <p:nvSpPr>
          <p:cNvPr id="28" name="Text 24"/>
          <p:cNvSpPr txBox="1"/>
          <p:nvPr/>
        </p:nvSpPr>
        <p:spPr>
          <a:xfrm>
            <a:off x="6446520" y="3977640"/>
            <a:ext cx="4983480" cy="1691640"/>
          </a:xfrm>
          <a:prstGeom prst="rect">
            <a:avLst/>
          </a:prstGeom>
          <a:noFill/>
          <a:ln/>
        </p:spPr>
        <p:txBody>
          <a:bodyPr wrap="square" lIns="0" tIns="0" rIns="0" bIns="0" rtlCol="0" anchor="t"/>
          <a:lstStyle/>
          <a:p>
            <a:pPr marL="342900" indent="-342900">
              <a:spcAft>
                <a:spcPts val="1200"/>
              </a:spcAft>
              <a:buSzPct val="100000"/>
              <a:buChar char="•"/>
            </a:pPr>
            <a:r>
              <a:rPr lang="en-US" sz="1350" dirty="0">
                <a:solidFill>
                  <a:srgbClr val="1B2B3D"/>
                </a:solidFill>
                <a:latin typeface="Meiryo" pitchFamily="34" charset="0"/>
                <a:ea typeface="Meiryo" pitchFamily="34" charset="-122"/>
                <a:cs typeface="Meiryo" pitchFamily="34" charset="-120"/>
              </a:rPr>
              <a:t>今年度は少額随意契約や既存の予算で、1回試す</a:t>
            </a:r>
            <a:endParaRPr lang="en-US" sz="1350" dirty="0"/>
          </a:p>
          <a:p>
            <a:pPr marL="342900" indent="-342900">
              <a:spcAft>
                <a:spcPts val="1200"/>
              </a:spcAft>
              <a:buSzPct val="100000"/>
              <a:buChar char="•"/>
            </a:pPr>
            <a:r>
              <a:rPr lang="en-US" sz="1350" dirty="0">
                <a:solidFill>
                  <a:srgbClr val="1B2B3D"/>
                </a:solidFill>
                <a:latin typeface="Meiryo" pitchFamily="34" charset="0"/>
                <a:ea typeface="Meiryo" pitchFamily="34" charset="-122"/>
                <a:cs typeface="Meiryo" pitchFamily="34" charset="-120"/>
              </a:rPr>
              <a:t>結果を、次年度の予算要求の根拠に使う</a:t>
            </a:r>
            <a:endParaRPr lang="en-US" sz="1350" dirty="0"/>
          </a:p>
          <a:p>
            <a:pPr marL="342900" indent="-342900">
              <a:spcAft>
                <a:spcPts val="1200"/>
              </a:spcAft>
              <a:buSzPct val="100000"/>
              <a:buChar char="•"/>
            </a:pPr>
            <a:r>
              <a:rPr lang="en-US" sz="1350" dirty="0">
                <a:solidFill>
                  <a:srgbClr val="1B2B3D"/>
                </a:solidFill>
                <a:latin typeface="Meiryo" pitchFamily="34" charset="0"/>
                <a:ea typeface="Meiryo" pitchFamily="34" charset="-122"/>
                <a:cs typeface="Meiryo" pitchFamily="34" charset="-120"/>
              </a:rPr>
              <a:t>予算要求用の説明資料づくりもお手伝いします</a:t>
            </a:r>
            <a:endParaRPr lang="en-US" sz="1350" dirty="0"/>
          </a:p>
        </p:txBody>
      </p:sp>
      <p:sp>
        <p:nvSpPr>
          <p:cNvPr id="29" name="Text 25"/>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人流データの納品は最短10営業日（公式FAQ、仕様で変動）。アンケートの回収・広告の審査日程は提供元に確認のうえ確定します</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04　進め方</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ご安心いただくために</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事前にご確認いただきたいこと</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17</a:t>
            </a:r>
            <a:endParaRPr lang="en-US" sz="1000" dirty="0"/>
          </a:p>
        </p:txBody>
      </p:sp>
      <p:sp>
        <p:nvSpPr>
          <p:cNvPr id="6" name="Shape 4"/>
          <p:cNvSpPr/>
          <p:nvPr/>
        </p:nvSpPr>
        <p:spPr>
          <a:xfrm>
            <a:off x="548640" y="1783080"/>
            <a:ext cx="5440680" cy="2103120"/>
          </a:xfrm>
          <a:prstGeom prst="roundRect">
            <a:avLst>
              <a:gd name="adj" fmla="val 3478"/>
            </a:avLst>
          </a:prstGeom>
          <a:solidFill>
            <a:srgbClr val="F2F5F8"/>
          </a:solidFill>
          <a:ln w="12700">
            <a:solidFill>
              <a:srgbClr val="F2F5F8"/>
            </a:solidFill>
            <a:prstDash val="solid"/>
          </a:ln>
        </p:spPr>
      </p:sp>
      <p:pic>
        <p:nvPicPr>
          <p:cNvPr id="7" name="Image 0" descr="preencoded.png">    </p:cNvPr>
          <p:cNvPicPr>
            <a:picLocks noChangeAspect="1"/>
          </p:cNvPicPr>
          <p:nvPr/>
        </p:nvPicPr>
        <p:blipFill>
          <a:blip r:embed="rId1"/>
          <a:stretch>
            <a:fillRect/>
          </a:stretch>
        </p:blipFill>
        <p:spPr>
          <a:xfrm>
            <a:off x="822960" y="2075688"/>
            <a:ext cx="457200" cy="457200"/>
          </a:xfrm>
          <a:prstGeom prst="rect">
            <a:avLst/>
          </a:prstGeom>
        </p:spPr>
      </p:pic>
      <p:sp>
        <p:nvSpPr>
          <p:cNvPr id="8" name="Text 5"/>
          <p:cNvSpPr txBox="1"/>
          <p:nvPr/>
        </p:nvSpPr>
        <p:spPr>
          <a:xfrm>
            <a:off x="1463040" y="2057400"/>
            <a:ext cx="4389120" cy="502920"/>
          </a:xfrm>
          <a:prstGeom prst="rect">
            <a:avLst/>
          </a:prstGeom>
          <a:noFill/>
          <a:ln/>
        </p:spPr>
        <p:txBody>
          <a:bodyPr wrap="square" lIns="0" tIns="0" rIns="0" bIns="0" rtlCol="0" anchor="ctr"/>
          <a:lstStyle/>
          <a:p>
            <a:pPr indent="0" marL="0">
              <a:buNone/>
            </a:pPr>
            <a:r>
              <a:rPr lang="en-US" sz="1650" b="1" dirty="0">
                <a:solidFill>
                  <a:srgbClr val="13283C"/>
                </a:solidFill>
                <a:latin typeface="Meiryo" pitchFamily="34" charset="0"/>
                <a:ea typeface="Meiryo" pitchFamily="34" charset="-122"/>
                <a:cs typeface="Meiryo" pitchFamily="34" charset="-120"/>
              </a:rPr>
              <a:t>個人は特定しません</a:t>
            </a:r>
            <a:endParaRPr lang="en-US" sz="1650" dirty="0"/>
          </a:p>
        </p:txBody>
      </p:sp>
      <p:sp>
        <p:nvSpPr>
          <p:cNvPr id="9" name="Text 6"/>
          <p:cNvSpPr txBox="1"/>
          <p:nvPr/>
        </p:nvSpPr>
        <p:spPr>
          <a:xfrm>
            <a:off x="1463040" y="2697480"/>
            <a:ext cx="4343400" cy="822960"/>
          </a:xfrm>
          <a:prstGeom prst="rect">
            <a:avLst/>
          </a:prstGeom>
          <a:noFill/>
          <a:ln/>
        </p:spPr>
        <p:txBody>
          <a:bodyPr wrap="square" lIns="0" tIns="0" rIns="0" bIns="0" rtlCol="0" anchor="t"/>
          <a:lstStyle/>
          <a:p>
            <a:pPr indent="0" marL="0">
              <a:buNone/>
            </a:pPr>
            <a:r>
              <a:rPr lang="en-US" sz="1300" dirty="0">
                <a:solidFill>
                  <a:srgbClr val="5A6675"/>
                </a:solidFill>
                <a:latin typeface="Meiryo" pitchFamily="34" charset="0"/>
                <a:ea typeface="Meiryo" pitchFamily="34" charset="-122"/>
                <a:cs typeface="Meiryo" pitchFamily="34" charset="-120"/>
              </a:rPr>
              <a:t>人流は集団の人数を表す統計で、少人数は秘匿処理されます</a:t>
            </a:r>
            <a:endParaRPr lang="en-US" sz="1300" dirty="0"/>
          </a:p>
        </p:txBody>
      </p:sp>
      <p:sp>
        <p:nvSpPr>
          <p:cNvPr id="10" name="Shape 7"/>
          <p:cNvSpPr/>
          <p:nvPr/>
        </p:nvSpPr>
        <p:spPr>
          <a:xfrm>
            <a:off x="6172200" y="1783080"/>
            <a:ext cx="5440680" cy="2103120"/>
          </a:xfrm>
          <a:prstGeom prst="roundRect">
            <a:avLst>
              <a:gd name="adj" fmla="val 3478"/>
            </a:avLst>
          </a:prstGeom>
          <a:solidFill>
            <a:srgbClr val="F2F5F8"/>
          </a:solidFill>
          <a:ln w="12700">
            <a:solidFill>
              <a:srgbClr val="F2F5F8"/>
            </a:solidFill>
            <a:prstDash val="solid"/>
          </a:ln>
        </p:spPr>
      </p:sp>
      <p:pic>
        <p:nvPicPr>
          <p:cNvPr id="11" name="Image 1" descr="preencoded.png">    </p:cNvPr>
          <p:cNvPicPr>
            <a:picLocks noChangeAspect="1"/>
          </p:cNvPicPr>
          <p:nvPr/>
        </p:nvPicPr>
        <p:blipFill>
          <a:blip r:embed="rId2"/>
          <a:stretch>
            <a:fillRect/>
          </a:stretch>
        </p:blipFill>
        <p:spPr>
          <a:xfrm>
            <a:off x="6446520" y="2075688"/>
            <a:ext cx="457200" cy="457200"/>
          </a:xfrm>
          <a:prstGeom prst="rect">
            <a:avLst/>
          </a:prstGeom>
        </p:spPr>
      </p:pic>
      <p:sp>
        <p:nvSpPr>
          <p:cNvPr id="12" name="Text 8"/>
          <p:cNvSpPr txBox="1"/>
          <p:nvPr/>
        </p:nvSpPr>
        <p:spPr>
          <a:xfrm>
            <a:off x="7086600" y="2057400"/>
            <a:ext cx="4389120" cy="502920"/>
          </a:xfrm>
          <a:prstGeom prst="rect">
            <a:avLst/>
          </a:prstGeom>
          <a:noFill/>
          <a:ln/>
        </p:spPr>
        <p:txBody>
          <a:bodyPr wrap="square" lIns="0" tIns="0" rIns="0" bIns="0" rtlCol="0" anchor="ctr"/>
          <a:lstStyle/>
          <a:p>
            <a:pPr indent="0" marL="0">
              <a:buNone/>
            </a:pPr>
            <a:r>
              <a:rPr lang="en-US" sz="1650" b="1" dirty="0">
                <a:solidFill>
                  <a:srgbClr val="13283C"/>
                </a:solidFill>
                <a:latin typeface="Meiryo" pitchFamily="34" charset="0"/>
                <a:ea typeface="Meiryo" pitchFamily="34" charset="-122"/>
                <a:cs typeface="Meiryo" pitchFamily="34" charset="-120"/>
              </a:rPr>
              <a:t>推計の人数は来店数ではありません</a:t>
            </a:r>
            <a:endParaRPr lang="en-US" sz="1650" dirty="0"/>
          </a:p>
        </p:txBody>
      </p:sp>
      <p:sp>
        <p:nvSpPr>
          <p:cNvPr id="13" name="Text 9"/>
          <p:cNvSpPr txBox="1"/>
          <p:nvPr/>
        </p:nvSpPr>
        <p:spPr>
          <a:xfrm>
            <a:off x="7086600" y="2697480"/>
            <a:ext cx="4343400" cy="822960"/>
          </a:xfrm>
          <a:prstGeom prst="rect">
            <a:avLst/>
          </a:prstGeom>
          <a:noFill/>
          <a:ln/>
        </p:spPr>
        <p:txBody>
          <a:bodyPr wrap="square" lIns="0" tIns="0" rIns="0" bIns="0" rtlCol="0" anchor="t"/>
          <a:lstStyle/>
          <a:p>
            <a:pPr indent="0" marL="0">
              <a:buNone/>
            </a:pPr>
            <a:r>
              <a:rPr lang="en-US" sz="1300" dirty="0">
                <a:solidFill>
                  <a:srgbClr val="5A6675"/>
                </a:solidFill>
                <a:latin typeface="Meiryo" pitchFamily="34" charset="0"/>
                <a:ea typeface="Meiryo" pitchFamily="34" charset="-122"/>
                <a:cs typeface="Meiryo" pitchFamily="34" charset="-120"/>
              </a:rPr>
              <a:t>商店街周辺の推計です。お店の来店数や売上とは分けて見ます</a:t>
            </a:r>
            <a:endParaRPr lang="en-US" sz="1300" dirty="0"/>
          </a:p>
        </p:txBody>
      </p:sp>
      <p:sp>
        <p:nvSpPr>
          <p:cNvPr id="14" name="Shape 10"/>
          <p:cNvSpPr/>
          <p:nvPr/>
        </p:nvSpPr>
        <p:spPr>
          <a:xfrm>
            <a:off x="548640" y="4023360"/>
            <a:ext cx="5440680" cy="2103120"/>
          </a:xfrm>
          <a:prstGeom prst="roundRect">
            <a:avLst>
              <a:gd name="adj" fmla="val 3478"/>
            </a:avLst>
          </a:prstGeom>
          <a:solidFill>
            <a:srgbClr val="F2F5F8"/>
          </a:solidFill>
          <a:ln w="12700">
            <a:solidFill>
              <a:srgbClr val="F2F5F8"/>
            </a:solidFill>
            <a:prstDash val="solid"/>
          </a:ln>
        </p:spPr>
      </p:sp>
      <p:pic>
        <p:nvPicPr>
          <p:cNvPr id="15" name="Image 2" descr="preencoded.png">    </p:cNvPr>
          <p:cNvPicPr>
            <a:picLocks noChangeAspect="1"/>
          </p:cNvPicPr>
          <p:nvPr/>
        </p:nvPicPr>
        <p:blipFill>
          <a:blip r:embed="rId3"/>
          <a:stretch>
            <a:fillRect/>
          </a:stretch>
        </p:blipFill>
        <p:spPr>
          <a:xfrm>
            <a:off x="822960" y="4315968"/>
            <a:ext cx="457200" cy="457200"/>
          </a:xfrm>
          <a:prstGeom prst="rect">
            <a:avLst/>
          </a:prstGeom>
        </p:spPr>
      </p:pic>
      <p:sp>
        <p:nvSpPr>
          <p:cNvPr id="16" name="Text 11"/>
          <p:cNvSpPr txBox="1"/>
          <p:nvPr/>
        </p:nvSpPr>
        <p:spPr>
          <a:xfrm>
            <a:off x="1463040" y="4297680"/>
            <a:ext cx="4389120" cy="502920"/>
          </a:xfrm>
          <a:prstGeom prst="rect">
            <a:avLst/>
          </a:prstGeom>
          <a:noFill/>
          <a:ln/>
        </p:spPr>
        <p:txBody>
          <a:bodyPr wrap="square" lIns="0" tIns="0" rIns="0" bIns="0" rtlCol="0" anchor="ctr"/>
          <a:lstStyle/>
          <a:p>
            <a:pPr indent="0" marL="0">
              <a:buNone/>
            </a:pPr>
            <a:r>
              <a:rPr lang="en-US" sz="1650" b="1" dirty="0">
                <a:solidFill>
                  <a:srgbClr val="13283C"/>
                </a:solidFill>
                <a:latin typeface="Meiryo" pitchFamily="34" charset="0"/>
                <a:ea typeface="Meiryo" pitchFamily="34" charset="-122"/>
                <a:cs typeface="Meiryo" pitchFamily="34" charset="-120"/>
              </a:rPr>
              <a:t>回答数・広告の成果は保証しません</a:t>
            </a:r>
            <a:endParaRPr lang="en-US" sz="1650" dirty="0"/>
          </a:p>
        </p:txBody>
      </p:sp>
      <p:sp>
        <p:nvSpPr>
          <p:cNvPr id="17" name="Text 12"/>
          <p:cNvSpPr txBox="1"/>
          <p:nvPr/>
        </p:nvSpPr>
        <p:spPr>
          <a:xfrm>
            <a:off x="1463040" y="4937760"/>
            <a:ext cx="4343400" cy="822960"/>
          </a:xfrm>
          <a:prstGeom prst="rect">
            <a:avLst/>
          </a:prstGeom>
          <a:noFill/>
          <a:ln/>
        </p:spPr>
        <p:txBody>
          <a:bodyPr wrap="square" lIns="0" tIns="0" rIns="0" bIns="0" rtlCol="0" anchor="t"/>
          <a:lstStyle/>
          <a:p>
            <a:pPr indent="0" marL="0">
              <a:buNone/>
            </a:pPr>
            <a:r>
              <a:rPr lang="en-US" sz="1300" dirty="0">
                <a:solidFill>
                  <a:srgbClr val="5A6675"/>
                </a:solidFill>
                <a:latin typeface="Meiryo" pitchFamily="34" charset="0"/>
                <a:ea typeface="Meiryo" pitchFamily="34" charset="-122"/>
                <a:cs typeface="Meiryo" pitchFamily="34" charset="-120"/>
              </a:rPr>
              <a:t>アンケートの回答数は目標値、広告の成果は条件や文章で変わります</a:t>
            </a:r>
            <a:endParaRPr lang="en-US" sz="1300" dirty="0"/>
          </a:p>
        </p:txBody>
      </p:sp>
      <p:sp>
        <p:nvSpPr>
          <p:cNvPr id="18" name="Shape 13"/>
          <p:cNvSpPr/>
          <p:nvPr/>
        </p:nvSpPr>
        <p:spPr>
          <a:xfrm>
            <a:off x="6172200" y="4023360"/>
            <a:ext cx="5440680" cy="2103120"/>
          </a:xfrm>
          <a:prstGeom prst="roundRect">
            <a:avLst>
              <a:gd name="adj" fmla="val 3478"/>
            </a:avLst>
          </a:prstGeom>
          <a:solidFill>
            <a:srgbClr val="F2F5F8"/>
          </a:solidFill>
          <a:ln w="12700">
            <a:solidFill>
              <a:srgbClr val="F2F5F8"/>
            </a:solidFill>
            <a:prstDash val="solid"/>
          </a:ln>
        </p:spPr>
      </p:sp>
      <p:pic>
        <p:nvPicPr>
          <p:cNvPr id="19" name="Image 3" descr="preencoded.png">    </p:cNvPr>
          <p:cNvPicPr>
            <a:picLocks noChangeAspect="1"/>
          </p:cNvPicPr>
          <p:nvPr/>
        </p:nvPicPr>
        <p:blipFill>
          <a:blip r:embed="rId4"/>
          <a:stretch>
            <a:fillRect/>
          </a:stretch>
        </p:blipFill>
        <p:spPr>
          <a:xfrm>
            <a:off x="6446520" y="4315968"/>
            <a:ext cx="457200" cy="457200"/>
          </a:xfrm>
          <a:prstGeom prst="rect">
            <a:avLst/>
          </a:prstGeom>
        </p:spPr>
      </p:pic>
      <p:sp>
        <p:nvSpPr>
          <p:cNvPr id="20" name="Text 14"/>
          <p:cNvSpPr txBox="1"/>
          <p:nvPr/>
        </p:nvSpPr>
        <p:spPr>
          <a:xfrm>
            <a:off x="7086600" y="4297680"/>
            <a:ext cx="4389120" cy="502920"/>
          </a:xfrm>
          <a:prstGeom prst="rect">
            <a:avLst/>
          </a:prstGeom>
          <a:noFill/>
          <a:ln/>
        </p:spPr>
        <p:txBody>
          <a:bodyPr wrap="square" lIns="0" tIns="0" rIns="0" bIns="0" rtlCol="0" anchor="ctr"/>
          <a:lstStyle/>
          <a:p>
            <a:pPr indent="0" marL="0">
              <a:buNone/>
            </a:pPr>
            <a:r>
              <a:rPr lang="en-US" sz="1650" b="1" dirty="0">
                <a:solidFill>
                  <a:srgbClr val="13283C"/>
                </a:solidFill>
                <a:latin typeface="Meiryo" pitchFamily="34" charset="0"/>
                <a:ea typeface="Meiryo" pitchFamily="34" charset="-122"/>
                <a:cs typeface="Meiryo" pitchFamily="34" charset="-120"/>
              </a:rPr>
              <a:t>続けるかは結果を見てから</a:t>
            </a:r>
            <a:endParaRPr lang="en-US" sz="1650" dirty="0"/>
          </a:p>
        </p:txBody>
      </p:sp>
      <p:sp>
        <p:nvSpPr>
          <p:cNvPr id="21" name="Text 15"/>
          <p:cNvSpPr txBox="1"/>
          <p:nvPr/>
        </p:nvSpPr>
        <p:spPr>
          <a:xfrm>
            <a:off x="7086600" y="4937760"/>
            <a:ext cx="4343400" cy="822960"/>
          </a:xfrm>
          <a:prstGeom prst="rect">
            <a:avLst/>
          </a:prstGeom>
          <a:noFill/>
          <a:ln/>
        </p:spPr>
        <p:txBody>
          <a:bodyPr wrap="square" lIns="0" tIns="0" rIns="0" bIns="0" rtlCol="0" anchor="t"/>
          <a:lstStyle/>
          <a:p>
            <a:pPr indent="0" marL="0">
              <a:buNone/>
            </a:pPr>
            <a:r>
              <a:rPr lang="en-US" sz="1300" dirty="0">
                <a:solidFill>
                  <a:srgbClr val="5A6675"/>
                </a:solidFill>
                <a:latin typeface="Meiryo" pitchFamily="34" charset="0"/>
                <a:ea typeface="Meiryo" pitchFamily="34" charset="-122"/>
                <a:cs typeface="Meiryo" pitchFamily="34" charset="-120"/>
              </a:rPr>
              <a:t>1回ごとにご判断いただけます。長期の契約を前提にしません</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283C"/>
        </a:solidFill>
      </p:bgPr>
    </p:bg>
    <p:spTree>
      <p:nvGrpSpPr>
        <p:cNvPr id="1" name=""/>
        <p:cNvGrpSpPr/>
        <p:nvPr/>
      </p:nvGrpSpPr>
      <p:grpSpPr>
        <a:xfrm>
          <a:off x="0" y="0"/>
          <a:ext cx="0" cy="0"/>
          <a:chOff x="0" y="0"/>
          <a:chExt cx="0" cy="0"/>
        </a:xfrm>
      </p:grpSpPr>
      <p:sp>
        <p:nvSpPr>
          <p:cNvPr id="2" name="Text 0"/>
          <p:cNvSpPr txBox="1"/>
          <p:nvPr/>
        </p:nvSpPr>
        <p:spPr>
          <a:xfrm>
            <a:off x="731520" y="640080"/>
            <a:ext cx="1005840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次のステップ</a:t>
            </a:r>
            <a:endParaRPr lang="en-US" sz="3000" dirty="0"/>
          </a:p>
        </p:txBody>
      </p:sp>
      <p:sp>
        <p:nvSpPr>
          <p:cNvPr id="3" name="Text 1"/>
          <p:cNvSpPr txBox="1"/>
          <p:nvPr/>
        </p:nvSpPr>
        <p:spPr>
          <a:xfrm>
            <a:off x="731520" y="1280160"/>
            <a:ext cx="10515600" cy="365760"/>
          </a:xfrm>
          <a:prstGeom prst="rect">
            <a:avLst/>
          </a:prstGeom>
          <a:noFill/>
          <a:ln/>
        </p:spPr>
        <p:txBody>
          <a:bodyPr wrap="square" lIns="0" tIns="0" rIns="0" bIns="0" rtlCol="0" anchor="t"/>
          <a:lstStyle/>
          <a:p>
            <a:pPr indent="0" marL="0">
              <a:buNone/>
            </a:pPr>
            <a:r>
              <a:rPr lang="en-US" sz="1400" dirty="0">
                <a:solidFill>
                  <a:srgbClr val="BAC8D4"/>
                </a:solidFill>
                <a:latin typeface="Meiryo" pitchFamily="34" charset="0"/>
                <a:ea typeface="Meiryo" pitchFamily="34" charset="-122"/>
                <a:cs typeface="Meiryo" pitchFamily="34" charset="-120"/>
              </a:rPr>
              <a:t>本日、4つの点を教えてください。1週間以内に、お試しプランの具体案とお見積をお送りします</a:t>
            </a:r>
            <a:endParaRPr lang="en-US" sz="1400" dirty="0"/>
          </a:p>
        </p:txBody>
      </p:sp>
      <p:sp>
        <p:nvSpPr>
          <p:cNvPr id="4" name="Shape 2"/>
          <p:cNvSpPr/>
          <p:nvPr/>
        </p:nvSpPr>
        <p:spPr>
          <a:xfrm>
            <a:off x="731520" y="1920240"/>
            <a:ext cx="2514600" cy="2148840"/>
          </a:xfrm>
          <a:prstGeom prst="roundRect">
            <a:avLst>
              <a:gd name="adj" fmla="val 4255"/>
            </a:avLst>
          </a:prstGeom>
          <a:solidFill>
            <a:srgbClr val="22394F"/>
          </a:solidFill>
          <a:ln w="12700">
            <a:solidFill>
              <a:srgbClr val="2F4A63"/>
            </a:solidFill>
            <a:prstDash val="solid"/>
          </a:ln>
        </p:spPr>
      </p:sp>
      <p:sp>
        <p:nvSpPr>
          <p:cNvPr id="5" name="Shape 3"/>
          <p:cNvSpPr/>
          <p:nvPr/>
        </p:nvSpPr>
        <p:spPr>
          <a:xfrm>
            <a:off x="960120" y="2103120"/>
            <a:ext cx="594360" cy="594360"/>
          </a:xfrm>
          <a:prstGeom prst="ellipse">
            <a:avLst/>
          </a:prstGeom>
          <a:solidFill>
            <a:srgbClr val="C9002B"/>
          </a:solidFill>
          <a:ln w="12700">
            <a:solidFill>
              <a:srgbClr val="C9002B"/>
            </a:solidFill>
            <a:prstDash val="solid"/>
          </a:ln>
        </p:spPr>
      </p:sp>
      <p:pic>
        <p:nvPicPr>
          <p:cNvPr id="6" name="Image 0" descr="preencoded.png">    </p:cNvPr>
          <p:cNvPicPr>
            <a:picLocks noChangeAspect="1"/>
          </p:cNvPicPr>
          <p:nvPr/>
        </p:nvPicPr>
        <p:blipFill>
          <a:blip r:embed="rId1"/>
          <a:stretch>
            <a:fillRect/>
          </a:stretch>
        </p:blipFill>
        <p:spPr>
          <a:xfrm>
            <a:off x="1108710" y="2251710"/>
            <a:ext cx="297180" cy="297180"/>
          </a:xfrm>
          <a:prstGeom prst="rect">
            <a:avLst/>
          </a:prstGeom>
        </p:spPr>
      </p:pic>
      <p:sp>
        <p:nvSpPr>
          <p:cNvPr id="7" name="Text 4"/>
          <p:cNvSpPr txBox="1"/>
          <p:nvPr/>
        </p:nvSpPr>
        <p:spPr>
          <a:xfrm>
            <a:off x="960120" y="2834640"/>
            <a:ext cx="214884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対象の試合・イベント</a:t>
            </a:r>
            <a:endParaRPr lang="en-US" sz="1600" dirty="0"/>
          </a:p>
        </p:txBody>
      </p:sp>
      <p:sp>
        <p:nvSpPr>
          <p:cNvPr id="8" name="Text 5"/>
          <p:cNvSpPr txBox="1"/>
          <p:nvPr/>
        </p:nvSpPr>
        <p:spPr>
          <a:xfrm>
            <a:off x="960120" y="3291840"/>
            <a:ext cx="2148840" cy="685800"/>
          </a:xfrm>
          <a:prstGeom prst="rect">
            <a:avLst/>
          </a:prstGeom>
          <a:noFill/>
          <a:ln/>
        </p:spPr>
        <p:txBody>
          <a:bodyPr wrap="square" lIns="0" tIns="0" rIns="0" bIns="0" rtlCol="0" anchor="t"/>
          <a:lstStyle/>
          <a:p>
            <a:pPr indent="0" marL="0">
              <a:buNone/>
            </a:pPr>
            <a:r>
              <a:rPr lang="en-US" sz="1200" dirty="0">
                <a:solidFill>
                  <a:srgbClr val="DDE5EC"/>
                </a:solidFill>
                <a:latin typeface="Meiryo" pitchFamily="34" charset="0"/>
                <a:ea typeface="Meiryo" pitchFamily="34" charset="-122"/>
                <a:cs typeface="Meiryo" pitchFamily="34" charset="-120"/>
              </a:rPr>
              <a:t>ストークスの試合日程、商店街の行事</a:t>
            </a:r>
            <a:endParaRPr lang="en-US" sz="1200" dirty="0"/>
          </a:p>
        </p:txBody>
      </p:sp>
      <p:sp>
        <p:nvSpPr>
          <p:cNvPr id="9" name="Shape 6"/>
          <p:cNvSpPr/>
          <p:nvPr/>
        </p:nvSpPr>
        <p:spPr>
          <a:xfrm>
            <a:off x="3474720" y="1920240"/>
            <a:ext cx="2514600" cy="2148840"/>
          </a:xfrm>
          <a:prstGeom prst="roundRect">
            <a:avLst>
              <a:gd name="adj" fmla="val 4255"/>
            </a:avLst>
          </a:prstGeom>
          <a:solidFill>
            <a:srgbClr val="22394F"/>
          </a:solidFill>
          <a:ln w="12700">
            <a:solidFill>
              <a:srgbClr val="2F4A63"/>
            </a:solidFill>
            <a:prstDash val="solid"/>
          </a:ln>
        </p:spPr>
      </p:sp>
      <p:sp>
        <p:nvSpPr>
          <p:cNvPr id="10" name="Shape 7"/>
          <p:cNvSpPr/>
          <p:nvPr/>
        </p:nvSpPr>
        <p:spPr>
          <a:xfrm>
            <a:off x="3703320" y="2103120"/>
            <a:ext cx="594360" cy="594360"/>
          </a:xfrm>
          <a:prstGeom prst="ellipse">
            <a:avLst/>
          </a:prstGeom>
          <a:solidFill>
            <a:srgbClr val="C9002B"/>
          </a:solidFill>
          <a:ln w="12700">
            <a:solidFill>
              <a:srgbClr val="C9002B"/>
            </a:solidFill>
            <a:prstDash val="solid"/>
          </a:ln>
        </p:spPr>
      </p:sp>
      <p:pic>
        <p:nvPicPr>
          <p:cNvPr id="11" name="Image 1" descr="preencoded.png">    </p:cNvPr>
          <p:cNvPicPr>
            <a:picLocks noChangeAspect="1"/>
          </p:cNvPicPr>
          <p:nvPr/>
        </p:nvPicPr>
        <p:blipFill>
          <a:blip r:embed="rId2"/>
          <a:stretch>
            <a:fillRect/>
          </a:stretch>
        </p:blipFill>
        <p:spPr>
          <a:xfrm>
            <a:off x="3851910" y="2251710"/>
            <a:ext cx="297180" cy="297180"/>
          </a:xfrm>
          <a:prstGeom prst="rect">
            <a:avLst/>
          </a:prstGeom>
        </p:spPr>
      </p:pic>
      <p:sp>
        <p:nvSpPr>
          <p:cNvPr id="12" name="Text 8"/>
          <p:cNvSpPr txBox="1"/>
          <p:nvPr/>
        </p:nvSpPr>
        <p:spPr>
          <a:xfrm>
            <a:off x="3703320" y="2834640"/>
            <a:ext cx="214884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増やしたい人</a:t>
            </a:r>
            <a:endParaRPr lang="en-US" sz="1600" dirty="0"/>
          </a:p>
        </p:txBody>
      </p:sp>
      <p:sp>
        <p:nvSpPr>
          <p:cNvPr id="13" name="Text 9"/>
          <p:cNvSpPr txBox="1"/>
          <p:nvPr/>
        </p:nvSpPr>
        <p:spPr>
          <a:xfrm>
            <a:off x="3703320" y="3291840"/>
            <a:ext cx="2148840" cy="685800"/>
          </a:xfrm>
          <a:prstGeom prst="rect">
            <a:avLst/>
          </a:prstGeom>
          <a:noFill/>
          <a:ln/>
        </p:spPr>
        <p:txBody>
          <a:bodyPr wrap="square" lIns="0" tIns="0" rIns="0" bIns="0" rtlCol="0" anchor="t"/>
          <a:lstStyle/>
          <a:p>
            <a:pPr indent="0" marL="0">
              <a:buNone/>
            </a:pPr>
            <a:r>
              <a:rPr lang="en-US" sz="1200" dirty="0">
                <a:solidFill>
                  <a:srgbClr val="DDE5EC"/>
                </a:solidFill>
                <a:latin typeface="Meiryo" pitchFamily="34" charset="0"/>
                <a:ea typeface="Meiryo" pitchFamily="34" charset="-122"/>
                <a:cs typeface="Meiryo" pitchFamily="34" charset="-120"/>
              </a:rPr>
              <a:t>近所の人・若い世代・市外など</a:t>
            </a:r>
            <a:endParaRPr lang="en-US" sz="1200" dirty="0"/>
          </a:p>
        </p:txBody>
      </p:sp>
      <p:sp>
        <p:nvSpPr>
          <p:cNvPr id="14" name="Shape 10"/>
          <p:cNvSpPr/>
          <p:nvPr/>
        </p:nvSpPr>
        <p:spPr>
          <a:xfrm>
            <a:off x="6217920" y="1920240"/>
            <a:ext cx="2514600" cy="2148840"/>
          </a:xfrm>
          <a:prstGeom prst="roundRect">
            <a:avLst>
              <a:gd name="adj" fmla="val 4255"/>
            </a:avLst>
          </a:prstGeom>
          <a:solidFill>
            <a:srgbClr val="22394F"/>
          </a:solidFill>
          <a:ln w="12700">
            <a:solidFill>
              <a:srgbClr val="2F4A63"/>
            </a:solidFill>
            <a:prstDash val="solid"/>
          </a:ln>
        </p:spPr>
      </p:sp>
      <p:sp>
        <p:nvSpPr>
          <p:cNvPr id="15" name="Shape 11"/>
          <p:cNvSpPr/>
          <p:nvPr/>
        </p:nvSpPr>
        <p:spPr>
          <a:xfrm>
            <a:off x="6446520" y="2103120"/>
            <a:ext cx="594360" cy="594360"/>
          </a:xfrm>
          <a:prstGeom prst="ellipse">
            <a:avLst/>
          </a:prstGeom>
          <a:solidFill>
            <a:srgbClr val="C9002B"/>
          </a:solidFill>
          <a:ln w="12700">
            <a:solidFill>
              <a:srgbClr val="C9002B"/>
            </a:solidFill>
            <a:prstDash val="solid"/>
          </a:ln>
        </p:spPr>
      </p:sp>
      <p:pic>
        <p:nvPicPr>
          <p:cNvPr id="16" name="Image 2" descr="preencoded.png">    </p:cNvPr>
          <p:cNvPicPr>
            <a:picLocks noChangeAspect="1"/>
          </p:cNvPicPr>
          <p:nvPr/>
        </p:nvPicPr>
        <p:blipFill>
          <a:blip r:embed="rId3"/>
          <a:stretch>
            <a:fillRect/>
          </a:stretch>
        </p:blipFill>
        <p:spPr>
          <a:xfrm>
            <a:off x="6595110" y="2251710"/>
            <a:ext cx="297180" cy="297180"/>
          </a:xfrm>
          <a:prstGeom prst="rect">
            <a:avLst/>
          </a:prstGeom>
        </p:spPr>
      </p:pic>
      <p:sp>
        <p:nvSpPr>
          <p:cNvPr id="17" name="Text 12"/>
          <p:cNvSpPr txBox="1"/>
          <p:nvPr/>
        </p:nvSpPr>
        <p:spPr>
          <a:xfrm>
            <a:off x="6446520" y="2834640"/>
            <a:ext cx="214884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使えるご予算</a:t>
            </a:r>
            <a:endParaRPr lang="en-US" sz="1600" dirty="0"/>
          </a:p>
        </p:txBody>
      </p:sp>
      <p:sp>
        <p:nvSpPr>
          <p:cNvPr id="18" name="Text 13"/>
          <p:cNvSpPr txBox="1"/>
          <p:nvPr/>
        </p:nvSpPr>
        <p:spPr>
          <a:xfrm>
            <a:off x="6446520" y="3291840"/>
            <a:ext cx="2148840" cy="685800"/>
          </a:xfrm>
          <a:prstGeom prst="rect">
            <a:avLst/>
          </a:prstGeom>
          <a:noFill/>
          <a:ln/>
        </p:spPr>
        <p:txBody>
          <a:bodyPr wrap="square" lIns="0" tIns="0" rIns="0" bIns="0" rtlCol="0" anchor="t"/>
          <a:lstStyle/>
          <a:p>
            <a:pPr indent="0" marL="0">
              <a:buNone/>
            </a:pPr>
            <a:r>
              <a:rPr lang="en-US" sz="1200" dirty="0">
                <a:solidFill>
                  <a:srgbClr val="DDE5EC"/>
                </a:solidFill>
                <a:latin typeface="Meiryo" pitchFamily="34" charset="0"/>
                <a:ea typeface="Meiryo" pitchFamily="34" charset="-122"/>
                <a:cs typeface="Meiryo" pitchFamily="34" charset="-120"/>
              </a:rPr>
              <a:t>今年度の枠、補助金、決める会議</a:t>
            </a:r>
            <a:endParaRPr lang="en-US" sz="1200" dirty="0"/>
          </a:p>
        </p:txBody>
      </p:sp>
      <p:sp>
        <p:nvSpPr>
          <p:cNvPr id="19" name="Shape 14"/>
          <p:cNvSpPr/>
          <p:nvPr/>
        </p:nvSpPr>
        <p:spPr>
          <a:xfrm>
            <a:off x="8961120" y="1920240"/>
            <a:ext cx="2514600" cy="2148840"/>
          </a:xfrm>
          <a:prstGeom prst="roundRect">
            <a:avLst>
              <a:gd name="adj" fmla="val 4255"/>
            </a:avLst>
          </a:prstGeom>
          <a:solidFill>
            <a:srgbClr val="22394F"/>
          </a:solidFill>
          <a:ln w="12700">
            <a:solidFill>
              <a:srgbClr val="2F4A63"/>
            </a:solidFill>
            <a:prstDash val="solid"/>
          </a:ln>
        </p:spPr>
      </p:sp>
      <p:sp>
        <p:nvSpPr>
          <p:cNvPr id="20" name="Shape 15"/>
          <p:cNvSpPr/>
          <p:nvPr/>
        </p:nvSpPr>
        <p:spPr>
          <a:xfrm>
            <a:off x="9189720" y="2103120"/>
            <a:ext cx="594360" cy="594360"/>
          </a:xfrm>
          <a:prstGeom prst="ellipse">
            <a:avLst/>
          </a:prstGeom>
          <a:solidFill>
            <a:srgbClr val="C9002B"/>
          </a:solidFill>
          <a:ln w="12700">
            <a:solidFill>
              <a:srgbClr val="C9002B"/>
            </a:solidFill>
            <a:prstDash val="solid"/>
          </a:ln>
        </p:spPr>
      </p:sp>
      <p:pic>
        <p:nvPicPr>
          <p:cNvPr id="21" name="Image 3" descr="preencoded.png">    </p:cNvPr>
          <p:cNvPicPr>
            <a:picLocks noChangeAspect="1"/>
          </p:cNvPicPr>
          <p:nvPr/>
        </p:nvPicPr>
        <p:blipFill>
          <a:blip r:embed="rId4"/>
          <a:stretch>
            <a:fillRect/>
          </a:stretch>
        </p:blipFill>
        <p:spPr>
          <a:xfrm>
            <a:off x="9338310" y="2251710"/>
            <a:ext cx="297180" cy="297180"/>
          </a:xfrm>
          <a:prstGeom prst="rect">
            <a:avLst/>
          </a:prstGeom>
        </p:spPr>
      </p:pic>
      <p:sp>
        <p:nvSpPr>
          <p:cNvPr id="22" name="Text 16"/>
          <p:cNvSpPr txBox="1"/>
          <p:nvPr/>
        </p:nvSpPr>
        <p:spPr>
          <a:xfrm>
            <a:off x="9189720" y="2834640"/>
            <a:ext cx="214884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手元のデータ</a:t>
            </a:r>
            <a:endParaRPr lang="en-US" sz="1600" dirty="0"/>
          </a:p>
        </p:txBody>
      </p:sp>
      <p:sp>
        <p:nvSpPr>
          <p:cNvPr id="23" name="Text 17"/>
          <p:cNvSpPr txBox="1"/>
          <p:nvPr/>
        </p:nvSpPr>
        <p:spPr>
          <a:xfrm>
            <a:off x="9189720" y="3291840"/>
            <a:ext cx="2148840" cy="685800"/>
          </a:xfrm>
          <a:prstGeom prst="rect">
            <a:avLst/>
          </a:prstGeom>
          <a:noFill/>
          <a:ln/>
        </p:spPr>
        <p:txBody>
          <a:bodyPr wrap="square" lIns="0" tIns="0" rIns="0" bIns="0" rtlCol="0" anchor="t"/>
          <a:lstStyle/>
          <a:p>
            <a:pPr indent="0" marL="0">
              <a:buNone/>
            </a:pPr>
            <a:r>
              <a:rPr lang="en-US" sz="1200" dirty="0">
                <a:solidFill>
                  <a:srgbClr val="DDE5EC"/>
                </a:solidFill>
                <a:latin typeface="Meiryo" pitchFamily="34" charset="0"/>
                <a:ea typeface="Meiryo" pitchFamily="34" charset="-122"/>
                <a:cs typeface="Meiryo" pitchFamily="34" charset="-120"/>
              </a:rPr>
              <a:t>過去の通行量・売上・参加者数など</a:t>
            </a:r>
            <a:endParaRPr lang="en-US" sz="1200" dirty="0"/>
          </a:p>
        </p:txBody>
      </p:sp>
      <p:sp>
        <p:nvSpPr>
          <p:cNvPr id="24" name="Shape 18"/>
          <p:cNvSpPr/>
          <p:nvPr/>
        </p:nvSpPr>
        <p:spPr>
          <a:xfrm>
            <a:off x="731520" y="4434840"/>
            <a:ext cx="2514600" cy="1234440"/>
          </a:xfrm>
          <a:prstGeom prst="roundRect">
            <a:avLst>
              <a:gd name="adj" fmla="val 7407"/>
            </a:avLst>
          </a:prstGeom>
          <a:solidFill>
            <a:srgbClr val="C9002B"/>
          </a:solidFill>
          <a:ln w="12700">
            <a:solidFill>
              <a:srgbClr val="C9002B"/>
            </a:solidFill>
            <a:prstDash val="solid"/>
          </a:ln>
        </p:spPr>
      </p:sp>
      <p:sp>
        <p:nvSpPr>
          <p:cNvPr id="25" name="Text 19"/>
          <p:cNvSpPr txBox="1"/>
          <p:nvPr/>
        </p:nvSpPr>
        <p:spPr>
          <a:xfrm>
            <a:off x="914400" y="4526280"/>
            <a:ext cx="219456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本日</a:t>
            </a:r>
            <a:endParaRPr lang="en-US" sz="1600" dirty="0"/>
          </a:p>
        </p:txBody>
      </p:sp>
      <p:sp>
        <p:nvSpPr>
          <p:cNvPr id="26" name="Text 20"/>
          <p:cNvSpPr txBox="1"/>
          <p:nvPr/>
        </p:nvSpPr>
        <p:spPr>
          <a:xfrm>
            <a:off x="914400" y="4956048"/>
            <a:ext cx="2194560" cy="640080"/>
          </a:xfrm>
          <a:prstGeom prst="rect">
            <a:avLst/>
          </a:prstGeom>
          <a:noFill/>
          <a:ln/>
        </p:spPr>
        <p:txBody>
          <a:bodyPr wrap="square" lIns="0" tIns="0" rIns="0" bIns="0" rtlCol="0" anchor="t"/>
          <a:lstStyle/>
          <a:p>
            <a:pPr indent="0" marL="0">
              <a:buNone/>
            </a:pPr>
            <a:r>
              <a:rPr lang="en-US" sz="1200" dirty="0">
                <a:solidFill>
                  <a:srgbClr val="FFFFFF"/>
                </a:solidFill>
                <a:latin typeface="Meiryo" pitchFamily="34" charset="0"/>
                <a:ea typeface="Meiryo" pitchFamily="34" charset="-122"/>
                <a:cs typeface="Meiryo" pitchFamily="34" charset="-120"/>
              </a:rPr>
              <a:t>4つの点の確認</a:t>
            </a:r>
            <a:endParaRPr lang="en-US" sz="1200" dirty="0"/>
          </a:p>
        </p:txBody>
      </p:sp>
      <p:sp>
        <p:nvSpPr>
          <p:cNvPr id="27" name="Shape 21"/>
          <p:cNvSpPr/>
          <p:nvPr/>
        </p:nvSpPr>
        <p:spPr>
          <a:xfrm>
            <a:off x="3474720" y="4434840"/>
            <a:ext cx="2514600" cy="1234440"/>
          </a:xfrm>
          <a:prstGeom prst="roundRect">
            <a:avLst>
              <a:gd name="adj" fmla="val 7407"/>
            </a:avLst>
          </a:prstGeom>
          <a:solidFill>
            <a:srgbClr val="2F4A63"/>
          </a:solidFill>
          <a:ln w="12700">
            <a:solidFill>
              <a:srgbClr val="2F4A63"/>
            </a:solidFill>
            <a:prstDash val="solid"/>
          </a:ln>
        </p:spPr>
      </p:sp>
      <p:sp>
        <p:nvSpPr>
          <p:cNvPr id="28" name="Text 22"/>
          <p:cNvSpPr txBox="1"/>
          <p:nvPr/>
        </p:nvSpPr>
        <p:spPr>
          <a:xfrm>
            <a:off x="3657600" y="4526280"/>
            <a:ext cx="219456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1週間以内</a:t>
            </a:r>
            <a:endParaRPr lang="en-US" sz="1600" dirty="0"/>
          </a:p>
        </p:txBody>
      </p:sp>
      <p:sp>
        <p:nvSpPr>
          <p:cNvPr id="29" name="Text 23"/>
          <p:cNvSpPr txBox="1"/>
          <p:nvPr/>
        </p:nvSpPr>
        <p:spPr>
          <a:xfrm>
            <a:off x="3657600" y="4956048"/>
            <a:ext cx="2194560" cy="640080"/>
          </a:xfrm>
          <a:prstGeom prst="rect">
            <a:avLst/>
          </a:prstGeom>
          <a:noFill/>
          <a:ln/>
        </p:spPr>
        <p:txBody>
          <a:bodyPr wrap="square" lIns="0" tIns="0" rIns="0" bIns="0" rtlCol="0" anchor="t"/>
          <a:lstStyle/>
          <a:p>
            <a:pPr indent="0" marL="0">
              <a:buNone/>
            </a:pPr>
            <a:r>
              <a:rPr lang="en-US" sz="1200" dirty="0">
                <a:solidFill>
                  <a:srgbClr val="FFFFFF"/>
                </a:solidFill>
                <a:latin typeface="Meiryo" pitchFamily="34" charset="0"/>
                <a:ea typeface="Meiryo" pitchFamily="34" charset="-122"/>
                <a:cs typeface="Meiryo" pitchFamily="34" charset="-120"/>
              </a:rPr>
              <a:t>具体案とお見積</a:t>
            </a:r>
            <a:endParaRPr lang="en-US" sz="1200" dirty="0"/>
          </a:p>
        </p:txBody>
      </p:sp>
      <p:sp>
        <p:nvSpPr>
          <p:cNvPr id="30" name="Shape 24"/>
          <p:cNvSpPr/>
          <p:nvPr/>
        </p:nvSpPr>
        <p:spPr>
          <a:xfrm>
            <a:off x="6217920" y="4434840"/>
            <a:ext cx="2514600" cy="1234440"/>
          </a:xfrm>
          <a:prstGeom prst="roundRect">
            <a:avLst>
              <a:gd name="adj" fmla="val 7407"/>
            </a:avLst>
          </a:prstGeom>
          <a:solidFill>
            <a:srgbClr val="2F4A63"/>
          </a:solidFill>
          <a:ln w="12700">
            <a:solidFill>
              <a:srgbClr val="2F4A63"/>
            </a:solidFill>
            <a:prstDash val="solid"/>
          </a:ln>
        </p:spPr>
      </p:sp>
      <p:sp>
        <p:nvSpPr>
          <p:cNvPr id="31" name="Text 25"/>
          <p:cNvSpPr txBox="1"/>
          <p:nvPr/>
        </p:nvSpPr>
        <p:spPr>
          <a:xfrm>
            <a:off x="6400800" y="4526280"/>
            <a:ext cx="219456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ご契約</a:t>
            </a:r>
            <a:endParaRPr lang="en-US" sz="1600" dirty="0"/>
          </a:p>
        </p:txBody>
      </p:sp>
      <p:sp>
        <p:nvSpPr>
          <p:cNvPr id="32" name="Text 26"/>
          <p:cNvSpPr txBox="1"/>
          <p:nvPr/>
        </p:nvSpPr>
        <p:spPr>
          <a:xfrm>
            <a:off x="6400800" y="4956048"/>
            <a:ext cx="2194560" cy="640080"/>
          </a:xfrm>
          <a:prstGeom prst="rect">
            <a:avLst/>
          </a:prstGeom>
          <a:noFill/>
          <a:ln/>
        </p:spPr>
        <p:txBody>
          <a:bodyPr wrap="square" lIns="0" tIns="0" rIns="0" bIns="0" rtlCol="0" anchor="t"/>
          <a:lstStyle/>
          <a:p>
            <a:pPr indent="0" marL="0">
              <a:buNone/>
            </a:pPr>
            <a:r>
              <a:rPr lang="en-US" sz="1200" dirty="0">
                <a:solidFill>
                  <a:srgbClr val="FFFFFF"/>
                </a:solidFill>
                <a:latin typeface="Meiryo" pitchFamily="34" charset="0"/>
                <a:ea typeface="Meiryo" pitchFamily="34" charset="-122"/>
                <a:cs typeface="Meiryo" pitchFamily="34" charset="-120"/>
              </a:rPr>
              <a:t>1回分のご発注</a:t>
            </a:r>
            <a:endParaRPr lang="en-US" sz="1200" dirty="0"/>
          </a:p>
        </p:txBody>
      </p:sp>
      <p:sp>
        <p:nvSpPr>
          <p:cNvPr id="33" name="Shape 27"/>
          <p:cNvSpPr/>
          <p:nvPr/>
        </p:nvSpPr>
        <p:spPr>
          <a:xfrm>
            <a:off x="8961120" y="4434840"/>
            <a:ext cx="2514600" cy="1234440"/>
          </a:xfrm>
          <a:prstGeom prst="roundRect">
            <a:avLst>
              <a:gd name="adj" fmla="val 7407"/>
            </a:avLst>
          </a:prstGeom>
          <a:solidFill>
            <a:srgbClr val="2F4A63"/>
          </a:solidFill>
          <a:ln w="12700">
            <a:solidFill>
              <a:srgbClr val="2F4A63"/>
            </a:solidFill>
            <a:prstDash val="solid"/>
          </a:ln>
        </p:spPr>
      </p:sp>
      <p:sp>
        <p:nvSpPr>
          <p:cNvPr id="34" name="Text 28"/>
          <p:cNvSpPr txBox="1"/>
          <p:nvPr/>
        </p:nvSpPr>
        <p:spPr>
          <a:xfrm>
            <a:off x="9144000" y="4526280"/>
            <a:ext cx="219456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実施・報告</a:t>
            </a:r>
            <a:endParaRPr lang="en-US" sz="1600" dirty="0"/>
          </a:p>
        </p:txBody>
      </p:sp>
      <p:sp>
        <p:nvSpPr>
          <p:cNvPr id="35" name="Text 29"/>
          <p:cNvSpPr txBox="1"/>
          <p:nvPr/>
        </p:nvSpPr>
        <p:spPr>
          <a:xfrm>
            <a:off x="9144000" y="4956048"/>
            <a:ext cx="2194560" cy="640080"/>
          </a:xfrm>
          <a:prstGeom prst="rect">
            <a:avLst/>
          </a:prstGeom>
          <a:noFill/>
          <a:ln/>
        </p:spPr>
        <p:txBody>
          <a:bodyPr wrap="square" lIns="0" tIns="0" rIns="0" bIns="0" rtlCol="0" anchor="t"/>
          <a:lstStyle/>
          <a:p>
            <a:pPr indent="0" marL="0">
              <a:buNone/>
            </a:pPr>
            <a:r>
              <a:rPr lang="en-US" sz="1200" dirty="0">
                <a:solidFill>
                  <a:srgbClr val="FFFFFF"/>
                </a:solidFill>
                <a:latin typeface="Meiryo" pitchFamily="34" charset="0"/>
                <a:ea typeface="Meiryo" pitchFamily="34" charset="-122"/>
                <a:cs typeface="Meiryo" pitchFamily="34" charset="-120"/>
              </a:rPr>
              <a:t>1枚まとめと報告会</a:t>
            </a:r>
            <a:endParaRPr lang="en-US" sz="1200" dirty="0"/>
          </a:p>
        </p:txBody>
      </p:sp>
      <p:sp>
        <p:nvSpPr>
          <p:cNvPr id="36" name="Text 30"/>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BAC8D4"/>
                </a:solidFill>
                <a:latin typeface="Meiryo" pitchFamily="34" charset="0"/>
                <a:ea typeface="Meiryo" pitchFamily="34" charset="-122"/>
                <a:cs typeface="Meiryo"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参考</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出典</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サービス・料金は2026年9月時点、事例・神戸ストークス・補助金は9〜10月に確認した公開情報・報道です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19</a:t>
            </a:r>
            <a:endParaRPr lang="en-US" sz="1000" dirty="0"/>
          </a:p>
        </p:txBody>
      </p:sp>
      <p:sp>
        <p:nvSpPr>
          <p:cNvPr id="6" name="Text 4"/>
          <p:cNvSpPr txBox="1"/>
          <p:nvPr/>
        </p:nvSpPr>
        <p:spPr>
          <a:xfrm>
            <a:off x="548640" y="1737360"/>
            <a:ext cx="5394960" cy="274320"/>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サービス・料金</a:t>
            </a:r>
            <a:endParaRPr lang="en-US" sz="1200" dirty="0"/>
          </a:p>
        </p:txBody>
      </p:sp>
      <p:sp>
        <p:nvSpPr>
          <p:cNvPr id="7" name="Text 5"/>
          <p:cNvSpPr txBox="1"/>
          <p:nvPr/>
        </p:nvSpPr>
        <p:spPr>
          <a:xfrm>
            <a:off x="548640" y="2029968"/>
            <a:ext cx="5440680" cy="1828800"/>
          </a:xfrm>
          <a:prstGeom prst="rect">
            <a:avLst/>
          </a:prstGeom>
          <a:noFill/>
          <a:ln/>
        </p:spPr>
        <p:txBody>
          <a:bodyPr wrap="square" lIns="0" tIns="0" rIns="0" bIns="0" rtlCol="0" anchor="t"/>
          <a:lstStyle/>
          <a:p>
            <a:pPr indent="0" marL="0">
              <a:buNone/>
            </a:pPr>
            <a:r>
              <a:rPr lang="en-US" sz="850" dirty="0">
                <a:solidFill>
                  <a:srgbClr val="5A6675"/>
                </a:solidFill>
                <a:latin typeface="Meiryo" pitchFamily="34" charset="0"/>
                <a:ea typeface="Meiryo" pitchFamily="34" charset="-122"/>
                <a:cs typeface="Meiryo" pitchFamily="34" charset="-120"/>
              </a:rPr>
              <a:t>https://mobaku.jp/</a:t>
            </a:r>
            <a:endParaRPr lang="en-US" sz="850" dirty="0"/>
          </a:p>
          <a:p>
            <a:pPr indent="0" marL="0">
              <a:buNone/>
            </a:pPr>
            <a:r>
              <a:rPr lang="en-US" sz="850" dirty="0">
                <a:solidFill>
                  <a:srgbClr val="5A6675"/>
                </a:solidFill>
                <a:latin typeface="Meiryo" pitchFamily="34" charset="0"/>
                <a:ea typeface="Meiryo" pitchFamily="34" charset="-122"/>
                <a:cs typeface="Meiryo" pitchFamily="34" charset="-120"/>
              </a:rPr>
              <a:t>https://mobaku.jp/price/jpn/</a:t>
            </a:r>
            <a:endParaRPr lang="en-US" sz="850" dirty="0"/>
          </a:p>
          <a:p>
            <a:pPr indent="0" marL="0">
              <a:buNone/>
            </a:pPr>
            <a:r>
              <a:rPr lang="en-US" sz="850" dirty="0">
                <a:solidFill>
                  <a:srgbClr val="5A6675"/>
                </a:solidFill>
                <a:latin typeface="Meiryo" pitchFamily="34" charset="0"/>
                <a:ea typeface="Meiryo" pitchFamily="34" charset="-122"/>
                <a:cs typeface="Meiryo" pitchFamily="34" charset="-120"/>
              </a:rPr>
              <a:t>https://mobaku.jp/faq/</a:t>
            </a:r>
            <a:endParaRPr lang="en-US" sz="850" dirty="0"/>
          </a:p>
          <a:p>
            <a:pPr indent="0" marL="0">
              <a:buNone/>
            </a:pPr>
            <a:r>
              <a:rPr lang="en-US" sz="850" dirty="0">
                <a:solidFill>
                  <a:srgbClr val="5A6675"/>
                </a:solidFill>
                <a:latin typeface="Meiryo" pitchFamily="34" charset="0"/>
                <a:ea typeface="Meiryo" pitchFamily="34" charset="-122"/>
                <a:cs typeface="Meiryo" pitchFamily="34" charset="-120"/>
              </a:rPr>
              <a:t>https://mobaku.jp/analysis/2017/1101_50.html</a:t>
            </a:r>
            <a:endParaRPr lang="en-US" sz="850" dirty="0"/>
          </a:p>
          <a:p>
            <a:pPr indent="0" marL="0">
              <a:buNone/>
            </a:pPr>
            <a:r>
              <a:rPr lang="en-US" sz="850" dirty="0">
                <a:solidFill>
                  <a:srgbClr val="5A6675"/>
                </a:solidFill>
                <a:latin typeface="Meiryo" pitchFamily="34" charset="0"/>
                <a:ea typeface="Meiryo" pitchFamily="34" charset="-122"/>
                <a:cs typeface="Meiryo" pitchFamily="34" charset="-120"/>
              </a:rPr>
              <a:t>https://bizzine.jp/article/detail/10718</a:t>
            </a:r>
            <a:endParaRPr lang="en-US" sz="850" dirty="0"/>
          </a:p>
          <a:p>
            <a:pPr indent="0" marL="0">
              <a:buNone/>
            </a:pPr>
            <a:r>
              <a:rPr lang="en-US" sz="850" dirty="0">
                <a:solidFill>
                  <a:srgbClr val="5A6675"/>
                </a:solidFill>
                <a:latin typeface="Meiryo" pitchFamily="34" charset="0"/>
                <a:ea typeface="Meiryo" pitchFamily="34" charset="-122"/>
                <a:cs typeface="Meiryo" pitchFamily="34" charset="-120"/>
              </a:rPr>
              <a:t>https://ssw.web.docomo.ne.jp/marketing/products/premium-panel/</a:t>
            </a:r>
            <a:endParaRPr lang="en-US" sz="850" dirty="0"/>
          </a:p>
          <a:p>
            <a:pPr indent="0" marL="0">
              <a:buNone/>
            </a:pPr>
            <a:r>
              <a:rPr lang="en-US" sz="850" dirty="0">
                <a:solidFill>
                  <a:srgbClr val="5A6675"/>
                </a:solidFill>
                <a:latin typeface="Meiryo" pitchFamily="34" charset="0"/>
                <a:ea typeface="Meiryo" pitchFamily="34" charset="-122"/>
                <a:cs typeface="Meiryo" pitchFamily="34" charset="-120"/>
              </a:rPr>
              <a:t>https://www.ntt.com/business/services/premierepanel/research.html</a:t>
            </a:r>
            <a:endParaRPr lang="en-US" sz="850" dirty="0"/>
          </a:p>
          <a:p>
            <a:pPr indent="0" marL="0">
              <a:buNone/>
            </a:pPr>
            <a:r>
              <a:rPr lang="en-US" sz="850" dirty="0">
                <a:solidFill>
                  <a:srgbClr val="5A6675"/>
                </a:solidFill>
                <a:latin typeface="Meiryo" pitchFamily="34" charset="0"/>
                <a:ea typeface="Meiryo" pitchFamily="34" charset="-122"/>
                <a:cs typeface="Meiryo" pitchFamily="34" charset="-120"/>
              </a:rPr>
              <a:t>https://ssw.web.docomo.ne.jp/marketing/products/ad-network/</a:t>
            </a:r>
            <a:endParaRPr lang="en-US" sz="850" dirty="0"/>
          </a:p>
          <a:p>
            <a:pPr indent="0" marL="0">
              <a:buNone/>
            </a:pPr>
            <a:r>
              <a:rPr lang="en-US" sz="850" dirty="0">
                <a:solidFill>
                  <a:srgbClr val="5A6675"/>
                </a:solidFill>
                <a:latin typeface="Meiryo" pitchFamily="34" charset="0"/>
                <a:ea typeface="Meiryo" pitchFamily="34" charset="-122"/>
                <a:cs typeface="Meiryo" pitchFamily="34" charset="-120"/>
              </a:rPr>
              <a:t>https://www.cartazero.co.jp/ja/news/20260701</a:t>
            </a:r>
            <a:endParaRPr lang="en-US" sz="850" dirty="0"/>
          </a:p>
          <a:p>
            <a:pPr indent="0" marL="0">
              <a:buNone/>
            </a:pPr>
            <a:r>
              <a:rPr lang="en-US" sz="850" dirty="0">
                <a:solidFill>
                  <a:srgbClr val="5A6675"/>
                </a:solidFill>
                <a:latin typeface="Meiryo" pitchFamily="34" charset="0"/>
                <a:ea typeface="Meiryo" pitchFamily="34" charset="-122"/>
                <a:cs typeface="Meiryo" pitchFamily="34" charset="-120"/>
              </a:rPr>
              <a:t>https://www.soumu.go.jp/main_content/001026062.pdf</a:t>
            </a:r>
            <a:endParaRPr lang="en-US" sz="850" dirty="0"/>
          </a:p>
        </p:txBody>
      </p:sp>
      <p:sp>
        <p:nvSpPr>
          <p:cNvPr id="8" name="Text 6"/>
          <p:cNvSpPr txBox="1"/>
          <p:nvPr/>
        </p:nvSpPr>
        <p:spPr>
          <a:xfrm>
            <a:off x="548640" y="4023360"/>
            <a:ext cx="5394960" cy="274320"/>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神戸ストークス・GLION ARENA KOBE</a:t>
            </a:r>
            <a:endParaRPr lang="en-US" sz="1200" dirty="0"/>
          </a:p>
        </p:txBody>
      </p:sp>
      <p:sp>
        <p:nvSpPr>
          <p:cNvPr id="9" name="Text 7"/>
          <p:cNvSpPr txBox="1"/>
          <p:nvPr/>
        </p:nvSpPr>
        <p:spPr>
          <a:xfrm>
            <a:off x="548640" y="4315968"/>
            <a:ext cx="5440680" cy="1463040"/>
          </a:xfrm>
          <a:prstGeom prst="rect">
            <a:avLst/>
          </a:prstGeom>
          <a:noFill/>
          <a:ln/>
        </p:spPr>
        <p:txBody>
          <a:bodyPr wrap="square" lIns="0" tIns="0" rIns="0" bIns="0" rtlCol="0" anchor="t"/>
          <a:lstStyle/>
          <a:p>
            <a:pPr indent="0" marL="0">
              <a:buNone/>
            </a:pPr>
            <a:r>
              <a:rPr lang="en-US" sz="850" dirty="0">
                <a:solidFill>
                  <a:srgbClr val="5A6675"/>
                </a:solidFill>
                <a:latin typeface="Meiryo" pitchFamily="34" charset="0"/>
                <a:ea typeface="Meiryo" pitchFamily="34" charset="-122"/>
                <a:cs typeface="Meiryo" pitchFamily="34" charset="-120"/>
              </a:rPr>
              <a:t>https://www.doshisha.ac.jp/news/detail/001-s7ECU4.html</a:t>
            </a:r>
            <a:endParaRPr lang="en-US" sz="850" dirty="0"/>
          </a:p>
          <a:p>
            <a:pPr indent="0" marL="0">
              <a:buNone/>
            </a:pPr>
            <a:r>
              <a:rPr lang="en-US" sz="850" dirty="0">
                <a:solidFill>
                  <a:srgbClr val="5A6675"/>
                </a:solidFill>
                <a:latin typeface="Meiryo" pitchFamily="34" charset="0"/>
                <a:ea typeface="Meiryo" pitchFamily="34" charset="-122"/>
                <a:cs typeface="Meiryo" pitchFamily="34" charset="-120"/>
              </a:rPr>
              <a:t>https://kobe-journal.com/archives/4865826252.html</a:t>
            </a:r>
            <a:endParaRPr lang="en-US" sz="850" dirty="0"/>
          </a:p>
          <a:p>
            <a:pPr indent="0" marL="0">
              <a:buNone/>
            </a:pPr>
            <a:r>
              <a:rPr lang="en-US" sz="850" dirty="0">
                <a:solidFill>
                  <a:srgbClr val="5A6675"/>
                </a:solidFill>
                <a:latin typeface="Meiryo" pitchFamily="34" charset="0"/>
                <a:ea typeface="Meiryo" pitchFamily="34" charset="-122"/>
                <a:cs typeface="Meiryo" pitchFamily="34" charset="-120"/>
              </a:rPr>
              <a:t>https://basketballking.jp/news/japan/20260522/614188.html</a:t>
            </a:r>
            <a:endParaRPr lang="en-US" sz="850" dirty="0"/>
          </a:p>
          <a:p>
            <a:pPr indent="0" marL="0">
              <a:buNone/>
            </a:pPr>
            <a:r>
              <a:rPr lang="en-US" sz="850" dirty="0">
                <a:solidFill>
                  <a:srgbClr val="5A6675"/>
                </a:solidFill>
                <a:latin typeface="Meiryo" pitchFamily="34" charset="0"/>
                <a:ea typeface="Meiryo" pitchFamily="34" charset="-122"/>
                <a:cs typeface="Meiryo" pitchFamily="34" charset="-120"/>
              </a:rPr>
              <a:t>https://x.com/STORKS_OFFICIAL/status/2040596488921964989</a:t>
            </a:r>
            <a:endParaRPr lang="en-US" sz="850" dirty="0"/>
          </a:p>
          <a:p>
            <a:pPr indent="0" marL="0">
              <a:buNone/>
            </a:pPr>
            <a:r>
              <a:rPr lang="en-US" sz="850" dirty="0">
                <a:solidFill>
                  <a:srgbClr val="5A6675"/>
                </a:solidFill>
                <a:latin typeface="Meiryo" pitchFamily="34" charset="0"/>
                <a:ea typeface="Meiryo" pitchFamily="34" charset="-122"/>
                <a:cs typeface="Meiryo" pitchFamily="34" charset="-120"/>
              </a:rPr>
              <a:t>https://www.totteikobe.jp/pdf/for_organizer/GLIONARENAKOBE_Facility.pdf</a:t>
            </a:r>
            <a:endParaRPr lang="en-US" sz="850" dirty="0"/>
          </a:p>
          <a:p>
            <a:pPr indent="0" marL="0">
              <a:buNone/>
            </a:pPr>
            <a:r>
              <a:rPr lang="en-US" sz="850" dirty="0">
                <a:solidFill>
                  <a:srgbClr val="5A6675"/>
                </a:solidFill>
                <a:latin typeface="Meiryo" pitchFamily="34" charset="0"/>
                <a:ea typeface="Meiryo" pitchFamily="34" charset="-122"/>
                <a:cs typeface="Meiryo" pitchFamily="34" charset="-120"/>
              </a:rPr>
              <a:t>https://x.com/STORKS_OFFICIAL/status/2052929768895787136</a:t>
            </a:r>
            <a:endParaRPr lang="en-US" sz="850" dirty="0"/>
          </a:p>
          <a:p>
            <a:pPr indent="0" marL="0">
              <a:buNone/>
            </a:pPr>
            <a:r>
              <a:rPr lang="en-US" sz="850" dirty="0">
                <a:solidFill>
                  <a:srgbClr val="5A6675"/>
                </a:solidFill>
                <a:latin typeface="Meiryo" pitchFamily="34" charset="0"/>
                <a:ea typeface="Meiryo" pitchFamily="34" charset="-122"/>
                <a:cs typeface="Meiryo" pitchFamily="34" charset="-120"/>
              </a:rPr>
              <a:t>https://news.kobekeizai.jp/blog-entry-18295.html</a:t>
            </a:r>
            <a:endParaRPr lang="en-US" sz="850" dirty="0"/>
          </a:p>
          <a:p>
            <a:pPr indent="0" marL="0">
              <a:buNone/>
            </a:pPr>
            <a:r>
              <a:rPr lang="en-US" sz="850" dirty="0">
                <a:solidFill>
                  <a:srgbClr val="5A6675"/>
                </a:solidFill>
                <a:latin typeface="Meiryo" pitchFamily="34" charset="0"/>
                <a:ea typeface="Meiryo" pitchFamily="34" charset="-122"/>
                <a:cs typeface="Meiryo" pitchFamily="34" charset="-120"/>
              </a:rPr>
              <a:t>https://dempa-digital.com/article/702806</a:t>
            </a:r>
            <a:endParaRPr lang="en-US" sz="850" dirty="0"/>
          </a:p>
        </p:txBody>
      </p:sp>
      <p:sp>
        <p:nvSpPr>
          <p:cNvPr id="10" name="Text 8"/>
          <p:cNvSpPr txBox="1"/>
          <p:nvPr/>
        </p:nvSpPr>
        <p:spPr>
          <a:xfrm>
            <a:off x="6172200" y="1737360"/>
            <a:ext cx="5394960" cy="274320"/>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活用事例</a:t>
            </a:r>
            <a:endParaRPr lang="en-US" sz="1200" dirty="0"/>
          </a:p>
        </p:txBody>
      </p:sp>
      <p:sp>
        <p:nvSpPr>
          <p:cNvPr id="11" name="Text 9"/>
          <p:cNvSpPr txBox="1"/>
          <p:nvPr/>
        </p:nvSpPr>
        <p:spPr>
          <a:xfrm>
            <a:off x="6172200" y="2029968"/>
            <a:ext cx="5440680" cy="1097280"/>
          </a:xfrm>
          <a:prstGeom prst="rect">
            <a:avLst/>
          </a:prstGeom>
          <a:noFill/>
          <a:ln/>
        </p:spPr>
        <p:txBody>
          <a:bodyPr wrap="square" lIns="0" tIns="0" rIns="0" bIns="0" rtlCol="0" anchor="t"/>
          <a:lstStyle/>
          <a:p>
            <a:pPr indent="0" marL="0">
              <a:buNone/>
            </a:pPr>
            <a:r>
              <a:rPr lang="en-US" sz="850" dirty="0">
                <a:solidFill>
                  <a:srgbClr val="5A6675"/>
                </a:solidFill>
                <a:latin typeface="Meiryo" pitchFamily="34" charset="0"/>
                <a:ea typeface="Meiryo" pitchFamily="34" charset="-122"/>
                <a:cs typeface="Meiryo" pitchFamily="34" charset="-120"/>
              </a:rPr>
              <a:t>https://www.ntt.com/business/case-studies/kotohira_town.html</a:t>
            </a:r>
            <a:endParaRPr lang="en-US" sz="850" dirty="0"/>
          </a:p>
          <a:p>
            <a:pPr indent="0" marL="0">
              <a:buNone/>
            </a:pPr>
            <a:r>
              <a:rPr lang="en-US" sz="850" dirty="0">
                <a:solidFill>
                  <a:srgbClr val="5A6675"/>
                </a:solidFill>
                <a:latin typeface="Meiryo" pitchFamily="34" charset="0"/>
                <a:ea typeface="Meiryo" pitchFamily="34" charset="-122"/>
                <a:cs typeface="Meiryo" pitchFamily="34" charset="-120"/>
              </a:rPr>
              <a:t>https://www.ntt.com/business/case-studies/mima.html</a:t>
            </a:r>
            <a:endParaRPr lang="en-US" sz="850" dirty="0"/>
          </a:p>
          <a:p>
            <a:pPr indent="0" marL="0">
              <a:buNone/>
            </a:pPr>
            <a:r>
              <a:rPr lang="en-US" sz="850" dirty="0">
                <a:solidFill>
                  <a:srgbClr val="5A6675"/>
                </a:solidFill>
                <a:latin typeface="Meiryo" pitchFamily="34" charset="0"/>
                <a:ea typeface="Meiryo" pitchFamily="34" charset="-122"/>
                <a:cs typeface="Meiryo" pitchFamily="34" charset="-120"/>
              </a:rPr>
              <a:t>https://www.ntt.com/business/case-studies/tamana.html</a:t>
            </a:r>
            <a:endParaRPr lang="en-US" sz="850" dirty="0"/>
          </a:p>
          <a:p>
            <a:pPr indent="0" marL="0">
              <a:buNone/>
            </a:pPr>
            <a:r>
              <a:rPr lang="en-US" sz="850" dirty="0">
                <a:solidFill>
                  <a:srgbClr val="5A6675"/>
                </a:solidFill>
                <a:latin typeface="Meiryo" pitchFamily="34" charset="0"/>
                <a:ea typeface="Meiryo" pitchFamily="34" charset="-122"/>
                <a:cs typeface="Meiryo" pitchFamily="34" charset="-120"/>
              </a:rPr>
              <a:t>https://www.ntt.com/business/services/spatial_statistics/case_miyaginresearch.html</a:t>
            </a:r>
            <a:endParaRPr lang="en-US" sz="850" dirty="0"/>
          </a:p>
          <a:p>
            <a:pPr indent="0" marL="0">
              <a:buNone/>
            </a:pPr>
            <a:r>
              <a:rPr lang="en-US" sz="850" dirty="0">
                <a:solidFill>
                  <a:srgbClr val="5A6675"/>
                </a:solidFill>
                <a:latin typeface="Meiryo" pitchFamily="34" charset="0"/>
                <a:ea typeface="Meiryo" pitchFamily="34" charset="-122"/>
                <a:cs typeface="Meiryo" pitchFamily="34" charset="-120"/>
              </a:rPr>
              <a:t>https://www.intage.co.jp/news/6237/</a:t>
            </a:r>
            <a:endParaRPr lang="en-US" sz="850" dirty="0"/>
          </a:p>
          <a:p>
            <a:pPr indent="0" marL="0">
              <a:buNone/>
            </a:pPr>
            <a:r>
              <a:rPr lang="en-US" sz="850" dirty="0">
                <a:solidFill>
                  <a:srgbClr val="5A6675"/>
                </a:solidFill>
                <a:latin typeface="Meiryo" pitchFamily="34" charset="0"/>
                <a:ea typeface="Meiryo" pitchFamily="34" charset="-122"/>
                <a:cs typeface="Meiryo" pitchFamily="34" charset="-120"/>
              </a:rPr>
              <a:t>https://www.chusho.meti.go.jp/shogyo/shogyo/jirei/07/pdf/03.pdf</a:t>
            </a:r>
            <a:endParaRPr lang="en-US" sz="850" dirty="0"/>
          </a:p>
        </p:txBody>
      </p:sp>
      <p:sp>
        <p:nvSpPr>
          <p:cNvPr id="12" name="Text 10"/>
          <p:cNvSpPr txBox="1"/>
          <p:nvPr/>
        </p:nvSpPr>
        <p:spPr>
          <a:xfrm>
            <a:off x="6172200" y="3291840"/>
            <a:ext cx="5394960" cy="274320"/>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補助金</a:t>
            </a:r>
            <a:endParaRPr lang="en-US" sz="1200" dirty="0"/>
          </a:p>
        </p:txBody>
      </p:sp>
      <p:sp>
        <p:nvSpPr>
          <p:cNvPr id="13" name="Text 11"/>
          <p:cNvSpPr txBox="1"/>
          <p:nvPr/>
        </p:nvSpPr>
        <p:spPr>
          <a:xfrm>
            <a:off x="6172200" y="3584448"/>
            <a:ext cx="5440680" cy="731520"/>
          </a:xfrm>
          <a:prstGeom prst="rect">
            <a:avLst/>
          </a:prstGeom>
          <a:noFill/>
          <a:ln/>
        </p:spPr>
        <p:txBody>
          <a:bodyPr wrap="square" lIns="0" tIns="0" rIns="0" bIns="0" rtlCol="0" anchor="t"/>
          <a:lstStyle/>
          <a:p>
            <a:pPr indent="0" marL="0">
              <a:buNone/>
            </a:pPr>
            <a:r>
              <a:rPr lang="en-US" sz="850" dirty="0">
                <a:solidFill>
                  <a:srgbClr val="5A6675"/>
                </a:solidFill>
                <a:latin typeface="Meiryo" pitchFamily="34" charset="0"/>
                <a:ea typeface="Meiryo" pitchFamily="34" charset="-122"/>
                <a:cs typeface="Meiryo" pitchFamily="34" charset="-120"/>
              </a:rPr>
              <a:t>https://www.city.kobe.lg.jp/a92777/business/sangyoshinko/shokogyo/shop/tiikishogyo.html</a:t>
            </a:r>
            <a:endParaRPr lang="en-US" sz="850" dirty="0"/>
          </a:p>
          <a:p>
            <a:pPr indent="0" marL="0">
              <a:buNone/>
            </a:pPr>
            <a:r>
              <a:rPr lang="en-US" sz="850" dirty="0">
                <a:solidFill>
                  <a:srgbClr val="5A6675"/>
                </a:solidFill>
                <a:latin typeface="Meiryo" pitchFamily="34" charset="0"/>
                <a:ea typeface="Meiryo" pitchFamily="34" charset="-122"/>
                <a:cs typeface="Meiryo" pitchFamily="34" charset="-120"/>
              </a:rPr>
              <a:t>https://web.pref.hyogo.lg.jp/sr07/fandukuriouenn.html</a:t>
            </a:r>
            <a:endParaRPr lang="en-US" sz="850" dirty="0"/>
          </a:p>
          <a:p>
            <a:pPr indent="0" marL="0">
              <a:buNone/>
            </a:pPr>
            <a:r>
              <a:rPr lang="en-US" sz="850" dirty="0">
                <a:solidFill>
                  <a:srgbClr val="5A6675"/>
                </a:solidFill>
                <a:latin typeface="Meiryo" pitchFamily="34" charset="0"/>
                <a:ea typeface="Meiryo" pitchFamily="34" charset="-122"/>
                <a:cs typeface="Meiryo" pitchFamily="34" charset="-120"/>
              </a:rPr>
              <a:t>https://web.pref.hyogo.lg.jp/sr07/menzeiten-gaikokujinyuukyaku.html</a:t>
            </a:r>
            <a:endParaRPr lang="en-US" sz="850" dirty="0"/>
          </a:p>
          <a:p>
            <a:pPr indent="0" marL="0">
              <a:buNone/>
            </a:pPr>
            <a:r>
              <a:rPr lang="en-US" sz="850" dirty="0">
                <a:solidFill>
                  <a:srgbClr val="5A6675"/>
                </a:solidFill>
                <a:latin typeface="Meiryo" pitchFamily="34" charset="0"/>
                <a:ea typeface="Meiryo" pitchFamily="34" charset="-122"/>
                <a:cs typeface="Meiryo" pitchFamily="34" charset="-120"/>
              </a:rPr>
              <a:t>https://www.chusho.meti.go.jp/koukai/yosan/r8/digital_ai_summary.pdf</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社内用</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商店街・小規模自治体で選ばれる提案のポイント</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大きな組織向けとの違いを押さえる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20</a:t>
            </a:r>
            <a:endParaRPr lang="en-US" sz="1000" dirty="0"/>
          </a:p>
        </p:txBody>
      </p:sp>
      <p:sp>
        <p:nvSpPr>
          <p:cNvPr id="6" name="Text 4"/>
          <p:cNvSpPr txBox="1"/>
          <p:nvPr/>
        </p:nvSpPr>
        <p:spPr>
          <a:xfrm>
            <a:off x="8686800" y="329184"/>
            <a:ext cx="2926080" cy="310896"/>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社内用｜顧客に出すときは非表示</a:t>
            </a:r>
            <a:endParaRPr lang="en-US" sz="1050" dirty="0"/>
          </a:p>
        </p:txBody>
      </p:sp>
      <p:sp>
        <p:nvSpPr>
          <p:cNvPr id="7" name="Shape 5"/>
          <p:cNvSpPr/>
          <p:nvPr/>
        </p:nvSpPr>
        <p:spPr>
          <a:xfrm>
            <a:off x="2240280" y="1737360"/>
            <a:ext cx="2834640" cy="411480"/>
          </a:xfrm>
          <a:prstGeom prst="rect">
            <a:avLst/>
          </a:prstGeom>
          <a:solidFill>
            <a:srgbClr val="5A6675"/>
          </a:solidFill>
          <a:ln w="12700">
            <a:solidFill>
              <a:srgbClr val="5A6675"/>
            </a:solidFill>
            <a:prstDash val="solid"/>
          </a:ln>
        </p:spPr>
      </p:sp>
      <p:sp>
        <p:nvSpPr>
          <p:cNvPr id="8" name="Text 6"/>
          <p:cNvSpPr txBox="1"/>
          <p:nvPr/>
        </p:nvSpPr>
        <p:spPr>
          <a:xfrm>
            <a:off x="2240280" y="1737360"/>
            <a:ext cx="28346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大きな組織</a:t>
            </a:r>
            <a:endParaRPr lang="en-US" sz="1300" dirty="0"/>
          </a:p>
        </p:txBody>
      </p:sp>
      <p:sp>
        <p:nvSpPr>
          <p:cNvPr id="9" name="Shape 7"/>
          <p:cNvSpPr/>
          <p:nvPr/>
        </p:nvSpPr>
        <p:spPr>
          <a:xfrm>
            <a:off x="5166360" y="1737360"/>
            <a:ext cx="2926080" cy="411480"/>
          </a:xfrm>
          <a:prstGeom prst="rect">
            <a:avLst/>
          </a:prstGeom>
          <a:solidFill>
            <a:srgbClr val="C9002B"/>
          </a:solidFill>
          <a:ln w="12700">
            <a:solidFill>
              <a:srgbClr val="C9002B"/>
            </a:solidFill>
            <a:prstDash val="solid"/>
          </a:ln>
        </p:spPr>
      </p:sp>
      <p:sp>
        <p:nvSpPr>
          <p:cNvPr id="10" name="Text 8"/>
          <p:cNvSpPr txBox="1"/>
          <p:nvPr/>
        </p:nvSpPr>
        <p:spPr>
          <a:xfrm>
            <a:off x="5166360" y="1737360"/>
            <a:ext cx="29260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商店街・小規模自治体</a:t>
            </a:r>
            <a:endParaRPr lang="en-US" sz="1300" dirty="0"/>
          </a:p>
        </p:txBody>
      </p:sp>
      <p:sp>
        <p:nvSpPr>
          <p:cNvPr id="11" name="Shape 9"/>
          <p:cNvSpPr/>
          <p:nvPr/>
        </p:nvSpPr>
        <p:spPr>
          <a:xfrm>
            <a:off x="8183880" y="1737360"/>
            <a:ext cx="3383280" cy="411480"/>
          </a:xfrm>
          <a:prstGeom prst="rect">
            <a:avLst/>
          </a:prstGeom>
          <a:solidFill>
            <a:srgbClr val="13283C"/>
          </a:solidFill>
          <a:ln w="12700">
            <a:solidFill>
              <a:srgbClr val="13283C"/>
            </a:solidFill>
            <a:prstDash val="solid"/>
          </a:ln>
        </p:spPr>
      </p:sp>
      <p:sp>
        <p:nvSpPr>
          <p:cNvPr id="12" name="Text 10"/>
          <p:cNvSpPr txBox="1"/>
          <p:nvPr/>
        </p:nvSpPr>
        <p:spPr>
          <a:xfrm>
            <a:off x="8183880" y="1737360"/>
            <a:ext cx="33832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提案で気をつけること</a:t>
            </a:r>
            <a:endParaRPr lang="en-US" sz="1300" dirty="0"/>
          </a:p>
        </p:txBody>
      </p:sp>
      <p:sp>
        <p:nvSpPr>
          <p:cNvPr id="13" name="Shape 11"/>
          <p:cNvSpPr/>
          <p:nvPr/>
        </p:nvSpPr>
        <p:spPr>
          <a:xfrm>
            <a:off x="548640" y="2212848"/>
            <a:ext cx="1600200" cy="658368"/>
          </a:xfrm>
          <a:prstGeom prst="rect">
            <a:avLst/>
          </a:prstGeom>
          <a:solidFill>
            <a:srgbClr val="F2F5F8"/>
          </a:solidFill>
          <a:ln w="6350">
            <a:solidFill>
              <a:srgbClr val="D5DDE5"/>
            </a:solidFill>
            <a:prstDash val="solid"/>
          </a:ln>
        </p:spPr>
      </p:sp>
      <p:sp>
        <p:nvSpPr>
          <p:cNvPr id="14" name="Text 12"/>
          <p:cNvSpPr txBox="1"/>
          <p:nvPr/>
        </p:nvSpPr>
        <p:spPr>
          <a:xfrm>
            <a:off x="658368" y="2212848"/>
            <a:ext cx="1399032" cy="658368"/>
          </a:xfrm>
          <a:prstGeom prst="rect">
            <a:avLst/>
          </a:prstGeom>
          <a:noFill/>
          <a:ln/>
        </p:spPr>
        <p:txBody>
          <a:bodyPr wrap="square" lIns="0" tIns="0" rIns="0" bIns="0" rtlCol="0" anchor="ctr"/>
          <a:lstStyle/>
          <a:p>
            <a:pPr indent="0" marL="0">
              <a:buNone/>
            </a:pPr>
            <a:r>
              <a:rPr lang="en-US" sz="1300" b="1" dirty="0">
                <a:solidFill>
                  <a:srgbClr val="13283C"/>
                </a:solidFill>
                <a:latin typeface="Meiryo" pitchFamily="34" charset="0"/>
                <a:ea typeface="Meiryo" pitchFamily="34" charset="-122"/>
                <a:cs typeface="Meiryo" pitchFamily="34" charset="-120"/>
              </a:rPr>
              <a:t>決める人</a:t>
            </a:r>
            <a:endParaRPr lang="en-US" sz="1300" dirty="0"/>
          </a:p>
        </p:txBody>
      </p:sp>
      <p:sp>
        <p:nvSpPr>
          <p:cNvPr id="15" name="Shape 13"/>
          <p:cNvSpPr/>
          <p:nvPr/>
        </p:nvSpPr>
        <p:spPr>
          <a:xfrm>
            <a:off x="2240280" y="2212848"/>
            <a:ext cx="2834640" cy="658368"/>
          </a:xfrm>
          <a:prstGeom prst="rect">
            <a:avLst/>
          </a:prstGeom>
          <a:solidFill>
            <a:srgbClr val="FFFFFF"/>
          </a:solidFill>
          <a:ln w="6350">
            <a:solidFill>
              <a:srgbClr val="D5DDE5"/>
            </a:solidFill>
            <a:prstDash val="solid"/>
          </a:ln>
        </p:spPr>
      </p:sp>
      <p:sp>
        <p:nvSpPr>
          <p:cNvPr id="16" name="Text 14"/>
          <p:cNvSpPr txBox="1"/>
          <p:nvPr/>
        </p:nvSpPr>
        <p:spPr>
          <a:xfrm>
            <a:off x="2350008" y="2212848"/>
            <a:ext cx="263347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部署・審査会・議会など複数段階</a:t>
            </a:r>
            <a:endParaRPr lang="en-US" sz="1200" dirty="0"/>
          </a:p>
        </p:txBody>
      </p:sp>
      <p:sp>
        <p:nvSpPr>
          <p:cNvPr id="17" name="Shape 15"/>
          <p:cNvSpPr/>
          <p:nvPr/>
        </p:nvSpPr>
        <p:spPr>
          <a:xfrm>
            <a:off x="5166360" y="2212848"/>
            <a:ext cx="2926080" cy="658368"/>
          </a:xfrm>
          <a:prstGeom prst="rect">
            <a:avLst/>
          </a:prstGeom>
          <a:solidFill>
            <a:srgbClr val="FBEAEE"/>
          </a:solidFill>
          <a:ln w="6350">
            <a:solidFill>
              <a:srgbClr val="D5DDE5"/>
            </a:solidFill>
            <a:prstDash val="solid"/>
          </a:ln>
        </p:spPr>
      </p:sp>
      <p:sp>
        <p:nvSpPr>
          <p:cNvPr id="18" name="Text 16"/>
          <p:cNvSpPr txBox="1"/>
          <p:nvPr/>
        </p:nvSpPr>
        <p:spPr>
          <a:xfrm>
            <a:off x="5276088" y="2212848"/>
            <a:ext cx="272491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組合の理事長・総会、町長・課長など</a:t>
            </a:r>
            <a:endParaRPr lang="en-US" sz="1200" dirty="0"/>
          </a:p>
        </p:txBody>
      </p:sp>
      <p:sp>
        <p:nvSpPr>
          <p:cNvPr id="19" name="Shape 17"/>
          <p:cNvSpPr/>
          <p:nvPr/>
        </p:nvSpPr>
        <p:spPr>
          <a:xfrm>
            <a:off x="8183880" y="2212848"/>
            <a:ext cx="3383280" cy="658368"/>
          </a:xfrm>
          <a:prstGeom prst="rect">
            <a:avLst/>
          </a:prstGeom>
          <a:solidFill>
            <a:srgbClr val="FFFFFF"/>
          </a:solidFill>
          <a:ln w="6350">
            <a:solidFill>
              <a:srgbClr val="D5DDE5"/>
            </a:solidFill>
            <a:prstDash val="solid"/>
          </a:ln>
        </p:spPr>
      </p:sp>
      <p:sp>
        <p:nvSpPr>
          <p:cNvPr id="20" name="Text 18"/>
          <p:cNvSpPr txBox="1"/>
          <p:nvPr/>
        </p:nvSpPr>
        <p:spPr>
          <a:xfrm>
            <a:off x="8293608" y="2212848"/>
            <a:ext cx="3182112" cy="658368"/>
          </a:xfrm>
          <a:prstGeom prst="rect">
            <a:avLst/>
          </a:prstGeom>
          <a:noFill/>
          <a:ln/>
        </p:spPr>
        <p:txBody>
          <a:bodyPr wrap="square" lIns="0" tIns="0" rIns="0" bIns="0" rtlCol="0" anchor="ctr"/>
          <a:lstStyle/>
          <a:p>
            <a:pPr indent="0" marL="0">
              <a:buNone/>
            </a:pPr>
            <a:r>
              <a:rPr lang="en-US" sz="1200" b="1" dirty="0">
                <a:solidFill>
                  <a:srgbClr val="1B2B3D"/>
                </a:solidFill>
                <a:latin typeface="Meiryo" pitchFamily="34" charset="0"/>
                <a:ea typeface="Meiryo" pitchFamily="34" charset="-122"/>
                <a:cs typeface="Meiryo" pitchFamily="34" charset="-120"/>
              </a:rPr>
              <a:t>決める人と会議の日程を先に聞く</a:t>
            </a:r>
            <a:endParaRPr lang="en-US" sz="1200" dirty="0"/>
          </a:p>
        </p:txBody>
      </p:sp>
      <p:sp>
        <p:nvSpPr>
          <p:cNvPr id="21" name="Shape 19"/>
          <p:cNvSpPr/>
          <p:nvPr/>
        </p:nvSpPr>
        <p:spPr>
          <a:xfrm>
            <a:off x="548640" y="2926080"/>
            <a:ext cx="1600200" cy="658368"/>
          </a:xfrm>
          <a:prstGeom prst="rect">
            <a:avLst/>
          </a:prstGeom>
          <a:solidFill>
            <a:srgbClr val="F2F5F8"/>
          </a:solidFill>
          <a:ln w="6350">
            <a:solidFill>
              <a:srgbClr val="D5DDE5"/>
            </a:solidFill>
            <a:prstDash val="solid"/>
          </a:ln>
        </p:spPr>
      </p:sp>
      <p:sp>
        <p:nvSpPr>
          <p:cNvPr id="22" name="Text 20"/>
          <p:cNvSpPr txBox="1"/>
          <p:nvPr/>
        </p:nvSpPr>
        <p:spPr>
          <a:xfrm>
            <a:off x="658368" y="2926080"/>
            <a:ext cx="1399032" cy="658368"/>
          </a:xfrm>
          <a:prstGeom prst="rect">
            <a:avLst/>
          </a:prstGeom>
          <a:noFill/>
          <a:ln/>
        </p:spPr>
        <p:txBody>
          <a:bodyPr wrap="square" lIns="0" tIns="0" rIns="0" bIns="0" rtlCol="0" anchor="ctr"/>
          <a:lstStyle/>
          <a:p>
            <a:pPr indent="0" marL="0">
              <a:buNone/>
            </a:pPr>
            <a:r>
              <a:rPr lang="en-US" sz="1300" b="1" dirty="0">
                <a:solidFill>
                  <a:srgbClr val="13283C"/>
                </a:solidFill>
                <a:latin typeface="Meiryo" pitchFamily="34" charset="0"/>
                <a:ea typeface="Meiryo" pitchFamily="34" charset="-122"/>
                <a:cs typeface="Meiryo" pitchFamily="34" charset="-120"/>
              </a:rPr>
              <a:t>予算</a:t>
            </a:r>
            <a:endParaRPr lang="en-US" sz="1300" dirty="0"/>
          </a:p>
        </p:txBody>
      </p:sp>
      <p:sp>
        <p:nvSpPr>
          <p:cNvPr id="23" name="Shape 21"/>
          <p:cNvSpPr/>
          <p:nvPr/>
        </p:nvSpPr>
        <p:spPr>
          <a:xfrm>
            <a:off x="2240280" y="2926080"/>
            <a:ext cx="2834640" cy="658368"/>
          </a:xfrm>
          <a:prstGeom prst="rect">
            <a:avLst/>
          </a:prstGeom>
          <a:solidFill>
            <a:srgbClr val="FFFFFF"/>
          </a:solidFill>
          <a:ln w="6350">
            <a:solidFill>
              <a:srgbClr val="D5DDE5"/>
            </a:solidFill>
            <a:prstDash val="solid"/>
          </a:ln>
        </p:spPr>
      </p:sp>
      <p:sp>
        <p:nvSpPr>
          <p:cNvPr id="24" name="Text 22"/>
          <p:cNvSpPr txBox="1"/>
          <p:nvPr/>
        </p:nvSpPr>
        <p:spPr>
          <a:xfrm>
            <a:off x="2350008" y="2926080"/>
            <a:ext cx="263347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数百万円〜の年間予算</a:t>
            </a:r>
            <a:endParaRPr lang="en-US" sz="1200" dirty="0"/>
          </a:p>
        </p:txBody>
      </p:sp>
      <p:sp>
        <p:nvSpPr>
          <p:cNvPr id="25" name="Shape 23"/>
          <p:cNvSpPr/>
          <p:nvPr/>
        </p:nvSpPr>
        <p:spPr>
          <a:xfrm>
            <a:off x="5166360" y="2926080"/>
            <a:ext cx="2926080" cy="658368"/>
          </a:xfrm>
          <a:prstGeom prst="rect">
            <a:avLst/>
          </a:prstGeom>
          <a:solidFill>
            <a:srgbClr val="FBEAEE"/>
          </a:solidFill>
          <a:ln w="6350">
            <a:solidFill>
              <a:srgbClr val="D5DDE5"/>
            </a:solidFill>
            <a:prstDash val="solid"/>
          </a:ln>
        </p:spPr>
      </p:sp>
      <p:sp>
        <p:nvSpPr>
          <p:cNvPr id="26" name="Text 24"/>
          <p:cNvSpPr txBox="1"/>
          <p:nvPr/>
        </p:nvSpPr>
        <p:spPr>
          <a:xfrm>
            <a:off x="5276088" y="2926080"/>
            <a:ext cx="272491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数十万円〜100万円前後から</a:t>
            </a:r>
            <a:endParaRPr lang="en-US" sz="1200" dirty="0"/>
          </a:p>
        </p:txBody>
      </p:sp>
      <p:sp>
        <p:nvSpPr>
          <p:cNvPr id="27" name="Shape 25"/>
          <p:cNvSpPr/>
          <p:nvPr/>
        </p:nvSpPr>
        <p:spPr>
          <a:xfrm>
            <a:off x="8183880" y="2926080"/>
            <a:ext cx="3383280" cy="658368"/>
          </a:xfrm>
          <a:prstGeom prst="rect">
            <a:avLst/>
          </a:prstGeom>
          <a:solidFill>
            <a:srgbClr val="FFFFFF"/>
          </a:solidFill>
          <a:ln w="6350">
            <a:solidFill>
              <a:srgbClr val="D5DDE5"/>
            </a:solidFill>
            <a:prstDash val="solid"/>
          </a:ln>
        </p:spPr>
      </p:sp>
      <p:sp>
        <p:nvSpPr>
          <p:cNvPr id="28" name="Text 26"/>
          <p:cNvSpPr txBox="1"/>
          <p:nvPr/>
        </p:nvSpPr>
        <p:spPr>
          <a:xfrm>
            <a:off x="8293608" y="2926080"/>
            <a:ext cx="3182112" cy="658368"/>
          </a:xfrm>
          <a:prstGeom prst="rect">
            <a:avLst/>
          </a:prstGeom>
          <a:noFill/>
          <a:ln/>
        </p:spPr>
        <p:txBody>
          <a:bodyPr wrap="square" lIns="0" tIns="0" rIns="0" bIns="0" rtlCol="0" anchor="ctr"/>
          <a:lstStyle/>
          <a:p>
            <a:pPr indent="0" marL="0">
              <a:buNone/>
            </a:pPr>
            <a:r>
              <a:rPr lang="en-US" sz="1200" b="1" dirty="0">
                <a:solidFill>
                  <a:srgbClr val="1B2B3D"/>
                </a:solidFill>
                <a:latin typeface="Meiryo" pitchFamily="34" charset="0"/>
                <a:ea typeface="Meiryo" pitchFamily="34" charset="-122"/>
                <a:cs typeface="Meiryo" pitchFamily="34" charset="-120"/>
              </a:rPr>
              <a:t>金額の目安と補助金を最初に出す</a:t>
            </a:r>
            <a:endParaRPr lang="en-US" sz="1200" dirty="0"/>
          </a:p>
        </p:txBody>
      </p:sp>
      <p:sp>
        <p:nvSpPr>
          <p:cNvPr id="29" name="Shape 27"/>
          <p:cNvSpPr/>
          <p:nvPr/>
        </p:nvSpPr>
        <p:spPr>
          <a:xfrm>
            <a:off x="548640" y="3639312"/>
            <a:ext cx="1600200" cy="658368"/>
          </a:xfrm>
          <a:prstGeom prst="rect">
            <a:avLst/>
          </a:prstGeom>
          <a:solidFill>
            <a:srgbClr val="F2F5F8"/>
          </a:solidFill>
          <a:ln w="6350">
            <a:solidFill>
              <a:srgbClr val="D5DDE5"/>
            </a:solidFill>
            <a:prstDash val="solid"/>
          </a:ln>
        </p:spPr>
      </p:sp>
      <p:sp>
        <p:nvSpPr>
          <p:cNvPr id="30" name="Text 28"/>
          <p:cNvSpPr txBox="1"/>
          <p:nvPr/>
        </p:nvSpPr>
        <p:spPr>
          <a:xfrm>
            <a:off x="658368" y="3639312"/>
            <a:ext cx="1399032" cy="658368"/>
          </a:xfrm>
          <a:prstGeom prst="rect">
            <a:avLst/>
          </a:prstGeom>
          <a:noFill/>
          <a:ln/>
        </p:spPr>
        <p:txBody>
          <a:bodyPr wrap="square" lIns="0" tIns="0" rIns="0" bIns="0" rtlCol="0" anchor="ctr"/>
          <a:lstStyle/>
          <a:p>
            <a:pPr indent="0" marL="0">
              <a:buNone/>
            </a:pPr>
            <a:r>
              <a:rPr lang="en-US" sz="1300" b="1" dirty="0">
                <a:solidFill>
                  <a:srgbClr val="13283C"/>
                </a:solidFill>
                <a:latin typeface="Meiryo" pitchFamily="34" charset="0"/>
                <a:ea typeface="Meiryo" pitchFamily="34" charset="-122"/>
                <a:cs typeface="Meiryo" pitchFamily="34" charset="-120"/>
              </a:rPr>
              <a:t>担当者</a:t>
            </a:r>
            <a:endParaRPr lang="en-US" sz="1300" dirty="0"/>
          </a:p>
        </p:txBody>
      </p:sp>
      <p:sp>
        <p:nvSpPr>
          <p:cNvPr id="31" name="Shape 29"/>
          <p:cNvSpPr/>
          <p:nvPr/>
        </p:nvSpPr>
        <p:spPr>
          <a:xfrm>
            <a:off x="2240280" y="3639312"/>
            <a:ext cx="2834640" cy="658368"/>
          </a:xfrm>
          <a:prstGeom prst="rect">
            <a:avLst/>
          </a:prstGeom>
          <a:solidFill>
            <a:srgbClr val="FFFFFF"/>
          </a:solidFill>
          <a:ln w="6350">
            <a:solidFill>
              <a:srgbClr val="D5DDE5"/>
            </a:solidFill>
            <a:prstDash val="solid"/>
          </a:ln>
        </p:spPr>
      </p:sp>
      <p:sp>
        <p:nvSpPr>
          <p:cNvPr id="32" name="Text 30"/>
          <p:cNvSpPr txBox="1"/>
          <p:nvPr/>
        </p:nvSpPr>
        <p:spPr>
          <a:xfrm>
            <a:off x="2350008" y="3639312"/>
            <a:ext cx="263347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専任・分析担当がいる</a:t>
            </a:r>
            <a:endParaRPr lang="en-US" sz="1200" dirty="0"/>
          </a:p>
        </p:txBody>
      </p:sp>
      <p:sp>
        <p:nvSpPr>
          <p:cNvPr id="33" name="Shape 31"/>
          <p:cNvSpPr/>
          <p:nvPr/>
        </p:nvSpPr>
        <p:spPr>
          <a:xfrm>
            <a:off x="5166360" y="3639312"/>
            <a:ext cx="2926080" cy="658368"/>
          </a:xfrm>
          <a:prstGeom prst="rect">
            <a:avLst/>
          </a:prstGeom>
          <a:solidFill>
            <a:srgbClr val="FBEAEE"/>
          </a:solidFill>
          <a:ln w="6350">
            <a:solidFill>
              <a:srgbClr val="D5DDE5"/>
            </a:solidFill>
            <a:prstDash val="solid"/>
          </a:ln>
        </p:spPr>
      </p:sp>
      <p:sp>
        <p:nvSpPr>
          <p:cNvPr id="34" name="Text 32"/>
          <p:cNvSpPr txBox="1"/>
          <p:nvPr/>
        </p:nvSpPr>
        <p:spPr>
          <a:xfrm>
            <a:off x="5276088" y="3639312"/>
            <a:ext cx="272491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本業と兼務の1〜2人</a:t>
            </a:r>
            <a:endParaRPr lang="en-US" sz="1200" dirty="0"/>
          </a:p>
        </p:txBody>
      </p:sp>
      <p:sp>
        <p:nvSpPr>
          <p:cNvPr id="35" name="Shape 33"/>
          <p:cNvSpPr/>
          <p:nvPr/>
        </p:nvSpPr>
        <p:spPr>
          <a:xfrm>
            <a:off x="8183880" y="3639312"/>
            <a:ext cx="3383280" cy="658368"/>
          </a:xfrm>
          <a:prstGeom prst="rect">
            <a:avLst/>
          </a:prstGeom>
          <a:solidFill>
            <a:srgbClr val="FFFFFF"/>
          </a:solidFill>
          <a:ln w="6350">
            <a:solidFill>
              <a:srgbClr val="D5DDE5"/>
            </a:solidFill>
            <a:prstDash val="solid"/>
          </a:ln>
        </p:spPr>
      </p:sp>
      <p:sp>
        <p:nvSpPr>
          <p:cNvPr id="36" name="Text 34"/>
          <p:cNvSpPr txBox="1"/>
          <p:nvPr/>
        </p:nvSpPr>
        <p:spPr>
          <a:xfrm>
            <a:off x="8293608" y="3639312"/>
            <a:ext cx="3182112" cy="658368"/>
          </a:xfrm>
          <a:prstGeom prst="rect">
            <a:avLst/>
          </a:prstGeom>
          <a:noFill/>
          <a:ln/>
        </p:spPr>
        <p:txBody>
          <a:bodyPr wrap="square" lIns="0" tIns="0" rIns="0" bIns="0" rtlCol="0" anchor="ctr"/>
          <a:lstStyle/>
          <a:p>
            <a:pPr indent="0" marL="0">
              <a:buNone/>
            </a:pPr>
            <a:r>
              <a:rPr lang="en-US" sz="1200" b="1" dirty="0">
                <a:solidFill>
                  <a:srgbClr val="1B2B3D"/>
                </a:solidFill>
                <a:latin typeface="Meiryo" pitchFamily="34" charset="0"/>
                <a:ea typeface="Meiryo" pitchFamily="34" charset="-122"/>
                <a:cs typeface="Meiryo" pitchFamily="34" charset="-120"/>
              </a:rPr>
              <a:t>「何をしなくていいか」を示す</a:t>
            </a:r>
            <a:endParaRPr lang="en-US" sz="1200" dirty="0"/>
          </a:p>
        </p:txBody>
      </p:sp>
      <p:sp>
        <p:nvSpPr>
          <p:cNvPr id="37" name="Shape 35"/>
          <p:cNvSpPr/>
          <p:nvPr/>
        </p:nvSpPr>
        <p:spPr>
          <a:xfrm>
            <a:off x="548640" y="4352544"/>
            <a:ext cx="1600200" cy="658368"/>
          </a:xfrm>
          <a:prstGeom prst="rect">
            <a:avLst/>
          </a:prstGeom>
          <a:solidFill>
            <a:srgbClr val="F2F5F8"/>
          </a:solidFill>
          <a:ln w="6350">
            <a:solidFill>
              <a:srgbClr val="D5DDE5"/>
            </a:solidFill>
            <a:prstDash val="solid"/>
          </a:ln>
        </p:spPr>
      </p:sp>
      <p:sp>
        <p:nvSpPr>
          <p:cNvPr id="38" name="Text 36"/>
          <p:cNvSpPr txBox="1"/>
          <p:nvPr/>
        </p:nvSpPr>
        <p:spPr>
          <a:xfrm>
            <a:off x="658368" y="4352544"/>
            <a:ext cx="1399032" cy="658368"/>
          </a:xfrm>
          <a:prstGeom prst="rect">
            <a:avLst/>
          </a:prstGeom>
          <a:noFill/>
          <a:ln/>
        </p:spPr>
        <p:txBody>
          <a:bodyPr wrap="square" lIns="0" tIns="0" rIns="0" bIns="0" rtlCol="0" anchor="ctr"/>
          <a:lstStyle/>
          <a:p>
            <a:pPr indent="0" marL="0">
              <a:buNone/>
            </a:pPr>
            <a:r>
              <a:rPr lang="en-US" sz="1300" b="1" dirty="0">
                <a:solidFill>
                  <a:srgbClr val="13283C"/>
                </a:solidFill>
                <a:latin typeface="Meiryo" pitchFamily="34" charset="0"/>
                <a:ea typeface="Meiryo" pitchFamily="34" charset="-122"/>
                <a:cs typeface="Meiryo" pitchFamily="34" charset="-120"/>
              </a:rPr>
              <a:t>契約</a:t>
            </a:r>
            <a:endParaRPr lang="en-US" sz="1300" dirty="0"/>
          </a:p>
        </p:txBody>
      </p:sp>
      <p:sp>
        <p:nvSpPr>
          <p:cNvPr id="39" name="Shape 37"/>
          <p:cNvSpPr/>
          <p:nvPr/>
        </p:nvSpPr>
        <p:spPr>
          <a:xfrm>
            <a:off x="2240280" y="4352544"/>
            <a:ext cx="2834640" cy="658368"/>
          </a:xfrm>
          <a:prstGeom prst="rect">
            <a:avLst/>
          </a:prstGeom>
          <a:solidFill>
            <a:srgbClr val="FFFFFF"/>
          </a:solidFill>
          <a:ln w="6350">
            <a:solidFill>
              <a:srgbClr val="D5DDE5"/>
            </a:solidFill>
            <a:prstDash val="solid"/>
          </a:ln>
        </p:spPr>
      </p:sp>
      <p:sp>
        <p:nvSpPr>
          <p:cNvPr id="40" name="Text 38"/>
          <p:cNvSpPr txBox="1"/>
          <p:nvPr/>
        </p:nvSpPr>
        <p:spPr>
          <a:xfrm>
            <a:off x="2350008" y="4352544"/>
            <a:ext cx="263347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プロポーザル・年間契約</a:t>
            </a:r>
            <a:endParaRPr lang="en-US" sz="1200" dirty="0"/>
          </a:p>
        </p:txBody>
      </p:sp>
      <p:sp>
        <p:nvSpPr>
          <p:cNvPr id="41" name="Shape 39"/>
          <p:cNvSpPr/>
          <p:nvPr/>
        </p:nvSpPr>
        <p:spPr>
          <a:xfrm>
            <a:off x="5166360" y="4352544"/>
            <a:ext cx="2926080" cy="658368"/>
          </a:xfrm>
          <a:prstGeom prst="rect">
            <a:avLst/>
          </a:prstGeom>
          <a:solidFill>
            <a:srgbClr val="FBEAEE"/>
          </a:solidFill>
          <a:ln w="6350">
            <a:solidFill>
              <a:srgbClr val="D5DDE5"/>
            </a:solidFill>
            <a:prstDash val="solid"/>
          </a:ln>
        </p:spPr>
      </p:sp>
      <p:sp>
        <p:nvSpPr>
          <p:cNvPr id="42" name="Text 40"/>
          <p:cNvSpPr txBox="1"/>
          <p:nvPr/>
        </p:nvSpPr>
        <p:spPr>
          <a:xfrm>
            <a:off x="5276088" y="4352544"/>
            <a:ext cx="272491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少額随意契約・1回ごとの発注</a:t>
            </a:r>
            <a:endParaRPr lang="en-US" sz="1200" dirty="0"/>
          </a:p>
        </p:txBody>
      </p:sp>
      <p:sp>
        <p:nvSpPr>
          <p:cNvPr id="43" name="Shape 41"/>
          <p:cNvSpPr/>
          <p:nvPr/>
        </p:nvSpPr>
        <p:spPr>
          <a:xfrm>
            <a:off x="8183880" y="4352544"/>
            <a:ext cx="3383280" cy="658368"/>
          </a:xfrm>
          <a:prstGeom prst="rect">
            <a:avLst/>
          </a:prstGeom>
          <a:solidFill>
            <a:srgbClr val="FFFFFF"/>
          </a:solidFill>
          <a:ln w="6350">
            <a:solidFill>
              <a:srgbClr val="D5DDE5"/>
            </a:solidFill>
            <a:prstDash val="solid"/>
          </a:ln>
        </p:spPr>
      </p:sp>
      <p:sp>
        <p:nvSpPr>
          <p:cNvPr id="44" name="Text 42"/>
          <p:cNvSpPr txBox="1"/>
          <p:nvPr/>
        </p:nvSpPr>
        <p:spPr>
          <a:xfrm>
            <a:off x="8293608" y="4352544"/>
            <a:ext cx="3182112" cy="658368"/>
          </a:xfrm>
          <a:prstGeom prst="rect">
            <a:avLst/>
          </a:prstGeom>
          <a:noFill/>
          <a:ln/>
        </p:spPr>
        <p:txBody>
          <a:bodyPr wrap="square" lIns="0" tIns="0" rIns="0" bIns="0" rtlCol="0" anchor="ctr"/>
          <a:lstStyle/>
          <a:p>
            <a:pPr indent="0" marL="0">
              <a:buNone/>
            </a:pPr>
            <a:r>
              <a:rPr lang="en-US" sz="1200" b="1" dirty="0">
                <a:solidFill>
                  <a:srgbClr val="1B2B3D"/>
                </a:solidFill>
                <a:latin typeface="Meiryo" pitchFamily="34" charset="0"/>
                <a:ea typeface="Meiryo" pitchFamily="34" charset="-122"/>
                <a:cs typeface="Meiryo" pitchFamily="34" charset="-120"/>
              </a:rPr>
              <a:t>1回で完結するプランを用意</a:t>
            </a:r>
            <a:endParaRPr lang="en-US" sz="1200" dirty="0"/>
          </a:p>
        </p:txBody>
      </p:sp>
      <p:sp>
        <p:nvSpPr>
          <p:cNvPr id="45" name="Shape 43"/>
          <p:cNvSpPr/>
          <p:nvPr/>
        </p:nvSpPr>
        <p:spPr>
          <a:xfrm>
            <a:off x="548640" y="5065776"/>
            <a:ext cx="1600200" cy="658368"/>
          </a:xfrm>
          <a:prstGeom prst="rect">
            <a:avLst/>
          </a:prstGeom>
          <a:solidFill>
            <a:srgbClr val="F2F5F8"/>
          </a:solidFill>
          <a:ln w="6350">
            <a:solidFill>
              <a:srgbClr val="D5DDE5"/>
            </a:solidFill>
            <a:prstDash val="solid"/>
          </a:ln>
        </p:spPr>
      </p:sp>
      <p:sp>
        <p:nvSpPr>
          <p:cNvPr id="46" name="Text 44"/>
          <p:cNvSpPr txBox="1"/>
          <p:nvPr/>
        </p:nvSpPr>
        <p:spPr>
          <a:xfrm>
            <a:off x="658368" y="5065776"/>
            <a:ext cx="1399032" cy="658368"/>
          </a:xfrm>
          <a:prstGeom prst="rect">
            <a:avLst/>
          </a:prstGeom>
          <a:noFill/>
          <a:ln/>
        </p:spPr>
        <p:txBody>
          <a:bodyPr wrap="square" lIns="0" tIns="0" rIns="0" bIns="0" rtlCol="0" anchor="ctr"/>
          <a:lstStyle/>
          <a:p>
            <a:pPr indent="0" marL="0">
              <a:buNone/>
            </a:pPr>
            <a:r>
              <a:rPr lang="en-US" sz="1300" b="1" dirty="0">
                <a:solidFill>
                  <a:srgbClr val="13283C"/>
                </a:solidFill>
                <a:latin typeface="Meiryo" pitchFamily="34" charset="0"/>
                <a:ea typeface="Meiryo" pitchFamily="34" charset="-122"/>
                <a:cs typeface="Meiryo" pitchFamily="34" charset="-120"/>
              </a:rPr>
              <a:t>欲しいもの</a:t>
            </a:r>
            <a:endParaRPr lang="en-US" sz="1300" dirty="0"/>
          </a:p>
        </p:txBody>
      </p:sp>
      <p:sp>
        <p:nvSpPr>
          <p:cNvPr id="47" name="Shape 45"/>
          <p:cNvSpPr/>
          <p:nvPr/>
        </p:nvSpPr>
        <p:spPr>
          <a:xfrm>
            <a:off x="2240280" y="5065776"/>
            <a:ext cx="2834640" cy="658368"/>
          </a:xfrm>
          <a:prstGeom prst="rect">
            <a:avLst/>
          </a:prstGeom>
          <a:solidFill>
            <a:srgbClr val="FFFFFF"/>
          </a:solidFill>
          <a:ln w="6350">
            <a:solidFill>
              <a:srgbClr val="D5DDE5"/>
            </a:solidFill>
            <a:prstDash val="solid"/>
          </a:ln>
        </p:spPr>
      </p:sp>
      <p:sp>
        <p:nvSpPr>
          <p:cNvPr id="48" name="Text 46"/>
          <p:cNvSpPr txBox="1"/>
          <p:nvPr/>
        </p:nvSpPr>
        <p:spPr>
          <a:xfrm>
            <a:off x="2350008" y="5065776"/>
            <a:ext cx="263347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詳細な分析レポート</a:t>
            </a:r>
            <a:endParaRPr lang="en-US" sz="1200" dirty="0"/>
          </a:p>
        </p:txBody>
      </p:sp>
      <p:sp>
        <p:nvSpPr>
          <p:cNvPr id="49" name="Shape 47"/>
          <p:cNvSpPr/>
          <p:nvPr/>
        </p:nvSpPr>
        <p:spPr>
          <a:xfrm>
            <a:off x="5166360" y="5065776"/>
            <a:ext cx="2926080" cy="658368"/>
          </a:xfrm>
          <a:prstGeom prst="rect">
            <a:avLst/>
          </a:prstGeom>
          <a:solidFill>
            <a:srgbClr val="FBEAEE"/>
          </a:solidFill>
          <a:ln w="6350">
            <a:solidFill>
              <a:srgbClr val="D5DDE5"/>
            </a:solidFill>
            <a:prstDash val="solid"/>
          </a:ln>
        </p:spPr>
      </p:sp>
      <p:sp>
        <p:nvSpPr>
          <p:cNvPr id="50" name="Text 48"/>
          <p:cNvSpPr txBox="1"/>
          <p:nvPr/>
        </p:nvSpPr>
        <p:spPr>
          <a:xfrm>
            <a:off x="5276088" y="5065776"/>
            <a:ext cx="272491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総会・議会でそのまま使える1枚</a:t>
            </a:r>
            <a:endParaRPr lang="en-US" sz="1200" dirty="0"/>
          </a:p>
        </p:txBody>
      </p:sp>
      <p:sp>
        <p:nvSpPr>
          <p:cNvPr id="51" name="Shape 49"/>
          <p:cNvSpPr/>
          <p:nvPr/>
        </p:nvSpPr>
        <p:spPr>
          <a:xfrm>
            <a:off x="8183880" y="5065776"/>
            <a:ext cx="3383280" cy="658368"/>
          </a:xfrm>
          <a:prstGeom prst="rect">
            <a:avLst/>
          </a:prstGeom>
          <a:solidFill>
            <a:srgbClr val="FFFFFF"/>
          </a:solidFill>
          <a:ln w="6350">
            <a:solidFill>
              <a:srgbClr val="D5DDE5"/>
            </a:solidFill>
            <a:prstDash val="solid"/>
          </a:ln>
        </p:spPr>
      </p:sp>
      <p:sp>
        <p:nvSpPr>
          <p:cNvPr id="52" name="Text 50"/>
          <p:cNvSpPr txBox="1"/>
          <p:nvPr/>
        </p:nvSpPr>
        <p:spPr>
          <a:xfrm>
            <a:off x="8293608" y="5065776"/>
            <a:ext cx="3182112" cy="658368"/>
          </a:xfrm>
          <a:prstGeom prst="rect">
            <a:avLst/>
          </a:prstGeom>
          <a:noFill/>
          <a:ln/>
        </p:spPr>
        <p:txBody>
          <a:bodyPr wrap="square" lIns="0" tIns="0" rIns="0" bIns="0" rtlCol="0" anchor="ctr"/>
          <a:lstStyle/>
          <a:p>
            <a:pPr indent="0" marL="0">
              <a:buNone/>
            </a:pPr>
            <a:r>
              <a:rPr lang="en-US" sz="1200" b="1" dirty="0">
                <a:solidFill>
                  <a:srgbClr val="1B2B3D"/>
                </a:solidFill>
                <a:latin typeface="Meiryo" pitchFamily="34" charset="0"/>
                <a:ea typeface="Meiryo" pitchFamily="34" charset="-122"/>
                <a:cs typeface="Meiryo" pitchFamily="34" charset="-120"/>
              </a:rPr>
              <a:t>数字3つ＋次にやること3つ</a:t>
            </a:r>
            <a:endParaRPr lang="en-US" sz="1200" dirty="0"/>
          </a:p>
        </p:txBody>
      </p:sp>
      <p:sp>
        <p:nvSpPr>
          <p:cNvPr id="53" name="Shape 51"/>
          <p:cNvSpPr/>
          <p:nvPr/>
        </p:nvSpPr>
        <p:spPr>
          <a:xfrm>
            <a:off x="548640" y="5852160"/>
            <a:ext cx="11064240" cy="384048"/>
          </a:xfrm>
          <a:prstGeom prst="roundRect">
            <a:avLst>
              <a:gd name="adj" fmla="val 19048"/>
            </a:avLst>
          </a:prstGeom>
          <a:solidFill>
            <a:srgbClr val="13283C"/>
          </a:solidFill>
          <a:ln w="12700">
            <a:solidFill>
              <a:srgbClr val="13283C"/>
            </a:solidFill>
            <a:prstDash val="solid"/>
          </a:ln>
        </p:spPr>
      </p:sp>
      <p:sp>
        <p:nvSpPr>
          <p:cNvPr id="54" name="Text 52"/>
          <p:cNvSpPr txBox="1"/>
          <p:nvPr/>
        </p:nvSpPr>
        <p:spPr>
          <a:xfrm>
            <a:off x="777240" y="5852160"/>
            <a:ext cx="10607040" cy="384048"/>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最重要は変わらない：顧客の判断に使える「1枚」を契約前に見せる（→P.11）</a:t>
            </a:r>
            <a:endParaRPr lang="en-US" sz="1250" dirty="0"/>
          </a:p>
        </p:txBody>
      </p:sp>
      <p:sp>
        <p:nvSpPr>
          <p:cNvPr id="55" name="Text 53"/>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本資料の整理（仮説）。案件ごとに確認する</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社内用</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お客様のレベル別の提案の型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入口のサービス・金額・説明に使う数字を、相手に合わせて変える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21</a:t>
            </a:r>
            <a:endParaRPr lang="en-US" sz="1000" dirty="0"/>
          </a:p>
        </p:txBody>
      </p:sp>
      <p:sp>
        <p:nvSpPr>
          <p:cNvPr id="6" name="Text 4"/>
          <p:cNvSpPr txBox="1"/>
          <p:nvPr/>
        </p:nvSpPr>
        <p:spPr>
          <a:xfrm>
            <a:off x="8686800" y="329184"/>
            <a:ext cx="2926080" cy="310896"/>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社内用｜顧客に出すときは非表示</a:t>
            </a:r>
            <a:endParaRPr lang="en-US" sz="1050" dirty="0"/>
          </a:p>
        </p:txBody>
      </p:sp>
      <p:sp>
        <p:nvSpPr>
          <p:cNvPr id="7" name="Shape 5"/>
          <p:cNvSpPr/>
          <p:nvPr/>
        </p:nvSpPr>
        <p:spPr>
          <a:xfrm>
            <a:off x="548640" y="1737360"/>
            <a:ext cx="2651760" cy="914400"/>
          </a:xfrm>
          <a:prstGeom prst="roundRect">
            <a:avLst>
              <a:gd name="adj" fmla="val 8000"/>
            </a:avLst>
          </a:prstGeom>
          <a:solidFill>
            <a:srgbClr val="13283C"/>
          </a:solidFill>
          <a:ln w="12700">
            <a:solidFill>
              <a:srgbClr val="13283C"/>
            </a:solidFill>
            <a:prstDash val="solid"/>
          </a:ln>
        </p:spPr>
      </p:sp>
      <p:sp>
        <p:nvSpPr>
          <p:cNvPr id="8" name="Shape 6"/>
          <p:cNvSpPr/>
          <p:nvPr/>
        </p:nvSpPr>
        <p:spPr>
          <a:xfrm>
            <a:off x="685800" y="1920240"/>
            <a:ext cx="502920" cy="502920"/>
          </a:xfrm>
          <a:prstGeom prst="ellipse">
            <a:avLst/>
          </a:prstGeom>
          <a:solidFill>
            <a:srgbClr val="C9002B"/>
          </a:solidFill>
          <a:ln w="12700">
            <a:solidFill>
              <a:srgbClr val="C9002B"/>
            </a:solidFill>
            <a:prstDash val="solid"/>
          </a:ln>
        </p:spPr>
      </p:sp>
      <p:pic>
        <p:nvPicPr>
          <p:cNvPr id="9" name="Image 0" descr="preencoded.png">    </p:cNvPr>
          <p:cNvPicPr>
            <a:picLocks noChangeAspect="1"/>
          </p:cNvPicPr>
          <p:nvPr/>
        </p:nvPicPr>
        <p:blipFill>
          <a:blip r:embed="rId1"/>
          <a:stretch>
            <a:fillRect/>
          </a:stretch>
        </p:blipFill>
        <p:spPr>
          <a:xfrm>
            <a:off x="811530" y="2045970"/>
            <a:ext cx="251460" cy="251460"/>
          </a:xfrm>
          <a:prstGeom prst="rect">
            <a:avLst/>
          </a:prstGeom>
        </p:spPr>
      </p:pic>
      <p:sp>
        <p:nvSpPr>
          <p:cNvPr id="10" name="Text 7"/>
          <p:cNvSpPr txBox="1"/>
          <p:nvPr/>
        </p:nvSpPr>
        <p:spPr>
          <a:xfrm>
            <a:off x="1261872" y="1801368"/>
            <a:ext cx="1874520" cy="457200"/>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Meiryo" pitchFamily="34" charset="0"/>
                <a:ea typeface="Meiryo" pitchFamily="34" charset="-122"/>
                <a:cs typeface="Meiryo" pitchFamily="34" charset="-120"/>
              </a:rPr>
              <a:t>商店街の店舗（個店）</a:t>
            </a:r>
            <a:endParaRPr lang="en-US" sz="1200" dirty="0"/>
          </a:p>
        </p:txBody>
      </p:sp>
      <p:sp>
        <p:nvSpPr>
          <p:cNvPr id="11" name="Text 8"/>
          <p:cNvSpPr txBox="1"/>
          <p:nvPr/>
        </p:nvSpPr>
        <p:spPr>
          <a:xfrm>
            <a:off x="1261872" y="2240280"/>
            <a:ext cx="1874520" cy="320040"/>
          </a:xfrm>
          <a:prstGeom prst="rect">
            <a:avLst/>
          </a:prstGeom>
          <a:noFill/>
          <a:ln/>
        </p:spPr>
        <p:txBody>
          <a:bodyPr wrap="square" lIns="0" tIns="0" rIns="0" bIns="0" rtlCol="0" anchor="t"/>
          <a:lstStyle/>
          <a:p>
            <a:pPr indent="0" marL="0">
              <a:buNone/>
            </a:pPr>
            <a:r>
              <a:rPr lang="en-US" sz="950" dirty="0">
                <a:solidFill>
                  <a:srgbClr val="BAC8D4"/>
                </a:solidFill>
                <a:latin typeface="Meiryo" pitchFamily="34" charset="0"/>
                <a:ea typeface="Meiryo" pitchFamily="34" charset="-122"/>
                <a:cs typeface="Meiryo" pitchFamily="34" charset="-120"/>
              </a:rPr>
              <a:t>単独では予算が小さい</a:t>
            </a:r>
            <a:endParaRPr lang="en-US" sz="950" dirty="0"/>
          </a:p>
        </p:txBody>
      </p:sp>
      <p:sp>
        <p:nvSpPr>
          <p:cNvPr id="12" name="Shape 9"/>
          <p:cNvSpPr/>
          <p:nvPr/>
        </p:nvSpPr>
        <p:spPr>
          <a:xfrm>
            <a:off x="548640" y="2743200"/>
            <a:ext cx="2651760" cy="777240"/>
          </a:xfrm>
          <a:prstGeom prst="roundRect">
            <a:avLst>
              <a:gd name="adj" fmla="val 9412"/>
            </a:avLst>
          </a:prstGeom>
          <a:solidFill>
            <a:srgbClr val="FBEAEE"/>
          </a:solidFill>
          <a:ln w="12700">
            <a:solidFill>
              <a:srgbClr val="FBEAEE"/>
            </a:solidFill>
            <a:prstDash val="solid"/>
          </a:ln>
        </p:spPr>
      </p:sp>
      <p:sp>
        <p:nvSpPr>
          <p:cNvPr id="13" name="Text 10"/>
          <p:cNvSpPr txBox="1"/>
          <p:nvPr/>
        </p:nvSpPr>
        <p:spPr>
          <a:xfrm>
            <a:off x="685800" y="278892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入口のサービス</a:t>
            </a:r>
            <a:endParaRPr lang="en-US" sz="950" dirty="0"/>
          </a:p>
        </p:txBody>
      </p:sp>
      <p:sp>
        <p:nvSpPr>
          <p:cNvPr id="14" name="Text 11"/>
          <p:cNvSpPr txBox="1"/>
          <p:nvPr/>
        </p:nvSpPr>
        <p:spPr>
          <a:xfrm>
            <a:off x="685800" y="3017520"/>
            <a:ext cx="2423160" cy="475488"/>
          </a:xfrm>
          <a:prstGeom prst="rect">
            <a:avLst/>
          </a:prstGeom>
          <a:noFill/>
          <a:ln/>
        </p:spPr>
        <p:txBody>
          <a:bodyPr wrap="square" lIns="0" tIns="0" rIns="0" bIns="0" rtlCol="0" anchor="t"/>
          <a:lstStyle/>
          <a:p>
            <a:pPr indent="0" marL="0">
              <a:buNone/>
            </a:pPr>
            <a:r>
              <a:rPr lang="en-US" sz="1100" b="1" dirty="0">
                <a:solidFill>
                  <a:srgbClr val="1B2B3D"/>
                </a:solidFill>
                <a:latin typeface="Meiryo" pitchFamily="34" charset="0"/>
                <a:ea typeface="Meiryo" pitchFamily="34" charset="-122"/>
                <a:cs typeface="Meiryo" pitchFamily="34" charset="-120"/>
              </a:rPr>
              <a:t>組合・商工会の調査に参加してもらう</a:t>
            </a:r>
            <a:endParaRPr lang="en-US" sz="1100" dirty="0"/>
          </a:p>
        </p:txBody>
      </p:sp>
      <p:sp>
        <p:nvSpPr>
          <p:cNvPr id="15" name="Shape 12"/>
          <p:cNvSpPr/>
          <p:nvPr/>
        </p:nvSpPr>
        <p:spPr>
          <a:xfrm>
            <a:off x="548640" y="3611880"/>
            <a:ext cx="2651760" cy="777240"/>
          </a:xfrm>
          <a:prstGeom prst="roundRect">
            <a:avLst>
              <a:gd name="adj" fmla="val 9412"/>
            </a:avLst>
          </a:prstGeom>
          <a:solidFill>
            <a:srgbClr val="F2F5F8"/>
          </a:solidFill>
          <a:ln w="12700">
            <a:solidFill>
              <a:srgbClr val="F2F5F8"/>
            </a:solidFill>
            <a:prstDash val="solid"/>
          </a:ln>
        </p:spPr>
      </p:sp>
      <p:sp>
        <p:nvSpPr>
          <p:cNvPr id="16" name="Text 13"/>
          <p:cNvSpPr txBox="1"/>
          <p:nvPr/>
        </p:nvSpPr>
        <p:spPr>
          <a:xfrm>
            <a:off x="685800" y="365760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始め方</a:t>
            </a:r>
            <a:endParaRPr lang="en-US" sz="950" dirty="0"/>
          </a:p>
        </p:txBody>
      </p:sp>
      <p:sp>
        <p:nvSpPr>
          <p:cNvPr id="17" name="Text 14"/>
          <p:cNvSpPr txBox="1"/>
          <p:nvPr/>
        </p:nvSpPr>
        <p:spPr>
          <a:xfrm>
            <a:off x="685800" y="388620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組合の1回の調査に、店舗の質問を足す</a:t>
            </a:r>
            <a:endParaRPr lang="en-US" sz="1100" dirty="0"/>
          </a:p>
        </p:txBody>
      </p:sp>
      <p:sp>
        <p:nvSpPr>
          <p:cNvPr id="18" name="Shape 15"/>
          <p:cNvSpPr/>
          <p:nvPr/>
        </p:nvSpPr>
        <p:spPr>
          <a:xfrm>
            <a:off x="548640" y="4480560"/>
            <a:ext cx="2651760" cy="777240"/>
          </a:xfrm>
          <a:prstGeom prst="roundRect">
            <a:avLst>
              <a:gd name="adj" fmla="val 9412"/>
            </a:avLst>
          </a:prstGeom>
          <a:solidFill>
            <a:srgbClr val="F2F5F8"/>
          </a:solidFill>
          <a:ln w="12700">
            <a:solidFill>
              <a:srgbClr val="F2F5F8"/>
            </a:solidFill>
            <a:prstDash val="solid"/>
          </a:ln>
        </p:spPr>
      </p:sp>
      <p:sp>
        <p:nvSpPr>
          <p:cNvPr id="19" name="Text 16"/>
          <p:cNvSpPr txBox="1"/>
          <p:nvPr/>
        </p:nvSpPr>
        <p:spPr>
          <a:xfrm>
            <a:off x="685800" y="452628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説明に使う数字</a:t>
            </a:r>
            <a:endParaRPr lang="en-US" sz="950" dirty="0"/>
          </a:p>
        </p:txBody>
      </p:sp>
      <p:sp>
        <p:nvSpPr>
          <p:cNvPr id="20" name="Text 17"/>
          <p:cNvSpPr txBox="1"/>
          <p:nvPr/>
        </p:nvSpPr>
        <p:spPr>
          <a:xfrm>
            <a:off x="685800" y="475488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来ている人の年代、来ない理由</a:t>
            </a:r>
            <a:endParaRPr lang="en-US" sz="1100" dirty="0"/>
          </a:p>
        </p:txBody>
      </p:sp>
      <p:sp>
        <p:nvSpPr>
          <p:cNvPr id="21" name="Shape 18"/>
          <p:cNvSpPr/>
          <p:nvPr/>
        </p:nvSpPr>
        <p:spPr>
          <a:xfrm>
            <a:off x="548640" y="5349240"/>
            <a:ext cx="2651760" cy="777240"/>
          </a:xfrm>
          <a:prstGeom prst="roundRect">
            <a:avLst>
              <a:gd name="adj" fmla="val 9412"/>
            </a:avLst>
          </a:prstGeom>
          <a:solidFill>
            <a:srgbClr val="F2F5F8"/>
          </a:solidFill>
          <a:ln w="12700">
            <a:solidFill>
              <a:srgbClr val="F2F5F8"/>
            </a:solidFill>
            <a:prstDash val="solid"/>
          </a:ln>
        </p:spPr>
      </p:sp>
      <p:sp>
        <p:nvSpPr>
          <p:cNvPr id="22" name="Text 19"/>
          <p:cNvSpPr txBox="1"/>
          <p:nvPr/>
        </p:nvSpPr>
        <p:spPr>
          <a:xfrm>
            <a:off x="685800" y="539496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気をつけること</a:t>
            </a:r>
            <a:endParaRPr lang="en-US" sz="950" dirty="0"/>
          </a:p>
        </p:txBody>
      </p:sp>
      <p:sp>
        <p:nvSpPr>
          <p:cNvPr id="23" name="Text 20"/>
          <p:cNvSpPr txBox="1"/>
          <p:nvPr/>
        </p:nvSpPr>
        <p:spPr>
          <a:xfrm>
            <a:off x="685800" y="562356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店舗単独に高い提案をしない</a:t>
            </a:r>
            <a:endParaRPr lang="en-US" sz="1100" dirty="0"/>
          </a:p>
        </p:txBody>
      </p:sp>
      <p:sp>
        <p:nvSpPr>
          <p:cNvPr id="24" name="Shape 21"/>
          <p:cNvSpPr/>
          <p:nvPr/>
        </p:nvSpPr>
        <p:spPr>
          <a:xfrm>
            <a:off x="3355848" y="1737360"/>
            <a:ext cx="2651760" cy="914400"/>
          </a:xfrm>
          <a:prstGeom prst="roundRect">
            <a:avLst>
              <a:gd name="adj" fmla="val 8000"/>
            </a:avLst>
          </a:prstGeom>
          <a:solidFill>
            <a:srgbClr val="13283C"/>
          </a:solidFill>
          <a:ln w="12700">
            <a:solidFill>
              <a:srgbClr val="13283C"/>
            </a:solidFill>
            <a:prstDash val="solid"/>
          </a:ln>
        </p:spPr>
      </p:sp>
      <p:sp>
        <p:nvSpPr>
          <p:cNvPr id="25" name="Shape 22"/>
          <p:cNvSpPr/>
          <p:nvPr/>
        </p:nvSpPr>
        <p:spPr>
          <a:xfrm>
            <a:off x="3493008" y="1920240"/>
            <a:ext cx="502920" cy="502920"/>
          </a:xfrm>
          <a:prstGeom prst="ellipse">
            <a:avLst/>
          </a:prstGeom>
          <a:solidFill>
            <a:srgbClr val="C9002B"/>
          </a:solidFill>
          <a:ln w="12700">
            <a:solidFill>
              <a:srgbClr val="C9002B"/>
            </a:solidFill>
            <a:prstDash val="solid"/>
          </a:ln>
        </p:spPr>
      </p:sp>
      <p:pic>
        <p:nvPicPr>
          <p:cNvPr id="26" name="Image 1" descr="preencoded.png">    </p:cNvPr>
          <p:cNvPicPr>
            <a:picLocks noChangeAspect="1"/>
          </p:cNvPicPr>
          <p:nvPr/>
        </p:nvPicPr>
        <p:blipFill>
          <a:blip r:embed="rId2"/>
          <a:stretch>
            <a:fillRect/>
          </a:stretch>
        </p:blipFill>
        <p:spPr>
          <a:xfrm>
            <a:off x="3618738" y="2045970"/>
            <a:ext cx="251460" cy="251460"/>
          </a:xfrm>
          <a:prstGeom prst="rect">
            <a:avLst/>
          </a:prstGeom>
        </p:spPr>
      </p:pic>
      <p:sp>
        <p:nvSpPr>
          <p:cNvPr id="27" name="Text 23"/>
          <p:cNvSpPr txBox="1"/>
          <p:nvPr/>
        </p:nvSpPr>
        <p:spPr>
          <a:xfrm>
            <a:off x="4069080" y="1801368"/>
            <a:ext cx="1874520" cy="457200"/>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Meiryo" pitchFamily="34" charset="0"/>
                <a:ea typeface="Meiryo" pitchFamily="34" charset="-122"/>
                <a:cs typeface="Meiryo" pitchFamily="34" charset="-120"/>
              </a:rPr>
              <a:t>商店街振興組合・商工会</a:t>
            </a:r>
            <a:endParaRPr lang="en-US" sz="1200" dirty="0"/>
          </a:p>
        </p:txBody>
      </p:sp>
      <p:sp>
        <p:nvSpPr>
          <p:cNvPr id="28" name="Text 24"/>
          <p:cNvSpPr txBox="1"/>
          <p:nvPr/>
        </p:nvSpPr>
        <p:spPr>
          <a:xfrm>
            <a:off x="4069080" y="2240280"/>
            <a:ext cx="1874520" cy="320040"/>
          </a:xfrm>
          <a:prstGeom prst="rect">
            <a:avLst/>
          </a:prstGeom>
          <a:noFill/>
          <a:ln/>
        </p:spPr>
        <p:txBody>
          <a:bodyPr wrap="square" lIns="0" tIns="0" rIns="0" bIns="0" rtlCol="0" anchor="t"/>
          <a:lstStyle/>
          <a:p>
            <a:pPr indent="0" marL="0">
              <a:buNone/>
            </a:pPr>
            <a:r>
              <a:rPr lang="en-US" sz="950" dirty="0">
                <a:solidFill>
                  <a:srgbClr val="BAC8D4"/>
                </a:solidFill>
                <a:latin typeface="Meiryo" pitchFamily="34" charset="0"/>
                <a:ea typeface="Meiryo" pitchFamily="34" charset="-122"/>
                <a:cs typeface="Meiryo" pitchFamily="34" charset="-120"/>
              </a:rPr>
              <a:t>祭り・売り出しの主催者</a:t>
            </a:r>
            <a:endParaRPr lang="en-US" sz="950" dirty="0"/>
          </a:p>
        </p:txBody>
      </p:sp>
      <p:sp>
        <p:nvSpPr>
          <p:cNvPr id="29" name="Shape 25"/>
          <p:cNvSpPr/>
          <p:nvPr/>
        </p:nvSpPr>
        <p:spPr>
          <a:xfrm>
            <a:off x="3355848" y="2743200"/>
            <a:ext cx="2651760" cy="777240"/>
          </a:xfrm>
          <a:prstGeom prst="roundRect">
            <a:avLst>
              <a:gd name="adj" fmla="val 9412"/>
            </a:avLst>
          </a:prstGeom>
          <a:solidFill>
            <a:srgbClr val="FBEAEE"/>
          </a:solidFill>
          <a:ln w="12700">
            <a:solidFill>
              <a:srgbClr val="FBEAEE"/>
            </a:solidFill>
            <a:prstDash val="solid"/>
          </a:ln>
        </p:spPr>
      </p:sp>
      <p:sp>
        <p:nvSpPr>
          <p:cNvPr id="30" name="Text 26"/>
          <p:cNvSpPr txBox="1"/>
          <p:nvPr/>
        </p:nvSpPr>
        <p:spPr>
          <a:xfrm>
            <a:off x="3493008" y="278892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入口のサービス</a:t>
            </a:r>
            <a:endParaRPr lang="en-US" sz="950" dirty="0"/>
          </a:p>
        </p:txBody>
      </p:sp>
      <p:sp>
        <p:nvSpPr>
          <p:cNvPr id="31" name="Text 27"/>
          <p:cNvSpPr txBox="1"/>
          <p:nvPr/>
        </p:nvSpPr>
        <p:spPr>
          <a:xfrm>
            <a:off x="3493008" y="3017520"/>
            <a:ext cx="2423160" cy="475488"/>
          </a:xfrm>
          <a:prstGeom prst="rect">
            <a:avLst/>
          </a:prstGeom>
          <a:noFill/>
          <a:ln/>
        </p:spPr>
        <p:txBody>
          <a:bodyPr wrap="square" lIns="0" tIns="0" rIns="0" bIns="0" rtlCol="0" anchor="t"/>
          <a:lstStyle/>
          <a:p>
            <a:pPr indent="0" marL="0">
              <a:buNone/>
            </a:pPr>
            <a:r>
              <a:rPr lang="en-US" sz="1100" b="1" dirty="0">
                <a:solidFill>
                  <a:srgbClr val="1B2B3D"/>
                </a:solidFill>
                <a:latin typeface="Meiryo" pitchFamily="34" charset="0"/>
                <a:ea typeface="Meiryo" pitchFamily="34" charset="-122"/>
                <a:cs typeface="Meiryo" pitchFamily="34" charset="-120"/>
              </a:rPr>
              <a:t>プレミアパネル（近所で来ていない人へ）</a:t>
            </a:r>
            <a:endParaRPr lang="en-US" sz="1100" dirty="0"/>
          </a:p>
        </p:txBody>
      </p:sp>
      <p:sp>
        <p:nvSpPr>
          <p:cNvPr id="32" name="Shape 28"/>
          <p:cNvSpPr/>
          <p:nvPr/>
        </p:nvSpPr>
        <p:spPr>
          <a:xfrm>
            <a:off x="3355848" y="3611880"/>
            <a:ext cx="2651760" cy="777240"/>
          </a:xfrm>
          <a:prstGeom prst="roundRect">
            <a:avLst>
              <a:gd name="adj" fmla="val 9412"/>
            </a:avLst>
          </a:prstGeom>
          <a:solidFill>
            <a:srgbClr val="F2F5F8"/>
          </a:solidFill>
          <a:ln w="12700">
            <a:solidFill>
              <a:srgbClr val="F2F5F8"/>
            </a:solidFill>
            <a:prstDash val="solid"/>
          </a:ln>
        </p:spPr>
      </p:sp>
      <p:sp>
        <p:nvSpPr>
          <p:cNvPr id="33" name="Text 29"/>
          <p:cNvSpPr txBox="1"/>
          <p:nvPr/>
        </p:nvSpPr>
        <p:spPr>
          <a:xfrm>
            <a:off x="3493008" y="365760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始め方</a:t>
            </a:r>
            <a:endParaRPr lang="en-US" sz="950" dirty="0"/>
          </a:p>
        </p:txBody>
      </p:sp>
      <p:sp>
        <p:nvSpPr>
          <p:cNvPr id="34" name="Text 30"/>
          <p:cNvSpPr txBox="1"/>
          <p:nvPr/>
        </p:nvSpPr>
        <p:spPr>
          <a:xfrm>
            <a:off x="3493008" y="388620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祭り・売り出し1回</a:t>
            </a:r>
            <a:endParaRPr lang="en-US" sz="1100" dirty="0"/>
          </a:p>
        </p:txBody>
      </p:sp>
      <p:sp>
        <p:nvSpPr>
          <p:cNvPr id="35" name="Shape 31"/>
          <p:cNvSpPr/>
          <p:nvPr/>
        </p:nvSpPr>
        <p:spPr>
          <a:xfrm>
            <a:off x="3355848" y="4480560"/>
            <a:ext cx="2651760" cy="777240"/>
          </a:xfrm>
          <a:prstGeom prst="roundRect">
            <a:avLst>
              <a:gd name="adj" fmla="val 9412"/>
            </a:avLst>
          </a:prstGeom>
          <a:solidFill>
            <a:srgbClr val="F2F5F8"/>
          </a:solidFill>
          <a:ln w="12700">
            <a:solidFill>
              <a:srgbClr val="F2F5F8"/>
            </a:solidFill>
            <a:prstDash val="solid"/>
          </a:ln>
        </p:spPr>
      </p:sp>
      <p:sp>
        <p:nvSpPr>
          <p:cNvPr id="36" name="Text 32"/>
          <p:cNvSpPr txBox="1"/>
          <p:nvPr/>
        </p:nvSpPr>
        <p:spPr>
          <a:xfrm>
            <a:off x="3493008" y="452628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説明に使う数字</a:t>
            </a:r>
            <a:endParaRPr lang="en-US" sz="950" dirty="0"/>
          </a:p>
        </p:txBody>
      </p:sp>
      <p:sp>
        <p:nvSpPr>
          <p:cNvPr id="37" name="Text 33"/>
          <p:cNvSpPr txBox="1"/>
          <p:nvPr/>
        </p:nvSpPr>
        <p:spPr>
          <a:xfrm>
            <a:off x="3493008" y="475488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来なかった理由、市外から来た割合</a:t>
            </a:r>
            <a:endParaRPr lang="en-US" sz="1100" dirty="0"/>
          </a:p>
        </p:txBody>
      </p:sp>
      <p:sp>
        <p:nvSpPr>
          <p:cNvPr id="38" name="Shape 34"/>
          <p:cNvSpPr/>
          <p:nvPr/>
        </p:nvSpPr>
        <p:spPr>
          <a:xfrm>
            <a:off x="3355848" y="5349240"/>
            <a:ext cx="2651760" cy="777240"/>
          </a:xfrm>
          <a:prstGeom prst="roundRect">
            <a:avLst>
              <a:gd name="adj" fmla="val 9412"/>
            </a:avLst>
          </a:prstGeom>
          <a:solidFill>
            <a:srgbClr val="F2F5F8"/>
          </a:solidFill>
          <a:ln w="12700">
            <a:solidFill>
              <a:srgbClr val="F2F5F8"/>
            </a:solidFill>
            <a:prstDash val="solid"/>
          </a:ln>
        </p:spPr>
      </p:sp>
      <p:sp>
        <p:nvSpPr>
          <p:cNvPr id="39" name="Text 35"/>
          <p:cNvSpPr txBox="1"/>
          <p:nvPr/>
        </p:nvSpPr>
        <p:spPr>
          <a:xfrm>
            <a:off x="3493008" y="539496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気をつけること</a:t>
            </a:r>
            <a:endParaRPr lang="en-US" sz="950" dirty="0"/>
          </a:p>
        </p:txBody>
      </p:sp>
      <p:sp>
        <p:nvSpPr>
          <p:cNvPr id="40" name="Text 36"/>
          <p:cNvSpPr txBox="1"/>
          <p:nvPr/>
        </p:nvSpPr>
        <p:spPr>
          <a:xfrm>
            <a:off x="3493008" y="562356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総会用の1枚、補助金の確認</a:t>
            </a:r>
            <a:endParaRPr lang="en-US" sz="1100" dirty="0"/>
          </a:p>
        </p:txBody>
      </p:sp>
      <p:sp>
        <p:nvSpPr>
          <p:cNvPr id="41" name="Shape 37"/>
          <p:cNvSpPr/>
          <p:nvPr/>
        </p:nvSpPr>
        <p:spPr>
          <a:xfrm>
            <a:off x="6163056" y="1737360"/>
            <a:ext cx="2651760" cy="914400"/>
          </a:xfrm>
          <a:prstGeom prst="roundRect">
            <a:avLst>
              <a:gd name="adj" fmla="val 8000"/>
            </a:avLst>
          </a:prstGeom>
          <a:solidFill>
            <a:srgbClr val="13283C"/>
          </a:solidFill>
          <a:ln w="12700">
            <a:solidFill>
              <a:srgbClr val="13283C"/>
            </a:solidFill>
            <a:prstDash val="solid"/>
          </a:ln>
        </p:spPr>
      </p:sp>
      <p:sp>
        <p:nvSpPr>
          <p:cNvPr id="42" name="Shape 38"/>
          <p:cNvSpPr/>
          <p:nvPr/>
        </p:nvSpPr>
        <p:spPr>
          <a:xfrm>
            <a:off x="6300216" y="1920240"/>
            <a:ext cx="502920" cy="502920"/>
          </a:xfrm>
          <a:prstGeom prst="ellipse">
            <a:avLst/>
          </a:prstGeom>
          <a:solidFill>
            <a:srgbClr val="C9002B"/>
          </a:solidFill>
          <a:ln w="12700">
            <a:solidFill>
              <a:srgbClr val="C9002B"/>
            </a:solidFill>
            <a:prstDash val="solid"/>
          </a:ln>
        </p:spPr>
      </p:sp>
      <p:pic>
        <p:nvPicPr>
          <p:cNvPr id="43" name="Image 2" descr="preencoded.png">    </p:cNvPr>
          <p:cNvPicPr>
            <a:picLocks noChangeAspect="1"/>
          </p:cNvPicPr>
          <p:nvPr/>
        </p:nvPicPr>
        <p:blipFill>
          <a:blip r:embed="rId3"/>
          <a:stretch>
            <a:fillRect/>
          </a:stretch>
        </p:blipFill>
        <p:spPr>
          <a:xfrm>
            <a:off x="6425946" y="2045970"/>
            <a:ext cx="251460" cy="251460"/>
          </a:xfrm>
          <a:prstGeom prst="rect">
            <a:avLst/>
          </a:prstGeom>
        </p:spPr>
      </p:pic>
      <p:sp>
        <p:nvSpPr>
          <p:cNvPr id="44" name="Text 39"/>
          <p:cNvSpPr txBox="1"/>
          <p:nvPr/>
        </p:nvSpPr>
        <p:spPr>
          <a:xfrm>
            <a:off x="6876288" y="1801368"/>
            <a:ext cx="1874520" cy="457200"/>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Meiryo" pitchFamily="34" charset="0"/>
                <a:ea typeface="Meiryo" pitchFamily="34" charset="-122"/>
                <a:cs typeface="Meiryo" pitchFamily="34" charset="-120"/>
              </a:rPr>
              <a:t>小規模の自治体</a:t>
            </a:r>
            <a:endParaRPr lang="en-US" sz="1200" dirty="0"/>
          </a:p>
        </p:txBody>
      </p:sp>
      <p:sp>
        <p:nvSpPr>
          <p:cNvPr id="45" name="Text 40"/>
          <p:cNvSpPr txBox="1"/>
          <p:nvPr/>
        </p:nvSpPr>
        <p:spPr>
          <a:xfrm>
            <a:off x="6876288" y="2240280"/>
            <a:ext cx="1874520" cy="320040"/>
          </a:xfrm>
          <a:prstGeom prst="rect">
            <a:avLst/>
          </a:prstGeom>
          <a:noFill/>
          <a:ln/>
        </p:spPr>
        <p:txBody>
          <a:bodyPr wrap="square" lIns="0" tIns="0" rIns="0" bIns="0" rtlCol="0" anchor="t"/>
          <a:lstStyle/>
          <a:p>
            <a:pPr indent="0" marL="0">
              <a:buNone/>
            </a:pPr>
            <a:r>
              <a:rPr lang="en-US" sz="950" dirty="0">
                <a:solidFill>
                  <a:srgbClr val="BAC8D4"/>
                </a:solidFill>
                <a:latin typeface="Meiryo" pitchFamily="34" charset="0"/>
                <a:ea typeface="Meiryo" pitchFamily="34" charset="-122"/>
                <a:cs typeface="Meiryo" pitchFamily="34" charset="-120"/>
              </a:rPr>
              <a:t>町・人口数万人の市</a:t>
            </a:r>
            <a:endParaRPr lang="en-US" sz="950" dirty="0"/>
          </a:p>
        </p:txBody>
      </p:sp>
      <p:sp>
        <p:nvSpPr>
          <p:cNvPr id="46" name="Shape 41"/>
          <p:cNvSpPr/>
          <p:nvPr/>
        </p:nvSpPr>
        <p:spPr>
          <a:xfrm>
            <a:off x="6163056" y="2743200"/>
            <a:ext cx="2651760" cy="777240"/>
          </a:xfrm>
          <a:prstGeom prst="roundRect">
            <a:avLst>
              <a:gd name="adj" fmla="val 9412"/>
            </a:avLst>
          </a:prstGeom>
          <a:solidFill>
            <a:srgbClr val="FBEAEE"/>
          </a:solidFill>
          <a:ln w="12700">
            <a:solidFill>
              <a:srgbClr val="FBEAEE"/>
            </a:solidFill>
            <a:prstDash val="solid"/>
          </a:ln>
        </p:spPr>
      </p:sp>
      <p:sp>
        <p:nvSpPr>
          <p:cNvPr id="47" name="Text 42"/>
          <p:cNvSpPr txBox="1"/>
          <p:nvPr/>
        </p:nvSpPr>
        <p:spPr>
          <a:xfrm>
            <a:off x="6300216" y="278892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入口のサービス</a:t>
            </a:r>
            <a:endParaRPr lang="en-US" sz="950" dirty="0"/>
          </a:p>
        </p:txBody>
      </p:sp>
      <p:sp>
        <p:nvSpPr>
          <p:cNvPr id="48" name="Text 43"/>
          <p:cNvSpPr txBox="1"/>
          <p:nvPr/>
        </p:nvSpPr>
        <p:spPr>
          <a:xfrm>
            <a:off x="6300216" y="3017520"/>
            <a:ext cx="2423160" cy="475488"/>
          </a:xfrm>
          <a:prstGeom prst="rect">
            <a:avLst/>
          </a:prstGeom>
          <a:noFill/>
          <a:ln/>
        </p:spPr>
        <p:txBody>
          <a:bodyPr wrap="square" lIns="0" tIns="0" rIns="0" bIns="0" rtlCol="0" anchor="t"/>
          <a:lstStyle/>
          <a:p>
            <a:pPr indent="0" marL="0">
              <a:buNone/>
            </a:pPr>
            <a:r>
              <a:rPr lang="en-US" sz="1100" b="1" dirty="0">
                <a:solidFill>
                  <a:srgbClr val="1B2B3D"/>
                </a:solidFill>
                <a:latin typeface="Meiryo" pitchFamily="34" charset="0"/>
                <a:ea typeface="Meiryo" pitchFamily="34" charset="-122"/>
                <a:cs typeface="Meiryo" pitchFamily="34" charset="-120"/>
              </a:rPr>
              <a:t>プレミアパネル（近隣市町まで広げて）</a:t>
            </a:r>
            <a:endParaRPr lang="en-US" sz="1100" dirty="0"/>
          </a:p>
        </p:txBody>
      </p:sp>
      <p:sp>
        <p:nvSpPr>
          <p:cNvPr id="49" name="Shape 44"/>
          <p:cNvSpPr/>
          <p:nvPr/>
        </p:nvSpPr>
        <p:spPr>
          <a:xfrm>
            <a:off x="6163056" y="3611880"/>
            <a:ext cx="2651760" cy="777240"/>
          </a:xfrm>
          <a:prstGeom prst="roundRect">
            <a:avLst>
              <a:gd name="adj" fmla="val 9412"/>
            </a:avLst>
          </a:prstGeom>
          <a:solidFill>
            <a:srgbClr val="F2F5F8"/>
          </a:solidFill>
          <a:ln w="12700">
            <a:solidFill>
              <a:srgbClr val="F2F5F8"/>
            </a:solidFill>
            <a:prstDash val="solid"/>
          </a:ln>
        </p:spPr>
      </p:sp>
      <p:sp>
        <p:nvSpPr>
          <p:cNvPr id="50" name="Text 45"/>
          <p:cNvSpPr txBox="1"/>
          <p:nvPr/>
        </p:nvSpPr>
        <p:spPr>
          <a:xfrm>
            <a:off x="6300216" y="365760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始め方</a:t>
            </a:r>
            <a:endParaRPr lang="en-US" sz="950" dirty="0"/>
          </a:p>
        </p:txBody>
      </p:sp>
      <p:sp>
        <p:nvSpPr>
          <p:cNvPr id="51" name="Text 46"/>
          <p:cNvSpPr txBox="1"/>
          <p:nvPr/>
        </p:nvSpPr>
        <p:spPr>
          <a:xfrm>
            <a:off x="6300216" y="388620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少額随意契約の範囲で1回</a:t>
            </a:r>
            <a:endParaRPr lang="en-US" sz="1100" dirty="0"/>
          </a:p>
        </p:txBody>
      </p:sp>
      <p:sp>
        <p:nvSpPr>
          <p:cNvPr id="52" name="Shape 47"/>
          <p:cNvSpPr/>
          <p:nvPr/>
        </p:nvSpPr>
        <p:spPr>
          <a:xfrm>
            <a:off x="6163056" y="4480560"/>
            <a:ext cx="2651760" cy="777240"/>
          </a:xfrm>
          <a:prstGeom prst="roundRect">
            <a:avLst>
              <a:gd name="adj" fmla="val 9412"/>
            </a:avLst>
          </a:prstGeom>
          <a:solidFill>
            <a:srgbClr val="F2F5F8"/>
          </a:solidFill>
          <a:ln w="12700">
            <a:solidFill>
              <a:srgbClr val="F2F5F8"/>
            </a:solidFill>
            <a:prstDash val="solid"/>
          </a:ln>
        </p:spPr>
      </p:sp>
      <p:sp>
        <p:nvSpPr>
          <p:cNvPr id="53" name="Text 48"/>
          <p:cNvSpPr txBox="1"/>
          <p:nvPr/>
        </p:nvSpPr>
        <p:spPr>
          <a:xfrm>
            <a:off x="6300216" y="452628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説明に使う数字</a:t>
            </a:r>
            <a:endParaRPr lang="en-US" sz="950" dirty="0"/>
          </a:p>
        </p:txBody>
      </p:sp>
      <p:sp>
        <p:nvSpPr>
          <p:cNvPr id="54" name="Text 49"/>
          <p:cNvSpPr txBox="1"/>
          <p:nvPr/>
        </p:nvSpPr>
        <p:spPr>
          <a:xfrm>
            <a:off x="6300216" y="475488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来訪者の割合、来なかった理由</a:t>
            </a:r>
            <a:endParaRPr lang="en-US" sz="1100" dirty="0"/>
          </a:p>
        </p:txBody>
      </p:sp>
      <p:sp>
        <p:nvSpPr>
          <p:cNvPr id="55" name="Shape 50"/>
          <p:cNvSpPr/>
          <p:nvPr/>
        </p:nvSpPr>
        <p:spPr>
          <a:xfrm>
            <a:off x="6163056" y="5349240"/>
            <a:ext cx="2651760" cy="777240"/>
          </a:xfrm>
          <a:prstGeom prst="roundRect">
            <a:avLst>
              <a:gd name="adj" fmla="val 9412"/>
            </a:avLst>
          </a:prstGeom>
          <a:solidFill>
            <a:srgbClr val="F2F5F8"/>
          </a:solidFill>
          <a:ln w="12700">
            <a:solidFill>
              <a:srgbClr val="F2F5F8"/>
            </a:solidFill>
            <a:prstDash val="solid"/>
          </a:ln>
        </p:spPr>
      </p:sp>
      <p:sp>
        <p:nvSpPr>
          <p:cNvPr id="56" name="Text 51"/>
          <p:cNvSpPr txBox="1"/>
          <p:nvPr/>
        </p:nvSpPr>
        <p:spPr>
          <a:xfrm>
            <a:off x="6300216" y="539496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気をつけること</a:t>
            </a:r>
            <a:endParaRPr lang="en-US" sz="950" dirty="0"/>
          </a:p>
        </p:txBody>
      </p:sp>
      <p:sp>
        <p:nvSpPr>
          <p:cNvPr id="57" name="Text 52"/>
          <p:cNvSpPr txBox="1"/>
          <p:nvPr/>
        </p:nvSpPr>
        <p:spPr>
          <a:xfrm>
            <a:off x="6300216" y="562356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回答が集まる範囲、予算要求資料</a:t>
            </a:r>
            <a:endParaRPr lang="en-US" sz="1100" dirty="0"/>
          </a:p>
        </p:txBody>
      </p:sp>
      <p:sp>
        <p:nvSpPr>
          <p:cNvPr id="58" name="Shape 53"/>
          <p:cNvSpPr/>
          <p:nvPr/>
        </p:nvSpPr>
        <p:spPr>
          <a:xfrm>
            <a:off x="8970264" y="1737360"/>
            <a:ext cx="2651760" cy="914400"/>
          </a:xfrm>
          <a:prstGeom prst="roundRect">
            <a:avLst>
              <a:gd name="adj" fmla="val 8000"/>
            </a:avLst>
          </a:prstGeom>
          <a:solidFill>
            <a:srgbClr val="13283C"/>
          </a:solidFill>
          <a:ln w="12700">
            <a:solidFill>
              <a:srgbClr val="13283C"/>
            </a:solidFill>
            <a:prstDash val="solid"/>
          </a:ln>
        </p:spPr>
      </p:sp>
      <p:sp>
        <p:nvSpPr>
          <p:cNvPr id="59" name="Shape 54"/>
          <p:cNvSpPr/>
          <p:nvPr/>
        </p:nvSpPr>
        <p:spPr>
          <a:xfrm>
            <a:off x="9107424" y="1920240"/>
            <a:ext cx="502920" cy="502920"/>
          </a:xfrm>
          <a:prstGeom prst="ellipse">
            <a:avLst/>
          </a:prstGeom>
          <a:solidFill>
            <a:srgbClr val="C9002B"/>
          </a:solidFill>
          <a:ln w="12700">
            <a:solidFill>
              <a:srgbClr val="C9002B"/>
            </a:solidFill>
            <a:prstDash val="solid"/>
          </a:ln>
        </p:spPr>
      </p:sp>
      <p:pic>
        <p:nvPicPr>
          <p:cNvPr id="60" name="Image 3" descr="preencoded.png">    </p:cNvPr>
          <p:cNvPicPr>
            <a:picLocks noChangeAspect="1"/>
          </p:cNvPicPr>
          <p:nvPr/>
        </p:nvPicPr>
        <p:blipFill>
          <a:blip r:embed="rId4"/>
          <a:stretch>
            <a:fillRect/>
          </a:stretch>
        </p:blipFill>
        <p:spPr>
          <a:xfrm>
            <a:off x="9233154" y="2045970"/>
            <a:ext cx="251460" cy="251460"/>
          </a:xfrm>
          <a:prstGeom prst="rect">
            <a:avLst/>
          </a:prstGeom>
        </p:spPr>
      </p:pic>
      <p:sp>
        <p:nvSpPr>
          <p:cNvPr id="61" name="Text 55"/>
          <p:cNvSpPr txBox="1"/>
          <p:nvPr/>
        </p:nvSpPr>
        <p:spPr>
          <a:xfrm>
            <a:off x="9683496" y="1801368"/>
            <a:ext cx="1874520" cy="457200"/>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Meiryo" pitchFamily="34" charset="0"/>
                <a:ea typeface="Meiryo" pitchFamily="34" charset="-122"/>
                <a:cs typeface="Meiryo" pitchFamily="34" charset="-120"/>
              </a:rPr>
              <a:t>中規模の自治体</a:t>
            </a:r>
            <a:endParaRPr lang="en-US" sz="1200" dirty="0"/>
          </a:p>
        </p:txBody>
      </p:sp>
      <p:sp>
        <p:nvSpPr>
          <p:cNvPr id="62" name="Text 56"/>
          <p:cNvSpPr txBox="1"/>
          <p:nvPr/>
        </p:nvSpPr>
        <p:spPr>
          <a:xfrm>
            <a:off x="9683496" y="2240280"/>
            <a:ext cx="1874520" cy="320040"/>
          </a:xfrm>
          <a:prstGeom prst="rect">
            <a:avLst/>
          </a:prstGeom>
          <a:noFill/>
          <a:ln/>
        </p:spPr>
        <p:txBody>
          <a:bodyPr wrap="square" lIns="0" tIns="0" rIns="0" bIns="0" rtlCol="0" anchor="t"/>
          <a:lstStyle/>
          <a:p>
            <a:pPr indent="0" marL="0">
              <a:buNone/>
            </a:pPr>
            <a:r>
              <a:rPr lang="en-US" sz="950" dirty="0">
                <a:solidFill>
                  <a:srgbClr val="BAC8D4"/>
                </a:solidFill>
                <a:latin typeface="Meiryo" pitchFamily="34" charset="0"/>
                <a:ea typeface="Meiryo" pitchFamily="34" charset="-122"/>
                <a:cs typeface="Meiryo" pitchFamily="34" charset="-120"/>
              </a:rPr>
              <a:t>商店街・観光施策が多い市</a:t>
            </a:r>
            <a:endParaRPr lang="en-US" sz="950" dirty="0"/>
          </a:p>
        </p:txBody>
      </p:sp>
      <p:sp>
        <p:nvSpPr>
          <p:cNvPr id="63" name="Shape 57"/>
          <p:cNvSpPr/>
          <p:nvPr/>
        </p:nvSpPr>
        <p:spPr>
          <a:xfrm>
            <a:off x="8970264" y="2743200"/>
            <a:ext cx="2651760" cy="777240"/>
          </a:xfrm>
          <a:prstGeom prst="roundRect">
            <a:avLst>
              <a:gd name="adj" fmla="val 9412"/>
            </a:avLst>
          </a:prstGeom>
          <a:solidFill>
            <a:srgbClr val="FBEAEE"/>
          </a:solidFill>
          <a:ln w="12700">
            <a:solidFill>
              <a:srgbClr val="FBEAEE"/>
            </a:solidFill>
            <a:prstDash val="solid"/>
          </a:ln>
        </p:spPr>
      </p:sp>
      <p:sp>
        <p:nvSpPr>
          <p:cNvPr id="64" name="Text 58"/>
          <p:cNvSpPr txBox="1"/>
          <p:nvPr/>
        </p:nvSpPr>
        <p:spPr>
          <a:xfrm>
            <a:off x="9107424" y="278892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入口のサービス</a:t>
            </a:r>
            <a:endParaRPr lang="en-US" sz="950" dirty="0"/>
          </a:p>
        </p:txBody>
      </p:sp>
      <p:sp>
        <p:nvSpPr>
          <p:cNvPr id="65" name="Text 59"/>
          <p:cNvSpPr txBox="1"/>
          <p:nvPr/>
        </p:nvSpPr>
        <p:spPr>
          <a:xfrm>
            <a:off x="9107424" y="3017520"/>
            <a:ext cx="2423160" cy="475488"/>
          </a:xfrm>
          <a:prstGeom prst="rect">
            <a:avLst/>
          </a:prstGeom>
          <a:noFill/>
          <a:ln/>
        </p:spPr>
        <p:txBody>
          <a:bodyPr wrap="square" lIns="0" tIns="0" rIns="0" bIns="0" rtlCol="0" anchor="t"/>
          <a:lstStyle/>
          <a:p>
            <a:pPr indent="0" marL="0">
              <a:buNone/>
            </a:pPr>
            <a:r>
              <a:rPr lang="en-US" sz="1100" b="1" dirty="0">
                <a:solidFill>
                  <a:srgbClr val="1B2B3D"/>
                </a:solidFill>
                <a:latin typeface="Meiryo" pitchFamily="34" charset="0"/>
                <a:ea typeface="Meiryo" pitchFamily="34" charset="-122"/>
                <a:cs typeface="Meiryo" pitchFamily="34" charset="-120"/>
              </a:rPr>
              <a:t>モバイル空間統計（イベント日の比較）</a:t>
            </a:r>
            <a:endParaRPr lang="en-US" sz="1100" dirty="0"/>
          </a:p>
        </p:txBody>
      </p:sp>
      <p:sp>
        <p:nvSpPr>
          <p:cNvPr id="66" name="Shape 60"/>
          <p:cNvSpPr/>
          <p:nvPr/>
        </p:nvSpPr>
        <p:spPr>
          <a:xfrm>
            <a:off x="8970264" y="3611880"/>
            <a:ext cx="2651760" cy="777240"/>
          </a:xfrm>
          <a:prstGeom prst="roundRect">
            <a:avLst>
              <a:gd name="adj" fmla="val 9412"/>
            </a:avLst>
          </a:prstGeom>
          <a:solidFill>
            <a:srgbClr val="F2F5F8"/>
          </a:solidFill>
          <a:ln w="12700">
            <a:solidFill>
              <a:srgbClr val="F2F5F8"/>
            </a:solidFill>
            <a:prstDash val="solid"/>
          </a:ln>
        </p:spPr>
      </p:sp>
      <p:sp>
        <p:nvSpPr>
          <p:cNvPr id="67" name="Text 61"/>
          <p:cNvSpPr txBox="1"/>
          <p:nvPr/>
        </p:nvSpPr>
        <p:spPr>
          <a:xfrm>
            <a:off x="9107424" y="365760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始め方</a:t>
            </a:r>
            <a:endParaRPr lang="en-US" sz="950" dirty="0"/>
          </a:p>
        </p:txBody>
      </p:sp>
      <p:sp>
        <p:nvSpPr>
          <p:cNvPr id="68" name="Text 62"/>
          <p:cNvSpPr txBox="1"/>
          <p:nvPr/>
        </p:nvSpPr>
        <p:spPr>
          <a:xfrm>
            <a:off x="9107424" y="388620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1回→次年度予算で年間</a:t>
            </a:r>
            <a:endParaRPr lang="en-US" sz="1100" dirty="0"/>
          </a:p>
        </p:txBody>
      </p:sp>
      <p:sp>
        <p:nvSpPr>
          <p:cNvPr id="69" name="Shape 63"/>
          <p:cNvSpPr/>
          <p:nvPr/>
        </p:nvSpPr>
        <p:spPr>
          <a:xfrm>
            <a:off x="8970264" y="4480560"/>
            <a:ext cx="2651760" cy="777240"/>
          </a:xfrm>
          <a:prstGeom prst="roundRect">
            <a:avLst>
              <a:gd name="adj" fmla="val 9412"/>
            </a:avLst>
          </a:prstGeom>
          <a:solidFill>
            <a:srgbClr val="F2F5F8"/>
          </a:solidFill>
          <a:ln w="12700">
            <a:solidFill>
              <a:srgbClr val="F2F5F8"/>
            </a:solidFill>
            <a:prstDash val="solid"/>
          </a:ln>
        </p:spPr>
      </p:sp>
      <p:sp>
        <p:nvSpPr>
          <p:cNvPr id="70" name="Text 64"/>
          <p:cNvSpPr txBox="1"/>
          <p:nvPr/>
        </p:nvSpPr>
        <p:spPr>
          <a:xfrm>
            <a:off x="9107424" y="452628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説明に使う数字</a:t>
            </a:r>
            <a:endParaRPr lang="en-US" sz="950" dirty="0"/>
          </a:p>
        </p:txBody>
      </p:sp>
      <p:sp>
        <p:nvSpPr>
          <p:cNvPr id="71" name="Text 65"/>
          <p:cNvSpPr txBox="1"/>
          <p:nvPr/>
        </p:nvSpPr>
        <p:spPr>
          <a:xfrm>
            <a:off x="9107424" y="475488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当日の人数の差、市外比率、経済効果</a:t>
            </a:r>
            <a:endParaRPr lang="en-US" sz="1100" dirty="0"/>
          </a:p>
        </p:txBody>
      </p:sp>
      <p:sp>
        <p:nvSpPr>
          <p:cNvPr id="72" name="Shape 66"/>
          <p:cNvSpPr/>
          <p:nvPr/>
        </p:nvSpPr>
        <p:spPr>
          <a:xfrm>
            <a:off x="8970264" y="5349240"/>
            <a:ext cx="2651760" cy="777240"/>
          </a:xfrm>
          <a:prstGeom prst="roundRect">
            <a:avLst>
              <a:gd name="adj" fmla="val 9412"/>
            </a:avLst>
          </a:prstGeom>
          <a:solidFill>
            <a:srgbClr val="F2F5F8"/>
          </a:solidFill>
          <a:ln w="12700">
            <a:solidFill>
              <a:srgbClr val="F2F5F8"/>
            </a:solidFill>
            <a:prstDash val="solid"/>
          </a:ln>
        </p:spPr>
      </p:sp>
      <p:sp>
        <p:nvSpPr>
          <p:cNvPr id="73" name="Text 67"/>
          <p:cNvSpPr txBox="1"/>
          <p:nvPr/>
        </p:nvSpPr>
        <p:spPr>
          <a:xfrm>
            <a:off x="9107424" y="539496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気をつけること</a:t>
            </a:r>
            <a:endParaRPr lang="en-US" sz="950" dirty="0"/>
          </a:p>
        </p:txBody>
      </p:sp>
      <p:sp>
        <p:nvSpPr>
          <p:cNvPr id="74" name="Text 68"/>
          <p:cNvSpPr txBox="1"/>
          <p:nvPr/>
        </p:nvSpPr>
        <p:spPr>
          <a:xfrm>
            <a:off x="9107424" y="562356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議会説明用の1枚、RESASとの違い</a:t>
            </a:r>
            <a:endParaRPr lang="en-US" sz="1100" dirty="0"/>
          </a:p>
        </p:txBody>
      </p:sp>
      <p:sp>
        <p:nvSpPr>
          <p:cNvPr id="75" name="Text 69"/>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本資料の提案例。導入実績を示すものではない</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社内用</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他の方法との比較と切り返し（商店街・小規模向け）</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商店街ではカメラやセンサーの提案と比べられることが多い</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22</a:t>
            </a:r>
            <a:endParaRPr lang="en-US" sz="1000" dirty="0"/>
          </a:p>
        </p:txBody>
      </p:sp>
      <p:sp>
        <p:nvSpPr>
          <p:cNvPr id="6" name="Text 4"/>
          <p:cNvSpPr txBox="1"/>
          <p:nvPr/>
        </p:nvSpPr>
        <p:spPr>
          <a:xfrm>
            <a:off x="8686800" y="329184"/>
            <a:ext cx="2926080" cy="310896"/>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社内用｜顧客に出すときは非表示</a:t>
            </a:r>
            <a:endParaRPr lang="en-US" sz="1050" dirty="0"/>
          </a:p>
        </p:txBody>
      </p:sp>
      <p:sp>
        <p:nvSpPr>
          <p:cNvPr id="7" name="Shape 5"/>
          <p:cNvSpPr/>
          <p:nvPr/>
        </p:nvSpPr>
        <p:spPr>
          <a:xfrm>
            <a:off x="548640" y="1737360"/>
            <a:ext cx="11064240" cy="658368"/>
          </a:xfrm>
          <a:prstGeom prst="roundRect">
            <a:avLst>
              <a:gd name="adj" fmla="val 11111"/>
            </a:avLst>
          </a:prstGeom>
          <a:solidFill>
            <a:srgbClr val="FBEAEE"/>
          </a:solidFill>
          <a:ln w="12700">
            <a:solidFill>
              <a:srgbClr val="FBEAEE"/>
            </a:solidFill>
            <a:prstDash val="solid"/>
          </a:ln>
        </p:spPr>
      </p:sp>
      <p:sp>
        <p:nvSpPr>
          <p:cNvPr id="8" name="Text 6"/>
          <p:cNvSpPr txBox="1"/>
          <p:nvPr/>
        </p:nvSpPr>
        <p:spPr>
          <a:xfrm>
            <a:off x="731520" y="1737360"/>
            <a:ext cx="2926080" cy="658368"/>
          </a:xfrm>
          <a:prstGeom prst="rect">
            <a:avLst/>
          </a:prstGeom>
          <a:noFill/>
          <a:ln/>
        </p:spPr>
        <p:txBody>
          <a:bodyPr wrap="square" lIns="0" tIns="0" rIns="0" bIns="0" rtlCol="0" anchor="ctr"/>
          <a:lstStyle/>
          <a:p>
            <a:pPr indent="0" marL="0">
              <a:buNone/>
            </a:pPr>
            <a:r>
              <a:rPr lang="en-US" sz="1250" b="1" dirty="0">
                <a:solidFill>
                  <a:srgbClr val="C9002B"/>
                </a:solidFill>
                <a:latin typeface="Meiryo" pitchFamily="34" charset="0"/>
                <a:ea typeface="Meiryo" pitchFamily="34" charset="-122"/>
                <a:cs typeface="Meiryo" pitchFamily="34" charset="-120"/>
              </a:rPr>
              <a:t>モバイル空間統計（ドコモ）</a:t>
            </a:r>
            <a:endParaRPr lang="en-US" sz="1250" dirty="0"/>
          </a:p>
        </p:txBody>
      </p:sp>
      <p:sp>
        <p:nvSpPr>
          <p:cNvPr id="9" name="Text 7"/>
          <p:cNvSpPr txBox="1"/>
          <p:nvPr/>
        </p:nvSpPr>
        <p:spPr>
          <a:xfrm>
            <a:off x="3657600" y="1737360"/>
            <a:ext cx="4572000" cy="658368"/>
          </a:xfrm>
          <a:prstGeom prst="rect">
            <a:avLst/>
          </a:prstGeom>
          <a:noFill/>
          <a:ln/>
        </p:spPr>
        <p:txBody>
          <a:bodyPr wrap="square" lIns="0" tIns="0" rIns="0" bIns="0" rtlCol="0" anchor="ctr"/>
          <a:lstStyle/>
          <a:p>
            <a:pPr indent="0" marL="0">
              <a:buNone/>
            </a:pPr>
            <a:r>
              <a:rPr lang="en-US" sz="1100" dirty="0">
                <a:solidFill>
                  <a:srgbClr val="1B2B3D"/>
                </a:solidFill>
                <a:latin typeface="Meiryo" pitchFamily="34" charset="0"/>
                <a:ea typeface="Meiryo" pitchFamily="34" charset="-122"/>
                <a:cs typeface="Meiryo" pitchFamily="34" charset="-120"/>
              </a:rPr>
              <a:t>基地局の運用データ。約8,900万台。来訪元・年代、市町村単位の人の数に強い</a:t>
            </a:r>
            <a:endParaRPr lang="en-US" sz="1100" dirty="0"/>
          </a:p>
        </p:txBody>
      </p:sp>
      <p:sp>
        <p:nvSpPr>
          <p:cNvPr id="10" name="Text 8"/>
          <p:cNvSpPr txBox="1"/>
          <p:nvPr/>
        </p:nvSpPr>
        <p:spPr>
          <a:xfrm>
            <a:off x="8321040" y="1737360"/>
            <a:ext cx="3200400" cy="658368"/>
          </a:xfrm>
          <a:prstGeom prst="rect">
            <a:avLst/>
          </a:prstGeom>
          <a:noFill/>
          <a:ln/>
        </p:spPr>
        <p:txBody>
          <a:bodyPr wrap="square" lIns="0" tIns="0" rIns="0" bIns="0" rtlCol="0" anchor="ctr"/>
          <a:lstStyle/>
          <a:p>
            <a:pPr indent="0" marL="0">
              <a:buNone/>
            </a:pPr>
            <a:r>
              <a:rPr lang="en-US" sz="1100" b="1" dirty="0">
                <a:solidFill>
                  <a:srgbClr val="1B2B3D"/>
                </a:solidFill>
                <a:latin typeface="Meiryo" pitchFamily="34" charset="0"/>
                <a:ea typeface="Meiryo" pitchFamily="34" charset="-122"/>
                <a:cs typeface="Meiryo" pitchFamily="34" charset="-120"/>
              </a:rPr>
              <a:t>人口マップ月額9万円〜、スポット分析は個別見積</a:t>
            </a:r>
            <a:endParaRPr lang="en-US" sz="1100" dirty="0"/>
          </a:p>
        </p:txBody>
      </p:sp>
      <p:sp>
        <p:nvSpPr>
          <p:cNvPr id="11" name="Shape 9"/>
          <p:cNvSpPr/>
          <p:nvPr/>
        </p:nvSpPr>
        <p:spPr>
          <a:xfrm>
            <a:off x="548640" y="2487168"/>
            <a:ext cx="11064240" cy="658368"/>
          </a:xfrm>
          <a:prstGeom prst="roundRect">
            <a:avLst>
              <a:gd name="adj" fmla="val 11111"/>
            </a:avLst>
          </a:prstGeom>
          <a:solidFill>
            <a:srgbClr val="F2F5F8"/>
          </a:solidFill>
          <a:ln w="12700">
            <a:solidFill>
              <a:srgbClr val="F2F5F8"/>
            </a:solidFill>
            <a:prstDash val="solid"/>
          </a:ln>
        </p:spPr>
      </p:sp>
      <p:sp>
        <p:nvSpPr>
          <p:cNvPr id="12" name="Text 10"/>
          <p:cNvSpPr txBox="1"/>
          <p:nvPr/>
        </p:nvSpPr>
        <p:spPr>
          <a:xfrm>
            <a:off x="731520" y="2487168"/>
            <a:ext cx="2926080" cy="658368"/>
          </a:xfrm>
          <a:prstGeom prst="rect">
            <a:avLst/>
          </a:prstGeom>
          <a:noFill/>
          <a:ln/>
        </p:spPr>
        <p:txBody>
          <a:bodyPr wrap="square" lIns="0" tIns="0" rIns="0" bIns="0" rtlCol="0" anchor="ctr"/>
          <a:lstStyle/>
          <a:p>
            <a:pPr indent="0" marL="0">
              <a:buNone/>
            </a:pPr>
            <a:r>
              <a:rPr lang="en-US" sz="1250" b="1" dirty="0">
                <a:solidFill>
                  <a:srgbClr val="13283C"/>
                </a:solidFill>
                <a:latin typeface="Meiryo" pitchFamily="34" charset="0"/>
                <a:ea typeface="Meiryo" pitchFamily="34" charset="-122"/>
                <a:cs typeface="Meiryo" pitchFamily="34" charset="-120"/>
              </a:rPr>
              <a:t>AIカメラ・スマート街路灯</a:t>
            </a:r>
            <a:endParaRPr lang="en-US" sz="1250" dirty="0"/>
          </a:p>
        </p:txBody>
      </p:sp>
      <p:sp>
        <p:nvSpPr>
          <p:cNvPr id="13" name="Text 11"/>
          <p:cNvSpPr txBox="1"/>
          <p:nvPr/>
        </p:nvSpPr>
        <p:spPr>
          <a:xfrm>
            <a:off x="3657600" y="2487168"/>
            <a:ext cx="4572000" cy="658368"/>
          </a:xfrm>
          <a:prstGeom prst="rect">
            <a:avLst/>
          </a:prstGeom>
          <a:noFill/>
          <a:ln/>
        </p:spPr>
        <p:txBody>
          <a:bodyPr wrap="square" lIns="0" tIns="0" rIns="0" bIns="0" rtlCol="0" anchor="ctr"/>
          <a:lstStyle/>
          <a:p>
            <a:pPr indent="0" marL="0">
              <a:buNone/>
            </a:pPr>
            <a:r>
              <a:rPr lang="en-US" sz="1100" dirty="0">
                <a:solidFill>
                  <a:srgbClr val="1B2B3D"/>
                </a:solidFill>
                <a:latin typeface="Meiryo" pitchFamily="34" charset="0"/>
                <a:ea typeface="Meiryo" pitchFamily="34" charset="-122"/>
                <a:cs typeface="Meiryo" pitchFamily="34" charset="-120"/>
              </a:rPr>
              <a:t>商店街に設置。通りごとの通行量をリアルタイムで数えられる</a:t>
            </a:r>
            <a:endParaRPr lang="en-US" sz="1100" dirty="0"/>
          </a:p>
        </p:txBody>
      </p:sp>
      <p:sp>
        <p:nvSpPr>
          <p:cNvPr id="14" name="Text 12"/>
          <p:cNvSpPr txBox="1"/>
          <p:nvPr/>
        </p:nvSpPr>
        <p:spPr>
          <a:xfrm>
            <a:off x="8321040" y="2487168"/>
            <a:ext cx="3200400" cy="658368"/>
          </a:xfrm>
          <a:prstGeom prst="rect">
            <a:avLst/>
          </a:prstGeom>
          <a:noFill/>
          <a:ln/>
        </p:spPr>
        <p:txBody>
          <a:bodyPr wrap="square" lIns="0" tIns="0" rIns="0" bIns="0" rtlCol="0" anchor="ctr"/>
          <a:lstStyle/>
          <a:p>
            <a:pPr indent="0" marL="0">
              <a:buNone/>
            </a:pPr>
            <a:r>
              <a:rPr lang="en-US" sz="1100" b="1" dirty="0">
                <a:solidFill>
                  <a:srgbClr val="1B2B3D"/>
                </a:solidFill>
                <a:latin typeface="Meiryo" pitchFamily="34" charset="0"/>
                <a:ea typeface="Meiryo" pitchFamily="34" charset="-122"/>
                <a:cs typeface="Meiryo" pitchFamily="34" charset="-120"/>
              </a:rPr>
              <a:t>機器・設置・保守の費用。補助金で導入する例あり</a:t>
            </a:r>
            <a:endParaRPr lang="en-US" sz="1100" dirty="0"/>
          </a:p>
        </p:txBody>
      </p:sp>
      <p:sp>
        <p:nvSpPr>
          <p:cNvPr id="15" name="Shape 13"/>
          <p:cNvSpPr/>
          <p:nvPr/>
        </p:nvSpPr>
        <p:spPr>
          <a:xfrm>
            <a:off x="548640" y="3236976"/>
            <a:ext cx="11064240" cy="658368"/>
          </a:xfrm>
          <a:prstGeom prst="roundRect">
            <a:avLst>
              <a:gd name="adj" fmla="val 11111"/>
            </a:avLst>
          </a:prstGeom>
          <a:solidFill>
            <a:srgbClr val="F2F5F8"/>
          </a:solidFill>
          <a:ln w="12700">
            <a:solidFill>
              <a:srgbClr val="F2F5F8"/>
            </a:solidFill>
            <a:prstDash val="solid"/>
          </a:ln>
        </p:spPr>
      </p:sp>
      <p:sp>
        <p:nvSpPr>
          <p:cNvPr id="16" name="Text 14"/>
          <p:cNvSpPr txBox="1"/>
          <p:nvPr/>
        </p:nvSpPr>
        <p:spPr>
          <a:xfrm>
            <a:off x="731520" y="3236976"/>
            <a:ext cx="2926080" cy="658368"/>
          </a:xfrm>
          <a:prstGeom prst="rect">
            <a:avLst/>
          </a:prstGeom>
          <a:noFill/>
          <a:ln/>
        </p:spPr>
        <p:txBody>
          <a:bodyPr wrap="square" lIns="0" tIns="0" rIns="0" bIns="0" rtlCol="0" anchor="ctr"/>
          <a:lstStyle/>
          <a:p>
            <a:pPr indent="0" marL="0">
              <a:buNone/>
            </a:pPr>
            <a:r>
              <a:rPr lang="en-US" sz="1250" b="1" dirty="0">
                <a:solidFill>
                  <a:srgbClr val="13283C"/>
                </a:solidFill>
                <a:latin typeface="Meiryo" pitchFamily="34" charset="0"/>
                <a:ea typeface="Meiryo" pitchFamily="34" charset="-122"/>
                <a:cs typeface="Meiryo" pitchFamily="34" charset="-120"/>
              </a:rPr>
              <a:t>KDDI Location Analyzer</a:t>
            </a:r>
            <a:endParaRPr lang="en-US" sz="1250" dirty="0"/>
          </a:p>
        </p:txBody>
      </p:sp>
      <p:sp>
        <p:nvSpPr>
          <p:cNvPr id="17" name="Text 15"/>
          <p:cNvSpPr txBox="1"/>
          <p:nvPr/>
        </p:nvSpPr>
        <p:spPr>
          <a:xfrm>
            <a:off x="3657600" y="3236976"/>
            <a:ext cx="4572000" cy="658368"/>
          </a:xfrm>
          <a:prstGeom prst="rect">
            <a:avLst/>
          </a:prstGeom>
          <a:noFill/>
          <a:ln/>
        </p:spPr>
        <p:txBody>
          <a:bodyPr wrap="square" lIns="0" tIns="0" rIns="0" bIns="0" rtlCol="0" anchor="ctr"/>
          <a:lstStyle/>
          <a:p>
            <a:pPr indent="0" marL="0">
              <a:buNone/>
            </a:pPr>
            <a:r>
              <a:rPr lang="en-US" sz="1100" dirty="0">
                <a:solidFill>
                  <a:srgbClr val="1B2B3D"/>
                </a:solidFill>
                <a:latin typeface="Meiryo" pitchFamily="34" charset="0"/>
                <a:ea typeface="Meiryo" pitchFamily="34" charset="-122"/>
                <a:cs typeface="Meiryo" pitchFamily="34" charset="-120"/>
              </a:rPr>
              <a:t>auスマホのGPS。施設・道路単位、自分で何度も分析できる</a:t>
            </a:r>
            <a:endParaRPr lang="en-US" sz="1100" dirty="0"/>
          </a:p>
        </p:txBody>
      </p:sp>
      <p:sp>
        <p:nvSpPr>
          <p:cNvPr id="18" name="Text 16"/>
          <p:cNvSpPr txBox="1"/>
          <p:nvPr/>
        </p:nvSpPr>
        <p:spPr>
          <a:xfrm>
            <a:off x="8321040" y="3236976"/>
            <a:ext cx="3200400" cy="658368"/>
          </a:xfrm>
          <a:prstGeom prst="rect">
            <a:avLst/>
          </a:prstGeom>
          <a:noFill/>
          <a:ln/>
        </p:spPr>
        <p:txBody>
          <a:bodyPr wrap="square" lIns="0" tIns="0" rIns="0" bIns="0" rtlCol="0" anchor="ctr"/>
          <a:lstStyle/>
          <a:p>
            <a:pPr indent="0" marL="0">
              <a:buNone/>
            </a:pPr>
            <a:r>
              <a:rPr lang="en-US" sz="1100" b="1" dirty="0">
                <a:solidFill>
                  <a:srgbClr val="1B2B3D"/>
                </a:solidFill>
                <a:latin typeface="Meiryo" pitchFamily="34" charset="0"/>
                <a:ea typeface="Meiryo" pitchFamily="34" charset="-122"/>
                <a:cs typeface="Meiryo" pitchFamily="34" charset="-120"/>
              </a:rPr>
              <a:t>年額240万円（1ID・税別）の掲載例。無料トライアルあり</a:t>
            </a:r>
            <a:endParaRPr lang="en-US" sz="1100" dirty="0"/>
          </a:p>
        </p:txBody>
      </p:sp>
      <p:sp>
        <p:nvSpPr>
          <p:cNvPr id="19" name="Shape 17"/>
          <p:cNvSpPr/>
          <p:nvPr/>
        </p:nvSpPr>
        <p:spPr>
          <a:xfrm>
            <a:off x="548640" y="4069080"/>
            <a:ext cx="5440680" cy="987552"/>
          </a:xfrm>
          <a:prstGeom prst="roundRect">
            <a:avLst>
              <a:gd name="adj" fmla="val 7407"/>
            </a:avLst>
          </a:prstGeom>
          <a:solidFill>
            <a:srgbClr val="F2F5F8"/>
          </a:solidFill>
          <a:ln w="12700">
            <a:solidFill>
              <a:srgbClr val="F2F5F8"/>
            </a:solidFill>
            <a:prstDash val="solid"/>
          </a:ln>
        </p:spPr>
      </p:sp>
      <p:sp>
        <p:nvSpPr>
          <p:cNvPr id="20" name="Text 18"/>
          <p:cNvSpPr txBox="1"/>
          <p:nvPr/>
        </p:nvSpPr>
        <p:spPr>
          <a:xfrm>
            <a:off x="731520" y="4123944"/>
            <a:ext cx="5120640" cy="292608"/>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「カメラで数えれば十分では？」</a:t>
            </a:r>
            <a:endParaRPr lang="en-US" sz="1200" dirty="0"/>
          </a:p>
        </p:txBody>
      </p:sp>
      <p:sp>
        <p:nvSpPr>
          <p:cNvPr id="21" name="Text 19"/>
          <p:cNvSpPr txBox="1"/>
          <p:nvPr/>
        </p:nvSpPr>
        <p:spPr>
          <a:xfrm>
            <a:off x="731520" y="4416552"/>
            <a:ext cx="5120640" cy="603504"/>
          </a:xfrm>
          <a:prstGeom prst="rect">
            <a:avLst/>
          </a:prstGeom>
          <a:noFill/>
          <a:ln/>
        </p:spPr>
        <p:txBody>
          <a:bodyPr wrap="square" lIns="0" tIns="0" rIns="0" bIns="0" rtlCol="0" anchor="t"/>
          <a:lstStyle/>
          <a:p>
            <a:pPr indent="0" marL="0">
              <a:buNone/>
            </a:pPr>
            <a:r>
              <a:rPr lang="en-US" sz="1050" dirty="0">
                <a:solidFill>
                  <a:srgbClr val="1B2B3D"/>
                </a:solidFill>
                <a:latin typeface="Meiryo" pitchFamily="34" charset="0"/>
                <a:ea typeface="Meiryo" pitchFamily="34" charset="-122"/>
                <a:cs typeface="Meiryo" pitchFamily="34" charset="-120"/>
              </a:rPr>
              <a:t>通りの通行量はカメラが得意です。どこから来たか・年代・来ていない人の理由はドコモのデータで分かるので、組み合わせると効果を説明しやすくなります</a:t>
            </a:r>
            <a:endParaRPr lang="en-US" sz="1050" dirty="0"/>
          </a:p>
        </p:txBody>
      </p:sp>
      <p:sp>
        <p:nvSpPr>
          <p:cNvPr id="22" name="Shape 20"/>
          <p:cNvSpPr/>
          <p:nvPr/>
        </p:nvSpPr>
        <p:spPr>
          <a:xfrm>
            <a:off x="6172200" y="4069080"/>
            <a:ext cx="5440680" cy="987552"/>
          </a:xfrm>
          <a:prstGeom prst="roundRect">
            <a:avLst>
              <a:gd name="adj" fmla="val 7407"/>
            </a:avLst>
          </a:prstGeom>
          <a:solidFill>
            <a:srgbClr val="F2F5F8"/>
          </a:solidFill>
          <a:ln w="12700">
            <a:solidFill>
              <a:srgbClr val="F2F5F8"/>
            </a:solidFill>
            <a:prstDash val="solid"/>
          </a:ln>
        </p:spPr>
      </p:sp>
      <p:sp>
        <p:nvSpPr>
          <p:cNvPr id="23" name="Text 21"/>
          <p:cNvSpPr txBox="1"/>
          <p:nvPr/>
        </p:nvSpPr>
        <p:spPr>
          <a:xfrm>
            <a:off x="6355080" y="4123944"/>
            <a:ext cx="5120640" cy="292608"/>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「RESASで無料で見られるのでは？」</a:t>
            </a:r>
            <a:endParaRPr lang="en-US" sz="1200" dirty="0"/>
          </a:p>
        </p:txBody>
      </p:sp>
      <p:sp>
        <p:nvSpPr>
          <p:cNvPr id="24" name="Text 22"/>
          <p:cNvSpPr txBox="1"/>
          <p:nvPr/>
        </p:nvSpPr>
        <p:spPr>
          <a:xfrm>
            <a:off x="6355080" y="4416552"/>
            <a:ext cx="5120640" cy="603504"/>
          </a:xfrm>
          <a:prstGeom prst="rect">
            <a:avLst/>
          </a:prstGeom>
          <a:noFill/>
          <a:ln/>
        </p:spPr>
        <p:txBody>
          <a:bodyPr wrap="square" lIns="0" tIns="0" rIns="0" bIns="0" rtlCol="0" anchor="t"/>
          <a:lstStyle/>
          <a:p>
            <a:pPr indent="0" marL="0">
              <a:buNone/>
            </a:pPr>
            <a:r>
              <a:rPr lang="en-US" sz="1050" dirty="0">
                <a:solidFill>
                  <a:srgbClr val="1B2B3D"/>
                </a:solidFill>
                <a:latin typeface="Meiryo" pitchFamily="34" charset="0"/>
                <a:ea typeface="Meiryo" pitchFamily="34" charset="-122"/>
                <a:cs typeface="Meiryo" pitchFamily="34" charset="-120"/>
              </a:rPr>
              <a:t>RESASの滞在人口などもモバイル空間統計です。玉名市のように、市の単位など目的に合わせて細かく見られます</a:t>
            </a:r>
            <a:endParaRPr lang="en-US" sz="1050" dirty="0"/>
          </a:p>
        </p:txBody>
      </p:sp>
      <p:sp>
        <p:nvSpPr>
          <p:cNvPr id="25" name="Shape 23"/>
          <p:cNvSpPr/>
          <p:nvPr/>
        </p:nvSpPr>
        <p:spPr>
          <a:xfrm>
            <a:off x="548640" y="5166360"/>
            <a:ext cx="5440680" cy="987552"/>
          </a:xfrm>
          <a:prstGeom prst="roundRect">
            <a:avLst>
              <a:gd name="adj" fmla="val 7407"/>
            </a:avLst>
          </a:prstGeom>
          <a:solidFill>
            <a:srgbClr val="F2F5F8"/>
          </a:solidFill>
          <a:ln w="12700">
            <a:solidFill>
              <a:srgbClr val="F2F5F8"/>
            </a:solidFill>
            <a:prstDash val="solid"/>
          </a:ln>
        </p:spPr>
      </p:sp>
      <p:sp>
        <p:nvSpPr>
          <p:cNvPr id="26" name="Text 24"/>
          <p:cNvSpPr txBox="1"/>
          <p:nvPr/>
        </p:nvSpPr>
        <p:spPr>
          <a:xfrm>
            <a:off x="731520" y="5221224"/>
            <a:ext cx="5120640" cy="292608"/>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「アンケートなら自分たちでもできる」</a:t>
            </a:r>
            <a:endParaRPr lang="en-US" sz="1200" dirty="0"/>
          </a:p>
        </p:txBody>
      </p:sp>
      <p:sp>
        <p:nvSpPr>
          <p:cNvPr id="27" name="Text 25"/>
          <p:cNvSpPr txBox="1"/>
          <p:nvPr/>
        </p:nvSpPr>
        <p:spPr>
          <a:xfrm>
            <a:off x="731520" y="5513832"/>
            <a:ext cx="5120640" cy="603504"/>
          </a:xfrm>
          <a:prstGeom prst="rect">
            <a:avLst/>
          </a:prstGeom>
          <a:noFill/>
          <a:ln/>
        </p:spPr>
        <p:txBody>
          <a:bodyPr wrap="square" lIns="0" tIns="0" rIns="0" bIns="0" rtlCol="0" anchor="t"/>
          <a:lstStyle/>
          <a:p>
            <a:pPr indent="0" marL="0">
              <a:buNone/>
            </a:pPr>
            <a:r>
              <a:rPr lang="en-US" sz="1050" dirty="0">
                <a:solidFill>
                  <a:srgbClr val="1B2B3D"/>
                </a:solidFill>
                <a:latin typeface="Meiryo" pitchFamily="34" charset="0"/>
                <a:ea typeface="Meiryo" pitchFamily="34" charset="-122"/>
                <a:cs typeface="Meiryo" pitchFamily="34" charset="-120"/>
              </a:rPr>
              <a:t>店頭のアンケートでは来ていない人に聞けません。琴平町も手書きで50件程度でしたが、ドコモの会員に聞く形に変えました</a:t>
            </a:r>
            <a:endParaRPr lang="en-US" sz="1050" dirty="0"/>
          </a:p>
        </p:txBody>
      </p:sp>
      <p:sp>
        <p:nvSpPr>
          <p:cNvPr id="28" name="Shape 26"/>
          <p:cNvSpPr/>
          <p:nvPr/>
        </p:nvSpPr>
        <p:spPr>
          <a:xfrm>
            <a:off x="6172200" y="5166360"/>
            <a:ext cx="5440680" cy="987552"/>
          </a:xfrm>
          <a:prstGeom prst="roundRect">
            <a:avLst>
              <a:gd name="adj" fmla="val 7407"/>
            </a:avLst>
          </a:prstGeom>
          <a:solidFill>
            <a:srgbClr val="F2F5F8"/>
          </a:solidFill>
          <a:ln w="12700">
            <a:solidFill>
              <a:srgbClr val="F2F5F8"/>
            </a:solidFill>
            <a:prstDash val="solid"/>
          </a:ln>
        </p:spPr>
      </p:sp>
      <p:sp>
        <p:nvSpPr>
          <p:cNvPr id="29" name="Text 27"/>
          <p:cNvSpPr txBox="1"/>
          <p:nvPr/>
        </p:nvSpPr>
        <p:spPr>
          <a:xfrm>
            <a:off x="6355080" y="5221224"/>
            <a:ext cx="5120640" cy="292608"/>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「告知はSNSやチラシで十分では？」</a:t>
            </a:r>
            <a:endParaRPr lang="en-US" sz="1200" dirty="0"/>
          </a:p>
        </p:txBody>
      </p:sp>
      <p:sp>
        <p:nvSpPr>
          <p:cNvPr id="30" name="Text 28"/>
          <p:cNvSpPr txBox="1"/>
          <p:nvPr/>
        </p:nvSpPr>
        <p:spPr>
          <a:xfrm>
            <a:off x="6355080" y="5513832"/>
            <a:ext cx="5120640" cy="603504"/>
          </a:xfrm>
          <a:prstGeom prst="rect">
            <a:avLst/>
          </a:prstGeom>
          <a:noFill/>
          <a:ln/>
        </p:spPr>
        <p:txBody>
          <a:bodyPr wrap="square" lIns="0" tIns="0" rIns="0" bIns="0" rtlCol="0" anchor="t"/>
          <a:lstStyle/>
          <a:p>
            <a:pPr indent="0" marL="0">
              <a:buNone/>
            </a:pPr>
            <a:r>
              <a:rPr lang="en-US" sz="1050" dirty="0">
                <a:solidFill>
                  <a:srgbClr val="1B2B3D"/>
                </a:solidFill>
                <a:latin typeface="Meiryo" pitchFamily="34" charset="0"/>
                <a:ea typeface="Meiryo" pitchFamily="34" charset="-122"/>
                <a:cs typeface="Meiryo" pitchFamily="34" charset="-120"/>
              </a:rPr>
              <a:t>SNSはフォロワー中心、チラシは配る地域に限られがちです。ドコモのデータで、まだ接点のない地域・年代の人に届けられます</a:t>
            </a:r>
            <a:endParaRPr lang="en-US" sz="1050" dirty="0"/>
          </a:p>
        </p:txBody>
      </p:sp>
      <p:sp>
        <p:nvSpPr>
          <p:cNvPr id="31" name="Text 29"/>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各社の公開情報から整理（2026年9〜10月確認）。料金・仕様は変わるため提案時に再確認。他社を否定せず、見積をそろえて比べる</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社内用</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神戸ストークスとの合同商談の進め方</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4者の役割を分け、先にアリーナ側・ドコモ関西と整理してから商店街に入る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23</a:t>
            </a:r>
            <a:endParaRPr lang="en-US" sz="1000" dirty="0"/>
          </a:p>
        </p:txBody>
      </p:sp>
      <p:sp>
        <p:nvSpPr>
          <p:cNvPr id="6" name="Text 4"/>
          <p:cNvSpPr txBox="1"/>
          <p:nvPr/>
        </p:nvSpPr>
        <p:spPr>
          <a:xfrm>
            <a:off x="8686800" y="329184"/>
            <a:ext cx="2926080" cy="310896"/>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社内用｜顧客に出すときは非表示</a:t>
            </a:r>
            <a:endParaRPr lang="en-US" sz="1050" dirty="0"/>
          </a:p>
        </p:txBody>
      </p:sp>
      <p:sp>
        <p:nvSpPr>
          <p:cNvPr id="7" name="Shape 5"/>
          <p:cNvSpPr/>
          <p:nvPr/>
        </p:nvSpPr>
        <p:spPr>
          <a:xfrm>
            <a:off x="548640" y="1737360"/>
            <a:ext cx="2651760" cy="1783080"/>
          </a:xfrm>
          <a:prstGeom prst="roundRect">
            <a:avLst>
              <a:gd name="adj" fmla="val 4103"/>
            </a:avLst>
          </a:prstGeom>
          <a:solidFill>
            <a:srgbClr val="F2F5F8"/>
          </a:solidFill>
          <a:ln w="12700">
            <a:solidFill>
              <a:srgbClr val="F2F5F8"/>
            </a:solidFill>
            <a:prstDash val="solid"/>
          </a:ln>
        </p:spPr>
      </p:sp>
      <p:sp>
        <p:nvSpPr>
          <p:cNvPr id="8" name="Shape 6"/>
          <p:cNvSpPr/>
          <p:nvPr/>
        </p:nvSpPr>
        <p:spPr>
          <a:xfrm>
            <a:off x="731520" y="1874520"/>
            <a:ext cx="502920" cy="502920"/>
          </a:xfrm>
          <a:prstGeom prst="ellipse">
            <a:avLst/>
          </a:prstGeom>
          <a:solidFill>
            <a:srgbClr val="C9002B"/>
          </a:solidFill>
          <a:ln w="12700">
            <a:solidFill>
              <a:srgbClr val="C9002B"/>
            </a:solidFill>
            <a:prstDash val="solid"/>
          </a:ln>
        </p:spPr>
      </p:sp>
      <p:pic>
        <p:nvPicPr>
          <p:cNvPr id="9" name="Image 0" descr="preencoded.png">    </p:cNvPr>
          <p:cNvPicPr>
            <a:picLocks noChangeAspect="1"/>
          </p:cNvPicPr>
          <p:nvPr/>
        </p:nvPicPr>
        <p:blipFill>
          <a:blip r:embed="rId1"/>
          <a:stretch>
            <a:fillRect/>
          </a:stretch>
        </p:blipFill>
        <p:spPr>
          <a:xfrm>
            <a:off x="857250" y="2000250"/>
            <a:ext cx="251460" cy="251460"/>
          </a:xfrm>
          <a:prstGeom prst="rect">
            <a:avLst/>
          </a:prstGeom>
        </p:spPr>
      </p:pic>
      <p:sp>
        <p:nvSpPr>
          <p:cNvPr id="10" name="Text 7"/>
          <p:cNvSpPr txBox="1"/>
          <p:nvPr/>
        </p:nvSpPr>
        <p:spPr>
          <a:xfrm>
            <a:off x="1325880" y="1874520"/>
            <a:ext cx="1783080" cy="502920"/>
          </a:xfrm>
          <a:prstGeom prst="rect">
            <a:avLst/>
          </a:prstGeom>
          <a:noFill/>
          <a:ln/>
        </p:spPr>
        <p:txBody>
          <a:bodyPr wrap="square" lIns="0" tIns="0" rIns="0" bIns="0" rtlCol="0" anchor="ctr">
            <a:normAutofit/>
          </a:bodyPr>
          <a:lstStyle/>
          <a:p>
            <a:pPr indent="0" marL="0">
              <a:buNone/>
            </a:pPr>
            <a:r>
              <a:rPr lang="en-US" sz="1250" b="1" dirty="0">
                <a:solidFill>
                  <a:srgbClr val="13283C"/>
                </a:solidFill>
                <a:latin typeface="Meiryo" pitchFamily="34" charset="0"/>
                <a:ea typeface="Meiryo" pitchFamily="34" charset="-122"/>
                <a:cs typeface="Meiryo" pitchFamily="34" charset="-120"/>
              </a:rPr>
              <a:t>神戸ストークス</a:t>
            </a:r>
            <a:endParaRPr lang="en-US" sz="1250" dirty="0"/>
          </a:p>
        </p:txBody>
      </p:sp>
      <p:sp>
        <p:nvSpPr>
          <p:cNvPr id="11" name="Text 8"/>
          <p:cNvSpPr txBox="1"/>
          <p:nvPr/>
        </p:nvSpPr>
        <p:spPr>
          <a:xfrm>
            <a:off x="731520" y="2514600"/>
            <a:ext cx="2331720" cy="914400"/>
          </a:xfrm>
          <a:prstGeom prst="rect">
            <a:avLst/>
          </a:prstGeom>
          <a:noFill/>
          <a:ln/>
        </p:spPr>
        <p:txBody>
          <a:bodyPr wrap="square" lIns="0" tIns="0" rIns="0" bIns="0" rtlCol="0" anchor="t"/>
          <a:lstStyle/>
          <a:p>
            <a:pPr indent="0" marL="0">
              <a:buNone/>
            </a:pPr>
            <a:r>
              <a:rPr lang="en-US" sz="1150" dirty="0">
                <a:solidFill>
                  <a:srgbClr val="1B2B3D"/>
                </a:solidFill>
                <a:latin typeface="Meiryo" pitchFamily="34" charset="0"/>
                <a:ea typeface="Meiryo" pitchFamily="34" charset="-122"/>
                <a:cs typeface="Meiryo" pitchFamily="34" charset="-120"/>
              </a:rPr>
              <a:t>来場者・ファンへの発信（試合後に寄れる店の案内など）</a:t>
            </a:r>
            <a:endParaRPr lang="en-US" sz="1150" dirty="0"/>
          </a:p>
        </p:txBody>
      </p:sp>
      <p:sp>
        <p:nvSpPr>
          <p:cNvPr id="12" name="Shape 9"/>
          <p:cNvSpPr/>
          <p:nvPr/>
        </p:nvSpPr>
        <p:spPr>
          <a:xfrm>
            <a:off x="3355848" y="1737360"/>
            <a:ext cx="2651760" cy="1783080"/>
          </a:xfrm>
          <a:prstGeom prst="roundRect">
            <a:avLst>
              <a:gd name="adj" fmla="val 4103"/>
            </a:avLst>
          </a:prstGeom>
          <a:solidFill>
            <a:srgbClr val="F2F5F8"/>
          </a:solidFill>
          <a:ln w="12700">
            <a:solidFill>
              <a:srgbClr val="F2F5F8"/>
            </a:solidFill>
            <a:prstDash val="solid"/>
          </a:ln>
        </p:spPr>
      </p:sp>
      <p:sp>
        <p:nvSpPr>
          <p:cNvPr id="13" name="Shape 10"/>
          <p:cNvSpPr/>
          <p:nvPr/>
        </p:nvSpPr>
        <p:spPr>
          <a:xfrm>
            <a:off x="3538728" y="1874520"/>
            <a:ext cx="502920" cy="502920"/>
          </a:xfrm>
          <a:prstGeom prst="ellipse">
            <a:avLst/>
          </a:prstGeom>
          <a:solidFill>
            <a:srgbClr val="C9002B"/>
          </a:solidFill>
          <a:ln w="12700">
            <a:solidFill>
              <a:srgbClr val="C9002B"/>
            </a:solidFill>
            <a:prstDash val="solid"/>
          </a:ln>
        </p:spPr>
      </p:sp>
      <p:pic>
        <p:nvPicPr>
          <p:cNvPr id="14" name="Image 1" descr="preencoded.png">    </p:cNvPr>
          <p:cNvPicPr>
            <a:picLocks noChangeAspect="1"/>
          </p:cNvPicPr>
          <p:nvPr/>
        </p:nvPicPr>
        <p:blipFill>
          <a:blip r:embed="rId2"/>
          <a:stretch>
            <a:fillRect/>
          </a:stretch>
        </p:blipFill>
        <p:spPr>
          <a:xfrm>
            <a:off x="3664458" y="2000250"/>
            <a:ext cx="251460" cy="251460"/>
          </a:xfrm>
          <a:prstGeom prst="rect">
            <a:avLst/>
          </a:prstGeom>
        </p:spPr>
      </p:pic>
      <p:sp>
        <p:nvSpPr>
          <p:cNvPr id="15" name="Text 11"/>
          <p:cNvSpPr txBox="1"/>
          <p:nvPr/>
        </p:nvSpPr>
        <p:spPr>
          <a:xfrm>
            <a:off x="4133088" y="1874520"/>
            <a:ext cx="1783080" cy="502920"/>
          </a:xfrm>
          <a:prstGeom prst="rect">
            <a:avLst/>
          </a:prstGeom>
          <a:noFill/>
          <a:ln/>
        </p:spPr>
        <p:txBody>
          <a:bodyPr wrap="square" lIns="0" tIns="0" rIns="0" bIns="0" rtlCol="0" anchor="ctr">
            <a:normAutofit/>
          </a:bodyPr>
          <a:lstStyle/>
          <a:p>
            <a:pPr indent="0" marL="0">
              <a:buNone/>
            </a:pPr>
            <a:r>
              <a:rPr lang="en-US" sz="1250" b="1" dirty="0">
                <a:solidFill>
                  <a:srgbClr val="13283C"/>
                </a:solidFill>
                <a:latin typeface="Meiryo" pitchFamily="34" charset="0"/>
                <a:ea typeface="Meiryo" pitchFamily="34" charset="-122"/>
                <a:cs typeface="Meiryo" pitchFamily="34" charset="-120"/>
              </a:rPr>
              <a:t>商店街・店舗</a:t>
            </a:r>
            <a:endParaRPr lang="en-US" sz="1250" dirty="0"/>
          </a:p>
        </p:txBody>
      </p:sp>
      <p:sp>
        <p:nvSpPr>
          <p:cNvPr id="16" name="Text 12"/>
          <p:cNvSpPr txBox="1"/>
          <p:nvPr/>
        </p:nvSpPr>
        <p:spPr>
          <a:xfrm>
            <a:off x="3538728" y="2514600"/>
            <a:ext cx="2331720" cy="914400"/>
          </a:xfrm>
          <a:prstGeom prst="rect">
            <a:avLst/>
          </a:prstGeom>
          <a:noFill/>
          <a:ln/>
        </p:spPr>
        <p:txBody>
          <a:bodyPr wrap="square" lIns="0" tIns="0" rIns="0" bIns="0" rtlCol="0" anchor="t"/>
          <a:lstStyle/>
          <a:p>
            <a:pPr indent="0" marL="0">
              <a:buNone/>
            </a:pPr>
            <a:r>
              <a:rPr lang="en-US" sz="1150" dirty="0">
                <a:solidFill>
                  <a:srgbClr val="1B2B3D"/>
                </a:solidFill>
                <a:latin typeface="Meiryo" pitchFamily="34" charset="0"/>
                <a:ea typeface="Meiryo" pitchFamily="34" charset="-122"/>
                <a:cs typeface="Meiryo" pitchFamily="34" charset="-120"/>
              </a:rPr>
              <a:t>試合の日の受け皿（営業時間・特典・メニュー）</a:t>
            </a:r>
            <a:endParaRPr lang="en-US" sz="1150" dirty="0"/>
          </a:p>
        </p:txBody>
      </p:sp>
      <p:sp>
        <p:nvSpPr>
          <p:cNvPr id="17" name="Shape 13"/>
          <p:cNvSpPr/>
          <p:nvPr/>
        </p:nvSpPr>
        <p:spPr>
          <a:xfrm>
            <a:off x="6163056" y="1737360"/>
            <a:ext cx="2651760" cy="1783080"/>
          </a:xfrm>
          <a:prstGeom prst="roundRect">
            <a:avLst>
              <a:gd name="adj" fmla="val 4103"/>
            </a:avLst>
          </a:prstGeom>
          <a:solidFill>
            <a:srgbClr val="F2F5F8"/>
          </a:solidFill>
          <a:ln w="12700">
            <a:solidFill>
              <a:srgbClr val="F2F5F8"/>
            </a:solidFill>
            <a:prstDash val="solid"/>
          </a:ln>
        </p:spPr>
      </p:sp>
      <p:sp>
        <p:nvSpPr>
          <p:cNvPr id="18" name="Shape 14"/>
          <p:cNvSpPr/>
          <p:nvPr/>
        </p:nvSpPr>
        <p:spPr>
          <a:xfrm>
            <a:off x="6345936" y="1874520"/>
            <a:ext cx="502920" cy="502920"/>
          </a:xfrm>
          <a:prstGeom prst="ellipse">
            <a:avLst/>
          </a:prstGeom>
          <a:solidFill>
            <a:srgbClr val="C9002B"/>
          </a:solidFill>
          <a:ln w="12700">
            <a:solidFill>
              <a:srgbClr val="C9002B"/>
            </a:solidFill>
            <a:prstDash val="solid"/>
          </a:ln>
        </p:spPr>
      </p:sp>
      <p:pic>
        <p:nvPicPr>
          <p:cNvPr id="19" name="Image 2" descr="preencoded.png">    </p:cNvPr>
          <p:cNvPicPr>
            <a:picLocks noChangeAspect="1"/>
          </p:cNvPicPr>
          <p:nvPr/>
        </p:nvPicPr>
        <p:blipFill>
          <a:blip r:embed="rId3"/>
          <a:stretch>
            <a:fillRect/>
          </a:stretch>
        </p:blipFill>
        <p:spPr>
          <a:xfrm>
            <a:off x="6471666" y="2000250"/>
            <a:ext cx="251460" cy="251460"/>
          </a:xfrm>
          <a:prstGeom prst="rect">
            <a:avLst/>
          </a:prstGeom>
        </p:spPr>
      </p:pic>
      <p:sp>
        <p:nvSpPr>
          <p:cNvPr id="20" name="Text 15"/>
          <p:cNvSpPr txBox="1"/>
          <p:nvPr/>
        </p:nvSpPr>
        <p:spPr>
          <a:xfrm>
            <a:off x="6940296" y="1874520"/>
            <a:ext cx="1783080" cy="502920"/>
          </a:xfrm>
          <a:prstGeom prst="rect">
            <a:avLst/>
          </a:prstGeom>
          <a:noFill/>
          <a:ln/>
        </p:spPr>
        <p:txBody>
          <a:bodyPr wrap="square" lIns="0" tIns="0" rIns="0" bIns="0" rtlCol="0" anchor="ctr">
            <a:normAutofit/>
          </a:bodyPr>
          <a:lstStyle/>
          <a:p>
            <a:pPr indent="0" marL="0">
              <a:buNone/>
            </a:pPr>
            <a:r>
              <a:rPr lang="en-US" sz="1250" b="1" dirty="0">
                <a:solidFill>
                  <a:srgbClr val="13283C"/>
                </a:solidFill>
                <a:latin typeface="Meiryo" pitchFamily="34" charset="0"/>
                <a:ea typeface="Meiryo" pitchFamily="34" charset="-122"/>
                <a:cs typeface="Meiryo" pitchFamily="34" charset="-120"/>
              </a:rPr>
              <a:t>神戸市</a:t>
            </a:r>
            <a:endParaRPr lang="en-US" sz="1250" dirty="0"/>
          </a:p>
        </p:txBody>
      </p:sp>
      <p:sp>
        <p:nvSpPr>
          <p:cNvPr id="21" name="Text 16"/>
          <p:cNvSpPr txBox="1"/>
          <p:nvPr/>
        </p:nvSpPr>
        <p:spPr>
          <a:xfrm>
            <a:off x="6345936" y="2514600"/>
            <a:ext cx="2331720" cy="914400"/>
          </a:xfrm>
          <a:prstGeom prst="rect">
            <a:avLst/>
          </a:prstGeom>
          <a:noFill/>
          <a:ln/>
        </p:spPr>
        <p:txBody>
          <a:bodyPr wrap="square" lIns="0" tIns="0" rIns="0" bIns="0" rtlCol="0" anchor="t"/>
          <a:lstStyle/>
          <a:p>
            <a:pPr indent="0" marL="0">
              <a:buNone/>
            </a:pPr>
            <a:r>
              <a:rPr lang="en-US" sz="1150" dirty="0">
                <a:solidFill>
                  <a:srgbClr val="1B2B3D"/>
                </a:solidFill>
                <a:latin typeface="Meiryo" pitchFamily="34" charset="0"/>
                <a:ea typeface="Meiryo" pitchFamily="34" charset="-122"/>
                <a:cs typeface="Meiryo" pitchFamily="34" charset="-120"/>
              </a:rPr>
              <a:t>まち全体の回遊施策、補助制度</a:t>
            </a:r>
            <a:endParaRPr lang="en-US" sz="1150" dirty="0"/>
          </a:p>
        </p:txBody>
      </p:sp>
      <p:sp>
        <p:nvSpPr>
          <p:cNvPr id="22" name="Shape 17"/>
          <p:cNvSpPr/>
          <p:nvPr/>
        </p:nvSpPr>
        <p:spPr>
          <a:xfrm>
            <a:off x="8970264" y="1737360"/>
            <a:ext cx="2651760" cy="1783080"/>
          </a:xfrm>
          <a:prstGeom prst="roundRect">
            <a:avLst>
              <a:gd name="adj" fmla="val 4103"/>
            </a:avLst>
          </a:prstGeom>
          <a:solidFill>
            <a:srgbClr val="13283C"/>
          </a:solidFill>
          <a:ln w="12700">
            <a:solidFill>
              <a:srgbClr val="13283C"/>
            </a:solidFill>
            <a:prstDash val="solid"/>
          </a:ln>
        </p:spPr>
      </p:sp>
      <p:sp>
        <p:nvSpPr>
          <p:cNvPr id="23" name="Shape 18"/>
          <p:cNvSpPr/>
          <p:nvPr/>
        </p:nvSpPr>
        <p:spPr>
          <a:xfrm>
            <a:off x="9153144" y="1874520"/>
            <a:ext cx="502920" cy="502920"/>
          </a:xfrm>
          <a:prstGeom prst="ellipse">
            <a:avLst/>
          </a:prstGeom>
          <a:solidFill>
            <a:srgbClr val="C9002B"/>
          </a:solidFill>
          <a:ln w="12700">
            <a:solidFill>
              <a:srgbClr val="C9002B"/>
            </a:solidFill>
            <a:prstDash val="solid"/>
          </a:ln>
        </p:spPr>
      </p:sp>
      <p:pic>
        <p:nvPicPr>
          <p:cNvPr id="24" name="Image 3" descr="preencoded.png">    </p:cNvPr>
          <p:cNvPicPr>
            <a:picLocks noChangeAspect="1"/>
          </p:cNvPicPr>
          <p:nvPr/>
        </p:nvPicPr>
        <p:blipFill>
          <a:blip r:embed="rId4"/>
          <a:stretch>
            <a:fillRect/>
          </a:stretch>
        </p:blipFill>
        <p:spPr>
          <a:xfrm>
            <a:off x="9278874" y="2000250"/>
            <a:ext cx="251460" cy="251460"/>
          </a:xfrm>
          <a:prstGeom prst="rect">
            <a:avLst/>
          </a:prstGeom>
        </p:spPr>
      </p:pic>
      <p:sp>
        <p:nvSpPr>
          <p:cNvPr id="25" name="Text 19"/>
          <p:cNvSpPr txBox="1"/>
          <p:nvPr/>
        </p:nvSpPr>
        <p:spPr>
          <a:xfrm>
            <a:off x="9747504" y="1874520"/>
            <a:ext cx="1783080" cy="502920"/>
          </a:xfrm>
          <a:prstGeom prst="rect">
            <a:avLst/>
          </a:prstGeom>
          <a:noFill/>
          <a:ln/>
        </p:spPr>
        <p:txBody>
          <a:bodyPr wrap="square" lIns="0" tIns="0" rIns="0" bIns="0" rtlCol="0" anchor="ctr">
            <a:normAutofit/>
          </a:bodyPr>
          <a:lstStyle/>
          <a:p>
            <a:pPr indent="0" marL="0">
              <a:buNone/>
            </a:pPr>
            <a:r>
              <a:rPr lang="en-US" sz="1250" b="1" dirty="0">
                <a:solidFill>
                  <a:srgbClr val="FFFFFF"/>
                </a:solidFill>
                <a:latin typeface="Meiryo" pitchFamily="34" charset="0"/>
                <a:ea typeface="Meiryo" pitchFamily="34" charset="-122"/>
                <a:cs typeface="Meiryo" pitchFamily="34" charset="-120"/>
              </a:rPr>
              <a:t>当社（ドコモの3商材）</a:t>
            </a:r>
            <a:endParaRPr lang="en-US" sz="1250" dirty="0"/>
          </a:p>
        </p:txBody>
      </p:sp>
      <p:sp>
        <p:nvSpPr>
          <p:cNvPr id="26" name="Text 20"/>
          <p:cNvSpPr txBox="1"/>
          <p:nvPr/>
        </p:nvSpPr>
        <p:spPr>
          <a:xfrm>
            <a:off x="9153144" y="2514600"/>
            <a:ext cx="2331720" cy="914400"/>
          </a:xfrm>
          <a:prstGeom prst="rect">
            <a:avLst/>
          </a:prstGeom>
          <a:noFill/>
          <a:ln/>
        </p:spPr>
        <p:txBody>
          <a:bodyPr wrap="square" lIns="0" tIns="0" rIns="0" bIns="0" rtlCol="0" anchor="t"/>
          <a:lstStyle/>
          <a:p>
            <a:pPr indent="0" marL="0">
              <a:buNone/>
            </a:pPr>
            <a:r>
              <a:rPr lang="en-US" sz="1150" dirty="0">
                <a:solidFill>
                  <a:srgbClr val="DDE5EC"/>
                </a:solidFill>
                <a:latin typeface="Meiryo" pitchFamily="34" charset="0"/>
                <a:ea typeface="Meiryo" pitchFamily="34" charset="-122"/>
                <a:cs typeface="Meiryo" pitchFamily="34" charset="-120"/>
              </a:rPr>
              <a:t>効果をデータで測り、1枚にまとめて次の一手を出す</a:t>
            </a:r>
            <a:endParaRPr lang="en-US" sz="1150" dirty="0"/>
          </a:p>
        </p:txBody>
      </p:sp>
      <p:sp>
        <p:nvSpPr>
          <p:cNvPr id="27" name="Text 21"/>
          <p:cNvSpPr txBox="1"/>
          <p:nvPr/>
        </p:nvSpPr>
        <p:spPr>
          <a:xfrm>
            <a:off x="548640" y="3703320"/>
            <a:ext cx="5486400" cy="292608"/>
          </a:xfrm>
          <a:prstGeom prst="rect">
            <a:avLst/>
          </a:prstGeom>
          <a:noFill/>
          <a:ln/>
        </p:spPr>
        <p:txBody>
          <a:bodyPr wrap="square" lIns="0" tIns="0" rIns="0" bIns="0" rtlCol="0" anchor="t"/>
          <a:lstStyle/>
          <a:p>
            <a:pPr indent="0" marL="0">
              <a:buNone/>
            </a:pPr>
            <a:r>
              <a:rPr lang="en-US" sz="1300" b="1" dirty="0">
                <a:solidFill>
                  <a:srgbClr val="C9002B"/>
                </a:solidFill>
                <a:latin typeface="Meiryo" pitchFamily="34" charset="0"/>
                <a:ea typeface="Meiryo" pitchFamily="34" charset="-122"/>
                <a:cs typeface="Meiryo" pitchFamily="34" charset="-120"/>
              </a:rPr>
              <a:t>事前に必ず確認すること</a:t>
            </a:r>
            <a:endParaRPr lang="en-US" sz="1300" dirty="0"/>
          </a:p>
        </p:txBody>
      </p:sp>
      <p:pic>
        <p:nvPicPr>
          <p:cNvPr id="28" name="Image 4" descr="preencoded.png">    </p:cNvPr>
          <p:cNvPicPr>
            <a:picLocks noChangeAspect="1"/>
          </p:cNvPicPr>
          <p:nvPr/>
        </p:nvPicPr>
        <p:blipFill>
          <a:blip r:embed="rId5"/>
          <a:stretch>
            <a:fillRect/>
          </a:stretch>
        </p:blipFill>
        <p:spPr>
          <a:xfrm>
            <a:off x="594360" y="4160520"/>
            <a:ext cx="274320" cy="274320"/>
          </a:xfrm>
          <a:prstGeom prst="rect">
            <a:avLst/>
          </a:prstGeom>
        </p:spPr>
      </p:pic>
      <p:sp>
        <p:nvSpPr>
          <p:cNvPr id="29" name="Text 22"/>
          <p:cNvSpPr txBox="1"/>
          <p:nvPr/>
        </p:nvSpPr>
        <p:spPr>
          <a:xfrm>
            <a:off x="1005840" y="4069080"/>
            <a:ext cx="10607040" cy="502920"/>
          </a:xfrm>
          <a:prstGeom prst="rect">
            <a:avLst/>
          </a:prstGeom>
          <a:noFill/>
          <a:ln/>
        </p:spPr>
        <p:txBody>
          <a:bodyPr wrap="square" lIns="0" tIns="0" rIns="0" bIns="0" rtlCol="0" anchor="ctr"/>
          <a:lstStyle/>
          <a:p>
            <a:pPr indent="0" marL="0">
              <a:buNone/>
            </a:pPr>
            <a:r>
              <a:rPr lang="en-US" sz="1100" dirty="0">
                <a:solidFill>
                  <a:srgbClr val="1B2B3D"/>
                </a:solidFill>
                <a:latin typeface="Meiryo" pitchFamily="34" charset="0"/>
                <a:ea typeface="Meiryo" pitchFamily="34" charset="-122"/>
                <a:cs typeface="Meiryo" pitchFamily="34" charset="-120"/>
              </a:rPr>
              <a:t>アリーナはNTT都市開発・スマートバリュー・NTTドコモの事業で、運営はOne Bright KOBE。独自のアプリ・ビーコンや、JR西日本との「データソリューションパートナー」契約などのデータ施策があるため、重複しないよう役割を整理する</a:t>
            </a:r>
            <a:endParaRPr lang="en-US" sz="1100" dirty="0"/>
          </a:p>
        </p:txBody>
      </p:sp>
      <p:pic>
        <p:nvPicPr>
          <p:cNvPr id="30" name="Image 5" descr="preencoded.png">    </p:cNvPr>
          <p:cNvPicPr>
            <a:picLocks noChangeAspect="1"/>
          </p:cNvPicPr>
          <p:nvPr/>
        </p:nvPicPr>
        <p:blipFill>
          <a:blip r:embed="rId6"/>
          <a:stretch>
            <a:fillRect/>
          </a:stretch>
        </p:blipFill>
        <p:spPr>
          <a:xfrm>
            <a:off x="594360" y="4709160"/>
            <a:ext cx="274320" cy="274320"/>
          </a:xfrm>
          <a:prstGeom prst="rect">
            <a:avLst/>
          </a:prstGeom>
        </p:spPr>
      </p:pic>
      <p:sp>
        <p:nvSpPr>
          <p:cNvPr id="31" name="Text 23"/>
          <p:cNvSpPr txBox="1"/>
          <p:nvPr/>
        </p:nvSpPr>
        <p:spPr>
          <a:xfrm>
            <a:off x="1005840" y="4617720"/>
            <a:ext cx="10607040" cy="502920"/>
          </a:xfrm>
          <a:prstGeom prst="rect">
            <a:avLst/>
          </a:prstGeom>
          <a:noFill/>
          <a:ln/>
        </p:spPr>
        <p:txBody>
          <a:bodyPr wrap="square" lIns="0" tIns="0" rIns="0" bIns="0" rtlCol="0" anchor="ctr"/>
          <a:lstStyle/>
          <a:p>
            <a:pPr indent="0" marL="0">
              <a:buNone/>
            </a:pPr>
            <a:r>
              <a:rPr lang="en-US" sz="1100" dirty="0">
                <a:solidFill>
                  <a:srgbClr val="1B2B3D"/>
                </a:solidFill>
                <a:latin typeface="Meiryo" pitchFamily="34" charset="0"/>
                <a:ea typeface="Meiryo" pitchFamily="34" charset="-122"/>
                <a:cs typeface="Meiryo" pitchFamily="34" charset="-120"/>
              </a:rPr>
              <a:t>NTTドコモ関西はd払いキャンペーンで南京町・アリーナと連携済み。窓口と進め方をそろえる</a:t>
            </a:r>
            <a:endParaRPr lang="en-US" sz="1100" dirty="0"/>
          </a:p>
        </p:txBody>
      </p:sp>
      <p:pic>
        <p:nvPicPr>
          <p:cNvPr id="32" name="Image 6" descr="preencoded.png">    </p:cNvPr>
          <p:cNvPicPr>
            <a:picLocks noChangeAspect="1"/>
          </p:cNvPicPr>
          <p:nvPr/>
        </p:nvPicPr>
        <p:blipFill>
          <a:blip r:embed="rId7"/>
          <a:stretch>
            <a:fillRect/>
          </a:stretch>
        </p:blipFill>
        <p:spPr>
          <a:xfrm>
            <a:off x="594360" y="5257800"/>
            <a:ext cx="274320" cy="274320"/>
          </a:xfrm>
          <a:prstGeom prst="rect">
            <a:avLst/>
          </a:prstGeom>
        </p:spPr>
      </p:pic>
      <p:sp>
        <p:nvSpPr>
          <p:cNvPr id="33" name="Text 24"/>
          <p:cNvSpPr txBox="1"/>
          <p:nvPr/>
        </p:nvSpPr>
        <p:spPr>
          <a:xfrm>
            <a:off x="1005840" y="5166360"/>
            <a:ext cx="10607040" cy="502920"/>
          </a:xfrm>
          <a:prstGeom prst="rect">
            <a:avLst/>
          </a:prstGeom>
          <a:noFill/>
          <a:ln/>
        </p:spPr>
        <p:txBody>
          <a:bodyPr wrap="square" lIns="0" tIns="0" rIns="0" bIns="0" rtlCol="0" anchor="ctr"/>
          <a:lstStyle/>
          <a:p>
            <a:pPr indent="0" marL="0">
              <a:buNone/>
            </a:pPr>
            <a:r>
              <a:rPr lang="en-US" sz="1100" dirty="0">
                <a:solidFill>
                  <a:srgbClr val="1B2B3D"/>
                </a:solidFill>
                <a:latin typeface="Meiryo" pitchFamily="34" charset="0"/>
                <a:ea typeface="Meiryo" pitchFamily="34" charset="-122"/>
                <a:cs typeface="Meiryo" pitchFamily="34" charset="-120"/>
              </a:rPr>
              <a:t>顧客向け資料にストークスの名称・数字を使う前に、クラブの了承を得る</a:t>
            </a:r>
            <a:endParaRPr lang="en-US" sz="1100" dirty="0"/>
          </a:p>
        </p:txBody>
      </p:sp>
      <p:pic>
        <p:nvPicPr>
          <p:cNvPr id="34" name="Image 7" descr="preencoded.png">    </p:cNvPr>
          <p:cNvPicPr>
            <a:picLocks noChangeAspect="1"/>
          </p:cNvPicPr>
          <p:nvPr/>
        </p:nvPicPr>
        <p:blipFill>
          <a:blip r:embed="rId8"/>
          <a:stretch>
            <a:fillRect/>
          </a:stretch>
        </p:blipFill>
        <p:spPr>
          <a:xfrm>
            <a:off x="594360" y="5806440"/>
            <a:ext cx="274320" cy="274320"/>
          </a:xfrm>
          <a:prstGeom prst="rect">
            <a:avLst/>
          </a:prstGeom>
        </p:spPr>
      </p:pic>
      <p:sp>
        <p:nvSpPr>
          <p:cNvPr id="35" name="Text 25"/>
          <p:cNvSpPr txBox="1"/>
          <p:nvPr/>
        </p:nvSpPr>
        <p:spPr>
          <a:xfrm>
            <a:off x="1005840" y="5715000"/>
            <a:ext cx="10607040" cy="502920"/>
          </a:xfrm>
          <a:prstGeom prst="rect">
            <a:avLst/>
          </a:prstGeom>
          <a:noFill/>
          <a:ln/>
        </p:spPr>
        <p:txBody>
          <a:bodyPr wrap="square" lIns="0" tIns="0" rIns="0" bIns="0" rtlCol="0" anchor="ctr"/>
          <a:lstStyle/>
          <a:p>
            <a:pPr indent="0" marL="0">
              <a:buNone/>
            </a:pPr>
            <a:r>
              <a:rPr lang="en-US" sz="1100" dirty="0">
                <a:solidFill>
                  <a:srgbClr val="1B2B3D"/>
                </a:solidFill>
                <a:latin typeface="Meiryo" pitchFamily="34" charset="0"/>
                <a:ea typeface="Meiryo" pitchFamily="34" charset="-122"/>
                <a:cs typeface="Meiryo" pitchFamily="34" charset="-120"/>
              </a:rPr>
              <a:t>経済効果の数字は出典と数え方を必ず添える。単純計算（約1.6億円規模）は「参考」として話す</a:t>
            </a:r>
            <a:endParaRPr lang="en-US" sz="1100" dirty="0"/>
          </a:p>
        </p:txBody>
      </p:sp>
      <p:sp>
        <p:nvSpPr>
          <p:cNvPr id="36" name="Text 26"/>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本資料の進め方（案）</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社内用</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チームの動き方（商店街・小規模自治体向け）</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少ない人数で、速く・軽く回す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24</a:t>
            </a:r>
            <a:endParaRPr lang="en-US" sz="1000" dirty="0"/>
          </a:p>
        </p:txBody>
      </p:sp>
      <p:sp>
        <p:nvSpPr>
          <p:cNvPr id="6" name="Text 4"/>
          <p:cNvSpPr txBox="1"/>
          <p:nvPr/>
        </p:nvSpPr>
        <p:spPr>
          <a:xfrm>
            <a:off x="8686800" y="329184"/>
            <a:ext cx="2926080" cy="310896"/>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社内用｜顧客に出すときは非表示</a:t>
            </a:r>
            <a:endParaRPr lang="en-US" sz="1050" dirty="0"/>
          </a:p>
        </p:txBody>
      </p:sp>
      <p:sp>
        <p:nvSpPr>
          <p:cNvPr id="7" name="Shape 5"/>
          <p:cNvSpPr/>
          <p:nvPr/>
        </p:nvSpPr>
        <p:spPr>
          <a:xfrm>
            <a:off x="548640" y="1810512"/>
            <a:ext cx="548640" cy="548640"/>
          </a:xfrm>
          <a:prstGeom prst="ellipse">
            <a:avLst/>
          </a:prstGeom>
          <a:solidFill>
            <a:srgbClr val="13283C"/>
          </a:solidFill>
          <a:ln w="12700">
            <a:solidFill>
              <a:srgbClr val="13283C"/>
            </a:solidFill>
            <a:prstDash val="solid"/>
          </a:ln>
        </p:spPr>
      </p:sp>
      <p:sp>
        <p:nvSpPr>
          <p:cNvPr id="8" name="Text 6"/>
          <p:cNvSpPr txBox="1"/>
          <p:nvPr/>
        </p:nvSpPr>
        <p:spPr>
          <a:xfrm>
            <a:off x="548640" y="1810512"/>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1</a:t>
            </a:r>
            <a:endParaRPr lang="en-US" sz="1600" dirty="0"/>
          </a:p>
        </p:txBody>
      </p:sp>
      <p:sp>
        <p:nvSpPr>
          <p:cNvPr id="9" name="Shape 7"/>
          <p:cNvSpPr/>
          <p:nvPr/>
        </p:nvSpPr>
        <p:spPr>
          <a:xfrm>
            <a:off x="1280160" y="1737360"/>
            <a:ext cx="10332720" cy="694944"/>
          </a:xfrm>
          <a:prstGeom prst="roundRect">
            <a:avLst>
              <a:gd name="adj" fmla="val 10526"/>
            </a:avLst>
          </a:prstGeom>
          <a:solidFill>
            <a:srgbClr val="F2F5F8"/>
          </a:solidFill>
          <a:ln w="12700">
            <a:solidFill>
              <a:srgbClr val="F2F5F8"/>
            </a:solidFill>
            <a:prstDash val="solid"/>
          </a:ln>
        </p:spPr>
      </p:sp>
      <p:sp>
        <p:nvSpPr>
          <p:cNvPr id="10" name="Text 8"/>
          <p:cNvSpPr txBox="1"/>
          <p:nvPr/>
        </p:nvSpPr>
        <p:spPr>
          <a:xfrm>
            <a:off x="1463040" y="1737360"/>
            <a:ext cx="1645920" cy="694944"/>
          </a:xfrm>
          <a:prstGeom prst="rect">
            <a:avLst/>
          </a:prstGeom>
          <a:noFill/>
          <a:ln/>
        </p:spPr>
        <p:txBody>
          <a:bodyPr wrap="square" lIns="0" tIns="0" rIns="0" bIns="0" rtlCol="0" anchor="ctr"/>
          <a:lstStyle/>
          <a:p>
            <a:pPr indent="0" marL="0">
              <a:buNone/>
            </a:pPr>
            <a:r>
              <a:rPr lang="en-US" sz="1350" b="1" dirty="0">
                <a:solidFill>
                  <a:srgbClr val="13283C"/>
                </a:solidFill>
                <a:latin typeface="Meiryo" pitchFamily="34" charset="0"/>
                <a:ea typeface="Meiryo" pitchFamily="34" charset="-122"/>
                <a:cs typeface="Meiryo" pitchFamily="34" charset="-120"/>
              </a:rPr>
              <a:t>初回訪問</a:t>
            </a:r>
            <a:endParaRPr lang="en-US" sz="1350" dirty="0"/>
          </a:p>
        </p:txBody>
      </p:sp>
      <p:sp>
        <p:nvSpPr>
          <p:cNvPr id="11" name="Text 9"/>
          <p:cNvSpPr txBox="1"/>
          <p:nvPr/>
        </p:nvSpPr>
        <p:spPr>
          <a:xfrm>
            <a:off x="3108960" y="1737360"/>
            <a:ext cx="5760720" cy="694944"/>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4つの質問（P.18）で目的・予算・決める会議・手元のデータを聞く</a:t>
            </a:r>
            <a:endParaRPr lang="en-US" sz="1200" dirty="0"/>
          </a:p>
        </p:txBody>
      </p:sp>
      <p:sp>
        <p:nvSpPr>
          <p:cNvPr id="12" name="Text 10"/>
          <p:cNvSpPr txBox="1"/>
          <p:nvPr/>
        </p:nvSpPr>
        <p:spPr>
          <a:xfrm>
            <a:off x="9006840" y="1920240"/>
            <a:ext cx="2423160" cy="329184"/>
          </a:xfrm>
          <a:prstGeom prst="roundRect">
            <a:avLst>
              <a:gd name="adj" fmla="val 50000"/>
            </a:avLst>
          </a:prstGeom>
          <a:solidFill>
            <a:srgbClr val="FFFFFF"/>
          </a:solidFill>
          <a:ln>
            <a:solidFill>
              <a:srgbClr val="D5DDE5"/>
            </a:solidFill>
          </a:ln>
        </p:spPr>
        <p:txBody>
          <a:bodyPr wrap="square" lIns="0" tIns="0" rIns="0" bIns="0" rtlCol="0" anchor="ctr"/>
          <a:lstStyle/>
          <a:p>
            <a:pPr algn="ctr" indent="0" marL="0">
              <a:buNone/>
            </a:pPr>
            <a:r>
              <a:rPr lang="en-US" sz="1050" b="1" dirty="0">
                <a:solidFill>
                  <a:srgbClr val="13283C"/>
                </a:solidFill>
                <a:latin typeface="Meiryo" pitchFamily="34" charset="0"/>
                <a:ea typeface="Meiryo" pitchFamily="34" charset="-122"/>
                <a:cs typeface="Meiryo" pitchFamily="34" charset="-120"/>
              </a:rPr>
              <a:t>営業窓口</a:t>
            </a:r>
            <a:endParaRPr lang="en-US" sz="1050" dirty="0"/>
          </a:p>
        </p:txBody>
      </p:sp>
      <p:sp>
        <p:nvSpPr>
          <p:cNvPr id="13" name="Shape 11"/>
          <p:cNvSpPr/>
          <p:nvPr/>
        </p:nvSpPr>
        <p:spPr>
          <a:xfrm>
            <a:off x="548640" y="2615184"/>
            <a:ext cx="548640" cy="548640"/>
          </a:xfrm>
          <a:prstGeom prst="ellipse">
            <a:avLst/>
          </a:prstGeom>
          <a:solidFill>
            <a:srgbClr val="13283C"/>
          </a:solidFill>
          <a:ln w="12700">
            <a:solidFill>
              <a:srgbClr val="13283C"/>
            </a:solidFill>
            <a:prstDash val="solid"/>
          </a:ln>
        </p:spPr>
      </p:sp>
      <p:sp>
        <p:nvSpPr>
          <p:cNvPr id="14" name="Text 12"/>
          <p:cNvSpPr txBox="1"/>
          <p:nvPr/>
        </p:nvSpPr>
        <p:spPr>
          <a:xfrm>
            <a:off x="548640" y="261518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2</a:t>
            </a:r>
            <a:endParaRPr lang="en-US" sz="1600" dirty="0"/>
          </a:p>
        </p:txBody>
      </p:sp>
      <p:sp>
        <p:nvSpPr>
          <p:cNvPr id="15" name="Shape 13"/>
          <p:cNvSpPr/>
          <p:nvPr/>
        </p:nvSpPr>
        <p:spPr>
          <a:xfrm>
            <a:off x="1280160" y="2542032"/>
            <a:ext cx="10332720" cy="694944"/>
          </a:xfrm>
          <a:prstGeom prst="roundRect">
            <a:avLst>
              <a:gd name="adj" fmla="val 10526"/>
            </a:avLst>
          </a:prstGeom>
          <a:solidFill>
            <a:srgbClr val="F2F5F8"/>
          </a:solidFill>
          <a:ln w="12700">
            <a:solidFill>
              <a:srgbClr val="F2F5F8"/>
            </a:solidFill>
            <a:prstDash val="solid"/>
          </a:ln>
        </p:spPr>
      </p:sp>
      <p:sp>
        <p:nvSpPr>
          <p:cNvPr id="16" name="Text 14"/>
          <p:cNvSpPr txBox="1"/>
          <p:nvPr/>
        </p:nvSpPr>
        <p:spPr>
          <a:xfrm>
            <a:off x="1463040" y="2542032"/>
            <a:ext cx="1645920" cy="694944"/>
          </a:xfrm>
          <a:prstGeom prst="rect">
            <a:avLst/>
          </a:prstGeom>
          <a:noFill/>
          <a:ln/>
        </p:spPr>
        <p:txBody>
          <a:bodyPr wrap="square" lIns="0" tIns="0" rIns="0" bIns="0" rtlCol="0" anchor="ctr"/>
          <a:lstStyle/>
          <a:p>
            <a:pPr indent="0" marL="0">
              <a:buNone/>
            </a:pPr>
            <a:r>
              <a:rPr lang="en-US" sz="1350" b="1" dirty="0">
                <a:solidFill>
                  <a:srgbClr val="13283C"/>
                </a:solidFill>
                <a:latin typeface="Meiryo" pitchFamily="34" charset="0"/>
                <a:ea typeface="Meiryo" pitchFamily="34" charset="-122"/>
                <a:cs typeface="Meiryo" pitchFamily="34" charset="-120"/>
              </a:rPr>
              <a:t>1週間以内</a:t>
            </a:r>
            <a:endParaRPr lang="en-US" sz="1350" dirty="0"/>
          </a:p>
        </p:txBody>
      </p:sp>
      <p:sp>
        <p:nvSpPr>
          <p:cNvPr id="17" name="Text 15"/>
          <p:cNvSpPr txBox="1"/>
          <p:nvPr/>
        </p:nvSpPr>
        <p:spPr>
          <a:xfrm>
            <a:off x="3108960" y="2542032"/>
            <a:ext cx="5760720" cy="694944"/>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お試しプランの具体案と見積。総会・予算要求用の1枚と補助金の確認も添える</a:t>
            </a:r>
            <a:endParaRPr lang="en-US" sz="1200" dirty="0"/>
          </a:p>
        </p:txBody>
      </p:sp>
      <p:sp>
        <p:nvSpPr>
          <p:cNvPr id="18" name="Text 16"/>
          <p:cNvSpPr txBox="1"/>
          <p:nvPr/>
        </p:nvSpPr>
        <p:spPr>
          <a:xfrm>
            <a:off x="9006840" y="2724912"/>
            <a:ext cx="2423160" cy="329184"/>
          </a:xfrm>
          <a:prstGeom prst="roundRect">
            <a:avLst>
              <a:gd name="adj" fmla="val 50000"/>
            </a:avLst>
          </a:prstGeom>
          <a:solidFill>
            <a:srgbClr val="FFFFFF"/>
          </a:solidFill>
          <a:ln>
            <a:solidFill>
              <a:srgbClr val="D5DDE5"/>
            </a:solidFill>
          </a:ln>
        </p:spPr>
        <p:txBody>
          <a:bodyPr wrap="square" lIns="0" tIns="0" rIns="0" bIns="0" rtlCol="0" anchor="ctr"/>
          <a:lstStyle/>
          <a:p>
            <a:pPr algn="ctr" indent="0" marL="0">
              <a:buNone/>
            </a:pPr>
            <a:r>
              <a:rPr lang="en-US" sz="1050" b="1" dirty="0">
                <a:solidFill>
                  <a:srgbClr val="13283C"/>
                </a:solidFill>
                <a:latin typeface="Meiryo" pitchFamily="34" charset="0"/>
                <a:ea typeface="Meiryo" pitchFamily="34" charset="-122"/>
                <a:cs typeface="Meiryo" pitchFamily="34" charset="-120"/>
              </a:rPr>
              <a:t>営業窓口＋分析担当</a:t>
            </a:r>
            <a:endParaRPr lang="en-US" sz="1050" dirty="0"/>
          </a:p>
        </p:txBody>
      </p:sp>
      <p:sp>
        <p:nvSpPr>
          <p:cNvPr id="19" name="Shape 17"/>
          <p:cNvSpPr/>
          <p:nvPr/>
        </p:nvSpPr>
        <p:spPr>
          <a:xfrm>
            <a:off x="548640" y="3419856"/>
            <a:ext cx="548640" cy="548640"/>
          </a:xfrm>
          <a:prstGeom prst="ellipse">
            <a:avLst/>
          </a:prstGeom>
          <a:solidFill>
            <a:srgbClr val="13283C"/>
          </a:solidFill>
          <a:ln w="12700">
            <a:solidFill>
              <a:srgbClr val="13283C"/>
            </a:solidFill>
            <a:prstDash val="solid"/>
          </a:ln>
        </p:spPr>
      </p:sp>
      <p:sp>
        <p:nvSpPr>
          <p:cNvPr id="20" name="Text 18"/>
          <p:cNvSpPr txBox="1"/>
          <p:nvPr/>
        </p:nvSpPr>
        <p:spPr>
          <a:xfrm>
            <a:off x="548640" y="3419856"/>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3</a:t>
            </a:r>
            <a:endParaRPr lang="en-US" sz="1600" dirty="0"/>
          </a:p>
        </p:txBody>
      </p:sp>
      <p:sp>
        <p:nvSpPr>
          <p:cNvPr id="21" name="Shape 19"/>
          <p:cNvSpPr/>
          <p:nvPr/>
        </p:nvSpPr>
        <p:spPr>
          <a:xfrm>
            <a:off x="1280160" y="3346704"/>
            <a:ext cx="10332720" cy="694944"/>
          </a:xfrm>
          <a:prstGeom prst="roundRect">
            <a:avLst>
              <a:gd name="adj" fmla="val 10526"/>
            </a:avLst>
          </a:prstGeom>
          <a:solidFill>
            <a:srgbClr val="F2F5F8"/>
          </a:solidFill>
          <a:ln w="12700">
            <a:solidFill>
              <a:srgbClr val="F2F5F8"/>
            </a:solidFill>
            <a:prstDash val="solid"/>
          </a:ln>
        </p:spPr>
      </p:sp>
      <p:sp>
        <p:nvSpPr>
          <p:cNvPr id="22" name="Text 20"/>
          <p:cNvSpPr txBox="1"/>
          <p:nvPr/>
        </p:nvSpPr>
        <p:spPr>
          <a:xfrm>
            <a:off x="1463040" y="3346704"/>
            <a:ext cx="1645920" cy="694944"/>
          </a:xfrm>
          <a:prstGeom prst="rect">
            <a:avLst/>
          </a:prstGeom>
          <a:noFill/>
          <a:ln/>
        </p:spPr>
        <p:txBody>
          <a:bodyPr wrap="square" lIns="0" tIns="0" rIns="0" bIns="0" rtlCol="0" anchor="ctr"/>
          <a:lstStyle/>
          <a:p>
            <a:pPr indent="0" marL="0">
              <a:buNone/>
            </a:pPr>
            <a:r>
              <a:rPr lang="en-US" sz="1350" b="1" dirty="0">
                <a:solidFill>
                  <a:srgbClr val="13283C"/>
                </a:solidFill>
                <a:latin typeface="Meiryo" pitchFamily="34" charset="0"/>
                <a:ea typeface="Meiryo" pitchFamily="34" charset="-122"/>
                <a:cs typeface="Meiryo" pitchFamily="34" charset="-120"/>
              </a:rPr>
              <a:t>実施</a:t>
            </a:r>
            <a:endParaRPr lang="en-US" sz="1350" dirty="0"/>
          </a:p>
        </p:txBody>
      </p:sp>
      <p:sp>
        <p:nvSpPr>
          <p:cNvPr id="23" name="Text 21"/>
          <p:cNvSpPr txBox="1"/>
          <p:nvPr/>
        </p:nvSpPr>
        <p:spPr>
          <a:xfrm>
            <a:off x="3108960" y="3346704"/>
            <a:ext cx="5760720" cy="694944"/>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設問・分析条件の設計、提供元への発注と日程調整</a:t>
            </a:r>
            <a:endParaRPr lang="en-US" sz="1200" dirty="0"/>
          </a:p>
        </p:txBody>
      </p:sp>
      <p:sp>
        <p:nvSpPr>
          <p:cNvPr id="24" name="Text 22"/>
          <p:cNvSpPr txBox="1"/>
          <p:nvPr/>
        </p:nvSpPr>
        <p:spPr>
          <a:xfrm>
            <a:off x="9006840" y="3529584"/>
            <a:ext cx="2423160" cy="329184"/>
          </a:xfrm>
          <a:prstGeom prst="roundRect">
            <a:avLst>
              <a:gd name="adj" fmla="val 50000"/>
            </a:avLst>
          </a:prstGeom>
          <a:solidFill>
            <a:srgbClr val="FFFFFF"/>
          </a:solidFill>
          <a:ln>
            <a:solidFill>
              <a:srgbClr val="D5DDE5"/>
            </a:solidFill>
          </a:ln>
        </p:spPr>
        <p:txBody>
          <a:bodyPr wrap="square" lIns="0" tIns="0" rIns="0" bIns="0" rtlCol="0" anchor="ctr"/>
          <a:lstStyle/>
          <a:p>
            <a:pPr algn="ctr" indent="0" marL="0">
              <a:buNone/>
            </a:pPr>
            <a:r>
              <a:rPr lang="en-US" sz="1050" b="1" dirty="0">
                <a:solidFill>
                  <a:srgbClr val="13283C"/>
                </a:solidFill>
                <a:latin typeface="Meiryo" pitchFamily="34" charset="0"/>
                <a:ea typeface="Meiryo" pitchFamily="34" charset="-122"/>
                <a:cs typeface="Meiryo" pitchFamily="34" charset="-120"/>
              </a:rPr>
              <a:t>分析・調査担当</a:t>
            </a:r>
            <a:endParaRPr lang="en-US" sz="1050" dirty="0"/>
          </a:p>
        </p:txBody>
      </p:sp>
      <p:sp>
        <p:nvSpPr>
          <p:cNvPr id="25" name="Shape 23"/>
          <p:cNvSpPr/>
          <p:nvPr/>
        </p:nvSpPr>
        <p:spPr>
          <a:xfrm>
            <a:off x="548640" y="4224528"/>
            <a:ext cx="548640" cy="548640"/>
          </a:xfrm>
          <a:prstGeom prst="ellipse">
            <a:avLst/>
          </a:prstGeom>
          <a:solidFill>
            <a:srgbClr val="C9002B"/>
          </a:solidFill>
          <a:ln w="12700">
            <a:solidFill>
              <a:srgbClr val="C9002B"/>
            </a:solidFill>
            <a:prstDash val="solid"/>
          </a:ln>
        </p:spPr>
      </p:sp>
      <p:sp>
        <p:nvSpPr>
          <p:cNvPr id="26" name="Text 24"/>
          <p:cNvSpPr txBox="1"/>
          <p:nvPr/>
        </p:nvSpPr>
        <p:spPr>
          <a:xfrm>
            <a:off x="548640" y="422452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4</a:t>
            </a:r>
            <a:endParaRPr lang="en-US" sz="1600" dirty="0"/>
          </a:p>
        </p:txBody>
      </p:sp>
      <p:sp>
        <p:nvSpPr>
          <p:cNvPr id="27" name="Shape 25"/>
          <p:cNvSpPr/>
          <p:nvPr/>
        </p:nvSpPr>
        <p:spPr>
          <a:xfrm>
            <a:off x="1280160" y="4151376"/>
            <a:ext cx="10332720" cy="694944"/>
          </a:xfrm>
          <a:prstGeom prst="roundRect">
            <a:avLst>
              <a:gd name="adj" fmla="val 10526"/>
            </a:avLst>
          </a:prstGeom>
          <a:solidFill>
            <a:srgbClr val="F2F5F8"/>
          </a:solidFill>
          <a:ln w="12700">
            <a:solidFill>
              <a:srgbClr val="F2F5F8"/>
            </a:solidFill>
            <a:prstDash val="solid"/>
          </a:ln>
        </p:spPr>
      </p:sp>
      <p:sp>
        <p:nvSpPr>
          <p:cNvPr id="28" name="Text 26"/>
          <p:cNvSpPr txBox="1"/>
          <p:nvPr/>
        </p:nvSpPr>
        <p:spPr>
          <a:xfrm>
            <a:off x="1463040" y="4151376"/>
            <a:ext cx="1645920" cy="694944"/>
          </a:xfrm>
          <a:prstGeom prst="rect">
            <a:avLst/>
          </a:prstGeom>
          <a:noFill/>
          <a:ln/>
        </p:spPr>
        <p:txBody>
          <a:bodyPr wrap="square" lIns="0" tIns="0" rIns="0" bIns="0" rtlCol="0" anchor="ctr"/>
          <a:lstStyle/>
          <a:p>
            <a:pPr indent="0" marL="0">
              <a:buNone/>
            </a:pPr>
            <a:r>
              <a:rPr lang="en-US" sz="1350" b="1" dirty="0">
                <a:solidFill>
                  <a:srgbClr val="13283C"/>
                </a:solidFill>
                <a:latin typeface="Meiryo" pitchFamily="34" charset="0"/>
                <a:ea typeface="Meiryo" pitchFamily="34" charset="-122"/>
                <a:cs typeface="Meiryo" pitchFamily="34" charset="-120"/>
              </a:rPr>
              <a:t>報告</a:t>
            </a:r>
            <a:endParaRPr lang="en-US" sz="1350" dirty="0"/>
          </a:p>
        </p:txBody>
      </p:sp>
      <p:sp>
        <p:nvSpPr>
          <p:cNvPr id="29" name="Text 27"/>
          <p:cNvSpPr txBox="1"/>
          <p:nvPr/>
        </p:nvSpPr>
        <p:spPr>
          <a:xfrm>
            <a:off x="3108960" y="4151376"/>
            <a:ext cx="5760720" cy="694944"/>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1枚まとめと報告会（30分）。次の一手を1つ提案</a:t>
            </a:r>
            <a:endParaRPr lang="en-US" sz="1200" dirty="0"/>
          </a:p>
        </p:txBody>
      </p:sp>
      <p:sp>
        <p:nvSpPr>
          <p:cNvPr id="30" name="Text 28"/>
          <p:cNvSpPr txBox="1"/>
          <p:nvPr/>
        </p:nvSpPr>
        <p:spPr>
          <a:xfrm>
            <a:off x="9006840" y="4334256"/>
            <a:ext cx="2423160" cy="329184"/>
          </a:xfrm>
          <a:prstGeom prst="roundRect">
            <a:avLst>
              <a:gd name="adj" fmla="val 50000"/>
            </a:avLst>
          </a:prstGeom>
          <a:solidFill>
            <a:srgbClr val="FFFFFF"/>
          </a:solidFill>
          <a:ln>
            <a:solidFill>
              <a:srgbClr val="D5DDE5"/>
            </a:solidFill>
          </a:ln>
        </p:spPr>
        <p:txBody>
          <a:bodyPr wrap="square" lIns="0" tIns="0" rIns="0" bIns="0" rtlCol="0" anchor="ctr"/>
          <a:lstStyle/>
          <a:p>
            <a:pPr algn="ctr" indent="0" marL="0">
              <a:buNone/>
            </a:pPr>
            <a:r>
              <a:rPr lang="en-US" sz="1050" b="1" dirty="0">
                <a:solidFill>
                  <a:srgbClr val="13283C"/>
                </a:solidFill>
                <a:latin typeface="Meiryo" pitchFamily="34" charset="0"/>
                <a:ea typeface="Meiryo" pitchFamily="34" charset="-122"/>
                <a:cs typeface="Meiryo" pitchFamily="34" charset="-120"/>
              </a:rPr>
              <a:t>分析担当＋営業窓口</a:t>
            </a:r>
            <a:endParaRPr lang="en-US" sz="1050" dirty="0"/>
          </a:p>
        </p:txBody>
      </p:sp>
      <p:sp>
        <p:nvSpPr>
          <p:cNvPr id="31" name="Shape 29"/>
          <p:cNvSpPr/>
          <p:nvPr/>
        </p:nvSpPr>
        <p:spPr>
          <a:xfrm>
            <a:off x="548640" y="5029200"/>
            <a:ext cx="548640" cy="548640"/>
          </a:xfrm>
          <a:prstGeom prst="ellipse">
            <a:avLst/>
          </a:prstGeom>
          <a:solidFill>
            <a:srgbClr val="13283C"/>
          </a:solidFill>
          <a:ln w="12700">
            <a:solidFill>
              <a:srgbClr val="13283C"/>
            </a:solidFill>
            <a:prstDash val="solid"/>
          </a:ln>
        </p:spPr>
      </p:sp>
      <p:sp>
        <p:nvSpPr>
          <p:cNvPr id="32" name="Text 30"/>
          <p:cNvSpPr txBox="1"/>
          <p:nvPr/>
        </p:nvSpPr>
        <p:spPr>
          <a:xfrm>
            <a:off x="548640" y="5029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5</a:t>
            </a:r>
            <a:endParaRPr lang="en-US" sz="1600" dirty="0"/>
          </a:p>
        </p:txBody>
      </p:sp>
      <p:sp>
        <p:nvSpPr>
          <p:cNvPr id="33" name="Shape 31"/>
          <p:cNvSpPr/>
          <p:nvPr/>
        </p:nvSpPr>
        <p:spPr>
          <a:xfrm>
            <a:off x="1280160" y="4956048"/>
            <a:ext cx="10332720" cy="694944"/>
          </a:xfrm>
          <a:prstGeom prst="roundRect">
            <a:avLst>
              <a:gd name="adj" fmla="val 10526"/>
            </a:avLst>
          </a:prstGeom>
          <a:solidFill>
            <a:srgbClr val="F2F5F8"/>
          </a:solidFill>
          <a:ln w="12700">
            <a:solidFill>
              <a:srgbClr val="F2F5F8"/>
            </a:solidFill>
            <a:prstDash val="solid"/>
          </a:ln>
        </p:spPr>
      </p:sp>
      <p:sp>
        <p:nvSpPr>
          <p:cNvPr id="34" name="Text 32"/>
          <p:cNvSpPr txBox="1"/>
          <p:nvPr/>
        </p:nvSpPr>
        <p:spPr>
          <a:xfrm>
            <a:off x="1463040" y="4956048"/>
            <a:ext cx="1645920" cy="694944"/>
          </a:xfrm>
          <a:prstGeom prst="rect">
            <a:avLst/>
          </a:prstGeom>
          <a:noFill/>
          <a:ln/>
        </p:spPr>
        <p:txBody>
          <a:bodyPr wrap="square" lIns="0" tIns="0" rIns="0" bIns="0" rtlCol="0" anchor="ctr"/>
          <a:lstStyle/>
          <a:p>
            <a:pPr indent="0" marL="0">
              <a:buNone/>
            </a:pPr>
            <a:r>
              <a:rPr lang="en-US" sz="1350" b="1" dirty="0">
                <a:solidFill>
                  <a:srgbClr val="13283C"/>
                </a:solidFill>
                <a:latin typeface="Meiryo" pitchFamily="34" charset="0"/>
                <a:ea typeface="Meiryo" pitchFamily="34" charset="-122"/>
                <a:cs typeface="Meiryo" pitchFamily="34" charset="-120"/>
              </a:rPr>
              <a:t>次の提案</a:t>
            </a:r>
            <a:endParaRPr lang="en-US" sz="1350" dirty="0"/>
          </a:p>
        </p:txBody>
      </p:sp>
      <p:sp>
        <p:nvSpPr>
          <p:cNvPr id="35" name="Text 33"/>
          <p:cNvSpPr txBox="1"/>
          <p:nvPr/>
        </p:nvSpPr>
        <p:spPr>
          <a:xfrm>
            <a:off x="3108960" y="4956048"/>
            <a:ext cx="5760720" cy="694944"/>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ステップ2（組み合わせ）か、次年度・年間の計画へ</a:t>
            </a:r>
            <a:endParaRPr lang="en-US" sz="1200" dirty="0"/>
          </a:p>
        </p:txBody>
      </p:sp>
      <p:sp>
        <p:nvSpPr>
          <p:cNvPr id="36" name="Text 34"/>
          <p:cNvSpPr txBox="1"/>
          <p:nvPr/>
        </p:nvSpPr>
        <p:spPr>
          <a:xfrm>
            <a:off x="9006840" y="5138928"/>
            <a:ext cx="2423160" cy="329184"/>
          </a:xfrm>
          <a:prstGeom prst="roundRect">
            <a:avLst>
              <a:gd name="adj" fmla="val 50000"/>
            </a:avLst>
          </a:prstGeom>
          <a:solidFill>
            <a:srgbClr val="FFFFFF"/>
          </a:solidFill>
          <a:ln>
            <a:solidFill>
              <a:srgbClr val="D5DDE5"/>
            </a:solidFill>
          </a:ln>
        </p:spPr>
        <p:txBody>
          <a:bodyPr wrap="square" lIns="0" tIns="0" rIns="0" bIns="0" rtlCol="0" anchor="ctr"/>
          <a:lstStyle/>
          <a:p>
            <a:pPr algn="ctr" indent="0" marL="0">
              <a:buNone/>
            </a:pPr>
            <a:r>
              <a:rPr lang="en-US" sz="1050" b="1" dirty="0">
                <a:solidFill>
                  <a:srgbClr val="13283C"/>
                </a:solidFill>
                <a:latin typeface="Meiryo" pitchFamily="34" charset="0"/>
                <a:ea typeface="Meiryo" pitchFamily="34" charset="-122"/>
                <a:cs typeface="Meiryo" pitchFamily="34" charset="-120"/>
              </a:rPr>
              <a:t>営業窓口</a:t>
            </a:r>
            <a:endParaRPr lang="en-US" sz="1050" dirty="0"/>
          </a:p>
        </p:txBody>
      </p:sp>
      <p:sp>
        <p:nvSpPr>
          <p:cNvPr id="37" name="Shape 35"/>
          <p:cNvSpPr/>
          <p:nvPr/>
        </p:nvSpPr>
        <p:spPr>
          <a:xfrm>
            <a:off x="548640" y="5806440"/>
            <a:ext cx="11064240" cy="411480"/>
          </a:xfrm>
          <a:prstGeom prst="roundRect">
            <a:avLst>
              <a:gd name="adj" fmla="val 17778"/>
            </a:avLst>
          </a:prstGeom>
          <a:solidFill>
            <a:srgbClr val="FBEAEE"/>
          </a:solidFill>
          <a:ln w="12700">
            <a:solidFill>
              <a:srgbClr val="FBEAEE"/>
            </a:solidFill>
            <a:prstDash val="solid"/>
          </a:ln>
        </p:spPr>
      </p:sp>
      <p:sp>
        <p:nvSpPr>
          <p:cNvPr id="38" name="Text 36"/>
          <p:cNvSpPr txBox="1"/>
          <p:nvPr/>
        </p:nvSpPr>
        <p:spPr>
          <a:xfrm>
            <a:off x="777240" y="5806440"/>
            <a:ext cx="10607040" cy="411480"/>
          </a:xfrm>
          <a:prstGeom prst="rect">
            <a:avLst/>
          </a:prstGeom>
          <a:noFill/>
          <a:ln/>
        </p:spPr>
        <p:txBody>
          <a:bodyPr wrap="square" lIns="0" tIns="0" rIns="0" bIns="0" rtlCol="0" anchor="ctr"/>
          <a:lstStyle/>
          <a:p>
            <a:pPr indent="0" marL="0">
              <a:buNone/>
            </a:pPr>
            <a:r>
              <a:rPr lang="en-US" sz="1200" b="1" dirty="0">
                <a:solidFill>
                  <a:srgbClr val="1B2B3D"/>
                </a:solidFill>
                <a:latin typeface="Meiryo" pitchFamily="34" charset="0"/>
                <a:ea typeface="Meiryo" pitchFamily="34" charset="-122"/>
                <a:cs typeface="Meiryo" pitchFamily="34" charset="-120"/>
              </a:rPr>
              <a:t>成果の見方：「当日の人の数の差」「来ない理由」「告知からの反応」の3つ。広告や祭りだけが増減の原因とは断定しない</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ドコモの3商材 提案資料（神戸ストークス連携版）</dc:title>
  <dc:subject>PptxGenJS Presentation</dc:subject>
  <dc:creator>PptxGenJS</dc:creator>
  <cp:lastModifiedBy>PptxGenJS</cp:lastModifiedBy>
  <cp:revision>1</cp:revision>
  <dcterms:created xsi:type="dcterms:W3CDTF">2026-10-01T01:27:59Z</dcterms:created>
  <dcterms:modified xsi:type="dcterms:W3CDTF">2026-10-01T01:27:59Z</dcterms:modified>
</cp:coreProperties>
</file>