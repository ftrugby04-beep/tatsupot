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まつり当日</c:v>
                </c:pt>
              </c:strCache>
            </c:strRef>
          </c:tx>
          <c:spPr>
            <a:solidFill>
              <a:srgbClr val="C9002B"/>
            </a:solidFill>
            <a:ln w="38100" cap="flat">
              <a:solidFill>
                <a:srgbClr val="C90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002B"/>
              </a:solidFill>
              <a:ln w="9525" cap="flat">
                <a:solidFill>
                  <a:srgbClr val="C90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9時</c:v>
                  </c:pt>
                  <c:pt idx="1">
                    <c:v>10時</c:v>
                  </c:pt>
                  <c:pt idx="2">
                    <c:v>11時</c:v>
                  </c:pt>
                  <c:pt idx="3">
                    <c:v>12時</c:v>
                  </c:pt>
                  <c:pt idx="4">
                    <c:v>13時</c:v>
                  </c:pt>
                  <c:pt idx="5">
                    <c:v>14時</c:v>
                  </c:pt>
                  <c:pt idx="6">
                    <c:v>15時</c:v>
                  </c:pt>
                  <c:pt idx="7">
                    <c:v>16時</c:v>
                  </c:pt>
                  <c:pt idx="8">
                    <c:v>17時</c:v>
                  </c:pt>
                  <c:pt idx="9">
                    <c:v>18時</c:v>
                  </c:pt>
                  <c:pt idx="10">
                    <c:v>19時</c:v>
                  </c:pt>
                  <c:pt idx="11">
                    <c:v>20時</c:v>
                  </c:pt>
                  <c:pt idx="12">
                    <c:v>21時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3400</c:v>
                </c:pt>
                <c:pt idx="1">
                  <c:v>4800</c:v>
                </c:pt>
                <c:pt idx="2">
                  <c:v>7600</c:v>
                </c:pt>
                <c:pt idx="3">
                  <c:v>10200</c:v>
                </c:pt>
                <c:pt idx="4">
                  <c:v>12100</c:v>
                </c:pt>
                <c:pt idx="5">
                  <c:v>12800</c:v>
                </c:pt>
                <c:pt idx="6">
                  <c:v>12400</c:v>
                </c:pt>
                <c:pt idx="7">
                  <c:v>11200</c:v>
                </c:pt>
                <c:pt idx="8">
                  <c:v>9800</c:v>
                </c:pt>
                <c:pt idx="9">
                  <c:v>8600</c:v>
                </c:pt>
                <c:pt idx="10">
                  <c:v>7000</c:v>
                </c:pt>
                <c:pt idx="11">
                  <c:v>4800</c:v>
                </c:pt>
                <c:pt idx="12">
                  <c:v>2900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通常の土曜日</c:v>
                </c:pt>
              </c:strCache>
            </c:strRef>
          </c:tx>
          <c:spPr>
            <a:solidFill>
              <a:srgbClr val="9AA6B2"/>
            </a:solidFill>
            <a:ln w="38100" cap="flat">
              <a:solidFill>
                <a:srgbClr val="9AA6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9時</c:v>
                  </c:pt>
                  <c:pt idx="1">
                    <c:v>10時</c:v>
                  </c:pt>
                  <c:pt idx="2">
                    <c:v>11時</c:v>
                  </c:pt>
                  <c:pt idx="3">
                    <c:v>12時</c:v>
                  </c:pt>
                  <c:pt idx="4">
                    <c:v>13時</c:v>
                  </c:pt>
                  <c:pt idx="5">
                    <c:v>14時</c:v>
                  </c:pt>
                  <c:pt idx="6">
                    <c:v>15時</c:v>
                  </c:pt>
                  <c:pt idx="7">
                    <c:v>16時</c:v>
                  </c:pt>
                  <c:pt idx="8">
                    <c:v>17時</c:v>
                  </c:pt>
                  <c:pt idx="9">
                    <c:v>18時</c:v>
                  </c:pt>
                  <c:pt idx="10">
                    <c:v>19時</c:v>
                  </c:pt>
                  <c:pt idx="11">
                    <c:v>20時</c:v>
                  </c:pt>
                  <c:pt idx="12">
                    <c:v>21時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3200</c:v>
                </c:pt>
                <c:pt idx="1">
                  <c:v>3500</c:v>
                </c:pt>
                <c:pt idx="2">
                  <c:v>3900</c:v>
                </c:pt>
                <c:pt idx="3">
                  <c:v>4200</c:v>
                </c:pt>
                <c:pt idx="4">
                  <c:v>4300</c:v>
                </c:pt>
                <c:pt idx="5">
                  <c:v>4400</c:v>
                </c:pt>
                <c:pt idx="6">
                  <c:v>4300</c:v>
                </c:pt>
                <c:pt idx="7">
                  <c:v>4100</c:v>
                </c:pt>
                <c:pt idx="8">
                  <c:v>3800</c:v>
                </c:pt>
                <c:pt idx="9">
                  <c:v>3400</c:v>
                </c:pt>
                <c:pt idx="10">
                  <c:v>3000</c:v>
                </c:pt>
                <c:pt idx="11">
                  <c:v>2600</c:v>
                </c:pt>
                <c:pt idx="12">
                  <c:v>2200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A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来訪元</c:v>
                </c:pt>
              </c:strCache>
            </c:strRef>
          </c:tx>
          <c:spPr>
            <a:solidFill>
              <a:srgbClr val="13283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市内</c:v>
                  </c:pt>
                  <c:pt idx="1">
                    <c:v>県内の他市町</c:v>
                  </c:pt>
                  <c:pt idx="2">
                    <c:v>県外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34</c:v>
                </c:pt>
                <c:pt idx="2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D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理由</c:v>
                </c:pt>
              </c:strCache>
            </c:strRef>
          </c:tx>
          <c:spPr>
            <a:solidFill>
              <a:srgbClr val="C900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00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28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28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6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6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開催を知らなかった</c:v>
                  </c:pt>
                  <c:pt idx="1">
                    <c:v>日程が合わなかった</c:v>
                  </c:pt>
                  <c:pt idx="2">
                    <c:v>交通・駐車場が不安</c:v>
                  </c:pt>
                  <c:pt idx="3">
                    <c:v>内容に興味がない</c:v>
                  </c:pt>
                  <c:pt idx="4">
                    <c:v>その他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17</c:v>
                </c:pt>
                <c:pt idx="3">
                  <c:v>9</c:v>
                </c:pt>
                <c:pt idx="4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D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【使い方】このファイルは事例分析をもとに作った提案書の型。〇〇市・〇〇まつり・〔 〕の部分と、グラフの架空の数値を、実際の顧客情報とサンプル分析に差し替えて使う。
冒頭トーク例：本日は、〇〇まつりの来訪者をデータで捉え、次年度の告知と予算の判断に使っていただくためのご提案です。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要旨は1枚で。最初の行は顧客の「判断」を1文で書く（事例分析の最重要ポイント）。商材名はまだ出さない。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【差し替え】ヒアリング内容を顧客の言葉で書く。自治体の審査基準では「業務理解度」に配点があるため、課題の整理は丁寧に。
トーク例：伺った内容を、判断に必要な材料が足りていないという形で整理しました。認識がずれていないかご確認ください。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審査基準の「目標設定・管理の手法」に対応するページ。数字は判断への使い道とセットで示す。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最重要ページ】事例分析では、選定の決め手は「取れるデータが明確にイメージできること」。実案件では、可能なら過去のイベント日のサンプル分析に差し替える。架空の数値のままお見せする場合は、必ずイメージであることを口頭でも伝える。
出典
https://mobaku.jp/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調査は対象者と設問の設計で結果が変わる。非参加者に聞けるのが、会場アンケートとの違い。広告の実績欄は空欄の書式として見せ、数値の約束はしない。
出典
https://ssw.web.docomo.ne.jp/marketing/products/premium-panel/
https://ssw.web.docomo.ne.jp/marketing/products/ad-network/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ここで初めて商材名を出す。各商材を課題と1対1で結び、全部入れる前提にしない。
出典
https://mobaku.jp/
https://ssw.web.docomo.ne.jp/marketing/products/premium-panel/
https://ssw.web.docomo.ne.jp/marketing/products/ad-network/
https://www.cartazero.co.jp/ja/news/20260701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広告を先に出すのは、告知の反応を当日前に測るため。予算が限られる場合は、ステップ2・3だけで始めることもできる。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自治体の予算は9〜10月に要求、12〜1月に査定、2〜3月に議会。速報を12月中旬に出すことで、査定や次年度の補正の説明に使ってもらえる。日程は案件ごとに提供元へ確認する。
出典
https://mobaku.jp/faq/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琴平町は本提案と同じく「人の動き＋理由」を組み合わせた実例。事例は「同じサービスでここまでできた」という参考として紹介する。当社の実績として話さない。川崎フロンターレは位置情報と決済情報を組み合わせた実証で、標準メニューとは異なる。
出典
https://www.ntt.com/business/case-studies/kotohira_town.html
https://www.ntt.com/business/case-studies/tamana.html
https://www.docomobs.com/case/toyama/
https://www.intage.co.jp/news/6237/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審査基準で「実施体制」に配点がある場合は、担当者の経験・実績（類似業務）もここに書く。〔担当者名〕は実名に差し替える。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差し替え】〔お見積額〕は各提供元の見積をそろえてから記入する。公開されている料金はプレミアパネル（リサーチ）最低27.5万円/回（税込）、人口マップ月額9万円〜など。令和7年政令94号により少額随契の基準額が見直され、市区町村の「その他」は100万円以下（各自治体の規則で適用）。A案をこの範囲に収めると、プロポーザルを待たずに早く始めやすい。
出典
https://www.ntt.com/business/services/premierepanel/research.html
https://mobaku.jp/
https://www.soumu.go.jp/main_content/001026062.pdf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限界を先に説明すると、組み合わせる理由と誠実さが伝わる。成果を約束しないことを明確にする。
出典
https://mobaku.jp/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締めは「次に何をいつ決めるか」を合意して終える。3つの質問は、KPI・比較データ・契約手続きの確認。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顧客に出す版では、出典は必要な分だけ残す。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〇〇市 観光振興課 御中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「〇〇まつり」の来訪データを、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5A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次年度の集客と予算の根拠に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モバイル空間統計・プレミアパネル・docomo Ad Network を活用した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来訪者把握と集客施策のご提案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　〔貴社名〕 営業部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5760720"/>
            <a:ext cx="4572000" cy="347472"/>
          </a:xfrm>
          <a:prstGeom prst="roundRect">
            <a:avLst>
              <a:gd name="adj" fmla="val 50000"/>
            </a:avLst>
          </a:prstGeom>
          <a:solidFill>
            <a:srgbClr val="22394F"/>
          </a:solidFill>
          <a:ln>
            <a:solidFill>
              <a:srgbClr val="2F4A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提案書サンプル：自治体名・イベント名・グラフの数値は架空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ご提案の要旨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「来年度、どこに・誰に・いくら使って告知するか」を、データで判断できる状態をつくります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941832"/>
          </a:xfrm>
          <a:prstGeom prst="roundRect">
            <a:avLst>
              <a:gd name="adj" fmla="val 7767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56816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05406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83080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ご判断いただきたいこと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783080"/>
            <a:ext cx="6858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次年度の〇〇まつりで、告知する地域・対象・予算配分をどう決めるか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11064240" cy="941832"/>
          </a:xfrm>
          <a:prstGeom prst="roundRect">
            <a:avLst>
              <a:gd name="adj" fmla="val 77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035808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3184398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862072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今回お渡しするもの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62072"/>
            <a:ext cx="6858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来訪者の推計（時間帯・来訪元・属性）、参加しない理由、広告の申込実績をまとめた報告書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941064"/>
            <a:ext cx="11064240" cy="941832"/>
          </a:xfrm>
          <a:prstGeom prst="roundRect">
            <a:avLst>
              <a:gd name="adj" fmla="val 77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2633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3941064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3941064"/>
            <a:ext cx="6858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今年度11月のまつりで小さく検証 → 12月に速報 → 次年度予算と年間計画に反映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5020056"/>
            <a:ext cx="11064240" cy="941832"/>
          </a:xfrm>
          <a:prstGeom prst="roundRect">
            <a:avLst>
              <a:gd name="adj" fmla="val 77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5193792"/>
            <a:ext cx="594360" cy="59436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342382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5020056"/>
            <a:ext cx="2926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費用の考え方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5020056"/>
            <a:ext cx="6858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今年度は少額で始められる規模に絞り、次年度は効果を見て拡大をご判断いただく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　現状と課題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現状と課題の理解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ヒアリングで伺った内容を、判断に必要な材料の不足として整理しました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来訪者数を根拠をもって示せない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主催者発表の人数はあるが、どこから・どの時間に・どんな人が来たかが分からない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259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035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参加しない理由が分からない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来場者アンケートでは、来なかった人の理由を聞けない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75320" y="1965960"/>
            <a:ext cx="640080" cy="64008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1259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525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告知の効果が測れない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チラシやSNSの告知が、申込や来場にどうつながったか比べられない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279392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その結果、判断が難しくなっていること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23036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次年度予算の要求根拠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4389120" y="523036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告知する地域と媒体の選び方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001000" y="523036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開催時間・交通対策の見直し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　目標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目標と、判断に使う数字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報告書では、次の数字を前年・通常日と比べてお示しします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　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次年度の予算要求と告知計画に使える「根拠資料」を、12月の予算査定までにそろえる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27248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644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63040" y="31272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来訪の規模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まつり当日の周辺滞在人口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" y="4892040"/>
            <a:ext cx="21945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983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判断への使い道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257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通常の土曜日との差・前年比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55848" y="29260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84448" y="3127248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326440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270248" y="31272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来訪元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358444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3584448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市内・県内他市町・県外の比率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3584448" y="4892040"/>
            <a:ext cx="21945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584448" y="4983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判断への使い道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3584448" y="5257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告知エリアの優先順位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163056" y="29260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391656" y="3127248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26440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77456" y="31272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来ない理由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391656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6391656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非参加者の理由の上位3つ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6391656" y="4892040"/>
            <a:ext cx="21945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391656" y="4983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判断への使い道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6391656" y="5257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訴求・開催条件の見直し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8970264" y="292608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198864" y="3127248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264408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884664" y="31272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告知の効率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9198864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見る数字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9198864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広告の表示・クリック・申込数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9198864" y="4892040"/>
            <a:ext cx="21945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198864" y="4983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判断への使い道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9198864" y="5257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申込1件あたりの費用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目標値は、過去の来場実績とご予算を伺ったうえで一緒に設定します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アウトプットイメージ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報告書のイメージ①：来訪者の動き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当日と通常日の差、来訪元の内訳から、告知エリアと運営体制を検討できます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時間帯別の周辺滞在人口（人）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80136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イメージ（架空の数値）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4884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4980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来訪元の内訳（%）</a:t>
            </a:r>
            <a:endParaRPr lang="en-US" sz="14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7498080" y="2148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498080" y="45720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46177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読み取り例　</a:t>
            </a:r>
            <a:pPr indent="0" marL="0">
              <a:buNone/>
            </a:pPr>
            <a:r>
              <a:rPr lang="en-US" sz="12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ピークは13〜15時で通常日の約3倍。県外が2割弱のため、隣接県への告知を強める余地がある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周辺の推計人口であり、会場の入場者数とは一致しません。取得できる時間・属性の粒度はメニューにより異なります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　アウトプットイメージ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報告書のイメージ②：来ない理由と告知の効果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理由がわかると、次年度の訴求と媒体の選び方を具体的に決められます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まつりに参加しなかった理由（市内・近隣の非参加者、%）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19456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C900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イメージ（架空の数値）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51460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4980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広告の結果（報告書の書式）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21945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〔実績〕回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01200" y="21945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383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クリック率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73836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〔実績〕%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98080" y="32918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3703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〔実績〕件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01200" y="32918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383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申込1件あたり費用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738360" y="3703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〔実績〕円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498080" y="45262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80960" y="45720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読み取り例　</a:t>
            </a:r>
            <a:pPr indent="0" marL="0">
              <a:buNone/>
            </a:pPr>
            <a:r>
              <a:rPr lang="en-US" sz="12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「知らなかった」が最多なら、告知の量と地域を優先。交通の不安が多ければ、シャトルバスの告知を訴求に入れる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アンケートの回収数は目標値であり保証ではありません。広告の成果は保証されません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解決の方法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3つのサービスの役割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それぞれ得意なことが違うため、課題に合わせて組み合わせます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1945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課題1：来訪者数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ドコモの携帯電話ネットワークの運用データから、地域・時間帯ごとの人口を推計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48463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9560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留意点　</a:t>
            </a:r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個人を特定しない統計。推計人口であり入場者数ではない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201168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945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40680" y="21945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課題2：来ない理由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dポイントクラブ会員の回答対象者（約600万人）から対象者を絞ってアンケート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4526280" y="48463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26280" y="49560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留意点　</a:t>
            </a:r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回収数は目標。地域の絞り込みは条件を確認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46720" y="17830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75320" y="201168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945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189720" y="21945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課題3：告知の効果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2753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8275320" y="3520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ドコモのデータを活用し、dメニューなどの接点で対象層へ告知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8275320" y="48463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75320" y="495604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留意点　</a:t>
            </a:r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2026年7月から運営はCARTA ZERO。現行メニューで見積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　解決の方法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実施内容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3つのステップで、当日のデータと来ない理由、告知の反応をそろえます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1945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10月下旬〜11月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告知して、計測する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docomo Ad Network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まつりの2〜3週間前から、県内外の対象層へ告知。申込・クリックを計測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383280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89120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21945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11月（納品は後日）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当日の人の動きを捉える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4747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9776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まつり当日と通常の土曜日の周辺人口を比較。来訪元・時間帯・属性を分析</a:t>
            </a:r>
            <a:endParaRPr lang="en-US" sz="13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83280"/>
            <a:ext cx="274320" cy="274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229600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03920" y="2011680"/>
            <a:ext cx="685800" cy="68580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5039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418320" y="21945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5DD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11月下旬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来なかった理由を聞く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34747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8503920" y="39776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市内・近隣の非参加者を中心に、認知・理由・参加条件を調査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まとめて報告　</a:t>
            </a:r>
            <a:pPr indent="0" marL="0">
              <a:buNone/>
            </a:pPr>
            <a:r>
              <a:rPr lang="en-US" sz="130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3つの結果は別々に評価し、1つの報告書にまとめます。統計から個人を特定して広告を出すことはありません。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12月の予算査定に間に合うよう、速報を先にお届けします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783080"/>
            <a:ext cx="1502664" cy="384048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16680" y="1783080"/>
            <a:ext cx="1502664" cy="384048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1668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55920" y="1783080"/>
            <a:ext cx="1502664" cy="384048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5592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783080"/>
            <a:ext cx="1502664" cy="384048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34400" y="1783080"/>
            <a:ext cx="1502664" cy="384048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3440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73640" y="1783080"/>
            <a:ext cx="1502664" cy="384048"/>
          </a:xfrm>
          <a:prstGeom prst="rect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73640" y="1783080"/>
            <a:ext cx="150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次年度4月〜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98392" y="2212848"/>
            <a:ext cx="0" cy="3017520"/>
          </a:xfrm>
          <a:prstGeom prst="line">
            <a:avLst/>
          </a:prstGeom>
          <a:noFill/>
          <a:ln w="12700">
            <a:solidFill>
              <a:srgbClr val="D5DDE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37632" y="2212848"/>
            <a:ext cx="0" cy="3017520"/>
          </a:xfrm>
          <a:prstGeom prst="line">
            <a:avLst/>
          </a:prstGeom>
          <a:noFill/>
          <a:ln w="12700">
            <a:solidFill>
              <a:srgbClr val="D5DDE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976872" y="2212848"/>
            <a:ext cx="0" cy="3017520"/>
          </a:xfrm>
          <a:prstGeom prst="line">
            <a:avLst/>
          </a:prstGeom>
          <a:noFill/>
          <a:ln w="12700">
            <a:solidFill>
              <a:srgbClr val="D5DDE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516112" y="2212848"/>
            <a:ext cx="0" cy="3017520"/>
          </a:xfrm>
          <a:prstGeom prst="line">
            <a:avLst/>
          </a:prstGeom>
          <a:noFill/>
          <a:ln w="12700">
            <a:solidFill>
              <a:srgbClr val="D5DDE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055352" y="2212848"/>
            <a:ext cx="0" cy="3017520"/>
          </a:xfrm>
          <a:prstGeom prst="line">
            <a:avLst/>
          </a:prstGeom>
          <a:noFill/>
          <a:ln w="12700">
            <a:solidFill>
              <a:srgbClr val="D5DDE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4864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ご契約・準備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2331720"/>
            <a:ext cx="1425702" cy="384048"/>
          </a:xfrm>
          <a:prstGeom prst="roundRect">
            <a:avLst>
              <a:gd name="adj" fmla="val 14286"/>
            </a:avLst>
          </a:prstGeom>
          <a:solidFill>
            <a:srgbClr val="5A6675"/>
          </a:solidFill>
          <a:ln>
            <a:solidFill>
              <a:srgbClr val="5A6675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仕様確定・契約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816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広告配信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300984" y="2816352"/>
            <a:ext cx="1348740" cy="384048"/>
          </a:xfrm>
          <a:prstGeom prst="roundRect">
            <a:avLst>
              <a:gd name="adj" fmla="val 14286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告知・計測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3009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人流分析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916680" y="3300984"/>
            <a:ext cx="2118360" cy="384048"/>
          </a:xfrm>
          <a:prstGeom prst="roundRect">
            <a:avLst>
              <a:gd name="adj" fmla="val 14286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当日データ → 分析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785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686300" y="3785616"/>
            <a:ext cx="1194816" cy="384048"/>
          </a:xfrm>
          <a:prstGeom prst="roundRect">
            <a:avLst>
              <a:gd name="adj" fmla="val 14286"/>
            </a:avLst>
          </a:prstGeom>
          <a:solidFill>
            <a:srgbClr val="13283C"/>
          </a:solidFill>
          <a:ln>
            <a:solidFill>
              <a:srgbClr val="13283C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非参加者調査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270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763768" y="4270248"/>
            <a:ext cx="2734056" cy="384048"/>
          </a:xfrm>
          <a:prstGeom prst="roundRect">
            <a:avLst>
              <a:gd name="adj" fmla="val 14286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12月中旬 速報 → 1月 最終報告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54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073640" y="4754880"/>
            <a:ext cx="1502664" cy="384048"/>
          </a:xfrm>
          <a:prstGeom prst="roundRect">
            <a:avLst>
              <a:gd name="adj" fmla="val 14286"/>
            </a:avLst>
          </a:prstGeom>
          <a:solidFill>
            <a:srgbClr val="C9002B"/>
          </a:solidFill>
          <a:ln>
            <a:solidFill>
              <a:srgbClr val="C9002B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年間運用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05272"/>
            <a:ext cx="347472" cy="347472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280160" y="53949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人流データの納品は仕様により最短10営業日程度（公式FAQ）。広告は入稿・審査日程を提供元に確認のうえ、確定版の工程表をお出しします。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他地域での活用例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同じサービスを活用した自治体・スポーツの公開事例です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842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香川県琴平町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モバイル空間統計＋プレミアパネル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　</a:t>
            </a:r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手書きアンケートは50件程度で、推測に頼っていた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　</a:t>
            </a:r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来訪者の属性とニーズをデータでつかみ、観光戦略を立案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011680"/>
            <a:ext cx="594360" cy="59436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16027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78040" y="19842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熊本県玉名市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17804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　</a:t>
            </a:r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RESASでは県単位までしか見えず、国別の人数が不明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　</a:t>
            </a:r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重点国を決めて誘致し、温泉施設に泊まる外国人客が増加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21767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54480" y="4041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富山県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554480" y="4389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プレミアパネル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　</a:t>
            </a:r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限られた日程で県民・観光客のニーズを把握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77724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　</a:t>
            </a:r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調査結果で情報を出し分け、県公式LINEの登録者が約3倍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172200" y="38404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0" y="4069080"/>
            <a:ext cx="594360" cy="594360"/>
          </a:xfrm>
          <a:prstGeom prst="ellipse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4217670"/>
            <a:ext cx="297180" cy="2971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78040" y="4041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川崎フロンターレ（実証）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178040" y="4389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ドコモの位置・決済データ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　</a:t>
            </a:r>
            <a:pPr indent="0" marL="0">
              <a:buNone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試合が地域経済に与える効果を示したい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　</a:t>
            </a:r>
            <a:pPr indent="0" marL="0">
              <a:buNone/>
            </a:pPr>
            <a:r>
              <a:rPr lang="en-US" sz="125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1試合あたりの経済効果を2,419万円と算出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各社が公開している導入事例・実証実験の要約です。当社の実績ではありません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実施体制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窓口を1人に決め、専門担当と各サービス提供元が支えます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84168" y="17830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2768" y="2011680"/>
            <a:ext cx="731520" cy="73152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181448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営業窓口　〔担当者名〕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181448" y="22860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ご要望の確認、全体の進行管理、報告会の運営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95848" y="2971800"/>
            <a:ext cx="0" cy="32004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23160" y="3291840"/>
            <a:ext cx="7498080" cy="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3160" y="3291840"/>
            <a:ext cx="0" cy="27432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5661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6304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分析・調査担当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434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人流の分析条件とアンケートの設計、報告書の作成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3291840"/>
            <a:ext cx="0" cy="27432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0" y="35661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26280" y="3749040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88620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1208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広告担当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434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配信条件・素材・申込ページの準備、配信の改善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921240" y="3291840"/>
            <a:ext cx="0" cy="274320"/>
          </a:xfrm>
          <a:prstGeom prst="line">
            <a:avLst/>
          </a:prstGeom>
          <a:noFill/>
          <a:ln w="19050">
            <a:solidFill>
              <a:srgbClr val="9AA6B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46720" y="35661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8862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112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サービス提供元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275320" y="4434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データ提供・調査回収・広告配信（ドコモグループ各社、広告はCARTA ZERO）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BEAEE"/>
          </a:solidFill>
          <a:ln w="12700">
            <a:solidFill>
              <a:srgbClr val="FBEAE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ご連絡は営業窓口に一本化します。定例（隔週30分）で進捗と判断事項を確認します。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費用とプラン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今年度は小さく検証し、結果を見て次年度の規模をご判断ください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　今年度の検証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11月のまつり1回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9019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80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人流：当日＋比較日のスポット分析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調査：非参加者アンケート1回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広告：任意（予算に応じて）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〔お見積額〕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調査基本料 27.5万円〜（税込）を含む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　3ヶ月の改善検証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まつり前後を含む3ヶ月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880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人流：基準時点と施策後を比較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調査：事前・事後の2回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広告：対象・訴求を見直して配信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26280" y="43891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〔お見積額〕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調査基本料 55万円〜（税込）を含む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　次年度の年間運用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4月〜翌3月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880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人流：主要イベントの定点観測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調査：四半期ごとに4回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広告：年間計画に沿って配分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4389120"/>
            <a:ext cx="3108960" cy="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〔お見積額〕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調査基本料 110万円〜（税込）を含む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367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Aは市区町村の少額随意契約（委託等 100万円以下※）に収まる規模を目指して設計。※基準額は各自治体の規則によります。金額は税区分をそろえて正式見積でお示しします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　進め方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データの取り扱いと留意点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安心してご利用いただくために、事前にご確認いただきたいこと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391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個人を特定しません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651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モバイル空間統計は集団の人数を表す統計情報で、少人数は秘匿処理されます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20391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推計人口は入場者数ではありません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651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会場周辺の推計人口です。入場者数や販売実績とは分けて評価します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050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回収数・成果は保証しません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6634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アンケートの回収数は目標値、広告の成果は配信条件や素材によって変わります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690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86600" y="4050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効果の原因を断定しません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7086600" y="46634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天候・曜日・他のイベントなども影響するため、比較条件を記録して評価します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11月のまつりに間に合わせるため、10月中旬のご契約を目安に進めます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C9002B"/>
          </a:solidFill>
          <a:ln w="12700">
            <a:solidFill>
              <a:srgbClr val="C90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目的・判断に使う数字・対象イベントの確認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1週間以内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仕様案と正式なお見積をお送りします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10月中旬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ご契約（見積合わせ等の手続き）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201168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10月下旬〜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5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告知開始・当日の計測・調査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744200" cy="1828800"/>
          </a:xfrm>
          <a:prstGeom prst="roundRect">
            <a:avLst>
              <a:gd name="adj" fmla="val 5000"/>
            </a:avLst>
          </a:prstGeom>
          <a:solidFill>
            <a:srgbClr val="22394F"/>
          </a:solidFill>
          <a:ln w="12700">
            <a:solidFill>
              <a:srgbClr val="2F4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8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本日ご確認させてください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09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次年度の判断で、最も重視する数字はどれですか（来訪者数・県外比率・申込数など）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比較に使える過去の来場実績やアンケート結果はありますか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今年度のご予算の枠と、契約手続き（見積合わせ等）のご担当・時期を教えてください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AC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サービス情報・料金は2026年9月25日、事例・制度は9月27日に確認。正式提案時に再確認します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サービス・料金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12264"/>
            <a:ext cx="110642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https://mobaku.jp/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https://mobaku.jp/faq/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https://ssw.web.docomo.ne.jp/marketing/products/premium-panel/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https://www.ntt.com/business/services/premierepanel/research.html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https://ssw.web.docomo.ne.jp/marketing/products/ad-network/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https://www.cartazero.co.jp/ja/news/20260701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参考事例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87368"/>
            <a:ext cx="11064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https://www.ntt.com/business/case-studies/kotohira_town.html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https://www.ntt.com/business/case-studies/tamana.html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https://www.docomobs.com/case/toyama/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https://www.intage.co.jp/news/6237/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00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869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https://www.soumu.go.jp/main_content/001026062.pdf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〇〇市様 ご提案書（サンプル）</dc:title>
  <dc:subject>PptxGenJS Presentation</dc:subject>
  <dc:creator>PptxGenJS</dc:creator>
  <cp:lastModifiedBy>PptxGenJS</cp:lastModifiedBy>
  <cp:revision>1</cp:revision>
  <dcterms:created xsi:type="dcterms:W3CDTF">2026-09-27T14:12:42Z</dcterms:created>
  <dcterms:modified xsi:type="dcterms:W3CDTF">2026-09-27T14:12:42Z</dcterms:modified>
</cp:coreProperties>
</file>