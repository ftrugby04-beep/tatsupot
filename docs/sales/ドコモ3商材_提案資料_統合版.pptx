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イベント当日</c:v>
                </c:pt>
              </c:strCache>
            </c:strRef>
          </c:tx>
          <c:spPr>
            <a:solidFill>
              <a:srgbClr val="C9002B"/>
            </a:solidFill>
            <a:ln w="38100" cap="flat">
              <a:solidFill>
                <a:srgbClr val="C900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002B"/>
              </a:solidFill>
              <a:ln w="9525" cap="flat">
                <a:solidFill>
                  <a:srgbClr val="C9002B"/>
                </a:solidFill>
                <a:prstDash val="solid"/>
                <a:round/>
              </a:ln>
              <a:effectLst/>
            </c:spPr>
          </c:marker>
          <c:cat>
            <c:multiLvlStrRef>
              <c:f>Sheet1!$A$2:$A$8</c:f>
              <c:multiLvlStrCache>
                <c:ptCount val="7"/>
                <c:lvl>
                  <c:pt idx="0">
                    <c:v>9時</c:v>
                  </c:pt>
                  <c:pt idx="1">
                    <c:v>11時</c:v>
                  </c:pt>
                  <c:pt idx="2">
                    <c:v>13時</c:v>
                  </c:pt>
                  <c:pt idx="3">
                    <c:v>15時</c:v>
                  </c:pt>
                  <c:pt idx="4">
                    <c:v>17時</c:v>
                  </c:pt>
                  <c:pt idx="5">
                    <c:v>19時</c:v>
                  </c:pt>
                  <c:pt idx="6">
                    <c:v>21時</c:v>
                  </c:pt>
                </c:lvl>
              </c:multiLvlStrCache>
            </c:multiLvlStrRef>
          </c:cat>
          <c:val>
            <c:numRef>
              <c:f>Sheet1!$B$2:$B$8</c:f>
              <c:numCache>
                <c:formatCode>General</c:formatCode>
                <c:ptCount val="7"/>
                <c:pt idx="0">
                  <c:v>3400</c:v>
                </c:pt>
                <c:pt idx="1">
                  <c:v>7600</c:v>
                </c:pt>
                <c:pt idx="2">
                  <c:v>12100</c:v>
                </c:pt>
                <c:pt idx="3">
                  <c:v>12400</c:v>
                </c:pt>
                <c:pt idx="4">
                  <c:v>9800</c:v>
                </c:pt>
                <c:pt idx="5">
                  <c:v>7000</c:v>
                </c:pt>
                <c:pt idx="6">
                  <c:v>2900</c:v>
                </c:pt>
              </c:numCache>
            </c:numRef>
          </c:val>
          <c:smooth val="0"/>
        </c:ser>
        <c:ser>
          <c:idx val="1"/>
          <c:order val="1"/>
          <c:tx>
            <c:strRef>
              <c:f>Sheet1!$C$1</c:f>
              <c:strCache>
                <c:ptCount val="1"/>
                <c:pt idx="0">
                  <c:v>通常の土曜日</c:v>
                </c:pt>
              </c:strCache>
            </c:strRef>
          </c:tx>
          <c:spPr>
            <a:solidFill>
              <a:srgbClr val="9AA6B2"/>
            </a:solidFill>
            <a:ln w="38100" cap="flat">
              <a:solidFill>
                <a:srgbClr val="9AA6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AA6B2"/>
              </a:solidFill>
              <a:ln w="9525" cap="flat">
                <a:solidFill>
                  <a:srgbClr val="9AA6B2"/>
                </a:solidFill>
                <a:prstDash val="solid"/>
                <a:round/>
              </a:ln>
              <a:effectLst/>
            </c:spPr>
          </c:marker>
          <c:cat>
            <c:multiLvlStrRef>
              <c:f>Sheet1!$A$2:$A$8</c:f>
              <c:multiLvlStrCache>
                <c:ptCount val="7"/>
                <c:lvl>
                  <c:pt idx="0">
                    <c:v>9時</c:v>
                  </c:pt>
                  <c:pt idx="1">
                    <c:v>11時</c:v>
                  </c:pt>
                  <c:pt idx="2">
                    <c:v>13時</c:v>
                  </c:pt>
                  <c:pt idx="3">
                    <c:v>15時</c:v>
                  </c:pt>
                  <c:pt idx="4">
                    <c:v>17時</c:v>
                  </c:pt>
                  <c:pt idx="5">
                    <c:v>19時</c:v>
                  </c:pt>
                  <c:pt idx="6">
                    <c:v>21時</c:v>
                  </c:pt>
                </c:lvl>
              </c:multiLvlStrCache>
            </c:multiLvlStrRef>
          </c:cat>
          <c:val>
            <c:numRef>
              <c:f>Sheet1!$C$2:$C$8</c:f>
              <c:numCache>
                <c:formatCode>General</c:formatCode>
                <c:ptCount val="7"/>
                <c:pt idx="0">
                  <c:v>3200</c:v>
                </c:pt>
                <c:pt idx="1">
                  <c:v>3900</c:v>
                </c:pt>
                <c:pt idx="2">
                  <c:v>4300</c:v>
                </c:pt>
                <c:pt idx="3">
                  <c:v>4300</c:v>
                </c:pt>
                <c:pt idx="4">
                  <c:v>3800</c:v>
                </c:pt>
                <c:pt idx="5">
                  <c:v>3000</c:v>
                </c:pt>
                <c:pt idx="6">
                  <c:v>2200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6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A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67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理由</c:v>
                </c:pt>
              </c:strCache>
            </c:strRef>
          </c:tx>
          <c:spPr>
            <a:solidFill>
              <a:srgbClr val="C9002B"/>
            </a:solidFill>
            <a:effectLst/>
          </c:spPr>
          <c:invertIfNegative val="0"/>
          <c:dLbls>
            <c:numFmt formatCode="0&quot;%&quot;" sourceLinked="0"/>
            <c:txPr>
              <a:bodyPr/>
              <a:lstStyle/>
              <a:p>
                <a:pPr>
                  <a:defRPr b="1"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9002B"/>
              </a:solidFill>
              <a:effectLst/>
            </c:spPr>
          </c:dPt>
          <c:dPt>
            <c:idx val="1"/>
            <c:invertIfNegative val="0"/>
            <c:bubble3D val="0"/>
            <c:spPr>
              <a:solidFill>
                <a:srgbClr val="13283C"/>
              </a:solidFill>
              <a:effectLst/>
            </c:spPr>
          </c:dPt>
          <c:dPt>
            <c:idx val="2"/>
            <c:invertIfNegative val="0"/>
            <c:bubble3D val="0"/>
            <c:spPr>
              <a:solidFill>
                <a:srgbClr val="13283C"/>
              </a:solidFill>
              <a:effectLst/>
            </c:spPr>
          </c:dPt>
          <c:dPt>
            <c:idx val="3"/>
            <c:invertIfNegative val="0"/>
            <c:bubble3D val="0"/>
            <c:spPr>
              <a:solidFill>
                <a:srgbClr val="9AA6B2"/>
              </a:solidFill>
              <a:effectLst/>
            </c:spPr>
          </c:dPt>
          <c:cat>
            <c:multiLvlStrRef>
              <c:f>Sheet1!$A$2:$A$5</c:f>
              <c:multiLvlStrCache>
                <c:ptCount val="4"/>
                <c:lvl>
                  <c:pt idx="0">
                    <c:v>開催を知らなかった</c:v>
                  </c:pt>
                  <c:pt idx="1">
                    <c:v>日程が合わなかった</c:v>
                  </c:pt>
                  <c:pt idx="2">
                    <c:v>交通・駐車場が不安</c:v>
                  </c:pt>
                  <c:pt idx="3">
                    <c:v>内容に興味がない</c:v>
                  </c:pt>
                </c:lvl>
              </c:multiLvlStrCache>
            </c:multiLvlStrRef>
          </c:cat>
          <c:val>
            <c:numRef>
              <c:f>Sheet1!$B$2:$B$5</c:f>
              <c:numCache>
                <c:formatCode>General</c:formatCode>
                <c:ptCount val="4"/>
                <c:pt idx="0">
                  <c:v>42</c:v>
                </c:pt>
                <c:pt idx="1">
                  <c:v>28</c:v>
                </c:pt>
                <c:pt idx="2">
                  <c:v>17</c:v>
                </c:pt>
                <c:pt idx="3">
                  <c:v>9</c:v>
                </c:pt>
              </c:numCache>
            </c:numRef>
          </c:val>
        </c:ser>
        <c:dLbls>
          <c:numFmt formatCode="0&quot;%&quot;" sourceLinked="0"/>
          <c:txPr>
            <a:bodyPr/>
            <a:lstStyle/>
            <a:p>
              <a:pPr>
                <a:defRPr b="1"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B2B3D"/>
                </a:solidFill>
                <a:latin typeface="Meiryo"/>
              </a:defRPr>
            </a:pPr>
            <a:endParaRPr lang="en-US"/>
          </a:p>
        </c:txPr>
        <c:crossAx val="2094734552"/>
        <c:crosses val="autoZero"/>
        <c:auto val="1"/>
        <c:lblAlgn val="ctr"/>
        <c:noMultiLvlLbl val="1"/>
      </c:catAx>
      <c:valAx>
        <c:axId val="2094734552"/>
        <c:scaling>
          <c:orientation val="minMax"/>
          <c:max val="5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配点</c:v>
                </c:pt>
              </c:strCache>
            </c:strRef>
          </c:tx>
          <c:spPr>
            <a:solidFill>
              <a:srgbClr val="C9002B"/>
            </a:solidFill>
            <a:effectLst/>
          </c:spPr>
          <c:invertIfNegative val="0"/>
          <c:dLbls>
            <c:numFmt formatCode="0&quot;点&quot;" sourceLinked="0"/>
            <c:txPr>
              <a:bodyPr/>
              <a:lstStyle/>
              <a:p>
                <a:pPr>
                  <a:defRPr b="1"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9002B"/>
              </a:solidFill>
              <a:effectLst/>
            </c:spPr>
          </c:dPt>
          <c:dPt>
            <c:idx val="1"/>
            <c:invertIfNegative val="0"/>
            <c:bubble3D val="0"/>
            <c:spPr>
              <a:solidFill>
                <a:srgbClr val="13283C"/>
              </a:solidFill>
              <a:effectLst/>
            </c:spPr>
          </c:dPt>
          <c:dPt>
            <c:idx val="2"/>
            <c:invertIfNegative val="0"/>
            <c:bubble3D val="0"/>
            <c:spPr>
              <a:solidFill>
                <a:srgbClr val="13283C"/>
              </a:solidFill>
              <a:effectLst/>
            </c:spPr>
          </c:dPt>
          <c:dPt>
            <c:idx val="3"/>
            <c:invertIfNegative val="0"/>
            <c:bubble3D val="0"/>
            <c:spPr>
              <a:solidFill>
                <a:srgbClr val="2F4A63"/>
              </a:solidFill>
              <a:effectLst/>
            </c:spPr>
          </c:dPt>
          <c:dPt>
            <c:idx val="4"/>
            <c:invertIfNegative val="0"/>
            <c:bubble3D val="0"/>
            <c:spPr>
              <a:solidFill>
                <a:srgbClr val="2F4A63"/>
              </a:solidFill>
              <a:effectLst/>
            </c:spPr>
          </c:dPt>
          <c:cat>
            <c:multiLvlStrRef>
              <c:f>Sheet1!$A$2:$A$6</c:f>
              <c:multiLvlStrCache>
                <c:ptCount val="5"/>
                <c:lvl>
                  <c:pt idx="0">
                    <c:v>企画</c:v>
                  </c:pt>
                  <c:pt idx="1">
                    <c:v>業務理解度</c:v>
                  </c:pt>
                  <c:pt idx="2">
                    <c:v>目標設定・管理</c:v>
                  </c:pt>
                  <c:pt idx="3">
                    <c:v>分析</c:v>
                  </c:pt>
                  <c:pt idx="4">
                    <c:v>データセット</c:v>
                  </c:pt>
                </c:lvl>
              </c:multiLvlStrCache>
            </c:multiLvlStrRef>
          </c:cat>
          <c:val>
            <c:numRef>
              <c:f>Sheet1!$B$2:$B$6</c:f>
              <c:numCache>
                <c:formatCode>General</c:formatCode>
                <c:ptCount val="5"/>
                <c:pt idx="0">
                  <c:v>20</c:v>
                </c:pt>
                <c:pt idx="1">
                  <c:v>10</c:v>
                </c:pt>
                <c:pt idx="2">
                  <c:v>10</c:v>
                </c:pt>
                <c:pt idx="3">
                  <c:v>10</c:v>
                </c:pt>
                <c:pt idx="4">
                  <c:v>5</c:v>
                </c:pt>
              </c:numCache>
            </c:numRef>
          </c:val>
        </c:ser>
        <c:dLbls>
          <c:numFmt formatCode="0&quot;点&quot;" sourceLinked="0"/>
          <c:txPr>
            <a:bodyPr/>
            <a:lstStyle/>
            <a:p>
              <a:pPr>
                <a:defRPr b="1"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B3D"/>
                </a:solidFill>
                <a:latin typeface="Meiryo"/>
              </a:defRPr>
            </a:pPr>
            <a:endParaRPr lang="en-US"/>
          </a:p>
        </c:txPr>
        <c:crossAx val="2094734552"/>
        <c:crosses val="autoZero"/>
        <c:auto val="1"/>
        <c:lblAlgn val="ctr"/>
        <c:noMultiLvlLbl val="1"/>
      </c:catAx>
      <c:valAx>
        <c:axId val="2094734552"/>
        <c:scaling>
          <c:orientation val="minMax"/>
          <c:max val="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【この資料の使い方】
・顧客提案：P.01〜15をそのまま使う。P.16〜20（社内用）は「スライドを非表示」に設定するか削除する。〔 〕の部分と、P.09の架空のグラフを差し替える。
・社内共有：全ページを使う。各ページのノートにトーク例と根拠を記載。
・料金・仕様は2026年9月25日、事例・競合は9月27日に確認した公開情報。正式提案前に再確認する。
冒頭トーク例：本日は、来訪者をデータで捉え、次の集客と予算の判断に使っていただくためのご提案です。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【社内メモ】事例分析の結論は「顧客が何を判断するかを起点に、判断に使えるアウトプットを契約前に見せる提案が選ばれる」（P.16）。要旨の1行目は必ず顧客の判断を1文で書く。商材名はまだ出さない。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【差し替え】ヒアリング後は、顧客の言葉で課題を書き換える。自治体の審査基準では「業務理解度」に配点があるため、課題の整理は丁寧に。
トーク例：多くのお客様から、この3つのお悩みを伺います。御社（貴市）ではいかがでしょうか。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3商材を一括で入れる前提にしない。課題に対応する商材から提案する。人流だけでは理由が分からず、調査だけでは告知できないので、課題に応じて補う。
出典
https://mobaku.jp/
https://ssw.web.docomo.ne.jp/marketing/products/premium-panel/
https://ssw.web.docomo.ne.jp/marketing/products/ad-network/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現地で全員を数える代わりに、地域別・時間帯別の人口を比較できる。個人を特定するサービスではなく、少人数は秘匿処理される。細かさは500mメッシュが基本で、一部都市は250m・125m。
画像出典：https://mobaku.jp/top/img/table/table1.jpg
出典
https://mobaku.jp/
https://bizzine.jp/article/detail/10718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リサーチは最低27.5万円/回（税込）の公開料金。基本15問まで（1問追加ごとに22,000円・税込、最大20問）。市区町村などの絞り込みや設計・レポートは追加費用を確認する。
画像出典：https://ssw.web.docomo.ne.jp/marketing/assets/images/products_detail/premium-panel/kv.png
出典
https://ssw.web.docomo.ne.jp/marketing/products/premium-panel/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2026年7月1日、D2CからCARTA ZEROへ運営を承継。同社の広告基盤と統合し「docomo data square Ads Platform」として販売。主要広告媒体でドコモデータを使う「Ads Connect」も開始。見積は現行の窓口・メニュー名で取る。
画像出典：https://ssw.web.docomo.ne.jp/marketing/assets/images/products_detail/ad-network/introduction.png
出典
https://ssw.web.docomo.ne.jp/marketing/products/ad-network/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【社内メモ】店舗・道路単位の細かさや移動経路はGPS型（KDDI・Agoopなど）が得意。顧客の目的が「広く・人口として説明」なら、このページが効く。競合比較はP.17〜18。
出典
https://bizzine.jp/article/detail/10718
https://mobaku.jp/
https://mobaku.jp/analysis/2017/1101_50.html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ページ】事例分析では、選ばれた決め手は「どういったデータが取れるか明確にイメージできたこと」（栃木県がKDDIを選んだ理由）。可能なら顧客の過去イベント日のサンプル分析に差し替える。架空の数値のまま見せる場合は、必ずイメージであることを口頭でも伝える。
出典
https://biz.kddi.com/usecase/tochigi2/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琴平町は「人の動き＋理由」を組み合わせた実例で、本提案に最も近い。玉名市は「無料のRESASでは足りない細かさ」が導入理由。川崎フロンターレは位置情報と決済情報を組み合わせた実証で、標準メニューとは異なる。
出典
https://www.ntt.com/business/case-studies/kotohira_town.html
https://www.ntt.com/business/case-studies/tamana.html
https://www.ntt.com/business/services/spatial_statistics/case_shigaken.html
https://www.docomobs.com/case/toyama/
https://www.ntt.com/business/services/spatial_statistics/case_miyaginresearch.html
https://www.intage.co.jp/news/6237/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予算が限られる場合は、ステップ2・3だけで始めることもできる。スポーツチームなら、まず来場者数なのか新規観戦者なのかを確認する。提案先別の入口は本資料の提案例で、導入実績ではない。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【差し替え】〔お見積額〕は提供元の見積をそろえて記入。料金の単位が違う（月額・1回・出稿）ため、単純に足して最低総額とは言わない。
【社内メモ】A案は市区町村の少額随意契約（委託等100万円以下、各自治体の規則で適用）に収まる規模を目指すと、早く始めやすい。人口マップ9万円〜と標準版の料金（初期10万円＋月15万円、最低3ヶ月）は元資料の数字で、今回の検索では確認できていない。見積で必ず確認する。
出典
https://mobaku.jp/
https://mobaku.jp/price/jpn/
https://www.ntt.com/business/services/premierepanel/research.html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ヶ月のプランでも事前準備は必要。3商材すべてが同じ日に始められると約束せず、工程を確認してから開始日を提示する。自治体は予算要求（9〜10月）・査定（12〜1月）の時期に合わせて速報を出すと、次年度予算の根拠に使ってもらえる（P.19）。
出典
https://mobaku.jp/faq/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限界を先に説明すると、組み合わせる理由と誠実さが伝わる。成果を約束しない。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切り出し例：今回、一番増やしたいのは来場者数でしょうか。それとも新しいお客様の申込でしょうか。
締め方の例：対象・日程・計測できる数字を整理して、必要なサービスと実施期間を次回ご提案します。
※顧客提示はここまで。P.16以降は社内用。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本資料P.01〜15は、この条件に沿って「判断→数字→アウトプット→商材」の順に並べている。事例は各社の公開導入事例の要約。
出典
https://biz.kddi.com/usecase/tochigi2/
https://k-locationanalyzer.com/case/baystars
https://www.intage.co.jp/news/6237/
https://www.ntt.com/business/services/spatial_statistics/case_miyaginresearch.html
https://www.pref.ishikawa.lg.jp/kouhou/nyusatsu/documents/kijun.pdf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地局型は電源が入っている携帯電話を広く数えるため、規模と偏りの少なさに強い。GPS型はアプリの利用・同意が前提でサンプルは少ないが、10m単位や移動経路に強い。混雑統計はドコモのアプリのGPSを使うゼンリンデータコムのサービスで、ドコモ系にもGPS型の選択肢がある。
出典
https://bizzine.jp/article/detail/10718
https://k-locationanalyzer.com/domestic
https://www.giken.co.jp/service/kla/fee/
https://agoop.co.jp/service/dynamic-population-data/
https://blog.esrij.com/archives/69141
https://www.research-media.net/company/macromill.php
https://insight.rakuten.co.jp/panel/
https://www.lycbiz.com/jp/service/line-ads/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戦い方の読み：①自治体の「説明責任」「広域観光」「経済効果」を主戦場にする。②スポーツは毎試合の比較では競わず、「来訪元・経済効果・来なかった理由」で差をつける。③広告は規模で競わず、「ドコモデータを主要媒体でも使える」で切り返す。
出典
https://k-locationanalyzer.com/domestic
https://www.giken.co.jp/service/kla/fee/
https://k-locationanalyzer.com/case/baystars
https://www.ntt.com/business/case-studies/tamana.html
https://www.ntt.com/business/case-studies/kotohira_town.html
https://www.ntt.com/business/services/spatial_statistics/case_miyaginresearch.html
https://mobaku.jp/analysis/2017/1101_50.html
https://www.cartazero.co.jp/ja/news/20260701
https://www.lycbiz.com/jp/service/line-ads/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治体は4月〜翌3月の会計年度。9〜10月に次年度の予算要求が始まるため、夏までに課題と試算を渡すと根拠資料に使ってもらえる。十勝（2026年）は参加表明8/14→提案書8/27→ヒアリング9/2。審査基準は公告と同時に公開されることが多い。安芸高田市の例では実施体制に20点。
出典
https://journal.labid.jp/article/exL3ENJP
https://www.soumu.go.jp/main_content/001026062.pdf
https://www.city.shimonoseki.lg.jp/site/nyuusatu/161035.html
https://www.tokachi.pref.hokkaido.lg.jp/ss/srk/265425.html
https://www.pref.ishikawa.lg.jp/kouhou/nyusatsu/documents/kijun.pdf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全員がすべてを詳しく説明できる必要はない。顧客の課題と、次に専門担当へ確認することを共有できる状態を目指す。案件の責任者と次の期限は必ず明確にする。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顧客に出す版では、必要な出典だけ残す。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e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822960"/>
            <a:ext cx="6400800" cy="41148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〔お客様名〕 御中</a:t>
            </a:r>
            <a:endParaRPr lang="en-US" sz="1800" dirty="0"/>
          </a:p>
        </p:txBody>
      </p:sp>
      <p:sp>
        <p:nvSpPr>
          <p:cNvPr id="3" name="Text 1"/>
          <p:cNvSpPr txBox="1"/>
          <p:nvPr/>
        </p:nvSpPr>
        <p:spPr>
          <a:xfrm>
            <a:off x="731520" y="1783080"/>
            <a:ext cx="6583680" cy="777240"/>
          </a:xfrm>
          <a:prstGeom prst="rect">
            <a:avLst/>
          </a:prstGeom>
          <a:noFill/>
          <a:ln/>
        </p:spPr>
        <p:txBody>
          <a:bodyPr wrap="square" lIns="0" tIns="0" rIns="0" bIns="0" rtlCol="0" anchor="t"/>
          <a:lstStyle/>
          <a:p>
            <a:pPr indent="0" marL="0">
              <a:buNone/>
            </a:pPr>
            <a:r>
              <a:rPr lang="en-US" sz="4000" b="1" dirty="0">
                <a:solidFill>
                  <a:srgbClr val="FFFFFF"/>
                </a:solidFill>
                <a:latin typeface="Meiryo" pitchFamily="34" charset="0"/>
                <a:ea typeface="Meiryo" pitchFamily="34" charset="-122"/>
                <a:cs typeface="Meiryo" pitchFamily="34" charset="-120"/>
              </a:rPr>
              <a:t>来訪データで、</a:t>
            </a:r>
            <a:endParaRPr lang="en-US" sz="4000" dirty="0"/>
          </a:p>
        </p:txBody>
      </p:sp>
      <p:sp>
        <p:nvSpPr>
          <p:cNvPr id="4" name="Text 2"/>
          <p:cNvSpPr txBox="1"/>
          <p:nvPr/>
        </p:nvSpPr>
        <p:spPr>
          <a:xfrm>
            <a:off x="731520" y="2560320"/>
            <a:ext cx="6583680" cy="777240"/>
          </a:xfrm>
          <a:prstGeom prst="rect">
            <a:avLst/>
          </a:prstGeom>
          <a:noFill/>
          <a:ln/>
        </p:spPr>
        <p:txBody>
          <a:bodyPr wrap="square" lIns="0" tIns="0" rIns="0" bIns="0" rtlCol="0" anchor="t"/>
          <a:lstStyle/>
          <a:p>
            <a:pPr indent="0" marL="0">
              <a:buNone/>
            </a:pPr>
            <a:r>
              <a:rPr lang="en-US" sz="4000" b="1" dirty="0">
                <a:solidFill>
                  <a:srgbClr val="FF5A78"/>
                </a:solidFill>
                <a:latin typeface="Meiryo" pitchFamily="34" charset="0"/>
                <a:ea typeface="Meiryo" pitchFamily="34" charset="-122"/>
                <a:cs typeface="Meiryo" pitchFamily="34" charset="-120"/>
              </a:rPr>
              <a:t>集客と予算の判断を</a:t>
            </a:r>
            <a:endParaRPr lang="en-US" sz="4000" dirty="0"/>
          </a:p>
        </p:txBody>
      </p:sp>
      <p:sp>
        <p:nvSpPr>
          <p:cNvPr id="5" name="Text 3"/>
          <p:cNvSpPr txBox="1"/>
          <p:nvPr/>
        </p:nvSpPr>
        <p:spPr>
          <a:xfrm>
            <a:off x="731520" y="3611880"/>
            <a:ext cx="6400800" cy="822960"/>
          </a:xfrm>
          <a:prstGeom prst="rect">
            <a:avLst/>
          </a:prstGeom>
          <a:noFill/>
          <a:ln/>
        </p:spPr>
        <p:txBody>
          <a:bodyPr wrap="square" lIns="0" tIns="0" rIns="0" bIns="0" rtlCol="0" anchor="t"/>
          <a:lstStyle/>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モバイル空間統計・プレミアパネル・docomo Ad Network による</a:t>
            </a:r>
            <a:endParaRPr lang="en-US" sz="1500" dirty="0"/>
          </a:p>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来訪者把握と集客施策のご提案</a:t>
            </a:r>
            <a:endParaRPr lang="en-US" sz="1500" dirty="0"/>
          </a:p>
        </p:txBody>
      </p:sp>
      <p:sp>
        <p:nvSpPr>
          <p:cNvPr id="6" name="Text 4"/>
          <p:cNvSpPr txBox="1"/>
          <p:nvPr/>
        </p:nvSpPr>
        <p:spPr>
          <a:xfrm>
            <a:off x="731520" y="5852160"/>
            <a:ext cx="6400800" cy="320040"/>
          </a:xfrm>
          <a:prstGeom prst="rect">
            <a:avLst/>
          </a:prstGeom>
          <a:noFill/>
          <a:ln/>
        </p:spPr>
        <p:txBody>
          <a:bodyPr wrap="square" lIns="0" tIns="0" rIns="0" bIns="0" rtlCol="0" anchor="t"/>
          <a:lstStyle/>
          <a:p>
            <a:pPr indent="0" marL="0">
              <a:buNone/>
            </a:pPr>
            <a:r>
              <a:rPr lang="en-US" sz="1300" dirty="0">
                <a:solidFill>
                  <a:srgbClr val="BAC8D4"/>
                </a:solidFill>
                <a:latin typeface="Meiryo" pitchFamily="34" charset="0"/>
                <a:ea typeface="Meiryo" pitchFamily="34" charset="-122"/>
                <a:cs typeface="Meiryo" pitchFamily="34" charset="-120"/>
              </a:rPr>
              <a:t>2026年10月　〔貴社名〕</a:t>
            </a:r>
            <a:endParaRPr lang="en-US" sz="1300" dirty="0"/>
          </a:p>
        </p:txBody>
      </p:sp>
      <p:sp>
        <p:nvSpPr>
          <p:cNvPr id="7" name="Shape 5"/>
          <p:cNvSpPr/>
          <p:nvPr/>
        </p:nvSpPr>
        <p:spPr>
          <a:xfrm>
            <a:off x="7498080" y="1600200"/>
            <a:ext cx="4023360" cy="1051560"/>
          </a:xfrm>
          <a:prstGeom prst="roundRect">
            <a:avLst>
              <a:gd name="adj" fmla="val 8696"/>
            </a:avLst>
          </a:prstGeom>
          <a:solidFill>
            <a:srgbClr val="22394F"/>
          </a:solidFill>
          <a:ln w="12700">
            <a:solidFill>
              <a:srgbClr val="2F4A63"/>
            </a:solidFill>
            <a:prstDash val="solid"/>
          </a:ln>
        </p:spPr>
      </p:sp>
      <p:sp>
        <p:nvSpPr>
          <p:cNvPr id="8" name="Shape 6"/>
          <p:cNvSpPr/>
          <p:nvPr/>
        </p:nvSpPr>
        <p:spPr>
          <a:xfrm>
            <a:off x="7726680" y="1783080"/>
            <a:ext cx="685800" cy="68580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7898130" y="1954530"/>
            <a:ext cx="342900" cy="342900"/>
          </a:xfrm>
          <a:prstGeom prst="rect">
            <a:avLst/>
          </a:prstGeom>
        </p:spPr>
      </p:pic>
      <p:sp>
        <p:nvSpPr>
          <p:cNvPr id="10" name="Text 7"/>
          <p:cNvSpPr txBox="1"/>
          <p:nvPr/>
        </p:nvSpPr>
        <p:spPr>
          <a:xfrm>
            <a:off x="8595360" y="178308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モバイル空間統計</a:t>
            </a:r>
            <a:endParaRPr lang="en-US" sz="1600" dirty="0"/>
          </a:p>
        </p:txBody>
      </p:sp>
      <p:sp>
        <p:nvSpPr>
          <p:cNvPr id="11" name="Text 8"/>
          <p:cNvSpPr txBox="1"/>
          <p:nvPr/>
        </p:nvSpPr>
        <p:spPr>
          <a:xfrm>
            <a:off x="8595360" y="216712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いつ・どこに・どんな人がいるか</a:t>
            </a:r>
            <a:endParaRPr lang="en-US" sz="1200" dirty="0"/>
          </a:p>
        </p:txBody>
      </p:sp>
      <p:sp>
        <p:nvSpPr>
          <p:cNvPr id="12" name="Shape 9"/>
          <p:cNvSpPr/>
          <p:nvPr/>
        </p:nvSpPr>
        <p:spPr>
          <a:xfrm>
            <a:off x="7498080" y="2926080"/>
            <a:ext cx="4023360" cy="1051560"/>
          </a:xfrm>
          <a:prstGeom prst="roundRect">
            <a:avLst>
              <a:gd name="adj" fmla="val 8696"/>
            </a:avLst>
          </a:prstGeom>
          <a:solidFill>
            <a:srgbClr val="22394F"/>
          </a:solidFill>
          <a:ln w="12700">
            <a:solidFill>
              <a:srgbClr val="2F4A63"/>
            </a:solidFill>
            <a:prstDash val="solid"/>
          </a:ln>
        </p:spPr>
      </p:sp>
      <p:sp>
        <p:nvSpPr>
          <p:cNvPr id="13" name="Shape 10"/>
          <p:cNvSpPr/>
          <p:nvPr/>
        </p:nvSpPr>
        <p:spPr>
          <a:xfrm>
            <a:off x="7726680" y="3108960"/>
            <a:ext cx="685800" cy="68580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7898130" y="3280410"/>
            <a:ext cx="342900" cy="342900"/>
          </a:xfrm>
          <a:prstGeom prst="rect">
            <a:avLst/>
          </a:prstGeom>
        </p:spPr>
      </p:pic>
      <p:sp>
        <p:nvSpPr>
          <p:cNvPr id="15" name="Text 11"/>
          <p:cNvSpPr txBox="1"/>
          <p:nvPr/>
        </p:nvSpPr>
        <p:spPr>
          <a:xfrm>
            <a:off x="8595360" y="310896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プレミアパネル</a:t>
            </a:r>
            <a:endParaRPr lang="en-US" sz="1600" dirty="0"/>
          </a:p>
        </p:txBody>
      </p:sp>
      <p:sp>
        <p:nvSpPr>
          <p:cNvPr id="16" name="Text 12"/>
          <p:cNvSpPr txBox="1"/>
          <p:nvPr/>
        </p:nvSpPr>
        <p:spPr>
          <a:xfrm>
            <a:off x="8595360" y="349300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なぜ来る／来ないのか</a:t>
            </a:r>
            <a:endParaRPr lang="en-US" sz="1200" dirty="0"/>
          </a:p>
        </p:txBody>
      </p:sp>
      <p:sp>
        <p:nvSpPr>
          <p:cNvPr id="17" name="Shape 13"/>
          <p:cNvSpPr/>
          <p:nvPr/>
        </p:nvSpPr>
        <p:spPr>
          <a:xfrm>
            <a:off x="7498080" y="4251960"/>
            <a:ext cx="4023360" cy="1051560"/>
          </a:xfrm>
          <a:prstGeom prst="roundRect">
            <a:avLst>
              <a:gd name="adj" fmla="val 8696"/>
            </a:avLst>
          </a:prstGeom>
          <a:solidFill>
            <a:srgbClr val="22394F"/>
          </a:solidFill>
          <a:ln w="12700">
            <a:solidFill>
              <a:srgbClr val="2F4A63"/>
            </a:solidFill>
            <a:prstDash val="solid"/>
          </a:ln>
        </p:spPr>
      </p:sp>
      <p:sp>
        <p:nvSpPr>
          <p:cNvPr id="18" name="Shape 14"/>
          <p:cNvSpPr/>
          <p:nvPr/>
        </p:nvSpPr>
        <p:spPr>
          <a:xfrm>
            <a:off x="7726680" y="4434840"/>
            <a:ext cx="685800" cy="68580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7898130" y="4606290"/>
            <a:ext cx="342900" cy="342900"/>
          </a:xfrm>
          <a:prstGeom prst="rect">
            <a:avLst/>
          </a:prstGeom>
        </p:spPr>
      </p:pic>
      <p:sp>
        <p:nvSpPr>
          <p:cNvPr id="20" name="Text 15"/>
          <p:cNvSpPr txBox="1"/>
          <p:nvPr/>
        </p:nvSpPr>
        <p:spPr>
          <a:xfrm>
            <a:off x="8595360" y="443484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docomo Ad Network</a:t>
            </a:r>
            <a:endParaRPr lang="en-US" sz="1600" dirty="0"/>
          </a:p>
        </p:txBody>
      </p:sp>
      <p:sp>
        <p:nvSpPr>
          <p:cNvPr id="21" name="Text 16"/>
          <p:cNvSpPr txBox="1"/>
          <p:nvPr/>
        </p:nvSpPr>
        <p:spPr>
          <a:xfrm>
            <a:off x="8595360" y="481888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対象の人へ、どう届けるか</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はじめに</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ご提案の要旨</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「どこに・誰に・いくら使って告知するか」を、データで判断できる状態をつくります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02</a:t>
            </a:r>
            <a:endParaRPr lang="en-US" sz="1000" dirty="0"/>
          </a:p>
        </p:txBody>
      </p:sp>
      <p:sp>
        <p:nvSpPr>
          <p:cNvPr id="6" name="Shape 4"/>
          <p:cNvSpPr/>
          <p:nvPr/>
        </p:nvSpPr>
        <p:spPr>
          <a:xfrm>
            <a:off x="548640" y="1783080"/>
            <a:ext cx="11064240" cy="941832"/>
          </a:xfrm>
          <a:prstGeom prst="roundRect">
            <a:avLst>
              <a:gd name="adj" fmla="val 7767"/>
            </a:avLst>
          </a:prstGeom>
          <a:solidFill>
            <a:srgbClr val="13283C"/>
          </a:solidFill>
          <a:ln w="12700">
            <a:solidFill>
              <a:srgbClr val="13283C"/>
            </a:solidFill>
            <a:prstDash val="solid"/>
          </a:ln>
        </p:spPr>
      </p:sp>
      <p:sp>
        <p:nvSpPr>
          <p:cNvPr id="7" name="Shape 5"/>
          <p:cNvSpPr/>
          <p:nvPr/>
        </p:nvSpPr>
        <p:spPr>
          <a:xfrm>
            <a:off x="777240" y="1956816"/>
            <a:ext cx="594360" cy="59436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25830" y="2105406"/>
            <a:ext cx="297180" cy="297180"/>
          </a:xfrm>
          <a:prstGeom prst="rect">
            <a:avLst/>
          </a:prstGeom>
        </p:spPr>
      </p:pic>
      <p:sp>
        <p:nvSpPr>
          <p:cNvPr id="9" name="Text 6"/>
          <p:cNvSpPr txBox="1"/>
          <p:nvPr/>
        </p:nvSpPr>
        <p:spPr>
          <a:xfrm>
            <a:off x="1600200" y="1783080"/>
            <a:ext cx="2926080" cy="941832"/>
          </a:xfrm>
          <a:prstGeom prst="rect">
            <a:avLst/>
          </a:prstGeom>
          <a:noFill/>
          <a:ln/>
        </p:spPr>
        <p:txBody>
          <a:bodyPr wrap="square" lIns="0" tIns="0" rIns="0" bIns="0" rtlCol="0" anchor="ctr"/>
          <a:lstStyle/>
          <a:p>
            <a:pPr indent="0" marL="0">
              <a:buNone/>
            </a:pPr>
            <a:r>
              <a:rPr lang="en-US" sz="1500" b="1" dirty="0">
                <a:solidFill>
                  <a:srgbClr val="FF8FA3"/>
                </a:solidFill>
                <a:latin typeface="Meiryo" pitchFamily="34" charset="0"/>
                <a:ea typeface="Meiryo" pitchFamily="34" charset="-122"/>
                <a:cs typeface="Meiryo" pitchFamily="34" charset="-120"/>
              </a:rPr>
              <a:t>ご判断いただきたいこと</a:t>
            </a:r>
            <a:endParaRPr lang="en-US" sz="1500" dirty="0"/>
          </a:p>
        </p:txBody>
      </p:sp>
      <p:sp>
        <p:nvSpPr>
          <p:cNvPr id="10" name="Text 7"/>
          <p:cNvSpPr txBox="1"/>
          <p:nvPr/>
        </p:nvSpPr>
        <p:spPr>
          <a:xfrm>
            <a:off x="4572000" y="1783080"/>
            <a:ext cx="6858000" cy="94183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次のイベント・募集で、告知する地域・対象・予算配分をどう決めるか</a:t>
            </a:r>
            <a:endParaRPr lang="en-US" sz="1400" dirty="0"/>
          </a:p>
        </p:txBody>
      </p:sp>
      <p:sp>
        <p:nvSpPr>
          <p:cNvPr id="11" name="Shape 8"/>
          <p:cNvSpPr/>
          <p:nvPr/>
        </p:nvSpPr>
        <p:spPr>
          <a:xfrm>
            <a:off x="548640" y="2862072"/>
            <a:ext cx="11064240" cy="941832"/>
          </a:xfrm>
          <a:prstGeom prst="roundRect">
            <a:avLst>
              <a:gd name="adj" fmla="val 7767"/>
            </a:avLst>
          </a:prstGeom>
          <a:solidFill>
            <a:srgbClr val="F2F5F8"/>
          </a:solidFill>
          <a:ln w="12700">
            <a:solidFill>
              <a:srgbClr val="F2F5F8"/>
            </a:solidFill>
            <a:prstDash val="solid"/>
          </a:ln>
        </p:spPr>
      </p:sp>
      <p:sp>
        <p:nvSpPr>
          <p:cNvPr id="12" name="Shape 9"/>
          <p:cNvSpPr/>
          <p:nvPr/>
        </p:nvSpPr>
        <p:spPr>
          <a:xfrm>
            <a:off x="777240" y="3035808"/>
            <a:ext cx="594360" cy="594360"/>
          </a:xfrm>
          <a:prstGeom prst="ellipse">
            <a:avLst/>
          </a:prstGeom>
          <a:solidFill>
            <a:srgbClr val="C9002B"/>
          </a:solidFill>
          <a:ln w="12700">
            <a:solidFill>
              <a:srgbClr val="C9002B"/>
            </a:solidFill>
            <a:prstDash val="solid"/>
          </a:ln>
        </p:spPr>
      </p:sp>
      <p:pic>
        <p:nvPicPr>
          <p:cNvPr id="13" name="Image 1" descr="preencoded.png">    </p:cNvPr>
          <p:cNvPicPr>
            <a:picLocks noChangeAspect="1"/>
          </p:cNvPicPr>
          <p:nvPr/>
        </p:nvPicPr>
        <p:blipFill>
          <a:blip r:embed="rId2"/>
          <a:stretch>
            <a:fillRect/>
          </a:stretch>
        </p:blipFill>
        <p:spPr>
          <a:xfrm>
            <a:off x="925830" y="3184398"/>
            <a:ext cx="297180" cy="297180"/>
          </a:xfrm>
          <a:prstGeom prst="rect">
            <a:avLst/>
          </a:prstGeom>
        </p:spPr>
      </p:pic>
      <p:sp>
        <p:nvSpPr>
          <p:cNvPr id="14" name="Text 10"/>
          <p:cNvSpPr txBox="1"/>
          <p:nvPr/>
        </p:nvSpPr>
        <p:spPr>
          <a:xfrm>
            <a:off x="1600200" y="2862072"/>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お渡しするもの</a:t>
            </a:r>
            <a:endParaRPr lang="en-US" sz="1500" dirty="0"/>
          </a:p>
        </p:txBody>
      </p:sp>
      <p:sp>
        <p:nvSpPr>
          <p:cNvPr id="15" name="Text 11"/>
          <p:cNvSpPr txBox="1"/>
          <p:nvPr/>
        </p:nvSpPr>
        <p:spPr>
          <a:xfrm>
            <a:off x="4572000" y="2862072"/>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来訪者の推計（時間帯・来訪元・属性）、来ない理由、広告の申込実績をまとめた報告書</a:t>
            </a:r>
            <a:endParaRPr lang="en-US" sz="1400" dirty="0"/>
          </a:p>
        </p:txBody>
      </p:sp>
      <p:sp>
        <p:nvSpPr>
          <p:cNvPr id="16" name="Shape 12"/>
          <p:cNvSpPr/>
          <p:nvPr/>
        </p:nvSpPr>
        <p:spPr>
          <a:xfrm>
            <a:off x="548640" y="3941064"/>
            <a:ext cx="11064240" cy="941832"/>
          </a:xfrm>
          <a:prstGeom prst="roundRect">
            <a:avLst>
              <a:gd name="adj" fmla="val 7767"/>
            </a:avLst>
          </a:prstGeom>
          <a:solidFill>
            <a:srgbClr val="F2F5F8"/>
          </a:solidFill>
          <a:ln w="12700">
            <a:solidFill>
              <a:srgbClr val="F2F5F8"/>
            </a:solidFill>
            <a:prstDash val="solid"/>
          </a:ln>
        </p:spPr>
      </p:sp>
      <p:sp>
        <p:nvSpPr>
          <p:cNvPr id="17" name="Shape 13"/>
          <p:cNvSpPr/>
          <p:nvPr/>
        </p:nvSpPr>
        <p:spPr>
          <a:xfrm>
            <a:off x="777240" y="4114800"/>
            <a:ext cx="594360" cy="594360"/>
          </a:xfrm>
          <a:prstGeom prst="ellipse">
            <a:avLst/>
          </a:prstGeom>
          <a:solidFill>
            <a:srgbClr val="C9002B"/>
          </a:solidFill>
          <a:ln w="12700">
            <a:solidFill>
              <a:srgbClr val="C9002B"/>
            </a:solidFill>
            <a:prstDash val="solid"/>
          </a:ln>
        </p:spPr>
      </p:sp>
      <p:pic>
        <p:nvPicPr>
          <p:cNvPr id="18" name="Image 2" descr="preencoded.png">    </p:cNvPr>
          <p:cNvPicPr>
            <a:picLocks noChangeAspect="1"/>
          </p:cNvPicPr>
          <p:nvPr/>
        </p:nvPicPr>
        <p:blipFill>
          <a:blip r:embed="rId3"/>
          <a:stretch>
            <a:fillRect/>
          </a:stretch>
        </p:blipFill>
        <p:spPr>
          <a:xfrm>
            <a:off x="925830" y="4263390"/>
            <a:ext cx="297180" cy="297180"/>
          </a:xfrm>
          <a:prstGeom prst="rect">
            <a:avLst/>
          </a:prstGeom>
        </p:spPr>
      </p:pic>
      <p:sp>
        <p:nvSpPr>
          <p:cNvPr id="19" name="Text 14"/>
          <p:cNvSpPr txBox="1"/>
          <p:nvPr/>
        </p:nvSpPr>
        <p:spPr>
          <a:xfrm>
            <a:off x="1600200" y="3941064"/>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進め方</a:t>
            </a:r>
            <a:endParaRPr lang="en-US" sz="1500" dirty="0"/>
          </a:p>
        </p:txBody>
      </p:sp>
      <p:sp>
        <p:nvSpPr>
          <p:cNvPr id="20" name="Text 15"/>
          <p:cNvSpPr txBox="1"/>
          <p:nvPr/>
        </p:nvSpPr>
        <p:spPr>
          <a:xfrm>
            <a:off x="4572000" y="3941064"/>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1回のイベントで小さく検証 → 速報 → 次の予算と年間計画に反映</a:t>
            </a:r>
            <a:endParaRPr lang="en-US" sz="1400" dirty="0"/>
          </a:p>
        </p:txBody>
      </p:sp>
      <p:sp>
        <p:nvSpPr>
          <p:cNvPr id="21" name="Shape 16"/>
          <p:cNvSpPr/>
          <p:nvPr/>
        </p:nvSpPr>
        <p:spPr>
          <a:xfrm>
            <a:off x="548640" y="5020056"/>
            <a:ext cx="11064240" cy="941832"/>
          </a:xfrm>
          <a:prstGeom prst="roundRect">
            <a:avLst>
              <a:gd name="adj" fmla="val 7767"/>
            </a:avLst>
          </a:prstGeom>
          <a:solidFill>
            <a:srgbClr val="F2F5F8"/>
          </a:solidFill>
          <a:ln w="12700">
            <a:solidFill>
              <a:srgbClr val="F2F5F8"/>
            </a:solidFill>
            <a:prstDash val="solid"/>
          </a:ln>
        </p:spPr>
      </p:sp>
      <p:sp>
        <p:nvSpPr>
          <p:cNvPr id="22" name="Shape 17"/>
          <p:cNvSpPr/>
          <p:nvPr/>
        </p:nvSpPr>
        <p:spPr>
          <a:xfrm>
            <a:off x="777240" y="5193792"/>
            <a:ext cx="594360" cy="594360"/>
          </a:xfrm>
          <a:prstGeom prst="ellipse">
            <a:avLst/>
          </a:prstGeom>
          <a:solidFill>
            <a:srgbClr val="C9002B"/>
          </a:solidFill>
          <a:ln w="12700">
            <a:solidFill>
              <a:srgbClr val="C9002B"/>
            </a:solidFill>
            <a:prstDash val="solid"/>
          </a:ln>
        </p:spPr>
      </p:sp>
      <p:pic>
        <p:nvPicPr>
          <p:cNvPr id="23" name="Image 3" descr="preencoded.png">    </p:cNvPr>
          <p:cNvPicPr>
            <a:picLocks noChangeAspect="1"/>
          </p:cNvPicPr>
          <p:nvPr/>
        </p:nvPicPr>
        <p:blipFill>
          <a:blip r:embed="rId4"/>
          <a:stretch>
            <a:fillRect/>
          </a:stretch>
        </p:blipFill>
        <p:spPr>
          <a:xfrm>
            <a:off x="925830" y="5342382"/>
            <a:ext cx="297180" cy="297180"/>
          </a:xfrm>
          <a:prstGeom prst="rect">
            <a:avLst/>
          </a:prstGeom>
        </p:spPr>
      </p:pic>
      <p:sp>
        <p:nvSpPr>
          <p:cNvPr id="24" name="Text 18"/>
          <p:cNvSpPr txBox="1"/>
          <p:nvPr/>
        </p:nvSpPr>
        <p:spPr>
          <a:xfrm>
            <a:off x="1600200" y="5020056"/>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費用の考え方</a:t>
            </a:r>
            <a:endParaRPr lang="en-US" sz="1500" dirty="0"/>
          </a:p>
        </p:txBody>
      </p:sp>
      <p:sp>
        <p:nvSpPr>
          <p:cNvPr id="25" name="Text 19"/>
          <p:cNvSpPr txBox="1"/>
          <p:nvPr/>
        </p:nvSpPr>
        <p:spPr>
          <a:xfrm>
            <a:off x="4572000" y="5020056"/>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まずは少額で始められる規模に絞り、効果を見て拡大をご判断いただく</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課題</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このような課題はありませんか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判断に必要な材料が足りないと、予算も告知も「経験と勘」に頼ることになります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03</a:t>
            </a:r>
            <a:endParaRPr lang="en-US" sz="1000" dirty="0"/>
          </a:p>
        </p:txBody>
      </p:sp>
      <p:sp>
        <p:nvSpPr>
          <p:cNvPr id="6" name="Shape 4"/>
          <p:cNvSpPr/>
          <p:nvPr/>
        </p:nvSpPr>
        <p:spPr>
          <a:xfrm>
            <a:off x="548640" y="1783080"/>
            <a:ext cx="3566160" cy="2286000"/>
          </a:xfrm>
          <a:prstGeom prst="roundRect">
            <a:avLst>
              <a:gd name="adj" fmla="val 3200"/>
            </a:avLst>
          </a:prstGeom>
          <a:solidFill>
            <a:srgbClr val="F2F5F8"/>
          </a:solidFill>
          <a:ln w="12700">
            <a:solidFill>
              <a:srgbClr val="F2F5F8"/>
            </a:solidFill>
            <a:prstDash val="solid"/>
          </a:ln>
        </p:spPr>
      </p:sp>
      <p:sp>
        <p:nvSpPr>
          <p:cNvPr id="7" name="Shape 5"/>
          <p:cNvSpPr/>
          <p:nvPr/>
        </p:nvSpPr>
        <p:spPr>
          <a:xfrm>
            <a:off x="777240" y="1965960"/>
            <a:ext cx="640080" cy="64008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937260" y="2125980"/>
            <a:ext cx="320040" cy="320040"/>
          </a:xfrm>
          <a:prstGeom prst="rect">
            <a:avLst/>
          </a:prstGeom>
        </p:spPr>
      </p:pic>
      <p:sp>
        <p:nvSpPr>
          <p:cNvPr id="9" name="Text 6"/>
          <p:cNvSpPr txBox="1"/>
          <p:nvPr/>
        </p:nvSpPr>
        <p:spPr>
          <a:xfrm>
            <a:off x="1554480" y="2103120"/>
            <a:ext cx="18288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課題 1</a:t>
            </a:r>
            <a:endParaRPr lang="en-US" sz="1100" dirty="0"/>
          </a:p>
        </p:txBody>
      </p:sp>
      <p:sp>
        <p:nvSpPr>
          <p:cNvPr id="10" name="Text 7"/>
          <p:cNvSpPr txBox="1"/>
          <p:nvPr/>
        </p:nvSpPr>
        <p:spPr>
          <a:xfrm>
            <a:off x="777240" y="2743200"/>
            <a:ext cx="3154680" cy="54864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来訪者数を根拠をもって示せない</a:t>
            </a:r>
            <a:endParaRPr lang="en-US" sz="1600" dirty="0"/>
          </a:p>
        </p:txBody>
      </p:sp>
      <p:sp>
        <p:nvSpPr>
          <p:cNvPr id="11" name="Text 8"/>
          <p:cNvSpPr txBox="1"/>
          <p:nvPr/>
        </p:nvSpPr>
        <p:spPr>
          <a:xfrm>
            <a:off x="777240" y="3310128"/>
            <a:ext cx="315468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発表人数はあっても、どこから・いつ・どんな人が来たかが分からない</a:t>
            </a:r>
            <a:endParaRPr lang="en-US" sz="1200" dirty="0"/>
          </a:p>
        </p:txBody>
      </p:sp>
      <p:sp>
        <p:nvSpPr>
          <p:cNvPr id="12" name="Shape 9"/>
          <p:cNvSpPr/>
          <p:nvPr/>
        </p:nvSpPr>
        <p:spPr>
          <a:xfrm>
            <a:off x="4297680" y="1783080"/>
            <a:ext cx="3566160" cy="2286000"/>
          </a:xfrm>
          <a:prstGeom prst="roundRect">
            <a:avLst>
              <a:gd name="adj" fmla="val 3200"/>
            </a:avLst>
          </a:prstGeom>
          <a:solidFill>
            <a:srgbClr val="F2F5F8"/>
          </a:solidFill>
          <a:ln w="12700">
            <a:solidFill>
              <a:srgbClr val="F2F5F8"/>
            </a:solidFill>
            <a:prstDash val="solid"/>
          </a:ln>
        </p:spPr>
      </p:sp>
      <p:sp>
        <p:nvSpPr>
          <p:cNvPr id="13" name="Shape 10"/>
          <p:cNvSpPr/>
          <p:nvPr/>
        </p:nvSpPr>
        <p:spPr>
          <a:xfrm>
            <a:off x="4526280" y="1965960"/>
            <a:ext cx="640080" cy="640080"/>
          </a:xfrm>
          <a:prstGeom prst="ellipse">
            <a:avLst/>
          </a:prstGeom>
          <a:solidFill>
            <a:srgbClr val="13283C"/>
          </a:solidFill>
          <a:ln w="12700">
            <a:solidFill>
              <a:srgbClr val="13283C"/>
            </a:solidFill>
            <a:prstDash val="solid"/>
          </a:ln>
        </p:spPr>
      </p:sp>
      <p:pic>
        <p:nvPicPr>
          <p:cNvPr id="14" name="Image 1" descr="preencoded.png">    </p:cNvPr>
          <p:cNvPicPr>
            <a:picLocks noChangeAspect="1"/>
          </p:cNvPicPr>
          <p:nvPr/>
        </p:nvPicPr>
        <p:blipFill>
          <a:blip r:embed="rId2"/>
          <a:stretch>
            <a:fillRect/>
          </a:stretch>
        </p:blipFill>
        <p:spPr>
          <a:xfrm>
            <a:off x="4686300" y="2125980"/>
            <a:ext cx="320040" cy="320040"/>
          </a:xfrm>
          <a:prstGeom prst="rect">
            <a:avLst/>
          </a:prstGeom>
        </p:spPr>
      </p:pic>
      <p:sp>
        <p:nvSpPr>
          <p:cNvPr id="15" name="Text 11"/>
          <p:cNvSpPr txBox="1"/>
          <p:nvPr/>
        </p:nvSpPr>
        <p:spPr>
          <a:xfrm>
            <a:off x="5303520" y="2103120"/>
            <a:ext cx="18288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課題 2</a:t>
            </a:r>
            <a:endParaRPr lang="en-US" sz="1100" dirty="0"/>
          </a:p>
        </p:txBody>
      </p:sp>
      <p:sp>
        <p:nvSpPr>
          <p:cNvPr id="16" name="Text 12"/>
          <p:cNvSpPr txBox="1"/>
          <p:nvPr/>
        </p:nvSpPr>
        <p:spPr>
          <a:xfrm>
            <a:off x="4526280" y="2743200"/>
            <a:ext cx="3154680" cy="54864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来ない理由が分からない</a:t>
            </a:r>
            <a:endParaRPr lang="en-US" sz="1600" dirty="0"/>
          </a:p>
        </p:txBody>
      </p:sp>
      <p:sp>
        <p:nvSpPr>
          <p:cNvPr id="17" name="Text 13"/>
          <p:cNvSpPr txBox="1"/>
          <p:nvPr/>
        </p:nvSpPr>
        <p:spPr>
          <a:xfrm>
            <a:off x="4526280" y="3310128"/>
            <a:ext cx="315468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会場アンケートでは、来なかった人の理由は聞けない</a:t>
            </a:r>
            <a:endParaRPr lang="en-US" sz="1200" dirty="0"/>
          </a:p>
        </p:txBody>
      </p:sp>
      <p:sp>
        <p:nvSpPr>
          <p:cNvPr id="18" name="Shape 14"/>
          <p:cNvSpPr/>
          <p:nvPr/>
        </p:nvSpPr>
        <p:spPr>
          <a:xfrm>
            <a:off x="8046720" y="1783080"/>
            <a:ext cx="3566160" cy="2286000"/>
          </a:xfrm>
          <a:prstGeom prst="roundRect">
            <a:avLst>
              <a:gd name="adj" fmla="val 3200"/>
            </a:avLst>
          </a:prstGeom>
          <a:solidFill>
            <a:srgbClr val="F2F5F8"/>
          </a:solidFill>
          <a:ln w="12700">
            <a:solidFill>
              <a:srgbClr val="F2F5F8"/>
            </a:solidFill>
            <a:prstDash val="solid"/>
          </a:ln>
        </p:spPr>
      </p:sp>
      <p:sp>
        <p:nvSpPr>
          <p:cNvPr id="19" name="Shape 15"/>
          <p:cNvSpPr/>
          <p:nvPr/>
        </p:nvSpPr>
        <p:spPr>
          <a:xfrm>
            <a:off x="8275320" y="1965960"/>
            <a:ext cx="640080" cy="640080"/>
          </a:xfrm>
          <a:prstGeom prst="ellipse">
            <a:avLst/>
          </a:prstGeom>
          <a:solidFill>
            <a:srgbClr val="13283C"/>
          </a:solidFill>
          <a:ln w="12700">
            <a:solidFill>
              <a:srgbClr val="13283C"/>
            </a:solidFill>
            <a:prstDash val="solid"/>
          </a:ln>
        </p:spPr>
      </p:sp>
      <p:pic>
        <p:nvPicPr>
          <p:cNvPr id="20" name="Image 2" descr="preencoded.png">    </p:cNvPr>
          <p:cNvPicPr>
            <a:picLocks noChangeAspect="1"/>
          </p:cNvPicPr>
          <p:nvPr/>
        </p:nvPicPr>
        <p:blipFill>
          <a:blip r:embed="rId3"/>
          <a:stretch>
            <a:fillRect/>
          </a:stretch>
        </p:blipFill>
        <p:spPr>
          <a:xfrm>
            <a:off x="8435340" y="2125980"/>
            <a:ext cx="320040" cy="320040"/>
          </a:xfrm>
          <a:prstGeom prst="rect">
            <a:avLst/>
          </a:prstGeom>
        </p:spPr>
      </p:pic>
      <p:sp>
        <p:nvSpPr>
          <p:cNvPr id="21" name="Text 16"/>
          <p:cNvSpPr txBox="1"/>
          <p:nvPr/>
        </p:nvSpPr>
        <p:spPr>
          <a:xfrm>
            <a:off x="9052560" y="2103120"/>
            <a:ext cx="18288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課題 3</a:t>
            </a:r>
            <a:endParaRPr lang="en-US" sz="1100" dirty="0"/>
          </a:p>
        </p:txBody>
      </p:sp>
      <p:sp>
        <p:nvSpPr>
          <p:cNvPr id="22" name="Text 17"/>
          <p:cNvSpPr txBox="1"/>
          <p:nvPr/>
        </p:nvSpPr>
        <p:spPr>
          <a:xfrm>
            <a:off x="8275320" y="2743200"/>
            <a:ext cx="3154680" cy="54864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告知の効果が測れない</a:t>
            </a:r>
            <a:endParaRPr lang="en-US" sz="1600" dirty="0"/>
          </a:p>
        </p:txBody>
      </p:sp>
      <p:sp>
        <p:nvSpPr>
          <p:cNvPr id="23" name="Text 18"/>
          <p:cNvSpPr txBox="1"/>
          <p:nvPr/>
        </p:nvSpPr>
        <p:spPr>
          <a:xfrm>
            <a:off x="8275320" y="3310128"/>
            <a:ext cx="315468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チラシやSNSの告知が、申込や来場にどうつながったか比べられない</a:t>
            </a:r>
            <a:endParaRPr lang="en-US" sz="1200" dirty="0"/>
          </a:p>
        </p:txBody>
      </p:sp>
      <p:sp>
        <p:nvSpPr>
          <p:cNvPr id="24" name="Text 19"/>
          <p:cNvSpPr txBox="1"/>
          <p:nvPr/>
        </p:nvSpPr>
        <p:spPr>
          <a:xfrm>
            <a:off x="548640" y="4297680"/>
            <a:ext cx="36576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よく伺うお悩み</a:t>
            </a:r>
            <a:endParaRPr lang="en-US" sz="1300" dirty="0"/>
          </a:p>
        </p:txBody>
      </p:sp>
      <p:sp>
        <p:nvSpPr>
          <p:cNvPr id="25" name="Shape 20"/>
          <p:cNvSpPr/>
          <p:nvPr/>
        </p:nvSpPr>
        <p:spPr>
          <a:xfrm>
            <a:off x="548640" y="4663440"/>
            <a:ext cx="3566160" cy="1417320"/>
          </a:xfrm>
          <a:prstGeom prst="roundRect">
            <a:avLst>
              <a:gd name="adj" fmla="val 5161"/>
            </a:avLst>
          </a:prstGeom>
          <a:solidFill>
            <a:srgbClr val="FBEAEE"/>
          </a:solidFill>
          <a:ln w="12700">
            <a:solidFill>
              <a:srgbClr val="FBEAEE"/>
            </a:solidFill>
            <a:prstDash val="solid"/>
          </a:ln>
        </p:spPr>
      </p:sp>
      <p:sp>
        <p:nvSpPr>
          <p:cNvPr id="26" name="Shape 21"/>
          <p:cNvSpPr/>
          <p:nvPr/>
        </p:nvSpPr>
        <p:spPr>
          <a:xfrm>
            <a:off x="731520" y="4846320"/>
            <a:ext cx="502920" cy="502920"/>
          </a:xfrm>
          <a:prstGeom prst="ellipse">
            <a:avLst/>
          </a:prstGeom>
          <a:solidFill>
            <a:srgbClr val="C9002B"/>
          </a:solidFill>
          <a:ln w="12700">
            <a:solidFill>
              <a:srgbClr val="C9002B"/>
            </a:solidFill>
            <a:prstDash val="solid"/>
          </a:ln>
        </p:spPr>
      </p:sp>
      <p:pic>
        <p:nvPicPr>
          <p:cNvPr id="27" name="Image 3" descr="preencoded.png">    </p:cNvPr>
          <p:cNvPicPr>
            <a:picLocks noChangeAspect="1"/>
          </p:cNvPicPr>
          <p:nvPr/>
        </p:nvPicPr>
        <p:blipFill>
          <a:blip r:embed="rId4"/>
          <a:stretch>
            <a:fillRect/>
          </a:stretch>
        </p:blipFill>
        <p:spPr>
          <a:xfrm>
            <a:off x="857250" y="4972050"/>
            <a:ext cx="251460" cy="251460"/>
          </a:xfrm>
          <a:prstGeom prst="rect">
            <a:avLst/>
          </a:prstGeom>
        </p:spPr>
      </p:pic>
      <p:sp>
        <p:nvSpPr>
          <p:cNvPr id="28" name="Text 22"/>
          <p:cNvSpPr txBox="1"/>
          <p:nvPr/>
        </p:nvSpPr>
        <p:spPr>
          <a:xfrm>
            <a:off x="1371600" y="4846320"/>
            <a:ext cx="2560320" cy="502920"/>
          </a:xfrm>
          <a:prstGeom prst="rect">
            <a:avLst/>
          </a:prstGeom>
          <a:noFill/>
          <a:ln/>
        </p:spPr>
        <p:txBody>
          <a:bodyPr wrap="square" lIns="0" tIns="0" rIns="0" bIns="0" rtlCol="0" anchor="ctr"/>
          <a:lstStyle/>
          <a:p>
            <a:pPr indent="0" marL="0">
              <a:buNone/>
            </a:pPr>
            <a:r>
              <a:rPr lang="en-US" sz="1400" b="1" dirty="0">
                <a:solidFill>
                  <a:srgbClr val="13283C"/>
                </a:solidFill>
                <a:latin typeface="Meiryo" pitchFamily="34" charset="0"/>
                <a:ea typeface="Meiryo" pitchFamily="34" charset="-122"/>
                <a:cs typeface="Meiryo" pitchFamily="34" charset="-120"/>
              </a:rPr>
              <a:t>自治体</a:t>
            </a:r>
            <a:endParaRPr lang="en-US" sz="1400" dirty="0"/>
          </a:p>
        </p:txBody>
      </p:sp>
      <p:sp>
        <p:nvSpPr>
          <p:cNvPr id="29" name="Text 23"/>
          <p:cNvSpPr txBox="1"/>
          <p:nvPr/>
        </p:nvSpPr>
        <p:spPr>
          <a:xfrm>
            <a:off x="731520" y="5440680"/>
            <a:ext cx="3246120" cy="548640"/>
          </a:xfrm>
          <a:prstGeom prst="rect">
            <a:avLst/>
          </a:prstGeom>
          <a:noFill/>
          <a:ln/>
        </p:spPr>
        <p:txBody>
          <a:bodyPr wrap="square" lIns="0" tIns="0" rIns="0" bIns="0" rtlCol="0" anchor="t"/>
          <a:lstStyle/>
          <a:p>
            <a:pPr indent="0" marL="0">
              <a:buNone/>
            </a:pPr>
            <a:r>
              <a:rPr lang="en-US" sz="1200" i="1" dirty="0">
                <a:solidFill>
                  <a:srgbClr val="1B2B3D"/>
                </a:solidFill>
                <a:latin typeface="Meiryo" pitchFamily="34" charset="0"/>
                <a:ea typeface="Meiryo" pitchFamily="34" charset="-122"/>
                <a:cs typeface="Meiryo" pitchFamily="34" charset="-120"/>
              </a:rPr>
              <a:t>「観光・イベントの効果を議会や住民に説明したい」</a:t>
            </a:r>
            <a:endParaRPr lang="en-US" sz="1200" dirty="0"/>
          </a:p>
        </p:txBody>
      </p:sp>
      <p:sp>
        <p:nvSpPr>
          <p:cNvPr id="30" name="Shape 24"/>
          <p:cNvSpPr/>
          <p:nvPr/>
        </p:nvSpPr>
        <p:spPr>
          <a:xfrm>
            <a:off x="4297680" y="4663440"/>
            <a:ext cx="3566160" cy="1417320"/>
          </a:xfrm>
          <a:prstGeom prst="roundRect">
            <a:avLst>
              <a:gd name="adj" fmla="val 5161"/>
            </a:avLst>
          </a:prstGeom>
          <a:solidFill>
            <a:srgbClr val="FBEAEE"/>
          </a:solidFill>
          <a:ln w="12700">
            <a:solidFill>
              <a:srgbClr val="FBEAEE"/>
            </a:solidFill>
            <a:prstDash val="solid"/>
          </a:ln>
        </p:spPr>
      </p:sp>
      <p:sp>
        <p:nvSpPr>
          <p:cNvPr id="31" name="Shape 25"/>
          <p:cNvSpPr/>
          <p:nvPr/>
        </p:nvSpPr>
        <p:spPr>
          <a:xfrm>
            <a:off x="4480560" y="4846320"/>
            <a:ext cx="502920" cy="502920"/>
          </a:xfrm>
          <a:prstGeom prst="ellipse">
            <a:avLst/>
          </a:prstGeom>
          <a:solidFill>
            <a:srgbClr val="C9002B"/>
          </a:solidFill>
          <a:ln w="12700">
            <a:solidFill>
              <a:srgbClr val="C9002B"/>
            </a:solidFill>
            <a:prstDash val="solid"/>
          </a:ln>
        </p:spPr>
      </p:sp>
      <p:pic>
        <p:nvPicPr>
          <p:cNvPr id="32" name="Image 4" descr="preencoded.png">    </p:cNvPr>
          <p:cNvPicPr>
            <a:picLocks noChangeAspect="1"/>
          </p:cNvPicPr>
          <p:nvPr/>
        </p:nvPicPr>
        <p:blipFill>
          <a:blip r:embed="rId5"/>
          <a:stretch>
            <a:fillRect/>
          </a:stretch>
        </p:blipFill>
        <p:spPr>
          <a:xfrm>
            <a:off x="4606290" y="4972050"/>
            <a:ext cx="251460" cy="251460"/>
          </a:xfrm>
          <a:prstGeom prst="rect">
            <a:avLst/>
          </a:prstGeom>
        </p:spPr>
      </p:pic>
      <p:sp>
        <p:nvSpPr>
          <p:cNvPr id="33" name="Text 26"/>
          <p:cNvSpPr txBox="1"/>
          <p:nvPr/>
        </p:nvSpPr>
        <p:spPr>
          <a:xfrm>
            <a:off x="5120640" y="4846320"/>
            <a:ext cx="2560320" cy="502920"/>
          </a:xfrm>
          <a:prstGeom prst="rect">
            <a:avLst/>
          </a:prstGeom>
          <a:noFill/>
          <a:ln/>
        </p:spPr>
        <p:txBody>
          <a:bodyPr wrap="square" lIns="0" tIns="0" rIns="0" bIns="0" rtlCol="0" anchor="ctr"/>
          <a:lstStyle/>
          <a:p>
            <a:pPr indent="0" marL="0">
              <a:buNone/>
            </a:pPr>
            <a:r>
              <a:rPr lang="en-US" sz="1400" b="1" dirty="0">
                <a:solidFill>
                  <a:srgbClr val="13283C"/>
                </a:solidFill>
                <a:latin typeface="Meiryo" pitchFamily="34" charset="0"/>
                <a:ea typeface="Meiryo" pitchFamily="34" charset="-122"/>
                <a:cs typeface="Meiryo" pitchFamily="34" charset="-120"/>
              </a:rPr>
              <a:t>大学</a:t>
            </a:r>
            <a:endParaRPr lang="en-US" sz="1400" dirty="0"/>
          </a:p>
        </p:txBody>
      </p:sp>
      <p:sp>
        <p:nvSpPr>
          <p:cNvPr id="34" name="Text 27"/>
          <p:cNvSpPr txBox="1"/>
          <p:nvPr/>
        </p:nvSpPr>
        <p:spPr>
          <a:xfrm>
            <a:off x="4480560" y="5440680"/>
            <a:ext cx="3246120" cy="548640"/>
          </a:xfrm>
          <a:prstGeom prst="rect">
            <a:avLst/>
          </a:prstGeom>
          <a:noFill/>
          <a:ln/>
        </p:spPr>
        <p:txBody>
          <a:bodyPr wrap="square" lIns="0" tIns="0" rIns="0" bIns="0" rtlCol="0" anchor="t"/>
          <a:lstStyle/>
          <a:p>
            <a:pPr indent="0" marL="0">
              <a:buNone/>
            </a:pPr>
            <a:r>
              <a:rPr lang="en-US" sz="1200" i="1" dirty="0">
                <a:solidFill>
                  <a:srgbClr val="1B2B3D"/>
                </a:solidFill>
                <a:latin typeface="Meiryo" pitchFamily="34" charset="0"/>
                <a:ea typeface="Meiryo" pitchFamily="34" charset="-122"/>
                <a:cs typeface="Meiryo" pitchFamily="34" charset="-120"/>
              </a:rPr>
              <a:t>「オープンキャンパスの申込を増やしたい」</a:t>
            </a:r>
            <a:endParaRPr lang="en-US" sz="1200" dirty="0"/>
          </a:p>
        </p:txBody>
      </p:sp>
      <p:sp>
        <p:nvSpPr>
          <p:cNvPr id="35" name="Shape 28"/>
          <p:cNvSpPr/>
          <p:nvPr/>
        </p:nvSpPr>
        <p:spPr>
          <a:xfrm>
            <a:off x="8046720" y="4663440"/>
            <a:ext cx="3566160" cy="1417320"/>
          </a:xfrm>
          <a:prstGeom prst="roundRect">
            <a:avLst>
              <a:gd name="adj" fmla="val 5161"/>
            </a:avLst>
          </a:prstGeom>
          <a:solidFill>
            <a:srgbClr val="FBEAEE"/>
          </a:solidFill>
          <a:ln w="12700">
            <a:solidFill>
              <a:srgbClr val="FBEAEE"/>
            </a:solidFill>
            <a:prstDash val="solid"/>
          </a:ln>
        </p:spPr>
      </p:sp>
      <p:sp>
        <p:nvSpPr>
          <p:cNvPr id="36" name="Shape 29"/>
          <p:cNvSpPr/>
          <p:nvPr/>
        </p:nvSpPr>
        <p:spPr>
          <a:xfrm>
            <a:off x="8229600" y="4846320"/>
            <a:ext cx="502920" cy="502920"/>
          </a:xfrm>
          <a:prstGeom prst="ellipse">
            <a:avLst/>
          </a:prstGeom>
          <a:solidFill>
            <a:srgbClr val="C9002B"/>
          </a:solidFill>
          <a:ln w="12700">
            <a:solidFill>
              <a:srgbClr val="C9002B"/>
            </a:solidFill>
            <a:prstDash val="solid"/>
          </a:ln>
        </p:spPr>
      </p:sp>
      <p:pic>
        <p:nvPicPr>
          <p:cNvPr id="37" name="Image 5" descr="preencoded.png">    </p:cNvPr>
          <p:cNvPicPr>
            <a:picLocks noChangeAspect="1"/>
          </p:cNvPicPr>
          <p:nvPr/>
        </p:nvPicPr>
        <p:blipFill>
          <a:blip r:embed="rId6"/>
          <a:stretch>
            <a:fillRect/>
          </a:stretch>
        </p:blipFill>
        <p:spPr>
          <a:xfrm>
            <a:off x="8355330" y="4972050"/>
            <a:ext cx="251460" cy="251460"/>
          </a:xfrm>
          <a:prstGeom prst="rect">
            <a:avLst/>
          </a:prstGeom>
        </p:spPr>
      </p:pic>
      <p:sp>
        <p:nvSpPr>
          <p:cNvPr id="38" name="Text 30"/>
          <p:cNvSpPr txBox="1"/>
          <p:nvPr/>
        </p:nvSpPr>
        <p:spPr>
          <a:xfrm>
            <a:off x="8869680" y="4846320"/>
            <a:ext cx="2560320" cy="502920"/>
          </a:xfrm>
          <a:prstGeom prst="rect">
            <a:avLst/>
          </a:prstGeom>
          <a:noFill/>
          <a:ln/>
        </p:spPr>
        <p:txBody>
          <a:bodyPr wrap="square" lIns="0" tIns="0" rIns="0" bIns="0" rtlCol="0" anchor="ctr"/>
          <a:lstStyle/>
          <a:p>
            <a:pPr indent="0" marL="0">
              <a:buNone/>
            </a:pPr>
            <a:r>
              <a:rPr lang="en-US" sz="1400" b="1" dirty="0">
                <a:solidFill>
                  <a:srgbClr val="13283C"/>
                </a:solidFill>
                <a:latin typeface="Meiryo" pitchFamily="34" charset="0"/>
                <a:ea typeface="Meiryo" pitchFamily="34" charset="-122"/>
                <a:cs typeface="Meiryo" pitchFamily="34" charset="-120"/>
              </a:rPr>
              <a:t>スポーツチーム</a:t>
            </a:r>
            <a:endParaRPr lang="en-US" sz="1400" dirty="0"/>
          </a:p>
        </p:txBody>
      </p:sp>
      <p:sp>
        <p:nvSpPr>
          <p:cNvPr id="39" name="Text 31"/>
          <p:cNvSpPr txBox="1"/>
          <p:nvPr/>
        </p:nvSpPr>
        <p:spPr>
          <a:xfrm>
            <a:off x="8229600" y="5440680"/>
            <a:ext cx="3246120" cy="548640"/>
          </a:xfrm>
          <a:prstGeom prst="rect">
            <a:avLst/>
          </a:prstGeom>
          <a:noFill/>
          <a:ln/>
        </p:spPr>
        <p:txBody>
          <a:bodyPr wrap="square" lIns="0" tIns="0" rIns="0" bIns="0" rtlCol="0" anchor="t"/>
          <a:lstStyle/>
          <a:p>
            <a:pPr indent="0" marL="0">
              <a:buNone/>
            </a:pPr>
            <a:r>
              <a:rPr lang="en-US" sz="1200" i="1" dirty="0">
                <a:solidFill>
                  <a:srgbClr val="1B2B3D"/>
                </a:solidFill>
                <a:latin typeface="Meiryo" pitchFamily="34" charset="0"/>
                <a:ea typeface="Meiryo" pitchFamily="34" charset="-122"/>
                <a:cs typeface="Meiryo" pitchFamily="34" charset="-120"/>
              </a:rPr>
              <a:t>「新規観戦者を増やし、再来場につなげたい」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解決の方法</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3つのサービスで、実態・理由・告知をそろえる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それぞれ得意なことが違うため、課題に合わせて組み合わせます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04</a:t>
            </a:r>
            <a:endParaRPr lang="en-US" sz="1000" dirty="0"/>
          </a:p>
        </p:txBody>
      </p:sp>
      <p:sp>
        <p:nvSpPr>
          <p:cNvPr id="6" name="Shape 4"/>
          <p:cNvSpPr/>
          <p:nvPr/>
        </p:nvSpPr>
        <p:spPr>
          <a:xfrm>
            <a:off x="548640" y="1783080"/>
            <a:ext cx="3383280" cy="4251960"/>
          </a:xfrm>
          <a:prstGeom prst="roundRect">
            <a:avLst>
              <a:gd name="adj" fmla="val 2162"/>
            </a:avLst>
          </a:prstGeom>
          <a:solidFill>
            <a:srgbClr val="F2F5F8"/>
          </a:solidFill>
          <a:ln w="12700">
            <a:solidFill>
              <a:srgbClr val="F2F5F8"/>
            </a:solidFill>
            <a:prstDash val="solid"/>
          </a:ln>
        </p:spPr>
      </p:sp>
      <p:sp>
        <p:nvSpPr>
          <p:cNvPr id="7" name="Shape 5"/>
          <p:cNvSpPr/>
          <p:nvPr/>
        </p:nvSpPr>
        <p:spPr>
          <a:xfrm>
            <a:off x="822960" y="2057400"/>
            <a:ext cx="777240" cy="77724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1017270" y="2251710"/>
            <a:ext cx="388620" cy="388620"/>
          </a:xfrm>
          <a:prstGeom prst="rect">
            <a:avLst/>
          </a:prstGeom>
        </p:spPr>
      </p:pic>
      <p:sp>
        <p:nvSpPr>
          <p:cNvPr id="9" name="Text 6"/>
          <p:cNvSpPr txBox="1"/>
          <p:nvPr/>
        </p:nvSpPr>
        <p:spPr>
          <a:xfrm>
            <a:off x="1783080" y="2057400"/>
            <a:ext cx="1463040" cy="274320"/>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課題1に対応</a:t>
            </a:r>
            <a:endParaRPr lang="en-US" sz="1000" dirty="0"/>
          </a:p>
        </p:txBody>
      </p:sp>
      <p:sp>
        <p:nvSpPr>
          <p:cNvPr id="10" name="Text 7"/>
          <p:cNvSpPr txBox="1"/>
          <p:nvPr/>
        </p:nvSpPr>
        <p:spPr>
          <a:xfrm>
            <a:off x="1783080" y="2377440"/>
            <a:ext cx="2011680" cy="256032"/>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実態を知る</a:t>
            </a:r>
            <a:endParaRPr lang="en-US" sz="1200" dirty="0"/>
          </a:p>
        </p:txBody>
      </p:sp>
      <p:sp>
        <p:nvSpPr>
          <p:cNvPr id="11" name="Text 8"/>
          <p:cNvSpPr txBox="1"/>
          <p:nvPr/>
        </p:nvSpPr>
        <p:spPr>
          <a:xfrm>
            <a:off x="822960" y="2971800"/>
            <a:ext cx="2926080" cy="411480"/>
          </a:xfrm>
          <a:prstGeom prst="rect">
            <a:avLst/>
          </a:prstGeom>
          <a:noFill/>
          <a:ln/>
        </p:spPr>
        <p:txBody>
          <a:bodyPr wrap="square" lIns="0" tIns="0" rIns="0" bIns="0" rtlCol="0" anchor="ctr"/>
          <a:lstStyle/>
          <a:p>
            <a:pPr indent="0" marL="0">
              <a:buNone/>
            </a:pPr>
            <a:r>
              <a:rPr lang="en-US" sz="1800" b="1" dirty="0">
                <a:solidFill>
                  <a:srgbClr val="13283C"/>
                </a:solidFill>
                <a:latin typeface="Meiryo" pitchFamily="34" charset="0"/>
                <a:ea typeface="Meiryo" pitchFamily="34" charset="-122"/>
                <a:cs typeface="Meiryo" pitchFamily="34" charset="-120"/>
              </a:rPr>
              <a:t>モバイル空間統計</a:t>
            </a:r>
            <a:endParaRPr lang="en-US" sz="1800" dirty="0"/>
          </a:p>
        </p:txBody>
      </p:sp>
      <p:sp>
        <p:nvSpPr>
          <p:cNvPr id="12" name="Text 9"/>
          <p:cNvSpPr txBox="1"/>
          <p:nvPr/>
        </p:nvSpPr>
        <p:spPr>
          <a:xfrm>
            <a:off x="822960" y="3474720"/>
            <a:ext cx="283464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答えられること</a:t>
            </a:r>
            <a:endParaRPr lang="en-US" sz="1100" dirty="0"/>
          </a:p>
        </p:txBody>
      </p:sp>
      <p:sp>
        <p:nvSpPr>
          <p:cNvPr id="13" name="Text 10"/>
          <p:cNvSpPr txBox="1"/>
          <p:nvPr/>
        </p:nvSpPr>
        <p:spPr>
          <a:xfrm>
            <a:off x="822960" y="3749040"/>
            <a:ext cx="2926080" cy="777240"/>
          </a:xfrm>
          <a:prstGeom prst="rect">
            <a:avLst/>
          </a:prstGeom>
          <a:noFill/>
          <a:ln/>
        </p:spPr>
        <p:txBody>
          <a:bodyPr wrap="square" lIns="0" tIns="0" rIns="0" bIns="0" rtlCol="0" anchor="t"/>
          <a:lstStyle/>
          <a:p>
            <a:pPr indent="0" marL="0">
              <a:lnSpc>
                <a:spcPct val="110000"/>
              </a:lnSpc>
              <a:buNone/>
            </a:pPr>
            <a:r>
              <a:rPr lang="en-US" sz="1600" b="1" dirty="0">
                <a:solidFill>
                  <a:srgbClr val="1B2B3D"/>
                </a:solidFill>
                <a:latin typeface="Meiryo" pitchFamily="34" charset="0"/>
                <a:ea typeface="Meiryo" pitchFamily="34" charset="-122"/>
                <a:cs typeface="Meiryo" pitchFamily="34" charset="-120"/>
              </a:rPr>
              <a:t>いつ、どこに</a:t>
            </a:r>
            <a:endParaRPr lang="en-US" sz="1600" dirty="0"/>
          </a:p>
          <a:p>
            <a:pPr indent="0" marL="0">
              <a:lnSpc>
                <a:spcPct val="110000"/>
              </a:lnSpc>
              <a:buNone/>
            </a:pPr>
            <a:r>
              <a:rPr lang="en-US" sz="1600" b="1" dirty="0">
                <a:solidFill>
                  <a:srgbClr val="1B2B3D"/>
                </a:solidFill>
                <a:latin typeface="Meiryo" pitchFamily="34" charset="0"/>
                <a:ea typeface="Meiryo" pitchFamily="34" charset="-122"/>
                <a:cs typeface="Meiryo" pitchFamily="34" charset="-120"/>
              </a:rPr>
              <a:t>どんな人がいるか</a:t>
            </a:r>
            <a:endParaRPr lang="en-US" sz="1600" dirty="0"/>
          </a:p>
        </p:txBody>
      </p:sp>
      <p:sp>
        <p:nvSpPr>
          <p:cNvPr id="14" name="Shape 11"/>
          <p:cNvSpPr/>
          <p:nvPr/>
        </p:nvSpPr>
        <p:spPr>
          <a:xfrm>
            <a:off x="822960" y="4663440"/>
            <a:ext cx="2834640" cy="0"/>
          </a:xfrm>
          <a:prstGeom prst="line">
            <a:avLst/>
          </a:prstGeom>
          <a:noFill/>
          <a:ln w="12700">
            <a:solidFill>
              <a:srgbClr val="D5DDE5"/>
            </a:solidFill>
            <a:prstDash val="solid"/>
          </a:ln>
        </p:spPr>
      </p:sp>
      <p:sp>
        <p:nvSpPr>
          <p:cNvPr id="15" name="Text 12"/>
          <p:cNvSpPr txBox="1"/>
          <p:nvPr/>
        </p:nvSpPr>
        <p:spPr>
          <a:xfrm>
            <a:off x="822960" y="4754880"/>
            <a:ext cx="283464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判断に使うこと</a:t>
            </a:r>
            <a:endParaRPr lang="en-US" sz="1100" dirty="0"/>
          </a:p>
        </p:txBody>
      </p:sp>
      <p:sp>
        <p:nvSpPr>
          <p:cNvPr id="16" name="Text 13"/>
          <p:cNvSpPr txBox="1"/>
          <p:nvPr/>
        </p:nvSpPr>
        <p:spPr>
          <a:xfrm>
            <a:off x="822960" y="5029200"/>
            <a:ext cx="2926080" cy="54864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告知エリアや開催条件を選ぶ</a:t>
            </a:r>
            <a:endParaRPr lang="en-US" sz="1350" dirty="0"/>
          </a:p>
        </p:txBody>
      </p:sp>
      <p:pic>
        <p:nvPicPr>
          <p:cNvPr id="17" name="Image 1" descr="preencoded.png">    </p:cNvPr>
          <p:cNvPicPr>
            <a:picLocks noChangeAspect="1"/>
          </p:cNvPicPr>
          <p:nvPr/>
        </p:nvPicPr>
        <p:blipFill>
          <a:blip r:embed="rId2"/>
          <a:stretch>
            <a:fillRect/>
          </a:stretch>
        </p:blipFill>
        <p:spPr>
          <a:xfrm>
            <a:off x="4023360" y="3703320"/>
            <a:ext cx="274320" cy="274320"/>
          </a:xfrm>
          <a:prstGeom prst="rect">
            <a:avLst/>
          </a:prstGeom>
        </p:spPr>
      </p:pic>
      <p:sp>
        <p:nvSpPr>
          <p:cNvPr id="18" name="Shape 14"/>
          <p:cNvSpPr/>
          <p:nvPr/>
        </p:nvSpPr>
        <p:spPr>
          <a:xfrm>
            <a:off x="4389120" y="1783080"/>
            <a:ext cx="3383280" cy="4251960"/>
          </a:xfrm>
          <a:prstGeom prst="roundRect">
            <a:avLst>
              <a:gd name="adj" fmla="val 2162"/>
            </a:avLst>
          </a:prstGeom>
          <a:solidFill>
            <a:srgbClr val="F2F5F8"/>
          </a:solidFill>
          <a:ln w="12700">
            <a:solidFill>
              <a:srgbClr val="F2F5F8"/>
            </a:solidFill>
            <a:prstDash val="solid"/>
          </a:ln>
        </p:spPr>
      </p:sp>
      <p:sp>
        <p:nvSpPr>
          <p:cNvPr id="19" name="Shape 15"/>
          <p:cNvSpPr/>
          <p:nvPr/>
        </p:nvSpPr>
        <p:spPr>
          <a:xfrm>
            <a:off x="4663440" y="2057400"/>
            <a:ext cx="777240" cy="777240"/>
          </a:xfrm>
          <a:prstGeom prst="ellipse">
            <a:avLst/>
          </a:prstGeom>
          <a:solidFill>
            <a:srgbClr val="C9002B"/>
          </a:solidFill>
          <a:ln w="12700">
            <a:solidFill>
              <a:srgbClr val="C9002B"/>
            </a:solidFill>
            <a:prstDash val="solid"/>
          </a:ln>
        </p:spPr>
      </p:sp>
      <p:pic>
        <p:nvPicPr>
          <p:cNvPr id="20" name="Image 2" descr="preencoded.png">    </p:cNvPr>
          <p:cNvPicPr>
            <a:picLocks noChangeAspect="1"/>
          </p:cNvPicPr>
          <p:nvPr/>
        </p:nvPicPr>
        <p:blipFill>
          <a:blip r:embed="rId3"/>
          <a:stretch>
            <a:fillRect/>
          </a:stretch>
        </p:blipFill>
        <p:spPr>
          <a:xfrm>
            <a:off x="4857750" y="2251710"/>
            <a:ext cx="388620" cy="388620"/>
          </a:xfrm>
          <a:prstGeom prst="rect">
            <a:avLst/>
          </a:prstGeom>
        </p:spPr>
      </p:pic>
      <p:sp>
        <p:nvSpPr>
          <p:cNvPr id="21" name="Text 16"/>
          <p:cNvSpPr txBox="1"/>
          <p:nvPr/>
        </p:nvSpPr>
        <p:spPr>
          <a:xfrm>
            <a:off x="5623560" y="2057400"/>
            <a:ext cx="1463040" cy="274320"/>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課題2に対応</a:t>
            </a:r>
            <a:endParaRPr lang="en-US" sz="1000" dirty="0"/>
          </a:p>
        </p:txBody>
      </p:sp>
      <p:sp>
        <p:nvSpPr>
          <p:cNvPr id="22" name="Text 17"/>
          <p:cNvSpPr txBox="1"/>
          <p:nvPr/>
        </p:nvSpPr>
        <p:spPr>
          <a:xfrm>
            <a:off x="5623560" y="2377440"/>
            <a:ext cx="2011680" cy="256032"/>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理由を知る</a:t>
            </a:r>
            <a:endParaRPr lang="en-US" sz="1200" dirty="0"/>
          </a:p>
        </p:txBody>
      </p:sp>
      <p:sp>
        <p:nvSpPr>
          <p:cNvPr id="23" name="Text 18"/>
          <p:cNvSpPr txBox="1"/>
          <p:nvPr/>
        </p:nvSpPr>
        <p:spPr>
          <a:xfrm>
            <a:off x="4663440" y="2971800"/>
            <a:ext cx="2926080" cy="411480"/>
          </a:xfrm>
          <a:prstGeom prst="rect">
            <a:avLst/>
          </a:prstGeom>
          <a:noFill/>
          <a:ln/>
        </p:spPr>
        <p:txBody>
          <a:bodyPr wrap="square" lIns="0" tIns="0" rIns="0" bIns="0" rtlCol="0" anchor="ctr"/>
          <a:lstStyle/>
          <a:p>
            <a:pPr indent="0" marL="0">
              <a:buNone/>
            </a:pPr>
            <a:r>
              <a:rPr lang="en-US" sz="1800" b="1" dirty="0">
                <a:solidFill>
                  <a:srgbClr val="13283C"/>
                </a:solidFill>
                <a:latin typeface="Meiryo" pitchFamily="34" charset="0"/>
                <a:ea typeface="Meiryo" pitchFamily="34" charset="-122"/>
                <a:cs typeface="Meiryo" pitchFamily="34" charset="-120"/>
              </a:rPr>
              <a:t>プレミアパネル</a:t>
            </a:r>
            <a:endParaRPr lang="en-US" sz="1800" dirty="0"/>
          </a:p>
        </p:txBody>
      </p:sp>
      <p:sp>
        <p:nvSpPr>
          <p:cNvPr id="24" name="Text 19"/>
          <p:cNvSpPr txBox="1"/>
          <p:nvPr/>
        </p:nvSpPr>
        <p:spPr>
          <a:xfrm>
            <a:off x="4663440" y="3474720"/>
            <a:ext cx="283464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答えられること</a:t>
            </a:r>
            <a:endParaRPr lang="en-US" sz="1100" dirty="0"/>
          </a:p>
        </p:txBody>
      </p:sp>
      <p:sp>
        <p:nvSpPr>
          <p:cNvPr id="25" name="Text 20"/>
          <p:cNvSpPr txBox="1"/>
          <p:nvPr/>
        </p:nvSpPr>
        <p:spPr>
          <a:xfrm>
            <a:off x="4663440" y="3749040"/>
            <a:ext cx="2926080" cy="777240"/>
          </a:xfrm>
          <a:prstGeom prst="rect">
            <a:avLst/>
          </a:prstGeom>
          <a:noFill/>
          <a:ln/>
        </p:spPr>
        <p:txBody>
          <a:bodyPr wrap="square" lIns="0" tIns="0" rIns="0" bIns="0" rtlCol="0" anchor="t"/>
          <a:lstStyle/>
          <a:p>
            <a:pPr indent="0" marL="0">
              <a:lnSpc>
                <a:spcPct val="110000"/>
              </a:lnSpc>
              <a:buNone/>
            </a:pPr>
            <a:r>
              <a:rPr lang="en-US" sz="1600" b="1" dirty="0">
                <a:solidFill>
                  <a:srgbClr val="1B2B3D"/>
                </a:solidFill>
                <a:latin typeface="Meiryo" pitchFamily="34" charset="0"/>
                <a:ea typeface="Meiryo" pitchFamily="34" charset="-122"/>
                <a:cs typeface="Meiryo" pitchFamily="34" charset="-120"/>
              </a:rPr>
              <a:t>何を知り、何を望み</a:t>
            </a:r>
            <a:endParaRPr lang="en-US" sz="1600" dirty="0"/>
          </a:p>
          <a:p>
            <a:pPr indent="0" marL="0">
              <a:lnSpc>
                <a:spcPct val="110000"/>
              </a:lnSpc>
              <a:buNone/>
            </a:pPr>
            <a:r>
              <a:rPr lang="en-US" sz="1600" b="1" dirty="0">
                <a:solidFill>
                  <a:srgbClr val="1B2B3D"/>
                </a:solidFill>
                <a:latin typeface="Meiryo" pitchFamily="34" charset="0"/>
                <a:ea typeface="Meiryo" pitchFamily="34" charset="-122"/>
                <a:cs typeface="Meiryo" pitchFamily="34" charset="-120"/>
              </a:rPr>
              <a:t>なぜ来ないのか</a:t>
            </a:r>
            <a:endParaRPr lang="en-US" sz="1600" dirty="0"/>
          </a:p>
        </p:txBody>
      </p:sp>
      <p:sp>
        <p:nvSpPr>
          <p:cNvPr id="26" name="Shape 21"/>
          <p:cNvSpPr/>
          <p:nvPr/>
        </p:nvSpPr>
        <p:spPr>
          <a:xfrm>
            <a:off x="4663440" y="4663440"/>
            <a:ext cx="2834640" cy="0"/>
          </a:xfrm>
          <a:prstGeom prst="line">
            <a:avLst/>
          </a:prstGeom>
          <a:noFill/>
          <a:ln w="12700">
            <a:solidFill>
              <a:srgbClr val="D5DDE5"/>
            </a:solidFill>
            <a:prstDash val="solid"/>
          </a:ln>
        </p:spPr>
      </p:sp>
      <p:sp>
        <p:nvSpPr>
          <p:cNvPr id="27" name="Text 22"/>
          <p:cNvSpPr txBox="1"/>
          <p:nvPr/>
        </p:nvSpPr>
        <p:spPr>
          <a:xfrm>
            <a:off x="4663440" y="4754880"/>
            <a:ext cx="283464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判断に使うこと</a:t>
            </a:r>
            <a:endParaRPr lang="en-US" sz="1100" dirty="0"/>
          </a:p>
        </p:txBody>
      </p:sp>
      <p:sp>
        <p:nvSpPr>
          <p:cNvPr id="28" name="Text 23"/>
          <p:cNvSpPr txBox="1"/>
          <p:nvPr/>
        </p:nvSpPr>
        <p:spPr>
          <a:xfrm>
            <a:off x="4663440" y="5029200"/>
            <a:ext cx="2926080" cy="54864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訴求内容や参加条件を見直す</a:t>
            </a:r>
            <a:endParaRPr lang="en-US" sz="1350" dirty="0"/>
          </a:p>
        </p:txBody>
      </p:sp>
      <p:pic>
        <p:nvPicPr>
          <p:cNvPr id="29" name="Image 3" descr="preencoded.png">    </p:cNvPr>
          <p:cNvPicPr>
            <a:picLocks noChangeAspect="1"/>
          </p:cNvPicPr>
          <p:nvPr/>
        </p:nvPicPr>
        <p:blipFill>
          <a:blip r:embed="rId4"/>
          <a:stretch>
            <a:fillRect/>
          </a:stretch>
        </p:blipFill>
        <p:spPr>
          <a:xfrm>
            <a:off x="7863840" y="3703320"/>
            <a:ext cx="274320" cy="274320"/>
          </a:xfrm>
          <a:prstGeom prst="rect">
            <a:avLst/>
          </a:prstGeom>
        </p:spPr>
      </p:pic>
      <p:sp>
        <p:nvSpPr>
          <p:cNvPr id="30" name="Shape 24"/>
          <p:cNvSpPr/>
          <p:nvPr/>
        </p:nvSpPr>
        <p:spPr>
          <a:xfrm>
            <a:off x="8229600" y="1783080"/>
            <a:ext cx="3383280" cy="4251960"/>
          </a:xfrm>
          <a:prstGeom prst="roundRect">
            <a:avLst>
              <a:gd name="adj" fmla="val 2162"/>
            </a:avLst>
          </a:prstGeom>
          <a:solidFill>
            <a:srgbClr val="F2F5F8"/>
          </a:solidFill>
          <a:ln w="12700">
            <a:solidFill>
              <a:srgbClr val="F2F5F8"/>
            </a:solidFill>
            <a:prstDash val="solid"/>
          </a:ln>
        </p:spPr>
      </p:sp>
      <p:sp>
        <p:nvSpPr>
          <p:cNvPr id="31" name="Shape 25"/>
          <p:cNvSpPr/>
          <p:nvPr/>
        </p:nvSpPr>
        <p:spPr>
          <a:xfrm>
            <a:off x="8503920" y="2057400"/>
            <a:ext cx="777240" cy="777240"/>
          </a:xfrm>
          <a:prstGeom prst="ellipse">
            <a:avLst/>
          </a:prstGeom>
          <a:solidFill>
            <a:srgbClr val="C9002B"/>
          </a:solidFill>
          <a:ln w="12700">
            <a:solidFill>
              <a:srgbClr val="C9002B"/>
            </a:solidFill>
            <a:prstDash val="solid"/>
          </a:ln>
        </p:spPr>
      </p:sp>
      <p:pic>
        <p:nvPicPr>
          <p:cNvPr id="32" name="Image 4" descr="preencoded.png">    </p:cNvPr>
          <p:cNvPicPr>
            <a:picLocks noChangeAspect="1"/>
          </p:cNvPicPr>
          <p:nvPr/>
        </p:nvPicPr>
        <p:blipFill>
          <a:blip r:embed="rId5"/>
          <a:stretch>
            <a:fillRect/>
          </a:stretch>
        </p:blipFill>
        <p:spPr>
          <a:xfrm>
            <a:off x="8698230" y="2251710"/>
            <a:ext cx="388620" cy="388620"/>
          </a:xfrm>
          <a:prstGeom prst="rect">
            <a:avLst/>
          </a:prstGeom>
        </p:spPr>
      </p:pic>
      <p:sp>
        <p:nvSpPr>
          <p:cNvPr id="33" name="Text 26"/>
          <p:cNvSpPr txBox="1"/>
          <p:nvPr/>
        </p:nvSpPr>
        <p:spPr>
          <a:xfrm>
            <a:off x="9464040" y="2057400"/>
            <a:ext cx="1463040" cy="274320"/>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課題3に対応</a:t>
            </a:r>
            <a:endParaRPr lang="en-US" sz="1000" dirty="0"/>
          </a:p>
        </p:txBody>
      </p:sp>
      <p:sp>
        <p:nvSpPr>
          <p:cNvPr id="34" name="Text 27"/>
          <p:cNvSpPr txBox="1"/>
          <p:nvPr/>
        </p:nvSpPr>
        <p:spPr>
          <a:xfrm>
            <a:off x="9464040" y="2377440"/>
            <a:ext cx="2011680" cy="256032"/>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届ける</a:t>
            </a:r>
            <a:endParaRPr lang="en-US" sz="1200" dirty="0"/>
          </a:p>
        </p:txBody>
      </p:sp>
      <p:sp>
        <p:nvSpPr>
          <p:cNvPr id="35" name="Text 28"/>
          <p:cNvSpPr txBox="1"/>
          <p:nvPr/>
        </p:nvSpPr>
        <p:spPr>
          <a:xfrm>
            <a:off x="8503920" y="2971800"/>
            <a:ext cx="2926080" cy="411480"/>
          </a:xfrm>
          <a:prstGeom prst="rect">
            <a:avLst/>
          </a:prstGeom>
          <a:noFill/>
          <a:ln/>
        </p:spPr>
        <p:txBody>
          <a:bodyPr wrap="square" lIns="0" tIns="0" rIns="0" bIns="0" rtlCol="0" anchor="ctr"/>
          <a:lstStyle/>
          <a:p>
            <a:pPr indent="0" marL="0">
              <a:buNone/>
            </a:pPr>
            <a:r>
              <a:rPr lang="en-US" sz="1800" b="1" dirty="0">
                <a:solidFill>
                  <a:srgbClr val="13283C"/>
                </a:solidFill>
                <a:latin typeface="Meiryo" pitchFamily="34" charset="0"/>
                <a:ea typeface="Meiryo" pitchFamily="34" charset="-122"/>
                <a:cs typeface="Meiryo" pitchFamily="34" charset="-120"/>
              </a:rPr>
              <a:t>docomo Ad Network</a:t>
            </a:r>
            <a:endParaRPr lang="en-US" sz="1800" dirty="0"/>
          </a:p>
        </p:txBody>
      </p:sp>
      <p:sp>
        <p:nvSpPr>
          <p:cNvPr id="36" name="Text 29"/>
          <p:cNvSpPr txBox="1"/>
          <p:nvPr/>
        </p:nvSpPr>
        <p:spPr>
          <a:xfrm>
            <a:off x="8503920" y="3474720"/>
            <a:ext cx="283464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答えられること</a:t>
            </a:r>
            <a:endParaRPr lang="en-US" sz="1100" dirty="0"/>
          </a:p>
        </p:txBody>
      </p:sp>
      <p:sp>
        <p:nvSpPr>
          <p:cNvPr id="37" name="Text 30"/>
          <p:cNvSpPr txBox="1"/>
          <p:nvPr/>
        </p:nvSpPr>
        <p:spPr>
          <a:xfrm>
            <a:off x="8503920" y="3749040"/>
            <a:ext cx="2926080" cy="777240"/>
          </a:xfrm>
          <a:prstGeom prst="rect">
            <a:avLst/>
          </a:prstGeom>
          <a:noFill/>
          <a:ln/>
        </p:spPr>
        <p:txBody>
          <a:bodyPr wrap="square" lIns="0" tIns="0" rIns="0" bIns="0" rtlCol="0" anchor="t"/>
          <a:lstStyle/>
          <a:p>
            <a:pPr indent="0" marL="0">
              <a:lnSpc>
                <a:spcPct val="110000"/>
              </a:lnSpc>
              <a:buNone/>
            </a:pPr>
            <a:r>
              <a:rPr lang="en-US" sz="1600" b="1" dirty="0">
                <a:solidFill>
                  <a:srgbClr val="1B2B3D"/>
                </a:solidFill>
                <a:latin typeface="Meiryo" pitchFamily="34" charset="0"/>
                <a:ea typeface="Meiryo" pitchFamily="34" charset="-122"/>
                <a:cs typeface="Meiryo" pitchFamily="34" charset="-120"/>
              </a:rPr>
              <a:t>対象の人へ告知し</a:t>
            </a:r>
            <a:endParaRPr lang="en-US" sz="1600" dirty="0"/>
          </a:p>
          <a:p>
            <a:pPr indent="0" marL="0">
              <a:lnSpc>
                <a:spcPct val="110000"/>
              </a:lnSpc>
              <a:buNone/>
            </a:pPr>
            <a:r>
              <a:rPr lang="en-US" sz="1600" b="1" dirty="0">
                <a:solidFill>
                  <a:srgbClr val="1B2B3D"/>
                </a:solidFill>
                <a:latin typeface="Meiryo" pitchFamily="34" charset="0"/>
                <a:ea typeface="Meiryo" pitchFamily="34" charset="-122"/>
                <a:cs typeface="Meiryo" pitchFamily="34" charset="-120"/>
              </a:rPr>
              <a:t>申込先へ誘導する</a:t>
            </a:r>
            <a:endParaRPr lang="en-US" sz="1600" dirty="0"/>
          </a:p>
        </p:txBody>
      </p:sp>
      <p:sp>
        <p:nvSpPr>
          <p:cNvPr id="38" name="Shape 31"/>
          <p:cNvSpPr/>
          <p:nvPr/>
        </p:nvSpPr>
        <p:spPr>
          <a:xfrm>
            <a:off x="8503920" y="4663440"/>
            <a:ext cx="2834640" cy="0"/>
          </a:xfrm>
          <a:prstGeom prst="line">
            <a:avLst/>
          </a:prstGeom>
          <a:noFill/>
          <a:ln w="12700">
            <a:solidFill>
              <a:srgbClr val="D5DDE5"/>
            </a:solidFill>
            <a:prstDash val="solid"/>
          </a:ln>
        </p:spPr>
      </p:sp>
      <p:sp>
        <p:nvSpPr>
          <p:cNvPr id="39" name="Text 32"/>
          <p:cNvSpPr txBox="1"/>
          <p:nvPr/>
        </p:nvSpPr>
        <p:spPr>
          <a:xfrm>
            <a:off x="8503920" y="4754880"/>
            <a:ext cx="283464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判断に使うこと</a:t>
            </a:r>
            <a:endParaRPr lang="en-US" sz="1100" dirty="0"/>
          </a:p>
        </p:txBody>
      </p:sp>
      <p:sp>
        <p:nvSpPr>
          <p:cNvPr id="40" name="Text 33"/>
          <p:cNvSpPr txBox="1"/>
          <p:nvPr/>
        </p:nvSpPr>
        <p:spPr>
          <a:xfrm>
            <a:off x="8503920" y="5029200"/>
            <a:ext cx="2926080" cy="54864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広告配信と集客施策を改善する</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解決の方法</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モバイル空間統計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ドコモの携帯電話ネットワークの運用データから、地域の人口を推計する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05</a:t>
            </a:r>
            <a:endParaRPr lang="en-US" sz="1000" dirty="0"/>
          </a:p>
        </p:txBody>
      </p:sp>
      <p:sp>
        <p:nvSpPr>
          <p:cNvPr id="6" name="Shape 4"/>
          <p:cNvSpPr/>
          <p:nvPr/>
        </p:nvSpPr>
        <p:spPr>
          <a:xfrm>
            <a:off x="548640" y="1783080"/>
            <a:ext cx="1828800" cy="1417320"/>
          </a:xfrm>
          <a:prstGeom prst="roundRect">
            <a:avLst>
              <a:gd name="adj" fmla="val 5161"/>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731520" y="1920240"/>
            <a:ext cx="310896" cy="310896"/>
          </a:xfrm>
          <a:prstGeom prst="rect">
            <a:avLst/>
          </a:prstGeom>
        </p:spPr>
      </p:pic>
      <p:sp>
        <p:nvSpPr>
          <p:cNvPr id="8" name="Text 5"/>
          <p:cNvSpPr txBox="1"/>
          <p:nvPr/>
        </p:nvSpPr>
        <p:spPr>
          <a:xfrm>
            <a:off x="73152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約8,900万台</a:t>
            </a:r>
            <a:endParaRPr lang="en-US" sz="1800" dirty="0"/>
          </a:p>
        </p:txBody>
      </p:sp>
      <p:sp>
        <p:nvSpPr>
          <p:cNvPr id="9" name="Text 6"/>
          <p:cNvSpPr txBox="1"/>
          <p:nvPr/>
        </p:nvSpPr>
        <p:spPr>
          <a:xfrm>
            <a:off x="73152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国内の運用データ規模</a:t>
            </a:r>
            <a:endParaRPr lang="en-US" sz="1100" dirty="0"/>
          </a:p>
        </p:txBody>
      </p:sp>
      <p:sp>
        <p:nvSpPr>
          <p:cNvPr id="10" name="Shape 7"/>
          <p:cNvSpPr/>
          <p:nvPr/>
        </p:nvSpPr>
        <p:spPr>
          <a:xfrm>
            <a:off x="2560320" y="1783080"/>
            <a:ext cx="1828800" cy="1417320"/>
          </a:xfrm>
          <a:prstGeom prst="roundRect">
            <a:avLst>
              <a:gd name="adj" fmla="val 5161"/>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2743200" y="1920240"/>
            <a:ext cx="310896" cy="310896"/>
          </a:xfrm>
          <a:prstGeom prst="rect">
            <a:avLst/>
          </a:prstGeom>
        </p:spPr>
      </p:pic>
      <p:sp>
        <p:nvSpPr>
          <p:cNvPr id="12" name="Text 8"/>
          <p:cNvSpPr txBox="1"/>
          <p:nvPr/>
        </p:nvSpPr>
        <p:spPr>
          <a:xfrm>
            <a:off x="274320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1時間ごと</a:t>
            </a:r>
            <a:endParaRPr lang="en-US" sz="1800" dirty="0"/>
          </a:p>
        </p:txBody>
      </p:sp>
      <p:sp>
        <p:nvSpPr>
          <p:cNvPr id="13" name="Text 9"/>
          <p:cNvSpPr txBox="1"/>
          <p:nvPr/>
        </p:nvSpPr>
        <p:spPr>
          <a:xfrm>
            <a:off x="274320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の人口を推計できる</a:t>
            </a:r>
            <a:endParaRPr lang="en-US" sz="1100" dirty="0"/>
          </a:p>
        </p:txBody>
      </p:sp>
      <p:sp>
        <p:nvSpPr>
          <p:cNvPr id="14" name="Shape 10"/>
          <p:cNvSpPr/>
          <p:nvPr/>
        </p:nvSpPr>
        <p:spPr>
          <a:xfrm>
            <a:off x="4572000" y="1783080"/>
            <a:ext cx="1828800" cy="1417320"/>
          </a:xfrm>
          <a:prstGeom prst="roundRect">
            <a:avLst>
              <a:gd name="adj" fmla="val 5161"/>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4754880" y="1920240"/>
            <a:ext cx="310896" cy="310896"/>
          </a:xfrm>
          <a:prstGeom prst="rect">
            <a:avLst/>
          </a:prstGeom>
        </p:spPr>
      </p:pic>
      <p:sp>
        <p:nvSpPr>
          <p:cNvPr id="16" name="Text 11"/>
          <p:cNvSpPr txBox="1"/>
          <p:nvPr/>
        </p:nvSpPr>
        <p:spPr>
          <a:xfrm>
            <a:off x="475488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個人特定なし</a:t>
            </a:r>
            <a:endParaRPr lang="en-US" sz="1800" dirty="0"/>
          </a:p>
        </p:txBody>
      </p:sp>
      <p:sp>
        <p:nvSpPr>
          <p:cNvPr id="17" name="Text 12"/>
          <p:cNvSpPr txBox="1"/>
          <p:nvPr/>
        </p:nvSpPr>
        <p:spPr>
          <a:xfrm>
            <a:off x="475488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集団の人数のみの統計</a:t>
            </a:r>
            <a:endParaRPr lang="en-US" sz="1100" dirty="0"/>
          </a:p>
        </p:txBody>
      </p:sp>
      <p:sp>
        <p:nvSpPr>
          <p:cNvPr id="18" name="Text 13"/>
          <p:cNvSpPr txBox="1"/>
          <p:nvPr/>
        </p:nvSpPr>
        <p:spPr>
          <a:xfrm>
            <a:off x="548640" y="3474720"/>
            <a:ext cx="365760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分かること</a:t>
            </a:r>
            <a:endParaRPr lang="en-US" sz="1500" dirty="0"/>
          </a:p>
        </p:txBody>
      </p:sp>
      <p:sp>
        <p:nvSpPr>
          <p:cNvPr id="19" name="Text 14"/>
          <p:cNvSpPr txBox="1"/>
          <p:nvPr/>
        </p:nvSpPr>
        <p:spPr>
          <a:xfrm>
            <a:off x="548640" y="3858768"/>
            <a:ext cx="2743200" cy="365760"/>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200" b="1" dirty="0">
                <a:solidFill>
                  <a:srgbClr val="13283C"/>
                </a:solidFill>
                <a:latin typeface="Meiryo" pitchFamily="34" charset="0"/>
                <a:ea typeface="Meiryo" pitchFamily="34" charset="-122"/>
                <a:cs typeface="Meiryo" pitchFamily="34" charset="-120"/>
              </a:rPr>
              <a:t>人口の分布</a:t>
            </a:r>
            <a:endParaRPr lang="en-US" sz="1200" dirty="0"/>
          </a:p>
        </p:txBody>
      </p:sp>
      <p:sp>
        <p:nvSpPr>
          <p:cNvPr id="20" name="Text 15"/>
          <p:cNvSpPr txBox="1"/>
          <p:nvPr/>
        </p:nvSpPr>
        <p:spPr>
          <a:xfrm>
            <a:off x="3474720" y="3858768"/>
            <a:ext cx="2743200" cy="365760"/>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200" b="1" dirty="0">
                <a:solidFill>
                  <a:srgbClr val="13283C"/>
                </a:solidFill>
                <a:latin typeface="Meiryo" pitchFamily="34" charset="0"/>
                <a:ea typeface="Meiryo" pitchFamily="34" charset="-122"/>
                <a:cs typeface="Meiryo" pitchFamily="34" charset="-120"/>
              </a:rPr>
              <a:t>来訪元</a:t>
            </a:r>
            <a:endParaRPr lang="en-US" sz="1200" dirty="0"/>
          </a:p>
        </p:txBody>
      </p:sp>
      <p:sp>
        <p:nvSpPr>
          <p:cNvPr id="21" name="Text 16"/>
          <p:cNvSpPr txBox="1"/>
          <p:nvPr/>
        </p:nvSpPr>
        <p:spPr>
          <a:xfrm>
            <a:off x="548640" y="4315968"/>
            <a:ext cx="2743200" cy="365760"/>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200" b="1" dirty="0">
                <a:solidFill>
                  <a:srgbClr val="13283C"/>
                </a:solidFill>
                <a:latin typeface="Meiryo" pitchFamily="34" charset="0"/>
                <a:ea typeface="Meiryo" pitchFamily="34" charset="-122"/>
                <a:cs typeface="Meiryo" pitchFamily="34" charset="-120"/>
              </a:rPr>
              <a:t>性別・年代</a:t>
            </a:r>
            <a:endParaRPr lang="en-US" sz="1200" dirty="0"/>
          </a:p>
        </p:txBody>
      </p:sp>
      <p:sp>
        <p:nvSpPr>
          <p:cNvPr id="22" name="Text 17"/>
          <p:cNvSpPr txBox="1"/>
          <p:nvPr/>
        </p:nvSpPr>
        <p:spPr>
          <a:xfrm>
            <a:off x="3474720" y="4315968"/>
            <a:ext cx="2743200" cy="365760"/>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200" b="1" dirty="0">
                <a:solidFill>
                  <a:srgbClr val="13283C"/>
                </a:solidFill>
                <a:latin typeface="Meiryo" pitchFamily="34" charset="0"/>
                <a:ea typeface="Meiryo" pitchFamily="34" charset="-122"/>
                <a:cs typeface="Meiryo" pitchFamily="34" charset="-120"/>
              </a:rPr>
              <a:t>訪日客の国・地域</a:t>
            </a:r>
            <a:endParaRPr lang="en-US" sz="1200" dirty="0"/>
          </a:p>
        </p:txBody>
      </p:sp>
      <p:sp>
        <p:nvSpPr>
          <p:cNvPr id="23" name="Text 18"/>
          <p:cNvSpPr txBox="1"/>
          <p:nvPr/>
        </p:nvSpPr>
        <p:spPr>
          <a:xfrm>
            <a:off x="548640" y="4892040"/>
            <a:ext cx="5852160" cy="64008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イベント日の周辺人口や来訪元を、通常日・前年とそろえた条件で比べられる。</a:t>
            </a:r>
            <a:endParaRPr lang="en-US" sz="1250" dirty="0"/>
          </a:p>
        </p:txBody>
      </p:sp>
      <p:pic>
        <p:nvPicPr>
          <p:cNvPr id="24" name="Image 3" descr="preencoded.png">    </p:cNvPr>
          <p:cNvPicPr>
            <a:picLocks noChangeAspect="1"/>
          </p:cNvPicPr>
          <p:nvPr/>
        </p:nvPicPr>
        <p:blipFill>
          <a:blip r:embed="rId4"/>
          <a:stretch>
            <a:fillRect/>
          </a:stretch>
        </p:blipFill>
        <p:spPr>
          <a:xfrm>
            <a:off x="6675120" y="1783080"/>
            <a:ext cx="4937760" cy="2752344"/>
          </a:xfrm>
          <a:prstGeom prst="rect">
            <a:avLst/>
          </a:prstGeom>
        </p:spPr>
      </p:pic>
      <p:sp>
        <p:nvSpPr>
          <p:cNvPr id="25" name="Shape 19"/>
          <p:cNvSpPr/>
          <p:nvPr/>
        </p:nvSpPr>
        <p:spPr>
          <a:xfrm>
            <a:off x="6675120" y="1783080"/>
            <a:ext cx="4937760" cy="2752344"/>
          </a:xfrm>
          <a:prstGeom prst="rect">
            <a:avLst/>
          </a:prstGeom>
          <a:ln w="12700">
            <a:solidFill>
              <a:srgbClr val="D5DDE5"/>
            </a:solidFill>
            <a:prstDash val="solid"/>
          </a:ln>
        </p:spPr>
      </p:sp>
      <p:sp>
        <p:nvSpPr>
          <p:cNvPr id="26" name="Text 20"/>
          <p:cNvSpPr txBox="1"/>
          <p:nvPr/>
        </p:nvSpPr>
        <p:spPr>
          <a:xfrm>
            <a:off x="6675120" y="4590288"/>
            <a:ext cx="493776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公式サイトの人口マップ掲載イメージ</a:t>
            </a:r>
            <a:endParaRPr lang="en-US" sz="1000" dirty="0"/>
          </a:p>
        </p:txBody>
      </p:sp>
      <p:sp>
        <p:nvSpPr>
          <p:cNvPr id="27" name="Shape 21"/>
          <p:cNvSpPr/>
          <p:nvPr/>
        </p:nvSpPr>
        <p:spPr>
          <a:xfrm>
            <a:off x="6675120" y="4937760"/>
            <a:ext cx="4937760" cy="731520"/>
          </a:xfrm>
          <a:prstGeom prst="roundRect">
            <a:avLst>
              <a:gd name="adj" fmla="val 10000"/>
            </a:avLst>
          </a:prstGeom>
          <a:solidFill>
            <a:srgbClr val="FBEAEE"/>
          </a:solidFill>
          <a:ln w="12700">
            <a:solidFill>
              <a:srgbClr val="FBEAEE"/>
            </a:solidFill>
            <a:prstDash val="solid"/>
          </a:ln>
        </p:spPr>
      </p:sp>
      <p:sp>
        <p:nvSpPr>
          <p:cNvPr id="28" name="Text 22"/>
          <p:cNvSpPr txBox="1"/>
          <p:nvPr/>
        </p:nvSpPr>
        <p:spPr>
          <a:xfrm>
            <a:off x="6858000" y="4937760"/>
            <a:ext cx="4617720" cy="73152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周辺の推計人口であり、会場の入場者数そのものではありません</a:t>
            </a:r>
            <a:endParaRPr lang="en-US" sz="1250" dirty="0"/>
          </a:p>
        </p:txBody>
      </p:sp>
      <p:sp>
        <p:nvSpPr>
          <p:cNvPr id="29" name="Text 23"/>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取得できる地域・期間・属性・時間の細かさはメニューにより異なる。訪日客は約1,200万台の運用データ。2013年10月以降のデータを保有</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解決の方法</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プレミアパネル</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dポイントクラブ会員に、対象条件を指定してアンケートで理由や意向を聞く</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06</a:t>
            </a:r>
            <a:endParaRPr lang="en-US" sz="1000" dirty="0"/>
          </a:p>
        </p:txBody>
      </p:sp>
      <p:sp>
        <p:nvSpPr>
          <p:cNvPr id="6" name="Text 4"/>
          <p:cNvSpPr txBox="1"/>
          <p:nvPr/>
        </p:nvSpPr>
        <p:spPr>
          <a:xfrm>
            <a:off x="548640" y="1828800"/>
            <a:ext cx="36576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アンケート回答対象者</a:t>
            </a:r>
            <a:endParaRPr lang="en-US" sz="1200" dirty="0"/>
          </a:p>
        </p:txBody>
      </p:sp>
      <p:sp>
        <p:nvSpPr>
          <p:cNvPr id="7" name="Text 5"/>
          <p:cNvSpPr txBox="1"/>
          <p:nvPr/>
        </p:nvSpPr>
        <p:spPr>
          <a:xfrm>
            <a:off x="548640" y="2103120"/>
            <a:ext cx="3840480" cy="1005840"/>
          </a:xfrm>
          <a:prstGeom prst="rect">
            <a:avLst/>
          </a:prstGeom>
          <a:noFill/>
          <a:ln/>
        </p:spPr>
        <p:txBody>
          <a:bodyPr wrap="square" lIns="0" tIns="0" rIns="0" bIns="0" rtlCol="0" anchor="b"/>
          <a:lstStyle/>
          <a:p>
            <a:pPr indent="0" marL="0">
              <a:buNone/>
            </a:pPr>
            <a:r>
              <a:rPr lang="en-US" sz="6000" b="1" dirty="0">
                <a:solidFill>
                  <a:srgbClr val="C9002B"/>
                </a:solidFill>
                <a:latin typeface="Meiryo" pitchFamily="34" charset="0"/>
                <a:ea typeface="Meiryo" pitchFamily="34" charset="-122"/>
                <a:cs typeface="Meiryo" pitchFamily="34" charset="-120"/>
              </a:rPr>
              <a:t>約600</a:t>
            </a:r>
            <a:pPr indent="0" marL="0">
              <a:buNone/>
            </a:pPr>
            <a:r>
              <a:rPr lang="en-US" sz="2400" b="1" dirty="0">
                <a:solidFill>
                  <a:srgbClr val="C9002B"/>
                </a:solidFill>
                <a:latin typeface="Meiryo" pitchFamily="34" charset="0"/>
                <a:ea typeface="Meiryo" pitchFamily="34" charset="-122"/>
                <a:cs typeface="Meiryo" pitchFamily="34" charset="-120"/>
              </a:rPr>
              <a:t>万人</a:t>
            </a:r>
            <a:endParaRPr lang="en-US" sz="6000" dirty="0"/>
          </a:p>
        </p:txBody>
      </p:sp>
      <p:sp>
        <p:nvSpPr>
          <p:cNvPr id="8" name="Text 6"/>
          <p:cNvSpPr txBox="1"/>
          <p:nvPr/>
        </p:nvSpPr>
        <p:spPr>
          <a:xfrm>
            <a:off x="548640" y="3154680"/>
            <a:ext cx="36576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（2026年1月時点）</a:t>
            </a:r>
            <a:endParaRPr lang="en-US" sz="1100" dirty="0"/>
          </a:p>
        </p:txBody>
      </p:sp>
      <p:sp>
        <p:nvSpPr>
          <p:cNvPr id="9" name="Shape 7"/>
          <p:cNvSpPr/>
          <p:nvPr/>
        </p:nvSpPr>
        <p:spPr>
          <a:xfrm>
            <a:off x="548640" y="3657600"/>
            <a:ext cx="3657600" cy="914400"/>
          </a:xfrm>
          <a:prstGeom prst="roundRect">
            <a:avLst>
              <a:gd name="adj" fmla="val 8000"/>
            </a:avLst>
          </a:prstGeom>
          <a:solidFill>
            <a:srgbClr val="F2F5F8"/>
          </a:solidFill>
          <a:ln w="12700">
            <a:solidFill>
              <a:srgbClr val="F2F5F8"/>
            </a:solidFill>
            <a:prstDash val="solid"/>
          </a:ln>
        </p:spPr>
      </p:sp>
      <p:pic>
        <p:nvPicPr>
          <p:cNvPr id="10" name="Image 0" descr="preencoded.png">    </p:cNvPr>
          <p:cNvPicPr>
            <a:picLocks noChangeAspect="1"/>
          </p:cNvPicPr>
          <p:nvPr/>
        </p:nvPicPr>
        <p:blipFill>
          <a:blip r:embed="rId1"/>
          <a:stretch>
            <a:fillRect/>
          </a:stretch>
        </p:blipFill>
        <p:spPr>
          <a:xfrm>
            <a:off x="777240" y="3913632"/>
            <a:ext cx="384048" cy="384048"/>
          </a:xfrm>
          <a:prstGeom prst="rect">
            <a:avLst/>
          </a:prstGeom>
        </p:spPr>
      </p:pic>
      <p:sp>
        <p:nvSpPr>
          <p:cNvPr id="11" name="Text 8"/>
          <p:cNvSpPr txBox="1"/>
          <p:nvPr/>
        </p:nvSpPr>
        <p:spPr>
          <a:xfrm>
            <a:off x="1325880" y="3749040"/>
            <a:ext cx="2743200" cy="73152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100種以上</a:t>
            </a:r>
            <a:pPr indent="0" marL="0">
              <a:buNone/>
            </a:pPr>
            <a:endParaRPr lang="en-US" sz="1800" dirty="0"/>
          </a:p>
          <a:p>
            <a:pPr indent="0" marL="0">
              <a:buNone/>
            </a:pPr>
            <a:r>
              <a:rPr lang="en-US" sz="1200" dirty="0">
                <a:solidFill>
                  <a:srgbClr val="1B2B3D"/>
                </a:solidFill>
                <a:latin typeface="Meiryo" pitchFamily="34" charset="0"/>
                <a:ea typeface="Meiryo" pitchFamily="34" charset="-122"/>
                <a:cs typeface="Meiryo" pitchFamily="34" charset="-120"/>
              </a:rPr>
              <a:t>の属性で回答者を絞り込み</a:t>
            </a:r>
            <a:endParaRPr lang="en-US" sz="1800" dirty="0"/>
          </a:p>
        </p:txBody>
      </p:sp>
      <p:sp>
        <p:nvSpPr>
          <p:cNvPr id="12" name="Text 9"/>
          <p:cNvSpPr txBox="1"/>
          <p:nvPr/>
        </p:nvSpPr>
        <p:spPr>
          <a:xfrm>
            <a:off x="4663440" y="1828800"/>
            <a:ext cx="347472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聞く内容の例</a:t>
            </a:r>
            <a:endParaRPr lang="en-US" sz="1500" dirty="0"/>
          </a:p>
        </p:txBody>
      </p:sp>
      <p:sp>
        <p:nvSpPr>
          <p:cNvPr id="13" name="Shape 10"/>
          <p:cNvSpPr/>
          <p:nvPr/>
        </p:nvSpPr>
        <p:spPr>
          <a:xfrm>
            <a:off x="4663440" y="2286000"/>
            <a:ext cx="3474720" cy="621792"/>
          </a:xfrm>
          <a:prstGeom prst="roundRect">
            <a:avLst>
              <a:gd name="adj" fmla="val 11765"/>
            </a:avLst>
          </a:prstGeom>
          <a:solidFill>
            <a:srgbClr val="F2F5F8"/>
          </a:solidFill>
          <a:ln w="12700">
            <a:solidFill>
              <a:srgbClr val="F2F5F8"/>
            </a:solidFill>
            <a:prstDash val="solid"/>
          </a:ln>
        </p:spPr>
      </p:sp>
      <p:sp>
        <p:nvSpPr>
          <p:cNvPr id="14" name="Text 11"/>
          <p:cNvSpPr txBox="1"/>
          <p:nvPr/>
        </p:nvSpPr>
        <p:spPr>
          <a:xfrm>
            <a:off x="4800600" y="243230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Q1</a:t>
            </a:r>
            <a:endParaRPr lang="en-US" sz="1100" dirty="0"/>
          </a:p>
        </p:txBody>
      </p:sp>
      <p:sp>
        <p:nvSpPr>
          <p:cNvPr id="15" name="Text 12"/>
          <p:cNvSpPr txBox="1"/>
          <p:nvPr/>
        </p:nvSpPr>
        <p:spPr>
          <a:xfrm>
            <a:off x="5486400" y="228600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イベントを知っていたか</a:t>
            </a:r>
            <a:endParaRPr lang="en-US" sz="1300" dirty="0"/>
          </a:p>
        </p:txBody>
      </p:sp>
      <p:sp>
        <p:nvSpPr>
          <p:cNvPr id="16" name="Shape 13"/>
          <p:cNvSpPr/>
          <p:nvPr/>
        </p:nvSpPr>
        <p:spPr>
          <a:xfrm>
            <a:off x="4663440" y="3063240"/>
            <a:ext cx="3474720" cy="621792"/>
          </a:xfrm>
          <a:prstGeom prst="roundRect">
            <a:avLst>
              <a:gd name="adj" fmla="val 11765"/>
            </a:avLst>
          </a:prstGeom>
          <a:solidFill>
            <a:srgbClr val="F2F5F8"/>
          </a:solidFill>
          <a:ln w="12700">
            <a:solidFill>
              <a:srgbClr val="F2F5F8"/>
            </a:solidFill>
            <a:prstDash val="solid"/>
          </a:ln>
        </p:spPr>
      </p:sp>
      <p:sp>
        <p:nvSpPr>
          <p:cNvPr id="17" name="Text 14"/>
          <p:cNvSpPr txBox="1"/>
          <p:nvPr/>
        </p:nvSpPr>
        <p:spPr>
          <a:xfrm>
            <a:off x="4800600" y="320954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Q2</a:t>
            </a:r>
            <a:endParaRPr lang="en-US" sz="1100" dirty="0"/>
          </a:p>
        </p:txBody>
      </p:sp>
      <p:sp>
        <p:nvSpPr>
          <p:cNvPr id="18" name="Text 15"/>
          <p:cNvSpPr txBox="1"/>
          <p:nvPr/>
        </p:nvSpPr>
        <p:spPr>
          <a:xfrm>
            <a:off x="5486400" y="306324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来なかった理由は何か</a:t>
            </a:r>
            <a:endParaRPr lang="en-US" sz="1300" dirty="0"/>
          </a:p>
        </p:txBody>
      </p:sp>
      <p:sp>
        <p:nvSpPr>
          <p:cNvPr id="19" name="Shape 16"/>
          <p:cNvSpPr/>
          <p:nvPr/>
        </p:nvSpPr>
        <p:spPr>
          <a:xfrm>
            <a:off x="4663440" y="3840480"/>
            <a:ext cx="3474720" cy="621792"/>
          </a:xfrm>
          <a:prstGeom prst="roundRect">
            <a:avLst>
              <a:gd name="adj" fmla="val 11765"/>
            </a:avLst>
          </a:prstGeom>
          <a:solidFill>
            <a:srgbClr val="F2F5F8"/>
          </a:solidFill>
          <a:ln w="12700">
            <a:solidFill>
              <a:srgbClr val="F2F5F8"/>
            </a:solidFill>
            <a:prstDash val="solid"/>
          </a:ln>
        </p:spPr>
      </p:sp>
      <p:sp>
        <p:nvSpPr>
          <p:cNvPr id="20" name="Text 17"/>
          <p:cNvSpPr txBox="1"/>
          <p:nvPr/>
        </p:nvSpPr>
        <p:spPr>
          <a:xfrm>
            <a:off x="4800600" y="398678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Q3</a:t>
            </a:r>
            <a:endParaRPr lang="en-US" sz="1100" dirty="0"/>
          </a:p>
        </p:txBody>
      </p:sp>
      <p:sp>
        <p:nvSpPr>
          <p:cNvPr id="21" name="Text 18"/>
          <p:cNvSpPr txBox="1"/>
          <p:nvPr/>
        </p:nvSpPr>
        <p:spPr>
          <a:xfrm>
            <a:off x="5486400" y="384048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どの条件なら参加したいか</a:t>
            </a:r>
            <a:endParaRPr lang="en-US" sz="1300" dirty="0"/>
          </a:p>
        </p:txBody>
      </p:sp>
      <p:pic>
        <p:nvPicPr>
          <p:cNvPr id="22" name="Image 1" descr="preencoded.png">    </p:cNvPr>
          <p:cNvPicPr>
            <a:picLocks noChangeAspect="1"/>
          </p:cNvPicPr>
          <p:nvPr/>
        </p:nvPicPr>
        <p:blipFill>
          <a:blip r:embed="rId2"/>
          <a:stretch>
            <a:fillRect/>
          </a:stretch>
        </p:blipFill>
        <p:spPr>
          <a:xfrm>
            <a:off x="8503920" y="1783080"/>
            <a:ext cx="3108960" cy="2852928"/>
          </a:xfrm>
          <a:prstGeom prst="rect">
            <a:avLst/>
          </a:prstGeom>
        </p:spPr>
      </p:pic>
      <p:sp>
        <p:nvSpPr>
          <p:cNvPr id="23" name="Shape 19"/>
          <p:cNvSpPr/>
          <p:nvPr/>
        </p:nvSpPr>
        <p:spPr>
          <a:xfrm>
            <a:off x="548640" y="4937760"/>
            <a:ext cx="11064240" cy="868680"/>
          </a:xfrm>
          <a:prstGeom prst="roundRect">
            <a:avLst>
              <a:gd name="adj" fmla="val 8421"/>
            </a:avLst>
          </a:prstGeom>
          <a:solidFill>
            <a:srgbClr val="FBEAEE"/>
          </a:solidFill>
          <a:ln w="12700">
            <a:solidFill>
              <a:srgbClr val="FBEAEE"/>
            </a:solidFill>
            <a:prstDash val="solid"/>
          </a:ln>
        </p:spPr>
      </p:sp>
      <p:pic>
        <p:nvPicPr>
          <p:cNvPr id="24" name="Image 2" descr="preencoded.png">    </p:cNvPr>
          <p:cNvPicPr>
            <a:picLocks noChangeAspect="1"/>
          </p:cNvPicPr>
          <p:nvPr/>
        </p:nvPicPr>
        <p:blipFill>
          <a:blip r:embed="rId3"/>
          <a:stretch>
            <a:fillRect/>
          </a:stretch>
        </p:blipFill>
        <p:spPr>
          <a:xfrm>
            <a:off x="777240" y="5184648"/>
            <a:ext cx="365760" cy="365760"/>
          </a:xfrm>
          <a:prstGeom prst="rect">
            <a:avLst/>
          </a:prstGeom>
        </p:spPr>
      </p:pic>
      <p:sp>
        <p:nvSpPr>
          <p:cNvPr id="25" name="Text 20"/>
          <p:cNvSpPr txBox="1"/>
          <p:nvPr/>
        </p:nvSpPr>
        <p:spPr>
          <a:xfrm>
            <a:off x="1325880" y="4937760"/>
            <a:ext cx="10058400" cy="868680"/>
          </a:xfrm>
          <a:prstGeom prst="rect">
            <a:avLst/>
          </a:prstGeom>
          <a:noFill/>
          <a:ln/>
        </p:spPr>
        <p:txBody>
          <a:bodyPr wrap="square" lIns="0" tIns="0" rIns="0" bIns="0" rtlCol="0" anchor="ctr"/>
          <a:lstStyle/>
          <a:p>
            <a:pPr indent="0" marL="0">
              <a:buNone/>
            </a:pPr>
            <a:r>
              <a:rPr lang="en-US" sz="1300" dirty="0">
                <a:solidFill>
                  <a:srgbClr val="1B2B3D"/>
                </a:solidFill>
                <a:latin typeface="Meiryo" pitchFamily="34" charset="0"/>
                <a:ea typeface="Meiryo" pitchFamily="34" charset="-122"/>
                <a:cs typeface="Meiryo" pitchFamily="34" charset="-120"/>
              </a:rPr>
              <a:t>会場のアンケートと違い、来なかった人にも聞けます。対象を絞り過ぎると回収しにくくなるため、対象者と設問は一緒に設計します。</a:t>
            </a:r>
            <a:endParaRPr lang="en-US" sz="1300" dirty="0"/>
          </a:p>
        </p:txBody>
      </p:sp>
      <p:sp>
        <p:nvSpPr>
          <p:cNvPr id="26" name="Text 2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約600万人は回答対象者の規模で、必要な条件・回収数を保証する数ではない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解決の方法</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docomo Ad Network</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ドコモのデータを使い、ドコモの接点と一般メディアへ広告を配信する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07</a:t>
            </a:r>
            <a:endParaRPr lang="en-US" sz="1000" dirty="0"/>
          </a:p>
        </p:txBody>
      </p:sp>
      <p:sp>
        <p:nvSpPr>
          <p:cNvPr id="6" name="Text 4"/>
          <p:cNvSpPr txBox="1"/>
          <p:nvPr/>
        </p:nvSpPr>
        <p:spPr>
          <a:xfrm>
            <a:off x="548640" y="178308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できること</a:t>
            </a:r>
            <a:endParaRPr lang="en-US" sz="1500" dirty="0"/>
          </a:p>
        </p:txBody>
      </p:sp>
      <p:sp>
        <p:nvSpPr>
          <p:cNvPr id="7" name="Text 5"/>
          <p:cNvSpPr txBox="1"/>
          <p:nvPr/>
        </p:nvSpPr>
        <p:spPr>
          <a:xfrm>
            <a:off x="548640" y="2130552"/>
            <a:ext cx="5212080" cy="91440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同意を得た属性やサービス利用情報を使い、dメニュー・dポイントクラブ・メッセージSなどで、届けたい人へ告知する。</a:t>
            </a:r>
            <a:endParaRPr lang="en-US" sz="1350" dirty="0"/>
          </a:p>
        </p:txBody>
      </p:sp>
      <p:sp>
        <p:nvSpPr>
          <p:cNvPr id="8" name="Text 6"/>
          <p:cNvSpPr txBox="1"/>
          <p:nvPr/>
        </p:nvSpPr>
        <p:spPr>
          <a:xfrm>
            <a:off x="548640" y="320040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申込先まで設計する</a:t>
            </a:r>
            <a:endParaRPr lang="en-US" sz="1500" dirty="0"/>
          </a:p>
        </p:txBody>
      </p:sp>
      <p:sp>
        <p:nvSpPr>
          <p:cNvPr id="9" name="Shape 7"/>
          <p:cNvSpPr/>
          <p:nvPr/>
        </p:nvSpPr>
        <p:spPr>
          <a:xfrm>
            <a:off x="548640" y="3611880"/>
            <a:ext cx="1216152" cy="868680"/>
          </a:xfrm>
          <a:prstGeom prst="roundRect">
            <a:avLst>
              <a:gd name="adj" fmla="val 8421"/>
            </a:avLst>
          </a:prstGeom>
          <a:solidFill>
            <a:srgbClr val="F2F5F8"/>
          </a:solidFill>
          <a:ln w="12700">
            <a:solidFill>
              <a:srgbClr val="F2F5F8"/>
            </a:solidFill>
            <a:prstDash val="solid"/>
          </a:ln>
        </p:spPr>
      </p:sp>
      <p:pic>
        <p:nvPicPr>
          <p:cNvPr id="10" name="Image 0" descr="preencoded.png">    </p:cNvPr>
          <p:cNvPicPr>
            <a:picLocks noChangeAspect="1"/>
          </p:cNvPicPr>
          <p:nvPr/>
        </p:nvPicPr>
        <p:blipFill>
          <a:blip r:embed="rId1"/>
          <a:stretch>
            <a:fillRect/>
          </a:stretch>
        </p:blipFill>
        <p:spPr>
          <a:xfrm>
            <a:off x="1005840" y="3703320"/>
            <a:ext cx="292608" cy="292608"/>
          </a:xfrm>
          <a:prstGeom prst="rect">
            <a:avLst/>
          </a:prstGeom>
        </p:spPr>
      </p:pic>
      <p:sp>
        <p:nvSpPr>
          <p:cNvPr id="11" name="Text 8"/>
          <p:cNvSpPr txBox="1"/>
          <p:nvPr/>
        </p:nvSpPr>
        <p:spPr>
          <a:xfrm>
            <a:off x="576072" y="4069080"/>
            <a:ext cx="1161288" cy="320040"/>
          </a:xfrm>
          <a:prstGeom prst="rect">
            <a:avLst/>
          </a:prstGeom>
          <a:noFill/>
          <a:ln/>
        </p:spPr>
        <p:txBody>
          <a:bodyPr wrap="square" lIns="0" tIns="0" rIns="0" bIns="0" rtlCol="0" anchor="ctr"/>
          <a:lstStyle/>
          <a:p>
            <a:pPr algn="ctr" indent="0" marL="0">
              <a:buNone/>
            </a:pPr>
            <a:r>
              <a:rPr lang="en-US" sz="1100" b="1" dirty="0">
                <a:solidFill>
                  <a:srgbClr val="1B2B3D"/>
                </a:solidFill>
                <a:latin typeface="Meiryo" pitchFamily="34" charset="0"/>
                <a:ea typeface="Meiryo" pitchFamily="34" charset="-122"/>
                <a:cs typeface="Meiryo" pitchFamily="34" charset="-120"/>
              </a:rPr>
              <a:t>対象条件</a:t>
            </a:r>
            <a:endParaRPr lang="en-US" sz="1100" dirty="0"/>
          </a:p>
        </p:txBody>
      </p:sp>
      <p:sp>
        <p:nvSpPr>
          <p:cNvPr id="12" name="Shape 9"/>
          <p:cNvSpPr/>
          <p:nvPr/>
        </p:nvSpPr>
        <p:spPr>
          <a:xfrm>
            <a:off x="1874520" y="3611880"/>
            <a:ext cx="1216152" cy="868680"/>
          </a:xfrm>
          <a:prstGeom prst="roundRect">
            <a:avLst>
              <a:gd name="adj" fmla="val 8421"/>
            </a:avLst>
          </a:prstGeom>
          <a:solidFill>
            <a:srgbClr val="F2F5F8"/>
          </a:solidFill>
          <a:ln w="12700">
            <a:solidFill>
              <a:srgbClr val="F2F5F8"/>
            </a:solidFill>
            <a:prstDash val="solid"/>
          </a:ln>
        </p:spPr>
      </p:sp>
      <p:pic>
        <p:nvPicPr>
          <p:cNvPr id="13" name="Image 1" descr="preencoded.png">    </p:cNvPr>
          <p:cNvPicPr>
            <a:picLocks noChangeAspect="1"/>
          </p:cNvPicPr>
          <p:nvPr/>
        </p:nvPicPr>
        <p:blipFill>
          <a:blip r:embed="rId2"/>
          <a:stretch>
            <a:fillRect/>
          </a:stretch>
        </p:blipFill>
        <p:spPr>
          <a:xfrm>
            <a:off x="2331720" y="3703320"/>
            <a:ext cx="292608" cy="292608"/>
          </a:xfrm>
          <a:prstGeom prst="rect">
            <a:avLst/>
          </a:prstGeom>
        </p:spPr>
      </p:pic>
      <p:sp>
        <p:nvSpPr>
          <p:cNvPr id="14" name="Text 10"/>
          <p:cNvSpPr txBox="1"/>
          <p:nvPr/>
        </p:nvSpPr>
        <p:spPr>
          <a:xfrm>
            <a:off x="1901952" y="4069080"/>
            <a:ext cx="1161288" cy="320040"/>
          </a:xfrm>
          <a:prstGeom prst="rect">
            <a:avLst/>
          </a:prstGeom>
          <a:noFill/>
          <a:ln/>
        </p:spPr>
        <p:txBody>
          <a:bodyPr wrap="square" lIns="0" tIns="0" rIns="0" bIns="0" rtlCol="0" anchor="ctr"/>
          <a:lstStyle/>
          <a:p>
            <a:pPr algn="ctr" indent="0" marL="0">
              <a:buNone/>
            </a:pPr>
            <a:r>
              <a:rPr lang="en-US" sz="1100" b="1" dirty="0">
                <a:solidFill>
                  <a:srgbClr val="1B2B3D"/>
                </a:solidFill>
                <a:latin typeface="Meiryo" pitchFamily="34" charset="0"/>
                <a:ea typeface="Meiryo" pitchFamily="34" charset="-122"/>
                <a:cs typeface="Meiryo" pitchFamily="34" charset="-120"/>
              </a:rPr>
              <a:t>画像・文章</a:t>
            </a:r>
            <a:endParaRPr lang="en-US" sz="1100" dirty="0"/>
          </a:p>
        </p:txBody>
      </p:sp>
      <p:sp>
        <p:nvSpPr>
          <p:cNvPr id="15" name="Shape 11"/>
          <p:cNvSpPr/>
          <p:nvPr/>
        </p:nvSpPr>
        <p:spPr>
          <a:xfrm>
            <a:off x="3200400" y="3611880"/>
            <a:ext cx="1216152" cy="868680"/>
          </a:xfrm>
          <a:prstGeom prst="roundRect">
            <a:avLst>
              <a:gd name="adj" fmla="val 8421"/>
            </a:avLst>
          </a:prstGeom>
          <a:solidFill>
            <a:srgbClr val="F2F5F8"/>
          </a:solidFill>
          <a:ln w="12700">
            <a:solidFill>
              <a:srgbClr val="F2F5F8"/>
            </a:solidFill>
            <a:prstDash val="solid"/>
          </a:ln>
        </p:spPr>
      </p:sp>
      <p:pic>
        <p:nvPicPr>
          <p:cNvPr id="16" name="Image 2" descr="preencoded.png">    </p:cNvPr>
          <p:cNvPicPr>
            <a:picLocks noChangeAspect="1"/>
          </p:cNvPicPr>
          <p:nvPr/>
        </p:nvPicPr>
        <p:blipFill>
          <a:blip r:embed="rId3"/>
          <a:stretch>
            <a:fillRect/>
          </a:stretch>
        </p:blipFill>
        <p:spPr>
          <a:xfrm>
            <a:off x="3657600" y="3703320"/>
            <a:ext cx="292608" cy="292608"/>
          </a:xfrm>
          <a:prstGeom prst="rect">
            <a:avLst/>
          </a:prstGeom>
        </p:spPr>
      </p:pic>
      <p:sp>
        <p:nvSpPr>
          <p:cNvPr id="17" name="Text 12"/>
          <p:cNvSpPr txBox="1"/>
          <p:nvPr/>
        </p:nvSpPr>
        <p:spPr>
          <a:xfrm>
            <a:off x="3227832" y="4069080"/>
            <a:ext cx="1161288" cy="320040"/>
          </a:xfrm>
          <a:prstGeom prst="rect">
            <a:avLst/>
          </a:prstGeom>
          <a:noFill/>
          <a:ln/>
        </p:spPr>
        <p:txBody>
          <a:bodyPr wrap="square" lIns="0" tIns="0" rIns="0" bIns="0" rtlCol="0" anchor="ctr"/>
          <a:lstStyle/>
          <a:p>
            <a:pPr algn="ctr" indent="0" marL="0">
              <a:buNone/>
            </a:pPr>
            <a:r>
              <a:rPr lang="en-US" sz="1100" b="1" dirty="0">
                <a:solidFill>
                  <a:srgbClr val="1B2B3D"/>
                </a:solidFill>
                <a:latin typeface="Meiryo" pitchFamily="34" charset="0"/>
                <a:ea typeface="Meiryo" pitchFamily="34" charset="-122"/>
                <a:cs typeface="Meiryo" pitchFamily="34" charset="-120"/>
              </a:rPr>
              <a:t>申込ページ</a:t>
            </a:r>
            <a:endParaRPr lang="en-US" sz="1100" dirty="0"/>
          </a:p>
        </p:txBody>
      </p:sp>
      <p:sp>
        <p:nvSpPr>
          <p:cNvPr id="18" name="Shape 13"/>
          <p:cNvSpPr/>
          <p:nvPr/>
        </p:nvSpPr>
        <p:spPr>
          <a:xfrm>
            <a:off x="4526280" y="3611880"/>
            <a:ext cx="1216152" cy="868680"/>
          </a:xfrm>
          <a:prstGeom prst="roundRect">
            <a:avLst>
              <a:gd name="adj" fmla="val 8421"/>
            </a:avLst>
          </a:prstGeom>
          <a:solidFill>
            <a:srgbClr val="F2F5F8"/>
          </a:solidFill>
          <a:ln w="12700">
            <a:solidFill>
              <a:srgbClr val="F2F5F8"/>
            </a:solidFill>
            <a:prstDash val="solid"/>
          </a:ln>
        </p:spPr>
      </p:sp>
      <p:pic>
        <p:nvPicPr>
          <p:cNvPr id="19" name="Image 3" descr="preencoded.png">    </p:cNvPr>
          <p:cNvPicPr>
            <a:picLocks noChangeAspect="1"/>
          </p:cNvPicPr>
          <p:nvPr/>
        </p:nvPicPr>
        <p:blipFill>
          <a:blip r:embed="rId4"/>
          <a:stretch>
            <a:fillRect/>
          </a:stretch>
        </p:blipFill>
        <p:spPr>
          <a:xfrm>
            <a:off x="4983480" y="3703320"/>
            <a:ext cx="292608" cy="292608"/>
          </a:xfrm>
          <a:prstGeom prst="rect">
            <a:avLst/>
          </a:prstGeom>
        </p:spPr>
      </p:pic>
      <p:sp>
        <p:nvSpPr>
          <p:cNvPr id="20" name="Text 14"/>
          <p:cNvSpPr txBox="1"/>
          <p:nvPr/>
        </p:nvSpPr>
        <p:spPr>
          <a:xfrm>
            <a:off x="4553712" y="4069080"/>
            <a:ext cx="1161288" cy="320040"/>
          </a:xfrm>
          <a:prstGeom prst="rect">
            <a:avLst/>
          </a:prstGeom>
          <a:noFill/>
          <a:ln/>
        </p:spPr>
        <p:txBody>
          <a:bodyPr wrap="square" lIns="0" tIns="0" rIns="0" bIns="0" rtlCol="0" anchor="ctr"/>
          <a:lstStyle/>
          <a:p>
            <a:pPr algn="ctr" indent="0" marL="0">
              <a:buNone/>
            </a:pPr>
            <a:r>
              <a:rPr lang="en-US" sz="1100" b="1" dirty="0">
                <a:solidFill>
                  <a:srgbClr val="1B2B3D"/>
                </a:solidFill>
                <a:latin typeface="Meiryo" pitchFamily="34" charset="0"/>
                <a:ea typeface="Meiryo" pitchFamily="34" charset="-122"/>
                <a:cs typeface="Meiryo" pitchFamily="34" charset="-120"/>
              </a:rPr>
              <a:t>計測方法</a:t>
            </a:r>
            <a:endParaRPr lang="en-US" sz="1100" dirty="0"/>
          </a:p>
        </p:txBody>
      </p:sp>
      <p:pic>
        <p:nvPicPr>
          <p:cNvPr id="21" name="Image 4" descr="preencoded.png">    </p:cNvPr>
          <p:cNvPicPr>
            <a:picLocks noChangeAspect="1"/>
          </p:cNvPicPr>
          <p:nvPr/>
        </p:nvPicPr>
        <p:blipFill>
          <a:blip r:embed="rId5"/>
          <a:stretch>
            <a:fillRect/>
          </a:stretch>
        </p:blipFill>
        <p:spPr>
          <a:xfrm>
            <a:off x="6172200" y="1783080"/>
            <a:ext cx="5440680" cy="3429000"/>
          </a:xfrm>
          <a:prstGeom prst="rect">
            <a:avLst/>
          </a:prstGeom>
        </p:spPr>
      </p:pic>
      <p:sp>
        <p:nvSpPr>
          <p:cNvPr id="22" name="Text 15"/>
          <p:cNvSpPr txBox="1"/>
          <p:nvPr/>
        </p:nvSpPr>
        <p:spPr>
          <a:xfrm>
            <a:off x="6172200" y="5257800"/>
            <a:ext cx="544068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配信先の例（公式サイト掲載図）</a:t>
            </a:r>
            <a:endParaRPr lang="en-US" sz="1000" dirty="0"/>
          </a:p>
        </p:txBody>
      </p:sp>
      <p:sp>
        <p:nvSpPr>
          <p:cNvPr id="23" name="Shape 16"/>
          <p:cNvSpPr/>
          <p:nvPr/>
        </p:nvSpPr>
        <p:spPr>
          <a:xfrm>
            <a:off x="548640" y="5577840"/>
            <a:ext cx="11064240" cy="658368"/>
          </a:xfrm>
          <a:prstGeom prst="roundRect">
            <a:avLst>
              <a:gd name="adj" fmla="val 11111"/>
            </a:avLst>
          </a:prstGeom>
          <a:solidFill>
            <a:srgbClr val="FBEAEE"/>
          </a:solidFill>
          <a:ln w="12700">
            <a:solidFill>
              <a:srgbClr val="FBEAEE"/>
            </a:solidFill>
            <a:prstDash val="solid"/>
          </a:ln>
        </p:spPr>
      </p:sp>
      <p:sp>
        <p:nvSpPr>
          <p:cNvPr id="24" name="Text 17"/>
          <p:cNvSpPr txBox="1"/>
          <p:nvPr/>
        </p:nvSpPr>
        <p:spPr>
          <a:xfrm>
            <a:off x="731520" y="5751576"/>
            <a:ext cx="1005840" cy="310896"/>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最新動向</a:t>
            </a:r>
            <a:endParaRPr lang="en-US" sz="1100" dirty="0"/>
          </a:p>
        </p:txBody>
      </p:sp>
      <p:sp>
        <p:nvSpPr>
          <p:cNvPr id="25" name="Text 18"/>
          <p:cNvSpPr txBox="1"/>
          <p:nvPr/>
        </p:nvSpPr>
        <p:spPr>
          <a:xfrm>
            <a:off x="1874520" y="5577840"/>
            <a:ext cx="9601200"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2026年7月1日から運営はCARTA ZERO。</a:t>
            </a:r>
            <a:pPr indent="0" marL="0">
              <a:buNone/>
            </a:pPr>
            <a:r>
              <a:rPr lang="en-US" sz="1200" dirty="0">
                <a:solidFill>
                  <a:srgbClr val="1B2B3D"/>
                </a:solidFill>
                <a:latin typeface="Meiryo" pitchFamily="34" charset="0"/>
                <a:ea typeface="Meiryo" pitchFamily="34" charset="-122"/>
                <a:cs typeface="Meiryo" pitchFamily="34" charset="-120"/>
              </a:rPr>
              <a:t>「docomo data square Ads」として販売され、Google・Meta・LINEなどでもドコモデータを活用可能</a:t>
            </a:r>
            <a:endParaRPr lang="en-US" sz="1200" dirty="0"/>
          </a:p>
        </p:txBody>
      </p:sp>
      <p:sp>
        <p:nvSpPr>
          <p:cNvPr id="26" name="Text 1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配信先・利用できる条件・課金方式はメニューによる。広告の成果は保証されない</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解決の方法</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ドコモのデータが選ばれる理由</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広く・偏りなく・「人口」として示せることが、説明責任のある場面で役立ちます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08</a:t>
            </a:r>
            <a:endParaRPr lang="en-US" sz="1000" dirty="0"/>
          </a:p>
        </p:txBody>
      </p:sp>
      <p:sp>
        <p:nvSpPr>
          <p:cNvPr id="6" name="Shape 4"/>
          <p:cNvSpPr/>
          <p:nvPr/>
        </p:nvSpPr>
        <p:spPr>
          <a:xfrm>
            <a:off x="548640" y="1783080"/>
            <a:ext cx="11064240" cy="777240"/>
          </a:xfrm>
          <a:prstGeom prst="roundRect">
            <a:avLst>
              <a:gd name="adj" fmla="val 9412"/>
            </a:avLst>
          </a:prstGeom>
          <a:solidFill>
            <a:srgbClr val="F2F5F8"/>
          </a:solidFill>
          <a:ln w="12700">
            <a:solidFill>
              <a:srgbClr val="F2F5F8"/>
            </a:solidFill>
            <a:prstDash val="solid"/>
          </a:ln>
        </p:spPr>
      </p:sp>
      <p:sp>
        <p:nvSpPr>
          <p:cNvPr id="7" name="Text 5"/>
          <p:cNvSpPr txBox="1"/>
          <p:nvPr/>
        </p:nvSpPr>
        <p:spPr>
          <a:xfrm>
            <a:off x="731520" y="1783080"/>
            <a:ext cx="2103120" cy="77724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約8,900万台</a:t>
            </a:r>
            <a:endParaRPr lang="en-US" sz="1800" dirty="0"/>
          </a:p>
        </p:txBody>
      </p:sp>
      <p:sp>
        <p:nvSpPr>
          <p:cNvPr id="8" name="Text 6"/>
          <p:cNvSpPr txBox="1"/>
          <p:nvPr/>
        </p:nvSpPr>
        <p:spPr>
          <a:xfrm>
            <a:off x="2926080" y="1783080"/>
            <a:ext cx="2926080" cy="777240"/>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大きなサンプル</a:t>
            </a:r>
            <a:endParaRPr lang="en-US" sz="1500" dirty="0"/>
          </a:p>
        </p:txBody>
      </p:sp>
      <p:sp>
        <p:nvSpPr>
          <p:cNvPr id="9" name="Text 7"/>
          <p:cNvSpPr txBox="1"/>
          <p:nvPr/>
        </p:nvSpPr>
        <p:spPr>
          <a:xfrm>
            <a:off x="5852160" y="1783080"/>
            <a:ext cx="5623560" cy="77724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アプリの利用や同意に左右されにくい、基地局の運用データ</a:t>
            </a:r>
            <a:endParaRPr lang="en-US" sz="1250" dirty="0"/>
          </a:p>
        </p:txBody>
      </p:sp>
      <p:sp>
        <p:nvSpPr>
          <p:cNvPr id="10" name="Shape 8"/>
          <p:cNvSpPr/>
          <p:nvPr/>
        </p:nvSpPr>
        <p:spPr>
          <a:xfrm>
            <a:off x="548640" y="2670048"/>
            <a:ext cx="11064240" cy="777240"/>
          </a:xfrm>
          <a:prstGeom prst="roundRect">
            <a:avLst>
              <a:gd name="adj" fmla="val 9412"/>
            </a:avLst>
          </a:prstGeom>
          <a:solidFill>
            <a:srgbClr val="F2F5F8"/>
          </a:solidFill>
          <a:ln w="12700">
            <a:solidFill>
              <a:srgbClr val="F2F5F8"/>
            </a:solidFill>
            <a:prstDash val="solid"/>
          </a:ln>
        </p:spPr>
      </p:sp>
      <p:sp>
        <p:nvSpPr>
          <p:cNvPr id="11" name="Text 9"/>
          <p:cNvSpPr txBox="1"/>
          <p:nvPr/>
        </p:nvSpPr>
        <p:spPr>
          <a:xfrm>
            <a:off x="731520" y="2670048"/>
            <a:ext cx="2103120" cy="77724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推計人口</a:t>
            </a:r>
            <a:endParaRPr lang="en-US" sz="1800" dirty="0"/>
          </a:p>
        </p:txBody>
      </p:sp>
      <p:sp>
        <p:nvSpPr>
          <p:cNvPr id="12" name="Text 10"/>
          <p:cNvSpPr txBox="1"/>
          <p:nvPr/>
        </p:nvSpPr>
        <p:spPr>
          <a:xfrm>
            <a:off x="2926080" y="2670048"/>
            <a:ext cx="2926080" cy="777240"/>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「人口」として示せる</a:t>
            </a:r>
            <a:endParaRPr lang="en-US" sz="1500" dirty="0"/>
          </a:p>
        </p:txBody>
      </p:sp>
      <p:sp>
        <p:nvSpPr>
          <p:cNvPr id="13" name="Text 11"/>
          <p:cNvSpPr txBox="1"/>
          <p:nvPr/>
        </p:nvSpPr>
        <p:spPr>
          <a:xfrm>
            <a:off x="5852160" y="2670048"/>
            <a:ext cx="5623560" cy="77724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普及率で拡大推計した統計。議会・住民・スポンサーへの説明に使いやすい</a:t>
            </a:r>
            <a:endParaRPr lang="en-US" sz="1250" dirty="0"/>
          </a:p>
        </p:txBody>
      </p:sp>
      <p:sp>
        <p:nvSpPr>
          <p:cNvPr id="14" name="Shape 12"/>
          <p:cNvSpPr/>
          <p:nvPr/>
        </p:nvSpPr>
        <p:spPr>
          <a:xfrm>
            <a:off x="548640" y="3557016"/>
            <a:ext cx="11064240" cy="777240"/>
          </a:xfrm>
          <a:prstGeom prst="roundRect">
            <a:avLst>
              <a:gd name="adj" fmla="val 9412"/>
            </a:avLst>
          </a:prstGeom>
          <a:solidFill>
            <a:srgbClr val="F2F5F8"/>
          </a:solidFill>
          <a:ln w="12700">
            <a:solidFill>
              <a:srgbClr val="F2F5F8"/>
            </a:solidFill>
            <a:prstDash val="solid"/>
          </a:ln>
        </p:spPr>
      </p:sp>
      <p:sp>
        <p:nvSpPr>
          <p:cNvPr id="15" name="Text 13"/>
          <p:cNvSpPr txBox="1"/>
          <p:nvPr/>
        </p:nvSpPr>
        <p:spPr>
          <a:xfrm>
            <a:off x="731520" y="3557016"/>
            <a:ext cx="2103120" cy="77724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RESAS採用</a:t>
            </a:r>
            <a:endParaRPr lang="en-US" sz="1800" dirty="0"/>
          </a:p>
        </p:txBody>
      </p:sp>
      <p:sp>
        <p:nvSpPr>
          <p:cNvPr id="16" name="Text 14"/>
          <p:cNvSpPr txBox="1"/>
          <p:nvPr/>
        </p:nvSpPr>
        <p:spPr>
          <a:xfrm>
            <a:off x="2926080" y="3557016"/>
            <a:ext cx="2926080" cy="777240"/>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公的な分析にも活用</a:t>
            </a:r>
            <a:endParaRPr lang="en-US" sz="1500" dirty="0"/>
          </a:p>
        </p:txBody>
      </p:sp>
      <p:sp>
        <p:nvSpPr>
          <p:cNvPr id="17" name="Text 15"/>
          <p:cNvSpPr txBox="1"/>
          <p:nvPr/>
        </p:nvSpPr>
        <p:spPr>
          <a:xfrm>
            <a:off x="5852160" y="3557016"/>
            <a:ext cx="5623560" cy="77724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国の地域経済分析システム（RESAS）の滞在人口などに使われている</a:t>
            </a:r>
            <a:endParaRPr lang="en-US" sz="1250" dirty="0"/>
          </a:p>
        </p:txBody>
      </p:sp>
      <p:sp>
        <p:nvSpPr>
          <p:cNvPr id="18" name="Shape 16"/>
          <p:cNvSpPr/>
          <p:nvPr/>
        </p:nvSpPr>
        <p:spPr>
          <a:xfrm>
            <a:off x="548640" y="4443984"/>
            <a:ext cx="11064240" cy="777240"/>
          </a:xfrm>
          <a:prstGeom prst="roundRect">
            <a:avLst>
              <a:gd name="adj" fmla="val 9412"/>
            </a:avLst>
          </a:prstGeom>
          <a:solidFill>
            <a:srgbClr val="F2F5F8"/>
          </a:solidFill>
          <a:ln w="12700">
            <a:solidFill>
              <a:srgbClr val="F2F5F8"/>
            </a:solidFill>
            <a:prstDash val="solid"/>
          </a:ln>
        </p:spPr>
      </p:sp>
      <p:sp>
        <p:nvSpPr>
          <p:cNvPr id="19" name="Text 17"/>
          <p:cNvSpPr txBox="1"/>
          <p:nvPr/>
        </p:nvSpPr>
        <p:spPr>
          <a:xfrm>
            <a:off x="731520" y="4443984"/>
            <a:ext cx="2103120" cy="77724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2013年〜</a:t>
            </a:r>
            <a:endParaRPr lang="en-US" sz="1800" dirty="0"/>
          </a:p>
        </p:txBody>
      </p:sp>
      <p:sp>
        <p:nvSpPr>
          <p:cNvPr id="20" name="Text 18"/>
          <p:cNvSpPr txBox="1"/>
          <p:nvPr/>
        </p:nvSpPr>
        <p:spPr>
          <a:xfrm>
            <a:off x="2926080" y="4443984"/>
            <a:ext cx="2926080" cy="777240"/>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長期で比べられる</a:t>
            </a:r>
            <a:endParaRPr lang="en-US" sz="1500" dirty="0"/>
          </a:p>
        </p:txBody>
      </p:sp>
      <p:sp>
        <p:nvSpPr>
          <p:cNvPr id="21" name="Text 19"/>
          <p:cNvSpPr txBox="1"/>
          <p:nvPr/>
        </p:nvSpPr>
        <p:spPr>
          <a:xfrm>
            <a:off x="5852160" y="4443984"/>
            <a:ext cx="5623560" cy="77724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1時間ごと・24時間365日。前年比や季節の比較ができる</a:t>
            </a:r>
            <a:endParaRPr lang="en-US" sz="1250" dirty="0"/>
          </a:p>
        </p:txBody>
      </p:sp>
      <p:sp>
        <p:nvSpPr>
          <p:cNvPr id="22" name="Shape 20"/>
          <p:cNvSpPr/>
          <p:nvPr/>
        </p:nvSpPr>
        <p:spPr>
          <a:xfrm>
            <a:off x="548640" y="5330952"/>
            <a:ext cx="11064240" cy="777240"/>
          </a:xfrm>
          <a:prstGeom prst="roundRect">
            <a:avLst>
              <a:gd name="adj" fmla="val 9412"/>
            </a:avLst>
          </a:prstGeom>
          <a:solidFill>
            <a:srgbClr val="FBEAEE"/>
          </a:solidFill>
          <a:ln w="12700">
            <a:solidFill>
              <a:srgbClr val="FBEAEE"/>
            </a:solidFill>
            <a:prstDash val="solid"/>
          </a:ln>
        </p:spPr>
      </p:sp>
      <p:sp>
        <p:nvSpPr>
          <p:cNvPr id="23" name="Text 21"/>
          <p:cNvSpPr txBox="1"/>
          <p:nvPr/>
        </p:nvSpPr>
        <p:spPr>
          <a:xfrm>
            <a:off x="731520" y="5330952"/>
            <a:ext cx="2103120" cy="77724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3つを1つで</a:t>
            </a:r>
            <a:endParaRPr lang="en-US" sz="1800" dirty="0"/>
          </a:p>
        </p:txBody>
      </p:sp>
      <p:sp>
        <p:nvSpPr>
          <p:cNvPr id="24" name="Text 22"/>
          <p:cNvSpPr txBox="1"/>
          <p:nvPr/>
        </p:nvSpPr>
        <p:spPr>
          <a:xfrm>
            <a:off x="2926080" y="5330952"/>
            <a:ext cx="2926080" cy="777240"/>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人の動き→理由→告知</a:t>
            </a:r>
            <a:endParaRPr lang="en-US" sz="1500" dirty="0"/>
          </a:p>
        </p:txBody>
      </p:sp>
      <p:sp>
        <p:nvSpPr>
          <p:cNvPr id="25" name="Text 23"/>
          <p:cNvSpPr txBox="1"/>
          <p:nvPr/>
        </p:nvSpPr>
        <p:spPr>
          <a:xfrm>
            <a:off x="5852160" y="5330952"/>
            <a:ext cx="5623560" cy="77724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ドコモの会員基盤とデータで、調べてから届けるまでつなげられる</a:t>
            </a:r>
            <a:endParaRPr lang="en-US" sz="1250" dirty="0"/>
          </a:p>
        </p:txBody>
      </p:sp>
      <p:sp>
        <p:nvSpPr>
          <p:cNvPr id="26" name="Text 24"/>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出典：モバイル空間統計の公式情報・RESAS関連ページ・紹介記事</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報告書のイメージ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判断に使う数字を、グラフと読み取りでお渡しします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09</a:t>
            </a:r>
            <a:endParaRPr lang="en-US" sz="1000" dirty="0"/>
          </a:p>
        </p:txBody>
      </p:sp>
      <p:sp>
        <p:nvSpPr>
          <p:cNvPr id="6" name="Text 4"/>
          <p:cNvSpPr txBox="1"/>
          <p:nvPr/>
        </p:nvSpPr>
        <p:spPr>
          <a:xfrm>
            <a:off x="548640" y="1737360"/>
            <a:ext cx="4572000" cy="32004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時間帯別の周辺滞在人口（人）</a:t>
            </a:r>
            <a:endParaRPr lang="en-US" sz="1350" dirty="0"/>
          </a:p>
        </p:txBody>
      </p:sp>
      <p:sp>
        <p:nvSpPr>
          <p:cNvPr id="7" name="Text 5"/>
          <p:cNvSpPr txBox="1"/>
          <p:nvPr/>
        </p:nvSpPr>
        <p:spPr>
          <a:xfrm>
            <a:off x="4114800" y="1755648"/>
            <a:ext cx="1828800" cy="274320"/>
          </a:xfrm>
          <a:prstGeom prst="roundRect">
            <a:avLst>
              <a:gd name="adj" fmla="val 50000"/>
            </a:avLst>
          </a:prstGeom>
          <a:solidFill>
            <a:srgbClr val="FFFFFF"/>
          </a:solidFill>
          <a:ln>
            <a:solidFill>
              <a:srgbClr val="C9002B"/>
            </a:solidFill>
          </a:ln>
        </p:spPr>
        <p:txBody>
          <a:bodyPr wrap="square" lIns="0" tIns="0" rIns="0" bIns="0" rtlCol="0" anchor="ctr"/>
          <a:lstStyle/>
          <a:p>
            <a:pPr algn="ctr" indent="0" marL="0">
              <a:buNone/>
            </a:pPr>
            <a:r>
              <a:rPr lang="en-US" sz="1000" b="1" dirty="0">
                <a:solidFill>
                  <a:srgbClr val="C9002B"/>
                </a:solidFill>
                <a:latin typeface="Meiryo" pitchFamily="34" charset="0"/>
                <a:ea typeface="Meiryo" pitchFamily="34" charset="-122"/>
                <a:cs typeface="Meiryo" pitchFamily="34" charset="-120"/>
              </a:rPr>
              <a:t>イメージ（架空の数値）</a:t>
            </a:r>
            <a:endParaRPr lang="en-US" sz="1000" dirty="0"/>
          </a:p>
        </p:txBody>
      </p:sp>
      <p:graphicFrame>
        <p:nvGraphicFramePr>
          <p:cNvPr id="8" name="Chart 0" descr=""/>
          <p:cNvGraphicFramePr/>
          <p:nvPr/>
        </p:nvGraphicFramePr>
        <p:xfrm>
          <a:off x="548640" y="2103120"/>
          <a:ext cx="5486400" cy="30632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400800" y="1737360"/>
            <a:ext cx="5212080" cy="32004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来なかった理由（非参加者、%）</a:t>
            </a:r>
            <a:endParaRPr lang="en-US" sz="1350" dirty="0"/>
          </a:p>
        </p:txBody>
      </p:sp>
      <p:graphicFrame>
        <p:nvGraphicFramePr>
          <p:cNvPr id="10" name="Chart 1" descr=""/>
          <p:cNvGraphicFramePr/>
          <p:nvPr/>
        </p:nvGraphicFramePr>
        <p:xfrm>
          <a:off x="6400800" y="2103120"/>
          <a:ext cx="5212080" cy="3063240"/>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548640" y="5349240"/>
            <a:ext cx="11064240" cy="822960"/>
          </a:xfrm>
          <a:prstGeom prst="roundRect">
            <a:avLst>
              <a:gd name="adj" fmla="val 8889"/>
            </a:avLst>
          </a:prstGeom>
          <a:solidFill>
            <a:srgbClr val="FBEAEE"/>
          </a:solidFill>
          <a:ln w="12700">
            <a:solidFill>
              <a:srgbClr val="FBEAEE"/>
            </a:solidFill>
            <a:prstDash val="solid"/>
          </a:ln>
        </p:spPr>
      </p:sp>
      <p:sp>
        <p:nvSpPr>
          <p:cNvPr id="12" name="Text 8"/>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読み取り例　</a:t>
            </a:r>
            <a:pPr indent="0" marL="0">
              <a:buNone/>
            </a:pPr>
            <a:r>
              <a:rPr lang="en-US" sz="1300" dirty="0">
                <a:solidFill>
                  <a:srgbClr val="1B2B3D"/>
                </a:solidFill>
                <a:latin typeface="Meiryo" pitchFamily="34" charset="0"/>
                <a:ea typeface="Meiryo" pitchFamily="34" charset="-122"/>
                <a:cs typeface="Meiryo" pitchFamily="34" charset="-120"/>
              </a:rPr>
              <a:t>ピークは13〜15時で通常日の約3倍 → 運営体制を厚くする。「知らなかった」が最多 → 告知の量と地域を優先する。</a:t>
            </a:r>
            <a:endParaRPr lang="en-US" sz="1300" dirty="0"/>
          </a:p>
        </p:txBody>
      </p:sp>
      <p:sp>
        <p:nvSpPr>
          <p:cNvPr id="13" name="Text 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グラフはイメージです。実際の報告書では、来訪元・属性・広告の申込実績もあわせてお示しします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活用事例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同じサービスを活用した自治体・団体・スポーツの公開事例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10</a:t>
            </a:r>
            <a:endParaRPr lang="en-US" sz="1000" dirty="0"/>
          </a:p>
        </p:txBody>
      </p:sp>
      <p:sp>
        <p:nvSpPr>
          <p:cNvPr id="6" name="Shape 4"/>
          <p:cNvSpPr/>
          <p:nvPr/>
        </p:nvSpPr>
        <p:spPr>
          <a:xfrm>
            <a:off x="548640" y="1783080"/>
            <a:ext cx="3566160" cy="2103120"/>
          </a:xfrm>
          <a:prstGeom prst="roundRect">
            <a:avLst>
              <a:gd name="adj" fmla="val 3478"/>
            </a:avLst>
          </a:prstGeom>
          <a:solidFill>
            <a:srgbClr val="FFFFFF"/>
          </a:solidFill>
          <a:ln w="12700">
            <a:solidFill>
              <a:srgbClr val="D5DDE5"/>
            </a:solidFill>
            <a:prstDash val="solid"/>
          </a:ln>
        </p:spPr>
      </p:sp>
      <p:sp>
        <p:nvSpPr>
          <p:cNvPr id="7" name="Shape 5"/>
          <p:cNvSpPr/>
          <p:nvPr/>
        </p:nvSpPr>
        <p:spPr>
          <a:xfrm>
            <a:off x="731520" y="1965960"/>
            <a:ext cx="502920" cy="50292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857250" y="2091690"/>
            <a:ext cx="251460" cy="251460"/>
          </a:xfrm>
          <a:prstGeom prst="rect">
            <a:avLst/>
          </a:prstGeom>
        </p:spPr>
      </p:pic>
      <p:sp>
        <p:nvSpPr>
          <p:cNvPr id="9" name="Text 6"/>
          <p:cNvSpPr txBox="1"/>
          <p:nvPr/>
        </p:nvSpPr>
        <p:spPr>
          <a:xfrm>
            <a:off x="1371600" y="1911096"/>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香川県琴平町</a:t>
            </a:r>
            <a:endParaRPr lang="en-US" sz="1400" dirty="0"/>
          </a:p>
        </p:txBody>
      </p:sp>
      <p:sp>
        <p:nvSpPr>
          <p:cNvPr id="10" name="Text 7"/>
          <p:cNvSpPr txBox="1"/>
          <p:nvPr/>
        </p:nvSpPr>
        <p:spPr>
          <a:xfrm>
            <a:off x="137160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空間統計＋プレミアパネル</a:t>
            </a:r>
            <a:endParaRPr lang="en-US" sz="1050" dirty="0"/>
          </a:p>
        </p:txBody>
      </p:sp>
      <p:sp>
        <p:nvSpPr>
          <p:cNvPr id="11" name="Text 8"/>
          <p:cNvSpPr txBox="1"/>
          <p:nvPr/>
        </p:nvSpPr>
        <p:spPr>
          <a:xfrm>
            <a:off x="73152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手書きアンケートは50件程度で、推測に頼っていた</a:t>
            </a:r>
            <a:endParaRPr lang="en-US" sz="1100" dirty="0"/>
          </a:p>
        </p:txBody>
      </p:sp>
      <p:sp>
        <p:nvSpPr>
          <p:cNvPr id="12" name="Text 9"/>
          <p:cNvSpPr txBox="1"/>
          <p:nvPr/>
        </p:nvSpPr>
        <p:spPr>
          <a:xfrm>
            <a:off x="73152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来訪者の属性とニーズをデータでつかみ、観光戦略を立案</a:t>
            </a:r>
            <a:endParaRPr lang="en-US" sz="1100" dirty="0"/>
          </a:p>
        </p:txBody>
      </p:sp>
      <p:sp>
        <p:nvSpPr>
          <p:cNvPr id="13" name="Shape 10"/>
          <p:cNvSpPr/>
          <p:nvPr/>
        </p:nvSpPr>
        <p:spPr>
          <a:xfrm>
            <a:off x="4297680" y="1783080"/>
            <a:ext cx="3566160" cy="2103120"/>
          </a:xfrm>
          <a:prstGeom prst="roundRect">
            <a:avLst>
              <a:gd name="adj" fmla="val 3478"/>
            </a:avLst>
          </a:prstGeom>
          <a:solidFill>
            <a:srgbClr val="FFFFFF"/>
          </a:solidFill>
          <a:ln w="12700">
            <a:solidFill>
              <a:srgbClr val="D5DDE5"/>
            </a:solidFill>
            <a:prstDash val="solid"/>
          </a:ln>
        </p:spPr>
      </p:sp>
      <p:sp>
        <p:nvSpPr>
          <p:cNvPr id="14" name="Shape 11"/>
          <p:cNvSpPr/>
          <p:nvPr/>
        </p:nvSpPr>
        <p:spPr>
          <a:xfrm>
            <a:off x="4480560" y="1965960"/>
            <a:ext cx="502920" cy="502920"/>
          </a:xfrm>
          <a:prstGeom prst="ellipse">
            <a:avLst/>
          </a:prstGeom>
          <a:solidFill>
            <a:srgbClr val="13283C"/>
          </a:solidFill>
          <a:ln w="12700">
            <a:solidFill>
              <a:srgbClr val="13283C"/>
            </a:solidFill>
            <a:prstDash val="solid"/>
          </a:ln>
        </p:spPr>
      </p:sp>
      <p:pic>
        <p:nvPicPr>
          <p:cNvPr id="15" name="Image 1" descr="preencoded.png">    </p:cNvPr>
          <p:cNvPicPr>
            <a:picLocks noChangeAspect="1"/>
          </p:cNvPicPr>
          <p:nvPr/>
        </p:nvPicPr>
        <p:blipFill>
          <a:blip r:embed="rId2"/>
          <a:stretch>
            <a:fillRect/>
          </a:stretch>
        </p:blipFill>
        <p:spPr>
          <a:xfrm>
            <a:off x="4606290" y="2091690"/>
            <a:ext cx="251460" cy="251460"/>
          </a:xfrm>
          <a:prstGeom prst="rect">
            <a:avLst/>
          </a:prstGeom>
        </p:spPr>
      </p:pic>
      <p:sp>
        <p:nvSpPr>
          <p:cNvPr id="16" name="Text 12"/>
          <p:cNvSpPr txBox="1"/>
          <p:nvPr/>
        </p:nvSpPr>
        <p:spPr>
          <a:xfrm>
            <a:off x="5120640" y="1911096"/>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熊本県玉名市</a:t>
            </a:r>
            <a:endParaRPr lang="en-US" sz="1400" dirty="0"/>
          </a:p>
        </p:txBody>
      </p:sp>
      <p:sp>
        <p:nvSpPr>
          <p:cNvPr id="17" name="Text 13"/>
          <p:cNvSpPr txBox="1"/>
          <p:nvPr/>
        </p:nvSpPr>
        <p:spPr>
          <a:xfrm>
            <a:off x="512064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18" name="Text 14"/>
          <p:cNvSpPr txBox="1"/>
          <p:nvPr/>
        </p:nvSpPr>
        <p:spPr>
          <a:xfrm>
            <a:off x="448056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RESASでは県単位までしか見えず、国別の人数が不明</a:t>
            </a:r>
            <a:endParaRPr lang="en-US" sz="1100" dirty="0"/>
          </a:p>
        </p:txBody>
      </p:sp>
      <p:sp>
        <p:nvSpPr>
          <p:cNvPr id="19" name="Text 15"/>
          <p:cNvSpPr txBox="1"/>
          <p:nvPr/>
        </p:nvSpPr>
        <p:spPr>
          <a:xfrm>
            <a:off x="448056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重点国を決めて誘致し、温泉施設に泊まる外国人客が増加</a:t>
            </a:r>
            <a:endParaRPr lang="en-US" sz="1100" dirty="0"/>
          </a:p>
        </p:txBody>
      </p:sp>
      <p:sp>
        <p:nvSpPr>
          <p:cNvPr id="20" name="Shape 16"/>
          <p:cNvSpPr/>
          <p:nvPr/>
        </p:nvSpPr>
        <p:spPr>
          <a:xfrm>
            <a:off x="8046720" y="1783080"/>
            <a:ext cx="3566160" cy="2103120"/>
          </a:xfrm>
          <a:prstGeom prst="roundRect">
            <a:avLst>
              <a:gd name="adj" fmla="val 3478"/>
            </a:avLst>
          </a:prstGeom>
          <a:solidFill>
            <a:srgbClr val="FFFFFF"/>
          </a:solidFill>
          <a:ln w="12700">
            <a:solidFill>
              <a:srgbClr val="D5DDE5"/>
            </a:solidFill>
            <a:prstDash val="solid"/>
          </a:ln>
        </p:spPr>
      </p:sp>
      <p:sp>
        <p:nvSpPr>
          <p:cNvPr id="21" name="Shape 17"/>
          <p:cNvSpPr/>
          <p:nvPr/>
        </p:nvSpPr>
        <p:spPr>
          <a:xfrm>
            <a:off x="8229600" y="1965960"/>
            <a:ext cx="502920" cy="502920"/>
          </a:xfrm>
          <a:prstGeom prst="ellipse">
            <a:avLst/>
          </a:prstGeom>
          <a:solidFill>
            <a:srgbClr val="13283C"/>
          </a:solidFill>
          <a:ln w="12700">
            <a:solidFill>
              <a:srgbClr val="13283C"/>
            </a:solidFill>
            <a:prstDash val="solid"/>
          </a:ln>
        </p:spPr>
      </p:sp>
      <p:pic>
        <p:nvPicPr>
          <p:cNvPr id="22" name="Image 2" descr="preencoded.png">    </p:cNvPr>
          <p:cNvPicPr>
            <a:picLocks noChangeAspect="1"/>
          </p:cNvPicPr>
          <p:nvPr/>
        </p:nvPicPr>
        <p:blipFill>
          <a:blip r:embed="rId3"/>
          <a:stretch>
            <a:fillRect/>
          </a:stretch>
        </p:blipFill>
        <p:spPr>
          <a:xfrm>
            <a:off x="8355330" y="2091690"/>
            <a:ext cx="251460" cy="251460"/>
          </a:xfrm>
          <a:prstGeom prst="rect">
            <a:avLst/>
          </a:prstGeom>
        </p:spPr>
      </p:pic>
      <p:sp>
        <p:nvSpPr>
          <p:cNvPr id="23" name="Text 18"/>
          <p:cNvSpPr txBox="1"/>
          <p:nvPr/>
        </p:nvSpPr>
        <p:spPr>
          <a:xfrm>
            <a:off x="8869680" y="1911096"/>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滋賀県</a:t>
            </a:r>
            <a:endParaRPr lang="en-US" sz="1400" dirty="0"/>
          </a:p>
        </p:txBody>
      </p:sp>
      <p:sp>
        <p:nvSpPr>
          <p:cNvPr id="24" name="Text 19"/>
          <p:cNvSpPr txBox="1"/>
          <p:nvPr/>
        </p:nvSpPr>
        <p:spPr>
          <a:xfrm>
            <a:off x="886968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5" name="Text 20"/>
          <p:cNvSpPr txBox="1"/>
          <p:nvPr/>
        </p:nvSpPr>
        <p:spPr>
          <a:xfrm>
            <a:off x="822960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施策や外出自粛の呼びかけの根拠がなかった</a:t>
            </a:r>
            <a:endParaRPr lang="en-US" sz="1100" dirty="0"/>
          </a:p>
        </p:txBody>
      </p:sp>
      <p:sp>
        <p:nvSpPr>
          <p:cNvPr id="26" name="Text 21"/>
          <p:cNvSpPr txBox="1"/>
          <p:nvPr/>
        </p:nvSpPr>
        <p:spPr>
          <a:xfrm>
            <a:off x="822960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県内56拠点の混雑をヒートマップで公開</a:t>
            </a:r>
            <a:endParaRPr lang="en-US" sz="1100" dirty="0"/>
          </a:p>
        </p:txBody>
      </p:sp>
      <p:sp>
        <p:nvSpPr>
          <p:cNvPr id="27" name="Shape 22"/>
          <p:cNvSpPr/>
          <p:nvPr/>
        </p:nvSpPr>
        <p:spPr>
          <a:xfrm>
            <a:off x="548640" y="4023360"/>
            <a:ext cx="3566160" cy="2103120"/>
          </a:xfrm>
          <a:prstGeom prst="roundRect">
            <a:avLst>
              <a:gd name="adj" fmla="val 3478"/>
            </a:avLst>
          </a:prstGeom>
          <a:solidFill>
            <a:srgbClr val="FFFFFF"/>
          </a:solidFill>
          <a:ln w="12700">
            <a:solidFill>
              <a:srgbClr val="D5DDE5"/>
            </a:solidFill>
            <a:prstDash val="solid"/>
          </a:ln>
        </p:spPr>
      </p:sp>
      <p:sp>
        <p:nvSpPr>
          <p:cNvPr id="28" name="Shape 23"/>
          <p:cNvSpPr/>
          <p:nvPr/>
        </p:nvSpPr>
        <p:spPr>
          <a:xfrm>
            <a:off x="731520" y="4206240"/>
            <a:ext cx="502920" cy="502920"/>
          </a:xfrm>
          <a:prstGeom prst="ellipse">
            <a:avLst/>
          </a:prstGeom>
          <a:solidFill>
            <a:srgbClr val="13283C"/>
          </a:solidFill>
          <a:ln w="12700">
            <a:solidFill>
              <a:srgbClr val="13283C"/>
            </a:solidFill>
            <a:prstDash val="solid"/>
          </a:ln>
        </p:spPr>
      </p:sp>
      <p:pic>
        <p:nvPicPr>
          <p:cNvPr id="29" name="Image 3" descr="preencoded.png">    </p:cNvPr>
          <p:cNvPicPr>
            <a:picLocks noChangeAspect="1"/>
          </p:cNvPicPr>
          <p:nvPr/>
        </p:nvPicPr>
        <p:blipFill>
          <a:blip r:embed="rId4"/>
          <a:stretch>
            <a:fillRect/>
          </a:stretch>
        </p:blipFill>
        <p:spPr>
          <a:xfrm>
            <a:off x="857250" y="4331970"/>
            <a:ext cx="251460" cy="251460"/>
          </a:xfrm>
          <a:prstGeom prst="rect">
            <a:avLst/>
          </a:prstGeom>
        </p:spPr>
      </p:pic>
      <p:sp>
        <p:nvSpPr>
          <p:cNvPr id="30" name="Text 24"/>
          <p:cNvSpPr txBox="1"/>
          <p:nvPr/>
        </p:nvSpPr>
        <p:spPr>
          <a:xfrm>
            <a:off x="1371600" y="4151376"/>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富山県</a:t>
            </a:r>
            <a:endParaRPr lang="en-US" sz="1400" dirty="0"/>
          </a:p>
        </p:txBody>
      </p:sp>
      <p:sp>
        <p:nvSpPr>
          <p:cNvPr id="31" name="Text 25"/>
          <p:cNvSpPr txBox="1"/>
          <p:nvPr/>
        </p:nvSpPr>
        <p:spPr>
          <a:xfrm>
            <a:off x="137160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プレミアパネル</a:t>
            </a:r>
            <a:endParaRPr lang="en-US" sz="1050" dirty="0"/>
          </a:p>
        </p:txBody>
      </p:sp>
      <p:sp>
        <p:nvSpPr>
          <p:cNvPr id="32" name="Text 26"/>
          <p:cNvSpPr txBox="1"/>
          <p:nvPr/>
        </p:nvSpPr>
        <p:spPr>
          <a:xfrm>
            <a:off x="73152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限られた日程で県民・観光客のニーズを把握したい</a:t>
            </a:r>
            <a:endParaRPr lang="en-US" sz="1100" dirty="0"/>
          </a:p>
        </p:txBody>
      </p:sp>
      <p:sp>
        <p:nvSpPr>
          <p:cNvPr id="33" name="Text 27"/>
          <p:cNvSpPr txBox="1"/>
          <p:nvPr/>
        </p:nvSpPr>
        <p:spPr>
          <a:xfrm>
            <a:off x="73152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情報を出し分け、県公式LINEの登録者が約3倍</a:t>
            </a:r>
            <a:endParaRPr lang="en-US" sz="1100" dirty="0"/>
          </a:p>
        </p:txBody>
      </p:sp>
      <p:sp>
        <p:nvSpPr>
          <p:cNvPr id="34" name="Shape 28"/>
          <p:cNvSpPr/>
          <p:nvPr/>
        </p:nvSpPr>
        <p:spPr>
          <a:xfrm>
            <a:off x="4297680" y="4023360"/>
            <a:ext cx="3566160" cy="2103120"/>
          </a:xfrm>
          <a:prstGeom prst="roundRect">
            <a:avLst>
              <a:gd name="adj" fmla="val 3478"/>
            </a:avLst>
          </a:prstGeom>
          <a:solidFill>
            <a:srgbClr val="FFFFFF"/>
          </a:solidFill>
          <a:ln w="12700">
            <a:solidFill>
              <a:srgbClr val="D5DDE5"/>
            </a:solidFill>
            <a:prstDash val="solid"/>
          </a:ln>
        </p:spPr>
      </p:sp>
      <p:sp>
        <p:nvSpPr>
          <p:cNvPr id="35" name="Shape 29"/>
          <p:cNvSpPr/>
          <p:nvPr/>
        </p:nvSpPr>
        <p:spPr>
          <a:xfrm>
            <a:off x="4480560" y="4206240"/>
            <a:ext cx="502920" cy="502920"/>
          </a:xfrm>
          <a:prstGeom prst="ellipse">
            <a:avLst/>
          </a:prstGeom>
          <a:solidFill>
            <a:srgbClr val="13283C"/>
          </a:solidFill>
          <a:ln w="12700">
            <a:solidFill>
              <a:srgbClr val="13283C"/>
            </a:solidFill>
            <a:prstDash val="solid"/>
          </a:ln>
        </p:spPr>
      </p:sp>
      <p:pic>
        <p:nvPicPr>
          <p:cNvPr id="36" name="Image 4" descr="preencoded.png">    </p:cNvPr>
          <p:cNvPicPr>
            <a:picLocks noChangeAspect="1"/>
          </p:cNvPicPr>
          <p:nvPr/>
        </p:nvPicPr>
        <p:blipFill>
          <a:blip r:embed="rId5"/>
          <a:stretch>
            <a:fillRect/>
          </a:stretch>
        </p:blipFill>
        <p:spPr>
          <a:xfrm>
            <a:off x="4606290" y="4331970"/>
            <a:ext cx="251460" cy="251460"/>
          </a:xfrm>
          <a:prstGeom prst="rect">
            <a:avLst/>
          </a:prstGeom>
        </p:spPr>
      </p:pic>
      <p:sp>
        <p:nvSpPr>
          <p:cNvPr id="37" name="Text 30"/>
          <p:cNvSpPr txBox="1"/>
          <p:nvPr/>
        </p:nvSpPr>
        <p:spPr>
          <a:xfrm>
            <a:off x="5120640" y="4151376"/>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みやぎん経済研究所</a:t>
            </a:r>
            <a:endParaRPr lang="en-US" sz="1400" dirty="0"/>
          </a:p>
        </p:txBody>
      </p:sp>
      <p:sp>
        <p:nvSpPr>
          <p:cNvPr id="38" name="Text 31"/>
          <p:cNvSpPr txBox="1"/>
          <p:nvPr/>
        </p:nvSpPr>
        <p:spPr>
          <a:xfrm>
            <a:off x="512064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39" name="Text 32"/>
          <p:cNvSpPr txBox="1"/>
          <p:nvPr/>
        </p:nvSpPr>
        <p:spPr>
          <a:xfrm>
            <a:off x="448056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アリーナ興行の経済波及効果を示したい</a:t>
            </a:r>
            <a:endParaRPr lang="en-US" sz="1100" dirty="0"/>
          </a:p>
        </p:txBody>
      </p:sp>
      <p:sp>
        <p:nvSpPr>
          <p:cNvPr id="40" name="Text 33"/>
          <p:cNvSpPr txBox="1"/>
          <p:nvPr/>
        </p:nvSpPr>
        <p:spPr>
          <a:xfrm>
            <a:off x="448056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来場者の繁華街滞在・宿泊と消費額で効果を推計</a:t>
            </a:r>
            <a:endParaRPr lang="en-US" sz="1100" dirty="0"/>
          </a:p>
        </p:txBody>
      </p:sp>
      <p:sp>
        <p:nvSpPr>
          <p:cNvPr id="41" name="Shape 34"/>
          <p:cNvSpPr/>
          <p:nvPr/>
        </p:nvSpPr>
        <p:spPr>
          <a:xfrm>
            <a:off x="8046720" y="4023360"/>
            <a:ext cx="3566160" cy="2103120"/>
          </a:xfrm>
          <a:prstGeom prst="roundRect">
            <a:avLst>
              <a:gd name="adj" fmla="val 3478"/>
            </a:avLst>
          </a:prstGeom>
          <a:solidFill>
            <a:srgbClr val="FFFFFF"/>
          </a:solidFill>
          <a:ln w="12700">
            <a:solidFill>
              <a:srgbClr val="D5DDE5"/>
            </a:solidFill>
            <a:prstDash val="solid"/>
          </a:ln>
        </p:spPr>
      </p:sp>
      <p:sp>
        <p:nvSpPr>
          <p:cNvPr id="42" name="Shape 35"/>
          <p:cNvSpPr/>
          <p:nvPr/>
        </p:nvSpPr>
        <p:spPr>
          <a:xfrm>
            <a:off x="8229600" y="4206240"/>
            <a:ext cx="502920" cy="502920"/>
          </a:xfrm>
          <a:prstGeom prst="ellipse">
            <a:avLst/>
          </a:prstGeom>
          <a:solidFill>
            <a:srgbClr val="13283C"/>
          </a:solidFill>
          <a:ln w="12700">
            <a:solidFill>
              <a:srgbClr val="13283C"/>
            </a:solidFill>
            <a:prstDash val="solid"/>
          </a:ln>
        </p:spPr>
      </p:sp>
      <p:pic>
        <p:nvPicPr>
          <p:cNvPr id="43" name="Image 5" descr="preencoded.png">    </p:cNvPr>
          <p:cNvPicPr>
            <a:picLocks noChangeAspect="1"/>
          </p:cNvPicPr>
          <p:nvPr/>
        </p:nvPicPr>
        <p:blipFill>
          <a:blip r:embed="rId6"/>
          <a:stretch>
            <a:fillRect/>
          </a:stretch>
        </p:blipFill>
        <p:spPr>
          <a:xfrm>
            <a:off x="8355330" y="4331970"/>
            <a:ext cx="251460" cy="251460"/>
          </a:xfrm>
          <a:prstGeom prst="rect">
            <a:avLst/>
          </a:prstGeom>
        </p:spPr>
      </p:pic>
      <p:sp>
        <p:nvSpPr>
          <p:cNvPr id="44" name="Text 36"/>
          <p:cNvSpPr txBox="1"/>
          <p:nvPr/>
        </p:nvSpPr>
        <p:spPr>
          <a:xfrm>
            <a:off x="8869680" y="4151376"/>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川崎フロンターレ（実証）</a:t>
            </a:r>
            <a:endParaRPr lang="en-US" sz="1400" dirty="0"/>
          </a:p>
        </p:txBody>
      </p:sp>
      <p:sp>
        <p:nvSpPr>
          <p:cNvPr id="45" name="Text 37"/>
          <p:cNvSpPr txBox="1"/>
          <p:nvPr/>
        </p:nvSpPr>
        <p:spPr>
          <a:xfrm>
            <a:off x="886968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ドコモの位置・決済データ</a:t>
            </a:r>
            <a:endParaRPr lang="en-US" sz="1050" dirty="0"/>
          </a:p>
        </p:txBody>
      </p:sp>
      <p:sp>
        <p:nvSpPr>
          <p:cNvPr id="46" name="Text 38"/>
          <p:cNvSpPr txBox="1"/>
          <p:nvPr/>
        </p:nvSpPr>
        <p:spPr>
          <a:xfrm>
            <a:off x="822960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試合が地域経済に与える効果を示したい</a:t>
            </a:r>
            <a:endParaRPr lang="en-US" sz="1100" dirty="0"/>
          </a:p>
        </p:txBody>
      </p:sp>
      <p:sp>
        <p:nvSpPr>
          <p:cNvPr id="47" name="Text 39"/>
          <p:cNvSpPr txBox="1"/>
          <p:nvPr/>
        </p:nvSpPr>
        <p:spPr>
          <a:xfrm>
            <a:off x="822960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1試合あたりの経済効果を2,419万円と算出</a:t>
            </a:r>
            <a:endParaRPr lang="en-US" sz="1100" dirty="0"/>
          </a:p>
        </p:txBody>
      </p:sp>
      <p:sp>
        <p:nvSpPr>
          <p:cNvPr id="48" name="Text 4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NTTドコモビジネス・NTTドコモビジネスソリューションズ・インテージ等の公開事例の要約。当社の実績ではありません</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実施計画</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進め方：3つのステップ</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告知の反応、当日の人の動き、来なかった理由をそろえます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11</a:t>
            </a:r>
            <a:endParaRPr lang="en-US" sz="1000" dirty="0"/>
          </a:p>
        </p:txBody>
      </p:sp>
      <p:sp>
        <p:nvSpPr>
          <p:cNvPr id="6" name="Shape 4"/>
          <p:cNvSpPr/>
          <p:nvPr/>
        </p:nvSpPr>
        <p:spPr>
          <a:xfrm>
            <a:off x="548640" y="1783080"/>
            <a:ext cx="3383280" cy="2697480"/>
          </a:xfrm>
          <a:prstGeom prst="roundRect">
            <a:avLst>
              <a:gd name="adj" fmla="val 2712"/>
            </a:avLst>
          </a:prstGeom>
          <a:solidFill>
            <a:srgbClr val="F2F5F8"/>
          </a:solidFill>
          <a:ln w="12700">
            <a:solidFill>
              <a:srgbClr val="F2F5F8"/>
            </a:solidFill>
            <a:prstDash val="solid"/>
          </a:ln>
        </p:spPr>
      </p:sp>
      <p:sp>
        <p:nvSpPr>
          <p:cNvPr id="7" name="Shape 5"/>
          <p:cNvSpPr/>
          <p:nvPr/>
        </p:nvSpPr>
        <p:spPr>
          <a:xfrm>
            <a:off x="822960" y="1965960"/>
            <a:ext cx="640080" cy="640080"/>
          </a:xfrm>
          <a:prstGeom prst="ellipse">
            <a:avLst/>
          </a:prstGeom>
          <a:solidFill>
            <a:srgbClr val="C9002B"/>
          </a:solidFill>
          <a:ln w="12700">
            <a:solidFill>
              <a:srgbClr val="C9002B"/>
            </a:solidFill>
            <a:prstDash val="solid"/>
          </a:ln>
        </p:spPr>
      </p:sp>
      <p:sp>
        <p:nvSpPr>
          <p:cNvPr id="8" name="Text 6"/>
          <p:cNvSpPr txBox="1"/>
          <p:nvPr/>
        </p:nvSpPr>
        <p:spPr>
          <a:xfrm>
            <a:off x="822960" y="1965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pic>
        <p:nvPicPr>
          <p:cNvPr id="9" name="Image 0" descr="preencoded.png">    </p:cNvPr>
          <p:cNvPicPr>
            <a:picLocks noChangeAspect="1"/>
          </p:cNvPicPr>
          <p:nvPr/>
        </p:nvPicPr>
        <p:blipFill>
          <a:blip r:embed="rId1"/>
          <a:stretch>
            <a:fillRect/>
          </a:stretch>
        </p:blipFill>
        <p:spPr>
          <a:xfrm>
            <a:off x="3246120" y="2084832"/>
            <a:ext cx="411480" cy="411480"/>
          </a:xfrm>
          <a:prstGeom prst="rect">
            <a:avLst/>
          </a:prstGeom>
        </p:spPr>
      </p:pic>
      <p:sp>
        <p:nvSpPr>
          <p:cNvPr id="10" name="Text 7"/>
          <p:cNvSpPr txBox="1"/>
          <p:nvPr/>
        </p:nvSpPr>
        <p:spPr>
          <a:xfrm>
            <a:off x="822960" y="2743200"/>
            <a:ext cx="2926080" cy="411480"/>
          </a:xfrm>
          <a:prstGeom prst="rect">
            <a:avLst/>
          </a:prstGeom>
          <a:noFill/>
          <a:ln/>
        </p:spPr>
        <p:txBody>
          <a:bodyPr wrap="square" lIns="0" tIns="0" rIns="0" bIns="0" rtlCol="0" anchor="t"/>
          <a:lstStyle/>
          <a:p>
            <a:pPr indent="0" marL="0">
              <a:buNone/>
            </a:pPr>
            <a:r>
              <a:rPr lang="en-US" sz="1700" b="1" dirty="0">
                <a:solidFill>
                  <a:srgbClr val="13283C"/>
                </a:solidFill>
                <a:latin typeface="Meiryo" pitchFamily="34" charset="0"/>
                <a:ea typeface="Meiryo" pitchFamily="34" charset="-122"/>
                <a:cs typeface="Meiryo" pitchFamily="34" charset="-120"/>
              </a:rPr>
              <a:t>告知して、計測する</a:t>
            </a:r>
            <a:endParaRPr lang="en-US" sz="1700" dirty="0"/>
          </a:p>
        </p:txBody>
      </p:sp>
      <p:sp>
        <p:nvSpPr>
          <p:cNvPr id="11" name="Text 8"/>
          <p:cNvSpPr txBox="1"/>
          <p:nvPr/>
        </p:nvSpPr>
        <p:spPr>
          <a:xfrm>
            <a:off x="822960" y="3200400"/>
            <a:ext cx="219456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docomo Ad Network</a:t>
            </a:r>
            <a:endParaRPr lang="en-US" sz="1100" dirty="0"/>
          </a:p>
        </p:txBody>
      </p:sp>
      <p:sp>
        <p:nvSpPr>
          <p:cNvPr id="12" name="Text 9"/>
          <p:cNvSpPr txBox="1"/>
          <p:nvPr/>
        </p:nvSpPr>
        <p:spPr>
          <a:xfrm>
            <a:off x="822960" y="3639312"/>
            <a:ext cx="288036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イベントの2〜3週間前から対象層へ告知。申込・クリックを計測</a:t>
            </a:r>
            <a:endParaRPr lang="en-US" sz="1250" dirty="0"/>
          </a:p>
        </p:txBody>
      </p:sp>
      <p:pic>
        <p:nvPicPr>
          <p:cNvPr id="13" name="Image 1" descr="preencoded.png">    </p:cNvPr>
          <p:cNvPicPr>
            <a:picLocks noChangeAspect="1"/>
          </p:cNvPicPr>
          <p:nvPr/>
        </p:nvPicPr>
        <p:blipFill>
          <a:blip r:embed="rId2"/>
          <a:stretch>
            <a:fillRect/>
          </a:stretch>
        </p:blipFill>
        <p:spPr>
          <a:xfrm>
            <a:off x="4023360" y="2971800"/>
            <a:ext cx="274320" cy="274320"/>
          </a:xfrm>
          <a:prstGeom prst="rect">
            <a:avLst/>
          </a:prstGeom>
        </p:spPr>
      </p:pic>
      <p:sp>
        <p:nvSpPr>
          <p:cNvPr id="14" name="Shape 10"/>
          <p:cNvSpPr/>
          <p:nvPr/>
        </p:nvSpPr>
        <p:spPr>
          <a:xfrm>
            <a:off x="4389120" y="1783080"/>
            <a:ext cx="3383280" cy="2697480"/>
          </a:xfrm>
          <a:prstGeom prst="roundRect">
            <a:avLst>
              <a:gd name="adj" fmla="val 2712"/>
            </a:avLst>
          </a:prstGeom>
          <a:solidFill>
            <a:srgbClr val="F2F5F8"/>
          </a:solidFill>
          <a:ln w="12700">
            <a:solidFill>
              <a:srgbClr val="F2F5F8"/>
            </a:solidFill>
            <a:prstDash val="solid"/>
          </a:ln>
        </p:spPr>
      </p:sp>
      <p:sp>
        <p:nvSpPr>
          <p:cNvPr id="15" name="Shape 11"/>
          <p:cNvSpPr/>
          <p:nvPr/>
        </p:nvSpPr>
        <p:spPr>
          <a:xfrm>
            <a:off x="4663440" y="1965960"/>
            <a:ext cx="640080" cy="640080"/>
          </a:xfrm>
          <a:prstGeom prst="ellipse">
            <a:avLst/>
          </a:prstGeom>
          <a:solidFill>
            <a:srgbClr val="C9002B"/>
          </a:solidFill>
          <a:ln w="12700">
            <a:solidFill>
              <a:srgbClr val="C9002B"/>
            </a:solidFill>
            <a:prstDash val="solid"/>
          </a:ln>
        </p:spPr>
      </p:sp>
      <p:sp>
        <p:nvSpPr>
          <p:cNvPr id="16" name="Text 12"/>
          <p:cNvSpPr txBox="1"/>
          <p:nvPr/>
        </p:nvSpPr>
        <p:spPr>
          <a:xfrm>
            <a:off x="4663440" y="1965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pic>
        <p:nvPicPr>
          <p:cNvPr id="17" name="Image 2" descr="preencoded.png">    </p:cNvPr>
          <p:cNvPicPr>
            <a:picLocks noChangeAspect="1"/>
          </p:cNvPicPr>
          <p:nvPr/>
        </p:nvPicPr>
        <p:blipFill>
          <a:blip r:embed="rId3"/>
          <a:stretch>
            <a:fillRect/>
          </a:stretch>
        </p:blipFill>
        <p:spPr>
          <a:xfrm>
            <a:off x="7086600" y="2084832"/>
            <a:ext cx="411480" cy="411480"/>
          </a:xfrm>
          <a:prstGeom prst="rect">
            <a:avLst/>
          </a:prstGeom>
        </p:spPr>
      </p:pic>
      <p:sp>
        <p:nvSpPr>
          <p:cNvPr id="18" name="Text 13"/>
          <p:cNvSpPr txBox="1"/>
          <p:nvPr/>
        </p:nvSpPr>
        <p:spPr>
          <a:xfrm>
            <a:off x="4663440" y="2743200"/>
            <a:ext cx="2926080" cy="411480"/>
          </a:xfrm>
          <a:prstGeom prst="rect">
            <a:avLst/>
          </a:prstGeom>
          <a:noFill/>
          <a:ln/>
        </p:spPr>
        <p:txBody>
          <a:bodyPr wrap="square" lIns="0" tIns="0" rIns="0" bIns="0" rtlCol="0" anchor="t"/>
          <a:lstStyle/>
          <a:p>
            <a:pPr indent="0" marL="0">
              <a:buNone/>
            </a:pPr>
            <a:r>
              <a:rPr lang="en-US" sz="1700" b="1" dirty="0">
                <a:solidFill>
                  <a:srgbClr val="13283C"/>
                </a:solidFill>
                <a:latin typeface="Meiryo" pitchFamily="34" charset="0"/>
                <a:ea typeface="Meiryo" pitchFamily="34" charset="-122"/>
                <a:cs typeface="Meiryo" pitchFamily="34" charset="-120"/>
              </a:rPr>
              <a:t>当日の人の動きを捉える</a:t>
            </a:r>
            <a:endParaRPr lang="en-US" sz="1700" dirty="0"/>
          </a:p>
        </p:txBody>
      </p:sp>
      <p:sp>
        <p:nvSpPr>
          <p:cNvPr id="19" name="Text 14"/>
          <p:cNvSpPr txBox="1"/>
          <p:nvPr/>
        </p:nvSpPr>
        <p:spPr>
          <a:xfrm>
            <a:off x="4663440" y="3200400"/>
            <a:ext cx="219456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モバイル空間統計</a:t>
            </a:r>
            <a:endParaRPr lang="en-US" sz="1100" dirty="0"/>
          </a:p>
        </p:txBody>
      </p:sp>
      <p:sp>
        <p:nvSpPr>
          <p:cNvPr id="20" name="Text 15"/>
          <p:cNvSpPr txBox="1"/>
          <p:nvPr/>
        </p:nvSpPr>
        <p:spPr>
          <a:xfrm>
            <a:off x="4663440" y="3639312"/>
            <a:ext cx="288036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当日と通常日の周辺人口を比較。来訪元・時間帯・属性を分析</a:t>
            </a:r>
            <a:endParaRPr lang="en-US" sz="1250" dirty="0"/>
          </a:p>
        </p:txBody>
      </p:sp>
      <p:pic>
        <p:nvPicPr>
          <p:cNvPr id="21" name="Image 3" descr="preencoded.png">    </p:cNvPr>
          <p:cNvPicPr>
            <a:picLocks noChangeAspect="1"/>
          </p:cNvPicPr>
          <p:nvPr/>
        </p:nvPicPr>
        <p:blipFill>
          <a:blip r:embed="rId4"/>
          <a:stretch>
            <a:fillRect/>
          </a:stretch>
        </p:blipFill>
        <p:spPr>
          <a:xfrm>
            <a:off x="7863840" y="2971800"/>
            <a:ext cx="274320" cy="274320"/>
          </a:xfrm>
          <a:prstGeom prst="rect">
            <a:avLst/>
          </a:prstGeom>
        </p:spPr>
      </p:pic>
      <p:sp>
        <p:nvSpPr>
          <p:cNvPr id="22" name="Shape 16"/>
          <p:cNvSpPr/>
          <p:nvPr/>
        </p:nvSpPr>
        <p:spPr>
          <a:xfrm>
            <a:off x="8229600" y="1783080"/>
            <a:ext cx="3383280" cy="2697480"/>
          </a:xfrm>
          <a:prstGeom prst="roundRect">
            <a:avLst>
              <a:gd name="adj" fmla="val 2712"/>
            </a:avLst>
          </a:prstGeom>
          <a:solidFill>
            <a:srgbClr val="F2F5F8"/>
          </a:solidFill>
          <a:ln w="12700">
            <a:solidFill>
              <a:srgbClr val="F2F5F8"/>
            </a:solidFill>
            <a:prstDash val="solid"/>
          </a:ln>
        </p:spPr>
      </p:sp>
      <p:sp>
        <p:nvSpPr>
          <p:cNvPr id="23" name="Shape 17"/>
          <p:cNvSpPr/>
          <p:nvPr/>
        </p:nvSpPr>
        <p:spPr>
          <a:xfrm>
            <a:off x="8503920" y="1965960"/>
            <a:ext cx="640080" cy="640080"/>
          </a:xfrm>
          <a:prstGeom prst="ellipse">
            <a:avLst/>
          </a:prstGeom>
          <a:solidFill>
            <a:srgbClr val="C9002B"/>
          </a:solidFill>
          <a:ln w="12700">
            <a:solidFill>
              <a:srgbClr val="C9002B"/>
            </a:solidFill>
            <a:prstDash val="solid"/>
          </a:ln>
        </p:spPr>
      </p:sp>
      <p:sp>
        <p:nvSpPr>
          <p:cNvPr id="24" name="Text 18"/>
          <p:cNvSpPr txBox="1"/>
          <p:nvPr/>
        </p:nvSpPr>
        <p:spPr>
          <a:xfrm>
            <a:off x="8503920" y="19659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pic>
        <p:nvPicPr>
          <p:cNvPr id="25" name="Image 4" descr="preencoded.png">    </p:cNvPr>
          <p:cNvPicPr>
            <a:picLocks noChangeAspect="1"/>
          </p:cNvPicPr>
          <p:nvPr/>
        </p:nvPicPr>
        <p:blipFill>
          <a:blip r:embed="rId5"/>
          <a:stretch>
            <a:fillRect/>
          </a:stretch>
        </p:blipFill>
        <p:spPr>
          <a:xfrm>
            <a:off x="10927080" y="2084832"/>
            <a:ext cx="411480" cy="411480"/>
          </a:xfrm>
          <a:prstGeom prst="rect">
            <a:avLst/>
          </a:prstGeom>
        </p:spPr>
      </p:pic>
      <p:sp>
        <p:nvSpPr>
          <p:cNvPr id="26" name="Text 19"/>
          <p:cNvSpPr txBox="1"/>
          <p:nvPr/>
        </p:nvSpPr>
        <p:spPr>
          <a:xfrm>
            <a:off x="8503920" y="2743200"/>
            <a:ext cx="2926080" cy="411480"/>
          </a:xfrm>
          <a:prstGeom prst="rect">
            <a:avLst/>
          </a:prstGeom>
          <a:noFill/>
          <a:ln/>
        </p:spPr>
        <p:txBody>
          <a:bodyPr wrap="square" lIns="0" tIns="0" rIns="0" bIns="0" rtlCol="0" anchor="t"/>
          <a:lstStyle/>
          <a:p>
            <a:pPr indent="0" marL="0">
              <a:buNone/>
            </a:pPr>
            <a:r>
              <a:rPr lang="en-US" sz="1700" b="1" dirty="0">
                <a:solidFill>
                  <a:srgbClr val="13283C"/>
                </a:solidFill>
                <a:latin typeface="Meiryo" pitchFamily="34" charset="0"/>
                <a:ea typeface="Meiryo" pitchFamily="34" charset="-122"/>
                <a:cs typeface="Meiryo" pitchFamily="34" charset="-120"/>
              </a:rPr>
              <a:t>来なかった理由を聞く</a:t>
            </a:r>
            <a:endParaRPr lang="en-US" sz="1700" dirty="0"/>
          </a:p>
        </p:txBody>
      </p:sp>
      <p:sp>
        <p:nvSpPr>
          <p:cNvPr id="27" name="Text 20"/>
          <p:cNvSpPr txBox="1"/>
          <p:nvPr/>
        </p:nvSpPr>
        <p:spPr>
          <a:xfrm>
            <a:off x="8503920" y="3200400"/>
            <a:ext cx="219456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プレミアパネル</a:t>
            </a:r>
            <a:endParaRPr lang="en-US" sz="1100" dirty="0"/>
          </a:p>
        </p:txBody>
      </p:sp>
      <p:sp>
        <p:nvSpPr>
          <p:cNvPr id="28" name="Text 21"/>
          <p:cNvSpPr txBox="1"/>
          <p:nvPr/>
        </p:nvSpPr>
        <p:spPr>
          <a:xfrm>
            <a:off x="8503920" y="3639312"/>
            <a:ext cx="288036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近隣の非参加者を中心に、認知・理由・参加条件を調査</a:t>
            </a:r>
            <a:endParaRPr lang="en-US" sz="1250" dirty="0"/>
          </a:p>
        </p:txBody>
      </p:sp>
      <p:sp>
        <p:nvSpPr>
          <p:cNvPr id="29" name="Text 22"/>
          <p:cNvSpPr txBox="1"/>
          <p:nvPr/>
        </p:nvSpPr>
        <p:spPr>
          <a:xfrm>
            <a:off x="548640" y="466344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お客様に合わせたはじめ方</a:t>
            </a:r>
            <a:endParaRPr lang="en-US" sz="1300" dirty="0"/>
          </a:p>
        </p:txBody>
      </p:sp>
      <p:sp>
        <p:nvSpPr>
          <p:cNvPr id="30" name="Shape 23"/>
          <p:cNvSpPr/>
          <p:nvPr/>
        </p:nvSpPr>
        <p:spPr>
          <a:xfrm>
            <a:off x="548640" y="5029200"/>
            <a:ext cx="3566160" cy="1143000"/>
          </a:xfrm>
          <a:prstGeom prst="roundRect">
            <a:avLst>
              <a:gd name="adj" fmla="val 6400"/>
            </a:avLst>
          </a:prstGeom>
          <a:solidFill>
            <a:srgbClr val="F2F5F8"/>
          </a:solidFill>
          <a:ln w="12700">
            <a:solidFill>
              <a:srgbClr val="F2F5F8"/>
            </a:solidFill>
            <a:prstDash val="solid"/>
          </a:ln>
        </p:spPr>
      </p:sp>
      <p:sp>
        <p:nvSpPr>
          <p:cNvPr id="31" name="Shape 24"/>
          <p:cNvSpPr/>
          <p:nvPr/>
        </p:nvSpPr>
        <p:spPr>
          <a:xfrm>
            <a:off x="731520" y="5193792"/>
            <a:ext cx="457200" cy="457200"/>
          </a:xfrm>
          <a:prstGeom prst="ellipse">
            <a:avLst/>
          </a:prstGeom>
          <a:solidFill>
            <a:srgbClr val="13283C"/>
          </a:solidFill>
          <a:ln w="12700">
            <a:solidFill>
              <a:srgbClr val="13283C"/>
            </a:solidFill>
            <a:prstDash val="solid"/>
          </a:ln>
        </p:spPr>
      </p:sp>
      <p:pic>
        <p:nvPicPr>
          <p:cNvPr id="32" name="Image 5" descr="preencoded.png">    </p:cNvPr>
          <p:cNvPicPr>
            <a:picLocks noChangeAspect="1"/>
          </p:cNvPicPr>
          <p:nvPr/>
        </p:nvPicPr>
        <p:blipFill>
          <a:blip r:embed="rId6"/>
          <a:stretch>
            <a:fillRect/>
          </a:stretch>
        </p:blipFill>
        <p:spPr>
          <a:xfrm>
            <a:off x="845820" y="5308092"/>
            <a:ext cx="228600" cy="228600"/>
          </a:xfrm>
          <a:prstGeom prst="rect">
            <a:avLst/>
          </a:prstGeom>
        </p:spPr>
      </p:pic>
      <p:sp>
        <p:nvSpPr>
          <p:cNvPr id="33" name="Text 25"/>
          <p:cNvSpPr txBox="1"/>
          <p:nvPr/>
        </p:nvSpPr>
        <p:spPr>
          <a:xfrm>
            <a:off x="1325880" y="5120640"/>
            <a:ext cx="2651760" cy="365760"/>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自治体</a:t>
            </a:r>
            <a:endParaRPr lang="en-US" sz="1300" dirty="0"/>
          </a:p>
        </p:txBody>
      </p:sp>
      <p:sp>
        <p:nvSpPr>
          <p:cNvPr id="34" name="Text 26"/>
          <p:cNvSpPr txBox="1"/>
          <p:nvPr/>
        </p:nvSpPr>
        <p:spPr>
          <a:xfrm>
            <a:off x="1325880" y="5486400"/>
            <a:ext cx="2697480" cy="59436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人の動きの把握から → 理由の調査 → 次回の告知</a:t>
            </a:r>
            <a:endParaRPr lang="en-US" sz="1100" dirty="0"/>
          </a:p>
        </p:txBody>
      </p:sp>
      <p:sp>
        <p:nvSpPr>
          <p:cNvPr id="35" name="Shape 27"/>
          <p:cNvSpPr/>
          <p:nvPr/>
        </p:nvSpPr>
        <p:spPr>
          <a:xfrm>
            <a:off x="4297680" y="5029200"/>
            <a:ext cx="3566160" cy="1143000"/>
          </a:xfrm>
          <a:prstGeom prst="roundRect">
            <a:avLst>
              <a:gd name="adj" fmla="val 6400"/>
            </a:avLst>
          </a:prstGeom>
          <a:solidFill>
            <a:srgbClr val="F2F5F8"/>
          </a:solidFill>
          <a:ln w="12700">
            <a:solidFill>
              <a:srgbClr val="F2F5F8"/>
            </a:solidFill>
            <a:prstDash val="solid"/>
          </a:ln>
        </p:spPr>
      </p:sp>
      <p:sp>
        <p:nvSpPr>
          <p:cNvPr id="36" name="Shape 28"/>
          <p:cNvSpPr/>
          <p:nvPr/>
        </p:nvSpPr>
        <p:spPr>
          <a:xfrm>
            <a:off x="4480560" y="5193792"/>
            <a:ext cx="457200" cy="457200"/>
          </a:xfrm>
          <a:prstGeom prst="ellipse">
            <a:avLst/>
          </a:prstGeom>
          <a:solidFill>
            <a:srgbClr val="13283C"/>
          </a:solidFill>
          <a:ln w="12700">
            <a:solidFill>
              <a:srgbClr val="13283C"/>
            </a:solidFill>
            <a:prstDash val="solid"/>
          </a:ln>
        </p:spPr>
      </p:sp>
      <p:pic>
        <p:nvPicPr>
          <p:cNvPr id="37" name="Image 6" descr="preencoded.png">    </p:cNvPr>
          <p:cNvPicPr>
            <a:picLocks noChangeAspect="1"/>
          </p:cNvPicPr>
          <p:nvPr/>
        </p:nvPicPr>
        <p:blipFill>
          <a:blip r:embed="rId7"/>
          <a:stretch>
            <a:fillRect/>
          </a:stretch>
        </p:blipFill>
        <p:spPr>
          <a:xfrm>
            <a:off x="4594860" y="5308092"/>
            <a:ext cx="228600" cy="228600"/>
          </a:xfrm>
          <a:prstGeom prst="rect">
            <a:avLst/>
          </a:prstGeom>
        </p:spPr>
      </p:pic>
      <p:sp>
        <p:nvSpPr>
          <p:cNvPr id="38" name="Text 29"/>
          <p:cNvSpPr txBox="1"/>
          <p:nvPr/>
        </p:nvSpPr>
        <p:spPr>
          <a:xfrm>
            <a:off x="5074920" y="5120640"/>
            <a:ext cx="2651760" cy="365760"/>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大学</a:t>
            </a:r>
            <a:endParaRPr lang="en-US" sz="1300" dirty="0"/>
          </a:p>
        </p:txBody>
      </p:sp>
      <p:sp>
        <p:nvSpPr>
          <p:cNvPr id="39" name="Text 30"/>
          <p:cNvSpPr txBox="1"/>
          <p:nvPr/>
        </p:nvSpPr>
        <p:spPr>
          <a:xfrm>
            <a:off x="5074920" y="5486400"/>
            <a:ext cx="2697480" cy="59436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認知・参加の障壁の調査から → 対象を絞った広告</a:t>
            </a:r>
            <a:endParaRPr lang="en-US" sz="1100" dirty="0"/>
          </a:p>
        </p:txBody>
      </p:sp>
      <p:sp>
        <p:nvSpPr>
          <p:cNvPr id="40" name="Shape 31"/>
          <p:cNvSpPr/>
          <p:nvPr/>
        </p:nvSpPr>
        <p:spPr>
          <a:xfrm>
            <a:off x="8046720" y="5029200"/>
            <a:ext cx="3566160" cy="1143000"/>
          </a:xfrm>
          <a:prstGeom prst="roundRect">
            <a:avLst>
              <a:gd name="adj" fmla="val 6400"/>
            </a:avLst>
          </a:prstGeom>
          <a:solidFill>
            <a:srgbClr val="F2F5F8"/>
          </a:solidFill>
          <a:ln w="12700">
            <a:solidFill>
              <a:srgbClr val="F2F5F8"/>
            </a:solidFill>
            <a:prstDash val="solid"/>
          </a:ln>
        </p:spPr>
      </p:sp>
      <p:sp>
        <p:nvSpPr>
          <p:cNvPr id="41" name="Shape 32"/>
          <p:cNvSpPr/>
          <p:nvPr/>
        </p:nvSpPr>
        <p:spPr>
          <a:xfrm>
            <a:off x="8229600" y="5193792"/>
            <a:ext cx="457200" cy="457200"/>
          </a:xfrm>
          <a:prstGeom prst="ellipse">
            <a:avLst/>
          </a:prstGeom>
          <a:solidFill>
            <a:srgbClr val="13283C"/>
          </a:solidFill>
          <a:ln w="12700">
            <a:solidFill>
              <a:srgbClr val="13283C"/>
            </a:solidFill>
            <a:prstDash val="solid"/>
          </a:ln>
        </p:spPr>
      </p:sp>
      <p:pic>
        <p:nvPicPr>
          <p:cNvPr id="42" name="Image 7" descr="preencoded.png">    </p:cNvPr>
          <p:cNvPicPr>
            <a:picLocks noChangeAspect="1"/>
          </p:cNvPicPr>
          <p:nvPr/>
        </p:nvPicPr>
        <p:blipFill>
          <a:blip r:embed="rId8"/>
          <a:stretch>
            <a:fillRect/>
          </a:stretch>
        </p:blipFill>
        <p:spPr>
          <a:xfrm>
            <a:off x="8343900" y="5308092"/>
            <a:ext cx="228600" cy="228600"/>
          </a:xfrm>
          <a:prstGeom prst="rect">
            <a:avLst/>
          </a:prstGeom>
        </p:spPr>
      </p:pic>
      <p:sp>
        <p:nvSpPr>
          <p:cNvPr id="43" name="Text 33"/>
          <p:cNvSpPr txBox="1"/>
          <p:nvPr/>
        </p:nvSpPr>
        <p:spPr>
          <a:xfrm>
            <a:off x="8823960" y="5120640"/>
            <a:ext cx="2651760" cy="365760"/>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スポーツチーム</a:t>
            </a:r>
            <a:endParaRPr lang="en-US" sz="1300" dirty="0"/>
          </a:p>
        </p:txBody>
      </p:sp>
      <p:sp>
        <p:nvSpPr>
          <p:cNvPr id="44" name="Text 34"/>
          <p:cNvSpPr txBox="1"/>
          <p:nvPr/>
        </p:nvSpPr>
        <p:spPr>
          <a:xfrm>
            <a:off x="8823960" y="5486400"/>
            <a:ext cx="2697480" cy="59436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試合の告知・申込計測から → 未観戦理由と来訪圏</a:t>
            </a:r>
            <a:endParaRPr lang="en-US" sz="1100" dirty="0"/>
          </a:p>
        </p:txBody>
      </p:sp>
      <p:sp>
        <p:nvSpPr>
          <p:cNvPr id="45" name="Text 35"/>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3つの結果は別々に評価し、1つの報告書にまとめます。統計から個人を特定して広告を出すことはありません</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実施計画</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プランと費用</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まず1回のイベントで検証し、効果を見て規模をご判断ください</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12</a:t>
            </a:r>
            <a:endParaRPr lang="en-US" sz="1000" dirty="0"/>
          </a:p>
        </p:txBody>
      </p:sp>
      <p:sp>
        <p:nvSpPr>
          <p:cNvPr id="6" name="Shape 4"/>
          <p:cNvSpPr/>
          <p:nvPr/>
        </p:nvSpPr>
        <p:spPr>
          <a:xfrm>
            <a:off x="548640" y="1783080"/>
            <a:ext cx="3566160" cy="4023360"/>
          </a:xfrm>
          <a:prstGeom prst="roundRect">
            <a:avLst>
              <a:gd name="adj" fmla="val 2051"/>
            </a:avLst>
          </a:prstGeom>
          <a:solidFill>
            <a:srgbClr val="FFFFFF"/>
          </a:solidFill>
          <a:ln w="12700">
            <a:solidFill>
              <a:srgbClr val="C9002B"/>
            </a:solidFill>
            <a:prstDash val="solid"/>
          </a:ln>
        </p:spPr>
      </p:sp>
      <p:sp>
        <p:nvSpPr>
          <p:cNvPr id="7" name="Shape 5"/>
          <p:cNvSpPr/>
          <p:nvPr/>
        </p:nvSpPr>
        <p:spPr>
          <a:xfrm>
            <a:off x="548640" y="1783080"/>
            <a:ext cx="3566160" cy="914400"/>
          </a:xfrm>
          <a:prstGeom prst="roundRect">
            <a:avLst>
              <a:gd name="adj" fmla="val 8000"/>
            </a:avLst>
          </a:prstGeom>
          <a:solidFill>
            <a:srgbClr val="C9002B"/>
          </a:solidFill>
          <a:ln w="12700">
            <a:solidFill>
              <a:srgbClr val="C9002B"/>
            </a:solidFill>
            <a:prstDash val="solid"/>
          </a:ln>
        </p:spPr>
      </p:sp>
      <p:sp>
        <p:nvSpPr>
          <p:cNvPr id="8" name="Text 6"/>
          <p:cNvSpPr txBox="1"/>
          <p:nvPr/>
        </p:nvSpPr>
        <p:spPr>
          <a:xfrm>
            <a:off x="777240" y="1828800"/>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A　1回の検証</a:t>
            </a:r>
            <a:endParaRPr lang="en-US" sz="1700" dirty="0"/>
          </a:p>
        </p:txBody>
      </p:sp>
      <p:sp>
        <p:nvSpPr>
          <p:cNvPr id="9" name="Text 7"/>
          <p:cNvSpPr txBox="1"/>
          <p:nvPr/>
        </p:nvSpPr>
        <p:spPr>
          <a:xfrm>
            <a:off x="777240" y="2286000"/>
            <a:ext cx="3108960" cy="320040"/>
          </a:xfrm>
          <a:prstGeom prst="rect">
            <a:avLst/>
          </a:prstGeom>
          <a:noFill/>
          <a:ln/>
        </p:spPr>
        <p:txBody>
          <a:bodyPr wrap="square" lIns="0" tIns="0" rIns="0" bIns="0" rtlCol="0" anchor="t"/>
          <a:lstStyle/>
          <a:p>
            <a:pPr indent="0" marL="0">
              <a:buNone/>
            </a:pPr>
            <a:r>
              <a:rPr lang="en-US" sz="1150" dirty="0">
                <a:solidFill>
                  <a:srgbClr val="FFFFFF"/>
                </a:solidFill>
                <a:latin typeface="Meiryo" pitchFamily="34" charset="0"/>
                <a:ea typeface="Meiryo" pitchFamily="34" charset="-122"/>
                <a:cs typeface="Meiryo" pitchFamily="34" charset="-120"/>
              </a:rPr>
              <a:t>イベント1回</a:t>
            </a:r>
            <a:endParaRPr lang="en-US" sz="1150" dirty="0"/>
          </a:p>
        </p:txBody>
      </p:sp>
      <p:sp>
        <p:nvSpPr>
          <p:cNvPr id="10" name="Text 8"/>
          <p:cNvSpPr txBox="1"/>
          <p:nvPr/>
        </p:nvSpPr>
        <p:spPr>
          <a:xfrm>
            <a:off x="2971800" y="1901952"/>
            <a:ext cx="960120" cy="292608"/>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050" b="1" dirty="0">
                <a:solidFill>
                  <a:srgbClr val="C9002B"/>
                </a:solidFill>
                <a:latin typeface="Meiryo" pitchFamily="34" charset="0"/>
                <a:ea typeface="Meiryo" pitchFamily="34" charset="-122"/>
                <a:cs typeface="Meiryo" pitchFamily="34" charset="-120"/>
              </a:rPr>
              <a:t>おすすめ</a:t>
            </a:r>
            <a:endParaRPr lang="en-US" sz="1050" dirty="0"/>
          </a:p>
        </p:txBody>
      </p:sp>
      <p:sp>
        <p:nvSpPr>
          <p:cNvPr id="11" name="Text 9"/>
          <p:cNvSpPr txBox="1"/>
          <p:nvPr/>
        </p:nvSpPr>
        <p:spPr>
          <a:xfrm>
            <a:off x="777240" y="2880360"/>
            <a:ext cx="3154680"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人流：当日＋比較日のスポット分析</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調査：非参加者アンケート1回</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広告：任意（予算に応じて）</a:t>
            </a:r>
            <a:endParaRPr lang="en-US" sz="1250" dirty="0"/>
          </a:p>
        </p:txBody>
      </p:sp>
      <p:sp>
        <p:nvSpPr>
          <p:cNvPr id="12" name="Shape 10"/>
          <p:cNvSpPr/>
          <p:nvPr/>
        </p:nvSpPr>
        <p:spPr>
          <a:xfrm>
            <a:off x="777240" y="4297680"/>
            <a:ext cx="3108960" cy="0"/>
          </a:xfrm>
          <a:prstGeom prst="line">
            <a:avLst/>
          </a:prstGeom>
          <a:noFill/>
          <a:ln w="12700">
            <a:solidFill>
              <a:srgbClr val="D5DDE5"/>
            </a:solidFill>
            <a:prstDash val="solid"/>
          </a:ln>
        </p:spPr>
      </p:sp>
      <p:sp>
        <p:nvSpPr>
          <p:cNvPr id="13" name="Text 11"/>
          <p:cNvSpPr txBox="1"/>
          <p:nvPr/>
        </p:nvSpPr>
        <p:spPr>
          <a:xfrm>
            <a:off x="777240" y="4389120"/>
            <a:ext cx="3108960" cy="548640"/>
          </a:xfrm>
          <a:prstGeom prst="rect">
            <a:avLst/>
          </a:prstGeom>
          <a:noFill/>
          <a:ln/>
        </p:spPr>
        <p:txBody>
          <a:bodyPr wrap="square" lIns="0" tIns="0" rIns="0" bIns="0" rtlCol="0" anchor="ctr"/>
          <a:lstStyle/>
          <a:p>
            <a:pPr indent="0" marL="0">
              <a:buNone/>
            </a:pPr>
            <a:r>
              <a:rPr lang="en-US" sz="2200" b="1" dirty="0">
                <a:solidFill>
                  <a:srgbClr val="C9002B"/>
                </a:solidFill>
                <a:latin typeface="Meiryo" pitchFamily="34" charset="0"/>
                <a:ea typeface="Meiryo" pitchFamily="34" charset="-122"/>
                <a:cs typeface="Meiryo" pitchFamily="34" charset="-120"/>
              </a:rPr>
              <a:t>〔お見積額〕</a:t>
            </a:r>
            <a:endParaRPr lang="en-US" sz="2200" dirty="0"/>
          </a:p>
        </p:txBody>
      </p:sp>
      <p:sp>
        <p:nvSpPr>
          <p:cNvPr id="14" name="Text 12"/>
          <p:cNvSpPr txBox="1"/>
          <p:nvPr/>
        </p:nvSpPr>
        <p:spPr>
          <a:xfrm>
            <a:off x="777240" y="4983480"/>
            <a:ext cx="3108960" cy="64008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調査基本料 27.5万円〜（税込）を含む</a:t>
            </a:r>
            <a:endParaRPr lang="en-US" sz="1100" dirty="0"/>
          </a:p>
        </p:txBody>
      </p:sp>
      <p:sp>
        <p:nvSpPr>
          <p:cNvPr id="15" name="Shape 13"/>
          <p:cNvSpPr/>
          <p:nvPr/>
        </p:nvSpPr>
        <p:spPr>
          <a:xfrm>
            <a:off x="4297680" y="1783080"/>
            <a:ext cx="3566160" cy="4023360"/>
          </a:xfrm>
          <a:prstGeom prst="roundRect">
            <a:avLst>
              <a:gd name="adj" fmla="val 2051"/>
            </a:avLst>
          </a:prstGeom>
          <a:solidFill>
            <a:srgbClr val="F2F5F8"/>
          </a:solidFill>
          <a:ln w="12700">
            <a:solidFill>
              <a:srgbClr val="F2F5F8"/>
            </a:solidFill>
            <a:prstDash val="solid"/>
          </a:ln>
        </p:spPr>
      </p:sp>
      <p:sp>
        <p:nvSpPr>
          <p:cNvPr id="16" name="Shape 14"/>
          <p:cNvSpPr/>
          <p:nvPr/>
        </p:nvSpPr>
        <p:spPr>
          <a:xfrm>
            <a:off x="4297680" y="1783080"/>
            <a:ext cx="3566160" cy="914400"/>
          </a:xfrm>
          <a:prstGeom prst="roundRect">
            <a:avLst>
              <a:gd name="adj" fmla="val 8000"/>
            </a:avLst>
          </a:prstGeom>
          <a:solidFill>
            <a:srgbClr val="13283C"/>
          </a:solidFill>
          <a:ln w="12700">
            <a:solidFill>
              <a:srgbClr val="13283C"/>
            </a:solidFill>
            <a:prstDash val="solid"/>
          </a:ln>
        </p:spPr>
      </p:sp>
      <p:sp>
        <p:nvSpPr>
          <p:cNvPr id="17" name="Text 15"/>
          <p:cNvSpPr txBox="1"/>
          <p:nvPr/>
        </p:nvSpPr>
        <p:spPr>
          <a:xfrm>
            <a:off x="4526280" y="1828800"/>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B　3ヶ月の改善検証</a:t>
            </a:r>
            <a:endParaRPr lang="en-US" sz="1700" dirty="0"/>
          </a:p>
        </p:txBody>
      </p:sp>
      <p:sp>
        <p:nvSpPr>
          <p:cNvPr id="18" name="Text 16"/>
          <p:cNvSpPr txBox="1"/>
          <p:nvPr/>
        </p:nvSpPr>
        <p:spPr>
          <a:xfrm>
            <a:off x="452628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イベント前後を含む3ヶ月</a:t>
            </a:r>
            <a:endParaRPr lang="en-US" sz="1150" dirty="0"/>
          </a:p>
        </p:txBody>
      </p:sp>
      <p:sp>
        <p:nvSpPr>
          <p:cNvPr id="19" name="Text 17"/>
          <p:cNvSpPr txBox="1"/>
          <p:nvPr/>
        </p:nvSpPr>
        <p:spPr>
          <a:xfrm>
            <a:off x="4526280" y="2880360"/>
            <a:ext cx="3154680"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人流：基準時点と施策後を比較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調査：事前・事後の2回</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広告：対象・訴求を見直して配信</a:t>
            </a:r>
            <a:endParaRPr lang="en-US" sz="1250" dirty="0"/>
          </a:p>
        </p:txBody>
      </p:sp>
      <p:sp>
        <p:nvSpPr>
          <p:cNvPr id="20" name="Shape 18"/>
          <p:cNvSpPr/>
          <p:nvPr/>
        </p:nvSpPr>
        <p:spPr>
          <a:xfrm>
            <a:off x="4526280" y="4297680"/>
            <a:ext cx="3108960" cy="0"/>
          </a:xfrm>
          <a:prstGeom prst="line">
            <a:avLst/>
          </a:prstGeom>
          <a:noFill/>
          <a:ln w="12700">
            <a:solidFill>
              <a:srgbClr val="D5DDE5"/>
            </a:solidFill>
            <a:prstDash val="solid"/>
          </a:ln>
        </p:spPr>
      </p:sp>
      <p:sp>
        <p:nvSpPr>
          <p:cNvPr id="21" name="Text 19"/>
          <p:cNvSpPr txBox="1"/>
          <p:nvPr/>
        </p:nvSpPr>
        <p:spPr>
          <a:xfrm>
            <a:off x="4526280" y="4389120"/>
            <a:ext cx="3108960" cy="548640"/>
          </a:xfrm>
          <a:prstGeom prst="rect">
            <a:avLst/>
          </a:prstGeom>
          <a:noFill/>
          <a:ln/>
        </p:spPr>
        <p:txBody>
          <a:bodyPr wrap="square" lIns="0" tIns="0" rIns="0" bIns="0" rtlCol="0" anchor="ctr"/>
          <a:lstStyle/>
          <a:p>
            <a:pPr indent="0" marL="0">
              <a:buNone/>
            </a:pPr>
            <a:r>
              <a:rPr lang="en-US" sz="2200" b="1" dirty="0">
                <a:solidFill>
                  <a:srgbClr val="C9002B"/>
                </a:solidFill>
                <a:latin typeface="Meiryo" pitchFamily="34" charset="0"/>
                <a:ea typeface="Meiryo" pitchFamily="34" charset="-122"/>
                <a:cs typeface="Meiryo" pitchFamily="34" charset="-120"/>
              </a:rPr>
              <a:t>〔お見積額〕</a:t>
            </a:r>
            <a:endParaRPr lang="en-US" sz="2200" dirty="0"/>
          </a:p>
        </p:txBody>
      </p:sp>
      <p:sp>
        <p:nvSpPr>
          <p:cNvPr id="22" name="Text 20"/>
          <p:cNvSpPr txBox="1"/>
          <p:nvPr/>
        </p:nvSpPr>
        <p:spPr>
          <a:xfrm>
            <a:off x="4526280" y="4983480"/>
            <a:ext cx="3108960" cy="64008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調査基本料 55万円〜（税込）を含む</a:t>
            </a:r>
            <a:endParaRPr lang="en-US" sz="1100" dirty="0"/>
          </a:p>
        </p:txBody>
      </p:sp>
      <p:sp>
        <p:nvSpPr>
          <p:cNvPr id="23" name="Shape 21"/>
          <p:cNvSpPr/>
          <p:nvPr/>
        </p:nvSpPr>
        <p:spPr>
          <a:xfrm>
            <a:off x="8046720" y="1783080"/>
            <a:ext cx="3566160" cy="4023360"/>
          </a:xfrm>
          <a:prstGeom prst="roundRect">
            <a:avLst>
              <a:gd name="adj" fmla="val 2051"/>
            </a:avLst>
          </a:prstGeom>
          <a:solidFill>
            <a:srgbClr val="F2F5F8"/>
          </a:solidFill>
          <a:ln w="12700">
            <a:solidFill>
              <a:srgbClr val="F2F5F8"/>
            </a:solidFill>
            <a:prstDash val="solid"/>
          </a:ln>
        </p:spPr>
      </p:sp>
      <p:sp>
        <p:nvSpPr>
          <p:cNvPr id="24" name="Shape 22"/>
          <p:cNvSpPr/>
          <p:nvPr/>
        </p:nvSpPr>
        <p:spPr>
          <a:xfrm>
            <a:off x="8046720" y="1783080"/>
            <a:ext cx="3566160" cy="914400"/>
          </a:xfrm>
          <a:prstGeom prst="roundRect">
            <a:avLst>
              <a:gd name="adj" fmla="val 8000"/>
            </a:avLst>
          </a:prstGeom>
          <a:solidFill>
            <a:srgbClr val="13283C"/>
          </a:solidFill>
          <a:ln w="12700">
            <a:solidFill>
              <a:srgbClr val="13283C"/>
            </a:solidFill>
            <a:prstDash val="solid"/>
          </a:ln>
        </p:spPr>
      </p:sp>
      <p:sp>
        <p:nvSpPr>
          <p:cNvPr id="25" name="Text 23"/>
          <p:cNvSpPr txBox="1"/>
          <p:nvPr/>
        </p:nvSpPr>
        <p:spPr>
          <a:xfrm>
            <a:off x="8275320" y="1828800"/>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C　年間運用</a:t>
            </a:r>
            <a:endParaRPr lang="en-US" sz="1700" dirty="0"/>
          </a:p>
        </p:txBody>
      </p:sp>
      <p:sp>
        <p:nvSpPr>
          <p:cNvPr id="26" name="Text 24"/>
          <p:cNvSpPr txBox="1"/>
          <p:nvPr/>
        </p:nvSpPr>
        <p:spPr>
          <a:xfrm>
            <a:off x="827532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4月〜翌3月</a:t>
            </a:r>
            <a:endParaRPr lang="en-US" sz="1150" dirty="0"/>
          </a:p>
        </p:txBody>
      </p:sp>
      <p:sp>
        <p:nvSpPr>
          <p:cNvPr id="27" name="Text 25"/>
          <p:cNvSpPr txBox="1"/>
          <p:nvPr/>
        </p:nvSpPr>
        <p:spPr>
          <a:xfrm>
            <a:off x="8275320" y="2880360"/>
            <a:ext cx="3154680"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人流：主要イベントの定点観測</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調査：四半期ごとに4回</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広告：年間計画に沿って配分</a:t>
            </a:r>
            <a:endParaRPr lang="en-US" sz="1250" dirty="0"/>
          </a:p>
        </p:txBody>
      </p:sp>
      <p:sp>
        <p:nvSpPr>
          <p:cNvPr id="28" name="Shape 26"/>
          <p:cNvSpPr/>
          <p:nvPr/>
        </p:nvSpPr>
        <p:spPr>
          <a:xfrm>
            <a:off x="8275320" y="4297680"/>
            <a:ext cx="3108960" cy="0"/>
          </a:xfrm>
          <a:prstGeom prst="line">
            <a:avLst/>
          </a:prstGeom>
          <a:noFill/>
          <a:ln w="12700">
            <a:solidFill>
              <a:srgbClr val="D5DDE5"/>
            </a:solidFill>
            <a:prstDash val="solid"/>
          </a:ln>
        </p:spPr>
      </p:sp>
      <p:sp>
        <p:nvSpPr>
          <p:cNvPr id="29" name="Text 27"/>
          <p:cNvSpPr txBox="1"/>
          <p:nvPr/>
        </p:nvSpPr>
        <p:spPr>
          <a:xfrm>
            <a:off x="8275320" y="4389120"/>
            <a:ext cx="3108960" cy="548640"/>
          </a:xfrm>
          <a:prstGeom prst="rect">
            <a:avLst/>
          </a:prstGeom>
          <a:noFill/>
          <a:ln/>
        </p:spPr>
        <p:txBody>
          <a:bodyPr wrap="square" lIns="0" tIns="0" rIns="0" bIns="0" rtlCol="0" anchor="ctr"/>
          <a:lstStyle/>
          <a:p>
            <a:pPr indent="0" marL="0">
              <a:buNone/>
            </a:pPr>
            <a:r>
              <a:rPr lang="en-US" sz="2200" b="1" dirty="0">
                <a:solidFill>
                  <a:srgbClr val="C9002B"/>
                </a:solidFill>
                <a:latin typeface="Meiryo" pitchFamily="34" charset="0"/>
                <a:ea typeface="Meiryo" pitchFamily="34" charset="-122"/>
                <a:cs typeface="Meiryo" pitchFamily="34" charset="-120"/>
              </a:rPr>
              <a:t>〔お見積額〕</a:t>
            </a:r>
            <a:endParaRPr lang="en-US" sz="2200" dirty="0"/>
          </a:p>
        </p:txBody>
      </p:sp>
      <p:sp>
        <p:nvSpPr>
          <p:cNvPr id="30" name="Text 28"/>
          <p:cNvSpPr txBox="1"/>
          <p:nvPr/>
        </p:nvSpPr>
        <p:spPr>
          <a:xfrm>
            <a:off x="8275320" y="4983480"/>
            <a:ext cx="3108960" cy="64008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調査基本料 110万円〜（税込）を含む</a:t>
            </a:r>
            <a:endParaRPr lang="en-US" sz="1100" dirty="0"/>
          </a:p>
        </p:txBody>
      </p:sp>
      <p:sp>
        <p:nvSpPr>
          <p:cNvPr id="31" name="Text 29"/>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150" b="1" dirty="0">
                <a:solidFill>
                  <a:srgbClr val="C9002B"/>
                </a:solidFill>
                <a:latin typeface="Meiryo" pitchFamily="34" charset="0"/>
                <a:ea typeface="Meiryo" pitchFamily="34" charset="-122"/>
                <a:cs typeface="Meiryo" pitchFamily="34" charset="-120"/>
              </a:rPr>
              <a:t>公開料金の例　</a:t>
            </a:r>
            <a:pPr indent="0" marL="0">
              <a:buNone/>
            </a:pPr>
            <a:r>
              <a:rPr lang="en-US" sz="1150" dirty="0">
                <a:solidFill>
                  <a:srgbClr val="1B2B3D"/>
                </a:solidFill>
                <a:latin typeface="Meiryo" pitchFamily="34" charset="0"/>
                <a:ea typeface="Meiryo" pitchFamily="34" charset="-122"/>
                <a:cs typeface="Meiryo" pitchFamily="34" charset="-120"/>
              </a:rPr>
              <a:t>人口マップ 月額9万円〜／プレミアパネル（リサーチ）最低27.5万円/回（税込）／広告は最低出稿額の公開なし（個別見積）</a:t>
            </a:r>
            <a:endParaRPr lang="en-US" sz="1150" dirty="0"/>
          </a:p>
        </p:txBody>
      </p:sp>
      <p:sp>
        <p:nvSpPr>
          <p:cNvPr id="32" name="Text 3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期間別プランは本資料の提案モデルで、公式のセット商品ではありません。金額は税区分をそろえて正式見積でお示しします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実施計画</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スケジュールと事前準備</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開始希望日から逆算して、提供元と日程を確定します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13</a:t>
            </a:r>
            <a:endParaRPr lang="en-US" sz="1000" dirty="0"/>
          </a:p>
        </p:txBody>
      </p:sp>
      <p:sp>
        <p:nvSpPr>
          <p:cNvPr id="6" name="Shape 4"/>
          <p:cNvSpPr/>
          <p:nvPr/>
        </p:nvSpPr>
        <p:spPr>
          <a:xfrm>
            <a:off x="1097280" y="2057400"/>
            <a:ext cx="9966960" cy="0"/>
          </a:xfrm>
          <a:prstGeom prst="line">
            <a:avLst/>
          </a:prstGeom>
          <a:noFill/>
          <a:ln w="38100">
            <a:solidFill>
              <a:srgbClr val="D5DDE5"/>
            </a:solidFill>
            <a:prstDash val="solid"/>
          </a:ln>
        </p:spPr>
      </p:sp>
      <p:sp>
        <p:nvSpPr>
          <p:cNvPr id="7" name="Shape 5"/>
          <p:cNvSpPr/>
          <p:nvPr/>
        </p:nvSpPr>
        <p:spPr>
          <a:xfrm>
            <a:off x="969264" y="1929384"/>
            <a:ext cx="256032" cy="256032"/>
          </a:xfrm>
          <a:prstGeom prst="ellipse">
            <a:avLst/>
          </a:prstGeom>
          <a:solidFill>
            <a:srgbClr val="13283C"/>
          </a:solidFill>
          <a:ln w="25400">
            <a:solidFill>
              <a:srgbClr val="FFFFFF"/>
            </a:solidFill>
            <a:prstDash val="solid"/>
          </a:ln>
        </p:spPr>
      </p:sp>
      <p:sp>
        <p:nvSpPr>
          <p:cNvPr id="8" name="Text 6"/>
          <p:cNvSpPr txBox="1"/>
          <p:nvPr/>
        </p:nvSpPr>
        <p:spPr>
          <a:xfrm>
            <a:off x="914400" y="2286000"/>
            <a:ext cx="2560320" cy="274320"/>
          </a:xfrm>
          <a:prstGeom prst="rect">
            <a:avLst/>
          </a:prstGeom>
          <a:noFill/>
          <a:ln/>
        </p:spPr>
        <p:txBody>
          <a:bodyPr wrap="square" lIns="0" tIns="0" rIns="0" bIns="0" rtlCol="0" anchor="t"/>
          <a:lstStyle/>
          <a:p>
            <a:pPr algn="l" indent="0" marL="0">
              <a:buNone/>
            </a:pPr>
            <a:r>
              <a:rPr lang="en-US" sz="1300" b="1" dirty="0">
                <a:solidFill>
                  <a:srgbClr val="13283C"/>
                </a:solidFill>
                <a:latin typeface="Meiryo" pitchFamily="34" charset="0"/>
                <a:ea typeface="Meiryo" pitchFamily="34" charset="-122"/>
                <a:cs typeface="Meiryo" pitchFamily="34" charset="-120"/>
              </a:rPr>
              <a:t>ご相談</a:t>
            </a:r>
            <a:endParaRPr lang="en-US" sz="1300" dirty="0"/>
          </a:p>
        </p:txBody>
      </p:sp>
      <p:sp>
        <p:nvSpPr>
          <p:cNvPr id="9" name="Text 7"/>
          <p:cNvSpPr txBox="1"/>
          <p:nvPr/>
        </p:nvSpPr>
        <p:spPr>
          <a:xfrm>
            <a:off x="914400" y="2560320"/>
            <a:ext cx="2560320" cy="256032"/>
          </a:xfrm>
          <a:prstGeom prst="rect">
            <a:avLst/>
          </a:prstGeom>
          <a:noFill/>
          <a:ln/>
        </p:spPr>
        <p:txBody>
          <a:bodyPr wrap="square" lIns="0" tIns="0" rIns="0" bIns="0" rtlCol="0" anchor="t"/>
          <a:lstStyle/>
          <a:p>
            <a:pPr algn="l" indent="0" marL="0">
              <a:buNone/>
            </a:pPr>
            <a:r>
              <a:rPr lang="en-US" sz="1100" dirty="0">
                <a:solidFill>
                  <a:srgbClr val="5A6675"/>
                </a:solidFill>
                <a:latin typeface="Meiryo" pitchFamily="34" charset="0"/>
                <a:ea typeface="Meiryo" pitchFamily="34" charset="-122"/>
                <a:cs typeface="Meiryo" pitchFamily="34" charset="-120"/>
              </a:rPr>
              <a:t>開始の2〜4週間前が目安</a:t>
            </a:r>
            <a:endParaRPr lang="en-US" sz="1100" dirty="0"/>
          </a:p>
        </p:txBody>
      </p:sp>
      <p:sp>
        <p:nvSpPr>
          <p:cNvPr id="10" name="Shape 8"/>
          <p:cNvSpPr/>
          <p:nvPr/>
        </p:nvSpPr>
        <p:spPr>
          <a:xfrm>
            <a:off x="4291584" y="1929384"/>
            <a:ext cx="256032" cy="256032"/>
          </a:xfrm>
          <a:prstGeom prst="ellipse">
            <a:avLst/>
          </a:prstGeom>
          <a:solidFill>
            <a:srgbClr val="13283C"/>
          </a:solidFill>
          <a:ln w="25400">
            <a:solidFill>
              <a:srgbClr val="FFFFFF"/>
            </a:solidFill>
            <a:prstDash val="solid"/>
          </a:ln>
        </p:spPr>
      </p:sp>
      <p:sp>
        <p:nvSpPr>
          <p:cNvPr id="11" name="Text 9"/>
          <p:cNvSpPr txBox="1"/>
          <p:nvPr/>
        </p:nvSpPr>
        <p:spPr>
          <a:xfrm>
            <a:off x="313944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仕様・お見積の確定</a:t>
            </a:r>
            <a:endParaRPr lang="en-US" sz="1300" dirty="0"/>
          </a:p>
        </p:txBody>
      </p:sp>
      <p:sp>
        <p:nvSpPr>
          <p:cNvPr id="12" name="Text 10"/>
          <p:cNvSpPr txBox="1"/>
          <p:nvPr/>
        </p:nvSpPr>
        <p:spPr>
          <a:xfrm>
            <a:off x="313944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対象・設問・素材</a:t>
            </a:r>
            <a:endParaRPr lang="en-US" sz="1100" dirty="0"/>
          </a:p>
        </p:txBody>
      </p:sp>
      <p:sp>
        <p:nvSpPr>
          <p:cNvPr id="13" name="Shape 11"/>
          <p:cNvSpPr/>
          <p:nvPr/>
        </p:nvSpPr>
        <p:spPr>
          <a:xfrm>
            <a:off x="7613904" y="1929384"/>
            <a:ext cx="256032" cy="256032"/>
          </a:xfrm>
          <a:prstGeom prst="ellipse">
            <a:avLst/>
          </a:prstGeom>
          <a:solidFill>
            <a:srgbClr val="13283C"/>
          </a:solidFill>
          <a:ln w="25400">
            <a:solidFill>
              <a:srgbClr val="FFFFFF"/>
            </a:solidFill>
            <a:prstDash val="solid"/>
          </a:ln>
        </p:spPr>
      </p:sp>
      <p:sp>
        <p:nvSpPr>
          <p:cNvPr id="14" name="Text 12"/>
          <p:cNvSpPr txBox="1"/>
          <p:nvPr/>
        </p:nvSpPr>
        <p:spPr>
          <a:xfrm>
            <a:off x="646176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納品・回収・審査</a:t>
            </a:r>
            <a:endParaRPr lang="en-US" sz="1300" dirty="0"/>
          </a:p>
        </p:txBody>
      </p:sp>
      <p:sp>
        <p:nvSpPr>
          <p:cNvPr id="15" name="Text 13"/>
          <p:cNvSpPr txBox="1"/>
          <p:nvPr/>
        </p:nvSpPr>
        <p:spPr>
          <a:xfrm>
            <a:off x="646176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提供元の工程</a:t>
            </a:r>
            <a:endParaRPr lang="en-US" sz="1100" dirty="0"/>
          </a:p>
        </p:txBody>
      </p:sp>
      <p:sp>
        <p:nvSpPr>
          <p:cNvPr id="16" name="Shape 14"/>
          <p:cNvSpPr/>
          <p:nvPr/>
        </p:nvSpPr>
        <p:spPr>
          <a:xfrm>
            <a:off x="10936224" y="1929384"/>
            <a:ext cx="256032" cy="256032"/>
          </a:xfrm>
          <a:prstGeom prst="ellipse">
            <a:avLst/>
          </a:prstGeom>
          <a:solidFill>
            <a:srgbClr val="C9002B"/>
          </a:solidFill>
          <a:ln w="25400">
            <a:solidFill>
              <a:srgbClr val="FFFFFF"/>
            </a:solidFill>
            <a:prstDash val="solid"/>
          </a:ln>
        </p:spPr>
      </p:sp>
      <p:sp>
        <p:nvSpPr>
          <p:cNvPr id="17" name="Text 15"/>
          <p:cNvSpPr txBox="1"/>
          <p:nvPr/>
        </p:nvSpPr>
        <p:spPr>
          <a:xfrm>
            <a:off x="8686800" y="2286000"/>
            <a:ext cx="2560320" cy="274320"/>
          </a:xfrm>
          <a:prstGeom prst="rect">
            <a:avLst/>
          </a:prstGeom>
          <a:noFill/>
          <a:ln/>
        </p:spPr>
        <p:txBody>
          <a:bodyPr wrap="square" lIns="0" tIns="0" rIns="0" bIns="0" rtlCol="0" anchor="t"/>
          <a:lstStyle/>
          <a:p>
            <a:pPr algn="r" indent="0" marL="0">
              <a:buNone/>
            </a:pPr>
            <a:r>
              <a:rPr lang="en-US" sz="1300" b="1" dirty="0">
                <a:solidFill>
                  <a:srgbClr val="C9002B"/>
                </a:solidFill>
                <a:latin typeface="Meiryo" pitchFamily="34" charset="0"/>
                <a:ea typeface="Meiryo" pitchFamily="34" charset="-122"/>
                <a:cs typeface="Meiryo" pitchFamily="34" charset="-120"/>
              </a:rPr>
              <a:t>実施開始</a:t>
            </a:r>
            <a:endParaRPr lang="en-US" sz="1300" dirty="0"/>
          </a:p>
        </p:txBody>
      </p:sp>
      <p:sp>
        <p:nvSpPr>
          <p:cNvPr id="18" name="Text 16"/>
          <p:cNvSpPr txBox="1"/>
          <p:nvPr/>
        </p:nvSpPr>
        <p:spPr>
          <a:xfrm>
            <a:off x="8686800" y="2560320"/>
            <a:ext cx="2560320" cy="256032"/>
          </a:xfrm>
          <a:prstGeom prst="rect">
            <a:avLst/>
          </a:prstGeom>
          <a:noFill/>
          <a:ln/>
        </p:spPr>
        <p:txBody>
          <a:bodyPr wrap="square" lIns="0" tIns="0" rIns="0" bIns="0" rtlCol="0" anchor="t"/>
          <a:lstStyle/>
          <a:p>
            <a:pPr algn="r" indent="0" marL="0">
              <a:buNone/>
            </a:pPr>
            <a:r>
              <a:rPr lang="en-US" sz="1100" dirty="0">
                <a:solidFill>
                  <a:srgbClr val="5A6675"/>
                </a:solidFill>
                <a:latin typeface="Meiryo" pitchFamily="34" charset="0"/>
                <a:ea typeface="Meiryo" pitchFamily="34" charset="-122"/>
                <a:cs typeface="Meiryo" pitchFamily="34" charset="-120"/>
              </a:rPr>
              <a:t>告知・計測・調査</a:t>
            </a:r>
            <a:endParaRPr lang="en-US" sz="1100" dirty="0"/>
          </a:p>
        </p:txBody>
      </p:sp>
      <p:sp>
        <p:nvSpPr>
          <p:cNvPr id="19" name="Text 17"/>
          <p:cNvSpPr txBox="1"/>
          <p:nvPr/>
        </p:nvSpPr>
        <p:spPr>
          <a:xfrm>
            <a:off x="2926080" y="3063240"/>
            <a:ext cx="45720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事前に決めること</a:t>
            </a:r>
            <a:endParaRPr lang="en-US" sz="1200" dirty="0"/>
          </a:p>
        </p:txBody>
      </p:sp>
      <p:sp>
        <p:nvSpPr>
          <p:cNvPr id="20" name="Text 18"/>
          <p:cNvSpPr txBox="1"/>
          <p:nvPr/>
        </p:nvSpPr>
        <p:spPr>
          <a:xfrm>
            <a:off x="7772400" y="3063240"/>
            <a:ext cx="36576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日程の目安</a:t>
            </a:r>
            <a:endParaRPr lang="en-US" sz="1200" dirty="0"/>
          </a:p>
        </p:txBody>
      </p:sp>
      <p:sp>
        <p:nvSpPr>
          <p:cNvPr id="21" name="Shape 19"/>
          <p:cNvSpPr/>
          <p:nvPr/>
        </p:nvSpPr>
        <p:spPr>
          <a:xfrm>
            <a:off x="548640" y="3401568"/>
            <a:ext cx="2240280" cy="731520"/>
          </a:xfrm>
          <a:prstGeom prst="roundRect">
            <a:avLst>
              <a:gd name="adj" fmla="val 10000"/>
            </a:avLst>
          </a:prstGeom>
          <a:solidFill>
            <a:srgbClr val="13283C"/>
          </a:solidFill>
          <a:ln w="12700">
            <a:solidFill>
              <a:srgbClr val="13283C"/>
            </a:solidFill>
            <a:prstDash val="solid"/>
          </a:ln>
        </p:spPr>
      </p:sp>
      <p:sp>
        <p:nvSpPr>
          <p:cNvPr id="22" name="Shape 20"/>
          <p:cNvSpPr/>
          <p:nvPr/>
        </p:nvSpPr>
        <p:spPr>
          <a:xfrm>
            <a:off x="658368" y="3557016"/>
            <a:ext cx="420624" cy="420624"/>
          </a:xfrm>
          <a:prstGeom prst="ellipse">
            <a:avLst/>
          </a:prstGeom>
          <a:solidFill>
            <a:srgbClr val="C9002B"/>
          </a:solidFill>
          <a:ln w="12700">
            <a:solidFill>
              <a:srgbClr val="C9002B"/>
            </a:solidFill>
            <a:prstDash val="solid"/>
          </a:ln>
        </p:spPr>
      </p:sp>
      <p:pic>
        <p:nvPicPr>
          <p:cNvPr id="23" name="Image 0" descr="preencoded.png">    </p:cNvPr>
          <p:cNvPicPr>
            <a:picLocks noChangeAspect="1"/>
          </p:cNvPicPr>
          <p:nvPr/>
        </p:nvPicPr>
        <p:blipFill>
          <a:blip r:embed="rId1"/>
          <a:stretch>
            <a:fillRect/>
          </a:stretch>
        </p:blipFill>
        <p:spPr>
          <a:xfrm>
            <a:off x="763524" y="3662172"/>
            <a:ext cx="210312" cy="210312"/>
          </a:xfrm>
          <a:prstGeom prst="rect">
            <a:avLst/>
          </a:prstGeom>
        </p:spPr>
      </p:pic>
      <p:sp>
        <p:nvSpPr>
          <p:cNvPr id="24" name="Text 21"/>
          <p:cNvSpPr txBox="1"/>
          <p:nvPr/>
        </p:nvSpPr>
        <p:spPr>
          <a:xfrm>
            <a:off x="1161288" y="3401568"/>
            <a:ext cx="1600200" cy="7315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モバイル空間統計</a:t>
            </a:r>
            <a:endParaRPr lang="en-US" sz="1200" dirty="0"/>
          </a:p>
        </p:txBody>
      </p:sp>
      <p:sp>
        <p:nvSpPr>
          <p:cNvPr id="25" name="Shape 22"/>
          <p:cNvSpPr/>
          <p:nvPr/>
        </p:nvSpPr>
        <p:spPr>
          <a:xfrm>
            <a:off x="2926080" y="3401568"/>
            <a:ext cx="4709160" cy="731520"/>
          </a:xfrm>
          <a:prstGeom prst="roundRect">
            <a:avLst>
              <a:gd name="adj" fmla="val 10000"/>
            </a:avLst>
          </a:prstGeom>
          <a:solidFill>
            <a:srgbClr val="F2F5F8"/>
          </a:solidFill>
          <a:ln w="12700">
            <a:solidFill>
              <a:srgbClr val="F2F5F8"/>
            </a:solidFill>
            <a:prstDash val="solid"/>
          </a:ln>
        </p:spPr>
      </p:sp>
      <p:sp>
        <p:nvSpPr>
          <p:cNvPr id="26" name="Text 23"/>
          <p:cNvSpPr txBox="1"/>
          <p:nvPr/>
        </p:nvSpPr>
        <p:spPr>
          <a:xfrm>
            <a:off x="3108960" y="3401568"/>
            <a:ext cx="4434840" cy="7315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分析地域・対象日・比較日・属性／納品形式</a:t>
            </a:r>
            <a:endParaRPr lang="en-US" sz="1250" dirty="0"/>
          </a:p>
        </p:txBody>
      </p:sp>
      <p:sp>
        <p:nvSpPr>
          <p:cNvPr id="27" name="Shape 24"/>
          <p:cNvSpPr/>
          <p:nvPr/>
        </p:nvSpPr>
        <p:spPr>
          <a:xfrm>
            <a:off x="7772400" y="3401568"/>
            <a:ext cx="3840480" cy="731520"/>
          </a:xfrm>
          <a:prstGeom prst="roundRect">
            <a:avLst>
              <a:gd name="adj" fmla="val 10000"/>
            </a:avLst>
          </a:prstGeom>
          <a:solidFill>
            <a:srgbClr val="FBEAEE"/>
          </a:solidFill>
          <a:ln w="12700">
            <a:solidFill>
              <a:srgbClr val="FBEAEE"/>
            </a:solidFill>
            <a:prstDash val="solid"/>
          </a:ln>
        </p:spPr>
      </p:sp>
      <p:sp>
        <p:nvSpPr>
          <p:cNvPr id="28" name="Text 25"/>
          <p:cNvSpPr txBox="1"/>
          <p:nvPr/>
        </p:nvSpPr>
        <p:spPr>
          <a:xfrm>
            <a:off x="7955280" y="3401568"/>
            <a:ext cx="3566160" cy="73152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最短10営業日で納品（公式FAQ、仕様で変動）</a:t>
            </a:r>
            <a:endParaRPr lang="en-US" sz="1250" dirty="0"/>
          </a:p>
        </p:txBody>
      </p:sp>
      <p:sp>
        <p:nvSpPr>
          <p:cNvPr id="29" name="Shape 26"/>
          <p:cNvSpPr/>
          <p:nvPr/>
        </p:nvSpPr>
        <p:spPr>
          <a:xfrm>
            <a:off x="548640" y="4270248"/>
            <a:ext cx="2240280" cy="731520"/>
          </a:xfrm>
          <a:prstGeom prst="roundRect">
            <a:avLst>
              <a:gd name="adj" fmla="val 10000"/>
            </a:avLst>
          </a:prstGeom>
          <a:solidFill>
            <a:srgbClr val="13283C"/>
          </a:solidFill>
          <a:ln w="12700">
            <a:solidFill>
              <a:srgbClr val="13283C"/>
            </a:solidFill>
            <a:prstDash val="solid"/>
          </a:ln>
        </p:spPr>
      </p:sp>
      <p:sp>
        <p:nvSpPr>
          <p:cNvPr id="30" name="Shape 27"/>
          <p:cNvSpPr/>
          <p:nvPr/>
        </p:nvSpPr>
        <p:spPr>
          <a:xfrm>
            <a:off x="658368" y="4425696"/>
            <a:ext cx="420624" cy="420624"/>
          </a:xfrm>
          <a:prstGeom prst="ellipse">
            <a:avLst/>
          </a:prstGeom>
          <a:solidFill>
            <a:srgbClr val="C9002B"/>
          </a:solidFill>
          <a:ln w="12700">
            <a:solidFill>
              <a:srgbClr val="C9002B"/>
            </a:solidFill>
            <a:prstDash val="solid"/>
          </a:ln>
        </p:spPr>
      </p:sp>
      <p:pic>
        <p:nvPicPr>
          <p:cNvPr id="31" name="Image 1" descr="preencoded.png">    </p:cNvPr>
          <p:cNvPicPr>
            <a:picLocks noChangeAspect="1"/>
          </p:cNvPicPr>
          <p:nvPr/>
        </p:nvPicPr>
        <p:blipFill>
          <a:blip r:embed="rId2"/>
          <a:stretch>
            <a:fillRect/>
          </a:stretch>
        </p:blipFill>
        <p:spPr>
          <a:xfrm>
            <a:off x="763524" y="4530852"/>
            <a:ext cx="210312" cy="210312"/>
          </a:xfrm>
          <a:prstGeom prst="rect">
            <a:avLst/>
          </a:prstGeom>
        </p:spPr>
      </p:pic>
      <p:sp>
        <p:nvSpPr>
          <p:cNvPr id="32" name="Text 28"/>
          <p:cNvSpPr txBox="1"/>
          <p:nvPr/>
        </p:nvSpPr>
        <p:spPr>
          <a:xfrm>
            <a:off x="1161288" y="4270248"/>
            <a:ext cx="1600200" cy="7315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プレミアパネル</a:t>
            </a:r>
            <a:endParaRPr lang="en-US" sz="1200" dirty="0"/>
          </a:p>
        </p:txBody>
      </p:sp>
      <p:sp>
        <p:nvSpPr>
          <p:cNvPr id="33" name="Shape 29"/>
          <p:cNvSpPr/>
          <p:nvPr/>
        </p:nvSpPr>
        <p:spPr>
          <a:xfrm>
            <a:off x="2926080" y="4270248"/>
            <a:ext cx="4709160" cy="731520"/>
          </a:xfrm>
          <a:prstGeom prst="roundRect">
            <a:avLst>
              <a:gd name="adj" fmla="val 10000"/>
            </a:avLst>
          </a:prstGeom>
          <a:solidFill>
            <a:srgbClr val="F2F5F8"/>
          </a:solidFill>
          <a:ln w="12700">
            <a:solidFill>
              <a:srgbClr val="F2F5F8"/>
            </a:solidFill>
            <a:prstDash val="solid"/>
          </a:ln>
        </p:spPr>
      </p:sp>
      <p:sp>
        <p:nvSpPr>
          <p:cNvPr id="34" name="Text 30"/>
          <p:cNvSpPr txBox="1"/>
          <p:nvPr/>
        </p:nvSpPr>
        <p:spPr>
          <a:xfrm>
            <a:off x="3108960" y="4270248"/>
            <a:ext cx="4434840" cy="7315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対象者・設問・目標回収数／報告の範囲</a:t>
            </a:r>
            <a:endParaRPr lang="en-US" sz="1250" dirty="0"/>
          </a:p>
        </p:txBody>
      </p:sp>
      <p:sp>
        <p:nvSpPr>
          <p:cNvPr id="35" name="Shape 31"/>
          <p:cNvSpPr/>
          <p:nvPr/>
        </p:nvSpPr>
        <p:spPr>
          <a:xfrm>
            <a:off x="7772400" y="4270248"/>
            <a:ext cx="3840480" cy="731520"/>
          </a:xfrm>
          <a:prstGeom prst="roundRect">
            <a:avLst>
              <a:gd name="adj" fmla="val 10000"/>
            </a:avLst>
          </a:prstGeom>
          <a:solidFill>
            <a:srgbClr val="F2F5F8"/>
          </a:solidFill>
          <a:ln w="12700">
            <a:solidFill>
              <a:srgbClr val="F2F5F8"/>
            </a:solidFill>
            <a:prstDash val="solid"/>
          </a:ln>
        </p:spPr>
      </p:sp>
      <p:sp>
        <p:nvSpPr>
          <p:cNvPr id="36" name="Text 32"/>
          <p:cNvSpPr txBox="1"/>
          <p:nvPr/>
        </p:nvSpPr>
        <p:spPr>
          <a:xfrm>
            <a:off x="7955280" y="4270248"/>
            <a:ext cx="3566160" cy="7315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設計・回収・納品の工程を案件ごとに確認</a:t>
            </a:r>
            <a:endParaRPr lang="en-US" sz="1250" dirty="0"/>
          </a:p>
        </p:txBody>
      </p:sp>
      <p:sp>
        <p:nvSpPr>
          <p:cNvPr id="37" name="Shape 33"/>
          <p:cNvSpPr/>
          <p:nvPr/>
        </p:nvSpPr>
        <p:spPr>
          <a:xfrm>
            <a:off x="548640" y="5138928"/>
            <a:ext cx="2240280" cy="731520"/>
          </a:xfrm>
          <a:prstGeom prst="roundRect">
            <a:avLst>
              <a:gd name="adj" fmla="val 10000"/>
            </a:avLst>
          </a:prstGeom>
          <a:solidFill>
            <a:srgbClr val="13283C"/>
          </a:solidFill>
          <a:ln w="12700">
            <a:solidFill>
              <a:srgbClr val="13283C"/>
            </a:solidFill>
            <a:prstDash val="solid"/>
          </a:ln>
        </p:spPr>
      </p:sp>
      <p:sp>
        <p:nvSpPr>
          <p:cNvPr id="38" name="Shape 34"/>
          <p:cNvSpPr/>
          <p:nvPr/>
        </p:nvSpPr>
        <p:spPr>
          <a:xfrm>
            <a:off x="658368" y="5294376"/>
            <a:ext cx="420624" cy="420624"/>
          </a:xfrm>
          <a:prstGeom prst="ellipse">
            <a:avLst/>
          </a:prstGeom>
          <a:solidFill>
            <a:srgbClr val="C9002B"/>
          </a:solidFill>
          <a:ln w="12700">
            <a:solidFill>
              <a:srgbClr val="C9002B"/>
            </a:solidFill>
            <a:prstDash val="solid"/>
          </a:ln>
        </p:spPr>
      </p:sp>
      <p:pic>
        <p:nvPicPr>
          <p:cNvPr id="39" name="Image 2" descr="preencoded.png">    </p:cNvPr>
          <p:cNvPicPr>
            <a:picLocks noChangeAspect="1"/>
          </p:cNvPicPr>
          <p:nvPr/>
        </p:nvPicPr>
        <p:blipFill>
          <a:blip r:embed="rId3"/>
          <a:stretch>
            <a:fillRect/>
          </a:stretch>
        </p:blipFill>
        <p:spPr>
          <a:xfrm>
            <a:off x="763524" y="5399532"/>
            <a:ext cx="210312" cy="210312"/>
          </a:xfrm>
          <a:prstGeom prst="rect">
            <a:avLst/>
          </a:prstGeom>
        </p:spPr>
      </p:pic>
      <p:sp>
        <p:nvSpPr>
          <p:cNvPr id="40" name="Text 35"/>
          <p:cNvSpPr txBox="1"/>
          <p:nvPr/>
        </p:nvSpPr>
        <p:spPr>
          <a:xfrm>
            <a:off x="1161288" y="5138928"/>
            <a:ext cx="1600200" cy="7315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docomo Ad Network</a:t>
            </a:r>
            <a:endParaRPr lang="en-US" sz="1200" dirty="0"/>
          </a:p>
        </p:txBody>
      </p:sp>
      <p:sp>
        <p:nvSpPr>
          <p:cNvPr id="41" name="Shape 36"/>
          <p:cNvSpPr/>
          <p:nvPr/>
        </p:nvSpPr>
        <p:spPr>
          <a:xfrm>
            <a:off x="2926080" y="5138928"/>
            <a:ext cx="4709160" cy="731520"/>
          </a:xfrm>
          <a:prstGeom prst="roundRect">
            <a:avLst>
              <a:gd name="adj" fmla="val 10000"/>
            </a:avLst>
          </a:prstGeom>
          <a:solidFill>
            <a:srgbClr val="F2F5F8"/>
          </a:solidFill>
          <a:ln w="12700">
            <a:solidFill>
              <a:srgbClr val="F2F5F8"/>
            </a:solidFill>
            <a:prstDash val="solid"/>
          </a:ln>
        </p:spPr>
      </p:sp>
      <p:sp>
        <p:nvSpPr>
          <p:cNvPr id="42" name="Text 37"/>
          <p:cNvSpPr txBox="1"/>
          <p:nvPr/>
        </p:nvSpPr>
        <p:spPr>
          <a:xfrm>
            <a:off x="3108960" y="5138928"/>
            <a:ext cx="4434840" cy="7315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予算・対象・素材・申込ページ／計測方法</a:t>
            </a:r>
            <a:endParaRPr lang="en-US" sz="1250" dirty="0"/>
          </a:p>
        </p:txBody>
      </p:sp>
      <p:sp>
        <p:nvSpPr>
          <p:cNvPr id="43" name="Shape 38"/>
          <p:cNvSpPr/>
          <p:nvPr/>
        </p:nvSpPr>
        <p:spPr>
          <a:xfrm>
            <a:off x="7772400" y="5138928"/>
            <a:ext cx="3840480" cy="731520"/>
          </a:xfrm>
          <a:prstGeom prst="roundRect">
            <a:avLst>
              <a:gd name="adj" fmla="val 10000"/>
            </a:avLst>
          </a:prstGeom>
          <a:solidFill>
            <a:srgbClr val="F2F5F8"/>
          </a:solidFill>
          <a:ln w="12700">
            <a:solidFill>
              <a:srgbClr val="F2F5F8"/>
            </a:solidFill>
            <a:prstDash val="solid"/>
          </a:ln>
        </p:spPr>
      </p:sp>
      <p:sp>
        <p:nvSpPr>
          <p:cNvPr id="44" name="Text 39"/>
          <p:cNvSpPr txBox="1"/>
          <p:nvPr/>
        </p:nvSpPr>
        <p:spPr>
          <a:xfrm>
            <a:off x="7955280" y="5138928"/>
            <a:ext cx="3566160" cy="7315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入稿締切・審査・配信開始日を窓口で確認</a:t>
            </a:r>
            <a:endParaRPr lang="en-US" sz="1250" dirty="0"/>
          </a:p>
        </p:txBody>
      </p:sp>
      <p:sp>
        <p:nvSpPr>
          <p:cNvPr id="45" name="Text 4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2〜4週間は目安です。契約手続き・審査・仕様によって延びる場合があります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実施計画</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データの取り扱いと留意点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安心してご利用いただくために、事前にご確認いただきたいこと</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14</a:t>
            </a:r>
            <a:endParaRPr lang="en-US" sz="1000" dirty="0"/>
          </a:p>
        </p:txBody>
      </p:sp>
      <p:sp>
        <p:nvSpPr>
          <p:cNvPr id="6" name="Shape 4"/>
          <p:cNvSpPr/>
          <p:nvPr/>
        </p:nvSpPr>
        <p:spPr>
          <a:xfrm>
            <a:off x="548640" y="1783080"/>
            <a:ext cx="5440680" cy="2103120"/>
          </a:xfrm>
          <a:prstGeom prst="roundRect">
            <a:avLst>
              <a:gd name="adj" fmla="val 3478"/>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822960" y="2075688"/>
            <a:ext cx="457200" cy="457200"/>
          </a:xfrm>
          <a:prstGeom prst="rect">
            <a:avLst/>
          </a:prstGeom>
        </p:spPr>
      </p:pic>
      <p:sp>
        <p:nvSpPr>
          <p:cNvPr id="8" name="Text 5"/>
          <p:cNvSpPr txBox="1"/>
          <p:nvPr/>
        </p:nvSpPr>
        <p:spPr>
          <a:xfrm>
            <a:off x="1463040" y="2057400"/>
            <a:ext cx="4389120" cy="502920"/>
          </a:xfrm>
          <a:prstGeom prst="rect">
            <a:avLst/>
          </a:prstGeom>
          <a:noFill/>
          <a:ln/>
        </p:spPr>
        <p:txBody>
          <a:bodyPr wrap="square" lIns="0" tIns="0" rIns="0" bIns="0" rtlCol="0" anchor="ctr"/>
          <a:lstStyle/>
          <a:p>
            <a:pPr indent="0" marL="0">
              <a:buNone/>
            </a:pPr>
            <a:r>
              <a:rPr lang="en-US" sz="1700" b="1" dirty="0">
                <a:solidFill>
                  <a:srgbClr val="13283C"/>
                </a:solidFill>
                <a:latin typeface="Meiryo" pitchFamily="34" charset="0"/>
                <a:ea typeface="Meiryo" pitchFamily="34" charset="-122"/>
                <a:cs typeface="Meiryo" pitchFamily="34" charset="-120"/>
              </a:rPr>
              <a:t>個人を特定しません</a:t>
            </a:r>
            <a:endParaRPr lang="en-US" sz="1700" dirty="0"/>
          </a:p>
        </p:txBody>
      </p:sp>
      <p:sp>
        <p:nvSpPr>
          <p:cNvPr id="9" name="Text 6"/>
          <p:cNvSpPr txBox="1"/>
          <p:nvPr/>
        </p:nvSpPr>
        <p:spPr>
          <a:xfrm>
            <a:off x="146304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モバイル空間統計は集団の人数を表す統計情報で、少人数は秘匿処理されます</a:t>
            </a:r>
            <a:endParaRPr lang="en-US" sz="1300" dirty="0"/>
          </a:p>
        </p:txBody>
      </p:sp>
      <p:sp>
        <p:nvSpPr>
          <p:cNvPr id="10" name="Shape 7"/>
          <p:cNvSpPr/>
          <p:nvPr/>
        </p:nvSpPr>
        <p:spPr>
          <a:xfrm>
            <a:off x="6172200" y="1783080"/>
            <a:ext cx="5440680" cy="2103120"/>
          </a:xfrm>
          <a:prstGeom prst="roundRect">
            <a:avLst>
              <a:gd name="adj" fmla="val 3478"/>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6446520" y="2075688"/>
            <a:ext cx="457200" cy="457200"/>
          </a:xfrm>
          <a:prstGeom prst="rect">
            <a:avLst/>
          </a:prstGeom>
        </p:spPr>
      </p:pic>
      <p:sp>
        <p:nvSpPr>
          <p:cNvPr id="12" name="Text 8"/>
          <p:cNvSpPr txBox="1"/>
          <p:nvPr/>
        </p:nvSpPr>
        <p:spPr>
          <a:xfrm>
            <a:off x="7086600" y="2057400"/>
            <a:ext cx="4389120" cy="502920"/>
          </a:xfrm>
          <a:prstGeom prst="rect">
            <a:avLst/>
          </a:prstGeom>
          <a:noFill/>
          <a:ln/>
        </p:spPr>
        <p:txBody>
          <a:bodyPr wrap="square" lIns="0" tIns="0" rIns="0" bIns="0" rtlCol="0" anchor="ctr"/>
          <a:lstStyle/>
          <a:p>
            <a:pPr indent="0" marL="0">
              <a:buNone/>
            </a:pPr>
            <a:r>
              <a:rPr lang="en-US" sz="1700" b="1" dirty="0">
                <a:solidFill>
                  <a:srgbClr val="13283C"/>
                </a:solidFill>
                <a:latin typeface="Meiryo" pitchFamily="34" charset="0"/>
                <a:ea typeface="Meiryo" pitchFamily="34" charset="-122"/>
                <a:cs typeface="Meiryo" pitchFamily="34" charset="-120"/>
              </a:rPr>
              <a:t>推計人口は入場者数ではありません</a:t>
            </a:r>
            <a:endParaRPr lang="en-US" sz="1700" dirty="0"/>
          </a:p>
        </p:txBody>
      </p:sp>
      <p:sp>
        <p:nvSpPr>
          <p:cNvPr id="13" name="Text 9"/>
          <p:cNvSpPr txBox="1"/>
          <p:nvPr/>
        </p:nvSpPr>
        <p:spPr>
          <a:xfrm>
            <a:off x="708660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会場周辺の推計人口です。入場者数や販売実績とは分けて評価します</a:t>
            </a:r>
            <a:endParaRPr lang="en-US" sz="1300" dirty="0"/>
          </a:p>
        </p:txBody>
      </p:sp>
      <p:sp>
        <p:nvSpPr>
          <p:cNvPr id="14" name="Shape 10"/>
          <p:cNvSpPr/>
          <p:nvPr/>
        </p:nvSpPr>
        <p:spPr>
          <a:xfrm>
            <a:off x="548640" y="4023360"/>
            <a:ext cx="5440680" cy="2103120"/>
          </a:xfrm>
          <a:prstGeom prst="roundRect">
            <a:avLst>
              <a:gd name="adj" fmla="val 3478"/>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822960" y="4315968"/>
            <a:ext cx="457200" cy="457200"/>
          </a:xfrm>
          <a:prstGeom prst="rect">
            <a:avLst/>
          </a:prstGeom>
        </p:spPr>
      </p:pic>
      <p:sp>
        <p:nvSpPr>
          <p:cNvPr id="16" name="Text 11"/>
          <p:cNvSpPr txBox="1"/>
          <p:nvPr/>
        </p:nvSpPr>
        <p:spPr>
          <a:xfrm>
            <a:off x="1463040" y="4297680"/>
            <a:ext cx="4389120" cy="502920"/>
          </a:xfrm>
          <a:prstGeom prst="rect">
            <a:avLst/>
          </a:prstGeom>
          <a:noFill/>
          <a:ln/>
        </p:spPr>
        <p:txBody>
          <a:bodyPr wrap="square" lIns="0" tIns="0" rIns="0" bIns="0" rtlCol="0" anchor="ctr"/>
          <a:lstStyle/>
          <a:p>
            <a:pPr indent="0" marL="0">
              <a:buNone/>
            </a:pPr>
            <a:r>
              <a:rPr lang="en-US" sz="1700" b="1" dirty="0">
                <a:solidFill>
                  <a:srgbClr val="13283C"/>
                </a:solidFill>
                <a:latin typeface="Meiryo" pitchFamily="34" charset="0"/>
                <a:ea typeface="Meiryo" pitchFamily="34" charset="-122"/>
                <a:cs typeface="Meiryo" pitchFamily="34" charset="-120"/>
              </a:rPr>
              <a:t>回収数・成果は保証しません</a:t>
            </a:r>
            <a:endParaRPr lang="en-US" sz="1700" dirty="0"/>
          </a:p>
        </p:txBody>
      </p:sp>
      <p:sp>
        <p:nvSpPr>
          <p:cNvPr id="17" name="Text 12"/>
          <p:cNvSpPr txBox="1"/>
          <p:nvPr/>
        </p:nvSpPr>
        <p:spPr>
          <a:xfrm>
            <a:off x="146304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アンケートの回収数は目標値、広告の成果は配信条件や素材によって変わります</a:t>
            </a:r>
            <a:endParaRPr lang="en-US" sz="1300" dirty="0"/>
          </a:p>
        </p:txBody>
      </p:sp>
      <p:sp>
        <p:nvSpPr>
          <p:cNvPr id="18" name="Shape 13"/>
          <p:cNvSpPr/>
          <p:nvPr/>
        </p:nvSpPr>
        <p:spPr>
          <a:xfrm>
            <a:off x="6172200" y="4023360"/>
            <a:ext cx="5440680" cy="2103120"/>
          </a:xfrm>
          <a:prstGeom prst="roundRect">
            <a:avLst>
              <a:gd name="adj" fmla="val 3478"/>
            </a:avLst>
          </a:prstGeom>
          <a:solidFill>
            <a:srgbClr val="F2F5F8"/>
          </a:solidFill>
          <a:ln w="12700">
            <a:solidFill>
              <a:srgbClr val="F2F5F8"/>
            </a:solidFill>
            <a:prstDash val="solid"/>
          </a:ln>
        </p:spPr>
      </p:sp>
      <p:pic>
        <p:nvPicPr>
          <p:cNvPr id="19" name="Image 3" descr="preencoded.png">    </p:cNvPr>
          <p:cNvPicPr>
            <a:picLocks noChangeAspect="1"/>
          </p:cNvPicPr>
          <p:nvPr/>
        </p:nvPicPr>
        <p:blipFill>
          <a:blip r:embed="rId4"/>
          <a:stretch>
            <a:fillRect/>
          </a:stretch>
        </p:blipFill>
        <p:spPr>
          <a:xfrm>
            <a:off x="6446520" y="4315968"/>
            <a:ext cx="457200" cy="457200"/>
          </a:xfrm>
          <a:prstGeom prst="rect">
            <a:avLst/>
          </a:prstGeom>
        </p:spPr>
      </p:pic>
      <p:sp>
        <p:nvSpPr>
          <p:cNvPr id="20" name="Text 14"/>
          <p:cNvSpPr txBox="1"/>
          <p:nvPr/>
        </p:nvSpPr>
        <p:spPr>
          <a:xfrm>
            <a:off x="7086600" y="4297680"/>
            <a:ext cx="4389120" cy="502920"/>
          </a:xfrm>
          <a:prstGeom prst="rect">
            <a:avLst/>
          </a:prstGeom>
          <a:noFill/>
          <a:ln/>
        </p:spPr>
        <p:txBody>
          <a:bodyPr wrap="square" lIns="0" tIns="0" rIns="0" bIns="0" rtlCol="0" anchor="ctr"/>
          <a:lstStyle/>
          <a:p>
            <a:pPr indent="0" marL="0">
              <a:buNone/>
            </a:pPr>
            <a:r>
              <a:rPr lang="en-US" sz="1700" b="1" dirty="0">
                <a:solidFill>
                  <a:srgbClr val="13283C"/>
                </a:solidFill>
                <a:latin typeface="Meiryo" pitchFamily="34" charset="0"/>
                <a:ea typeface="Meiryo" pitchFamily="34" charset="-122"/>
                <a:cs typeface="Meiryo" pitchFamily="34" charset="-120"/>
              </a:rPr>
              <a:t>効果の原因を断定しません</a:t>
            </a:r>
            <a:endParaRPr lang="en-US" sz="1700" dirty="0"/>
          </a:p>
        </p:txBody>
      </p:sp>
      <p:sp>
        <p:nvSpPr>
          <p:cNvPr id="21" name="Text 15"/>
          <p:cNvSpPr txBox="1"/>
          <p:nvPr/>
        </p:nvSpPr>
        <p:spPr>
          <a:xfrm>
            <a:off x="708660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天候・曜日・他のイベントなども影響するため、比較条件を記録して評価します</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次のステップ</a:t>
            </a:r>
            <a:endParaRPr lang="en-US" sz="3000" dirty="0"/>
          </a:p>
        </p:txBody>
      </p:sp>
      <p:sp>
        <p:nvSpPr>
          <p:cNvPr id="3" name="Text 1"/>
          <p:cNvSpPr txBox="1"/>
          <p:nvPr/>
        </p:nvSpPr>
        <p:spPr>
          <a:xfrm>
            <a:off x="731520" y="1280160"/>
            <a:ext cx="10515600" cy="365760"/>
          </a:xfrm>
          <a:prstGeom prst="rect">
            <a:avLst/>
          </a:prstGeom>
          <a:noFill/>
          <a:ln/>
        </p:spPr>
        <p:txBody>
          <a:bodyPr wrap="square" lIns="0" tIns="0" rIns="0" bIns="0" rtlCol="0" anchor="t"/>
          <a:lstStyle/>
          <a:p>
            <a:pPr indent="0" marL="0">
              <a:buNone/>
            </a:pPr>
            <a:r>
              <a:rPr lang="en-US" sz="1400" dirty="0">
                <a:solidFill>
                  <a:srgbClr val="BAC8D4"/>
                </a:solidFill>
                <a:latin typeface="Meiryo" pitchFamily="34" charset="0"/>
                <a:ea typeface="Meiryo" pitchFamily="34" charset="-122"/>
                <a:cs typeface="Meiryo" pitchFamily="34" charset="-120"/>
              </a:rPr>
              <a:t>本日、4つの点を確認させてください。1週間以内に仕様案とお見積をお送りします</a:t>
            </a:r>
            <a:endParaRPr lang="en-US" sz="1400" dirty="0"/>
          </a:p>
        </p:txBody>
      </p:sp>
      <p:sp>
        <p:nvSpPr>
          <p:cNvPr id="4" name="Shape 2"/>
          <p:cNvSpPr/>
          <p:nvPr/>
        </p:nvSpPr>
        <p:spPr>
          <a:xfrm>
            <a:off x="731520" y="1920240"/>
            <a:ext cx="2514600" cy="2148840"/>
          </a:xfrm>
          <a:prstGeom prst="roundRect">
            <a:avLst>
              <a:gd name="adj" fmla="val 4255"/>
            </a:avLst>
          </a:prstGeom>
          <a:solidFill>
            <a:srgbClr val="22394F"/>
          </a:solidFill>
          <a:ln w="12700">
            <a:solidFill>
              <a:srgbClr val="2F4A63"/>
            </a:solidFill>
            <a:prstDash val="solid"/>
          </a:ln>
        </p:spPr>
      </p:sp>
      <p:sp>
        <p:nvSpPr>
          <p:cNvPr id="5" name="Shape 3"/>
          <p:cNvSpPr/>
          <p:nvPr/>
        </p:nvSpPr>
        <p:spPr>
          <a:xfrm>
            <a:off x="960120" y="2103120"/>
            <a:ext cx="594360" cy="594360"/>
          </a:xfrm>
          <a:prstGeom prst="ellipse">
            <a:avLst/>
          </a:prstGeom>
          <a:solidFill>
            <a:srgbClr val="C9002B"/>
          </a:solidFill>
          <a:ln w="12700">
            <a:solidFill>
              <a:srgbClr val="C9002B"/>
            </a:solidFill>
            <a:prstDash val="solid"/>
          </a:ln>
        </p:spPr>
      </p:sp>
      <p:pic>
        <p:nvPicPr>
          <p:cNvPr id="6" name="Image 0" descr="preencoded.png">    </p:cNvPr>
          <p:cNvPicPr>
            <a:picLocks noChangeAspect="1"/>
          </p:cNvPicPr>
          <p:nvPr/>
        </p:nvPicPr>
        <p:blipFill>
          <a:blip r:embed="rId1"/>
          <a:stretch>
            <a:fillRect/>
          </a:stretch>
        </p:blipFill>
        <p:spPr>
          <a:xfrm>
            <a:off x="1108710" y="2251710"/>
            <a:ext cx="297180" cy="297180"/>
          </a:xfrm>
          <a:prstGeom prst="rect">
            <a:avLst/>
          </a:prstGeom>
        </p:spPr>
      </p:pic>
      <p:sp>
        <p:nvSpPr>
          <p:cNvPr id="7" name="Text 4"/>
          <p:cNvSpPr txBox="1"/>
          <p:nvPr/>
        </p:nvSpPr>
        <p:spPr>
          <a:xfrm>
            <a:off x="9601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何を増やしたいか</a:t>
            </a:r>
            <a:endParaRPr lang="en-US" sz="1600" dirty="0"/>
          </a:p>
        </p:txBody>
      </p:sp>
      <p:sp>
        <p:nvSpPr>
          <p:cNvPr id="8" name="Text 5"/>
          <p:cNvSpPr txBox="1"/>
          <p:nvPr/>
        </p:nvSpPr>
        <p:spPr>
          <a:xfrm>
            <a:off x="9601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来場・申込・認知など、最優先の成果を1つ</a:t>
            </a:r>
            <a:endParaRPr lang="en-US" sz="1200" dirty="0"/>
          </a:p>
        </p:txBody>
      </p:sp>
      <p:sp>
        <p:nvSpPr>
          <p:cNvPr id="9" name="Shape 6"/>
          <p:cNvSpPr/>
          <p:nvPr/>
        </p:nvSpPr>
        <p:spPr>
          <a:xfrm>
            <a:off x="3474720" y="1920240"/>
            <a:ext cx="2514600" cy="2148840"/>
          </a:xfrm>
          <a:prstGeom prst="roundRect">
            <a:avLst>
              <a:gd name="adj" fmla="val 4255"/>
            </a:avLst>
          </a:prstGeom>
          <a:solidFill>
            <a:srgbClr val="22394F"/>
          </a:solidFill>
          <a:ln w="12700">
            <a:solidFill>
              <a:srgbClr val="2F4A63"/>
            </a:solidFill>
            <a:prstDash val="solid"/>
          </a:ln>
        </p:spPr>
      </p:sp>
      <p:sp>
        <p:nvSpPr>
          <p:cNvPr id="10" name="Shape 7"/>
          <p:cNvSpPr/>
          <p:nvPr/>
        </p:nvSpPr>
        <p:spPr>
          <a:xfrm>
            <a:off x="3703320" y="2103120"/>
            <a:ext cx="594360" cy="594360"/>
          </a:xfrm>
          <a:prstGeom prst="ellipse">
            <a:avLst/>
          </a:prstGeom>
          <a:solidFill>
            <a:srgbClr val="C9002B"/>
          </a:solidFill>
          <a:ln w="12700">
            <a:solidFill>
              <a:srgbClr val="C9002B"/>
            </a:solidFill>
            <a:prstDash val="solid"/>
          </a:ln>
        </p:spPr>
      </p:sp>
      <p:pic>
        <p:nvPicPr>
          <p:cNvPr id="11" name="Image 1" descr="preencoded.png">    </p:cNvPr>
          <p:cNvPicPr>
            <a:picLocks noChangeAspect="1"/>
          </p:cNvPicPr>
          <p:nvPr/>
        </p:nvPicPr>
        <p:blipFill>
          <a:blip r:embed="rId2"/>
          <a:stretch>
            <a:fillRect/>
          </a:stretch>
        </p:blipFill>
        <p:spPr>
          <a:xfrm>
            <a:off x="3851910" y="2251710"/>
            <a:ext cx="297180" cy="297180"/>
          </a:xfrm>
          <a:prstGeom prst="rect">
            <a:avLst/>
          </a:prstGeom>
        </p:spPr>
      </p:pic>
      <p:sp>
        <p:nvSpPr>
          <p:cNvPr id="12" name="Text 8"/>
          <p:cNvSpPr txBox="1"/>
          <p:nvPr/>
        </p:nvSpPr>
        <p:spPr>
          <a:xfrm>
            <a:off x="37033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誰に来てほしいか</a:t>
            </a:r>
            <a:endParaRPr lang="en-US" sz="1600" dirty="0"/>
          </a:p>
        </p:txBody>
      </p:sp>
      <p:sp>
        <p:nvSpPr>
          <p:cNvPr id="13" name="Text 9"/>
          <p:cNvSpPr txBox="1"/>
          <p:nvPr/>
        </p:nvSpPr>
        <p:spPr>
          <a:xfrm>
            <a:off x="37033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地域・年代・新規／既存など、狙う対象</a:t>
            </a:r>
            <a:endParaRPr lang="en-US" sz="1200" dirty="0"/>
          </a:p>
        </p:txBody>
      </p:sp>
      <p:sp>
        <p:nvSpPr>
          <p:cNvPr id="14" name="Shape 10"/>
          <p:cNvSpPr/>
          <p:nvPr/>
        </p:nvSpPr>
        <p:spPr>
          <a:xfrm>
            <a:off x="6217920" y="1920240"/>
            <a:ext cx="2514600" cy="2148840"/>
          </a:xfrm>
          <a:prstGeom prst="roundRect">
            <a:avLst>
              <a:gd name="adj" fmla="val 4255"/>
            </a:avLst>
          </a:prstGeom>
          <a:solidFill>
            <a:srgbClr val="22394F"/>
          </a:solidFill>
          <a:ln w="12700">
            <a:solidFill>
              <a:srgbClr val="2F4A63"/>
            </a:solidFill>
            <a:prstDash val="solid"/>
          </a:ln>
        </p:spPr>
      </p:sp>
      <p:sp>
        <p:nvSpPr>
          <p:cNvPr id="15" name="Shape 11"/>
          <p:cNvSpPr/>
          <p:nvPr/>
        </p:nvSpPr>
        <p:spPr>
          <a:xfrm>
            <a:off x="6446520" y="2103120"/>
            <a:ext cx="594360" cy="594360"/>
          </a:xfrm>
          <a:prstGeom prst="ellipse">
            <a:avLst/>
          </a:prstGeom>
          <a:solidFill>
            <a:srgbClr val="C9002B"/>
          </a:solidFill>
          <a:ln w="12700">
            <a:solidFill>
              <a:srgbClr val="C9002B"/>
            </a:solidFill>
            <a:prstDash val="solid"/>
          </a:ln>
        </p:spPr>
      </p:sp>
      <p:pic>
        <p:nvPicPr>
          <p:cNvPr id="16" name="Image 2" descr="preencoded.png">    </p:cNvPr>
          <p:cNvPicPr>
            <a:picLocks noChangeAspect="1"/>
          </p:cNvPicPr>
          <p:nvPr/>
        </p:nvPicPr>
        <p:blipFill>
          <a:blip r:embed="rId3"/>
          <a:stretch>
            <a:fillRect/>
          </a:stretch>
        </p:blipFill>
        <p:spPr>
          <a:xfrm>
            <a:off x="6595110" y="2251710"/>
            <a:ext cx="297180" cy="297180"/>
          </a:xfrm>
          <a:prstGeom prst="rect">
            <a:avLst/>
          </a:prstGeom>
        </p:spPr>
      </p:pic>
      <p:sp>
        <p:nvSpPr>
          <p:cNvPr id="17" name="Text 12"/>
          <p:cNvSpPr txBox="1"/>
          <p:nvPr/>
        </p:nvSpPr>
        <p:spPr>
          <a:xfrm>
            <a:off x="64465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いつ判断するか</a:t>
            </a:r>
            <a:endParaRPr lang="en-US" sz="1600" dirty="0"/>
          </a:p>
        </p:txBody>
      </p:sp>
      <p:sp>
        <p:nvSpPr>
          <p:cNvPr id="18" name="Text 13"/>
          <p:cNvSpPr txBox="1"/>
          <p:nvPr/>
        </p:nvSpPr>
        <p:spPr>
          <a:xfrm>
            <a:off x="64465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イベント日・予算確定日・決裁日</a:t>
            </a:r>
            <a:endParaRPr lang="en-US" sz="1200" dirty="0"/>
          </a:p>
        </p:txBody>
      </p:sp>
      <p:sp>
        <p:nvSpPr>
          <p:cNvPr id="19" name="Shape 14"/>
          <p:cNvSpPr/>
          <p:nvPr/>
        </p:nvSpPr>
        <p:spPr>
          <a:xfrm>
            <a:off x="8961120" y="1920240"/>
            <a:ext cx="2514600" cy="2148840"/>
          </a:xfrm>
          <a:prstGeom prst="roundRect">
            <a:avLst>
              <a:gd name="adj" fmla="val 4255"/>
            </a:avLst>
          </a:prstGeom>
          <a:solidFill>
            <a:srgbClr val="22394F"/>
          </a:solidFill>
          <a:ln w="12700">
            <a:solidFill>
              <a:srgbClr val="2F4A63"/>
            </a:solidFill>
            <a:prstDash val="solid"/>
          </a:ln>
        </p:spPr>
      </p:sp>
      <p:sp>
        <p:nvSpPr>
          <p:cNvPr id="20" name="Shape 15"/>
          <p:cNvSpPr/>
          <p:nvPr/>
        </p:nvSpPr>
        <p:spPr>
          <a:xfrm>
            <a:off x="9189720" y="2103120"/>
            <a:ext cx="594360" cy="594360"/>
          </a:xfrm>
          <a:prstGeom prst="ellipse">
            <a:avLst/>
          </a:prstGeom>
          <a:solidFill>
            <a:srgbClr val="C9002B"/>
          </a:solidFill>
          <a:ln w="12700">
            <a:solidFill>
              <a:srgbClr val="C9002B"/>
            </a:solidFill>
            <a:prstDash val="solid"/>
          </a:ln>
        </p:spPr>
      </p:sp>
      <p:pic>
        <p:nvPicPr>
          <p:cNvPr id="21" name="Image 3" descr="preencoded.png">    </p:cNvPr>
          <p:cNvPicPr>
            <a:picLocks noChangeAspect="1"/>
          </p:cNvPicPr>
          <p:nvPr/>
        </p:nvPicPr>
        <p:blipFill>
          <a:blip r:embed="rId4"/>
          <a:stretch>
            <a:fillRect/>
          </a:stretch>
        </p:blipFill>
        <p:spPr>
          <a:xfrm>
            <a:off x="9338310" y="2251710"/>
            <a:ext cx="297180" cy="297180"/>
          </a:xfrm>
          <a:prstGeom prst="rect">
            <a:avLst/>
          </a:prstGeom>
        </p:spPr>
      </p:pic>
      <p:sp>
        <p:nvSpPr>
          <p:cNvPr id="22" name="Text 16"/>
          <p:cNvSpPr txBox="1"/>
          <p:nvPr/>
        </p:nvSpPr>
        <p:spPr>
          <a:xfrm>
            <a:off x="91897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何を測れるか</a:t>
            </a:r>
            <a:endParaRPr lang="en-US" sz="1600" dirty="0"/>
          </a:p>
        </p:txBody>
      </p:sp>
      <p:sp>
        <p:nvSpPr>
          <p:cNvPr id="23" name="Text 17"/>
          <p:cNvSpPr txBox="1"/>
          <p:nvPr/>
        </p:nvSpPr>
        <p:spPr>
          <a:xfrm>
            <a:off x="91897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来場実績・申込数・過去の調査結果</a:t>
            </a:r>
            <a:endParaRPr lang="en-US" sz="1200" dirty="0"/>
          </a:p>
        </p:txBody>
      </p:sp>
      <p:sp>
        <p:nvSpPr>
          <p:cNvPr id="24" name="Shape 18"/>
          <p:cNvSpPr/>
          <p:nvPr/>
        </p:nvSpPr>
        <p:spPr>
          <a:xfrm>
            <a:off x="731520" y="4434840"/>
            <a:ext cx="2514600" cy="1234440"/>
          </a:xfrm>
          <a:prstGeom prst="roundRect">
            <a:avLst>
              <a:gd name="adj" fmla="val 7407"/>
            </a:avLst>
          </a:prstGeom>
          <a:solidFill>
            <a:srgbClr val="C9002B"/>
          </a:solidFill>
          <a:ln w="12700">
            <a:solidFill>
              <a:srgbClr val="C9002B"/>
            </a:solidFill>
            <a:prstDash val="solid"/>
          </a:ln>
        </p:spPr>
      </p:sp>
      <p:sp>
        <p:nvSpPr>
          <p:cNvPr id="25" name="Text 19"/>
          <p:cNvSpPr txBox="1"/>
          <p:nvPr/>
        </p:nvSpPr>
        <p:spPr>
          <a:xfrm>
            <a:off x="9144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本日</a:t>
            </a:r>
            <a:endParaRPr lang="en-US" sz="1600" dirty="0"/>
          </a:p>
        </p:txBody>
      </p:sp>
      <p:sp>
        <p:nvSpPr>
          <p:cNvPr id="26" name="Text 20"/>
          <p:cNvSpPr txBox="1"/>
          <p:nvPr/>
        </p:nvSpPr>
        <p:spPr>
          <a:xfrm>
            <a:off x="9144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目的・判断に使う数字・対象の確認</a:t>
            </a:r>
            <a:endParaRPr lang="en-US" sz="1200" dirty="0"/>
          </a:p>
        </p:txBody>
      </p:sp>
      <p:sp>
        <p:nvSpPr>
          <p:cNvPr id="27" name="Shape 21"/>
          <p:cNvSpPr/>
          <p:nvPr/>
        </p:nvSpPr>
        <p:spPr>
          <a:xfrm>
            <a:off x="3474720" y="4434840"/>
            <a:ext cx="2514600" cy="1234440"/>
          </a:xfrm>
          <a:prstGeom prst="roundRect">
            <a:avLst>
              <a:gd name="adj" fmla="val 7407"/>
            </a:avLst>
          </a:prstGeom>
          <a:solidFill>
            <a:srgbClr val="2F4A63"/>
          </a:solidFill>
          <a:ln w="12700">
            <a:solidFill>
              <a:srgbClr val="2F4A63"/>
            </a:solidFill>
            <a:prstDash val="solid"/>
          </a:ln>
        </p:spPr>
      </p:sp>
      <p:sp>
        <p:nvSpPr>
          <p:cNvPr id="28" name="Text 22"/>
          <p:cNvSpPr txBox="1"/>
          <p:nvPr/>
        </p:nvSpPr>
        <p:spPr>
          <a:xfrm>
            <a:off x="36576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1週間以内</a:t>
            </a:r>
            <a:endParaRPr lang="en-US" sz="1600" dirty="0"/>
          </a:p>
        </p:txBody>
      </p:sp>
      <p:sp>
        <p:nvSpPr>
          <p:cNvPr id="29" name="Text 23"/>
          <p:cNvSpPr txBox="1"/>
          <p:nvPr/>
        </p:nvSpPr>
        <p:spPr>
          <a:xfrm>
            <a:off x="36576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仕様案と正式なお見積</a:t>
            </a:r>
            <a:endParaRPr lang="en-US" sz="1200" dirty="0"/>
          </a:p>
        </p:txBody>
      </p:sp>
      <p:sp>
        <p:nvSpPr>
          <p:cNvPr id="30" name="Shape 24"/>
          <p:cNvSpPr/>
          <p:nvPr/>
        </p:nvSpPr>
        <p:spPr>
          <a:xfrm>
            <a:off x="6217920" y="4434840"/>
            <a:ext cx="2514600" cy="1234440"/>
          </a:xfrm>
          <a:prstGeom prst="roundRect">
            <a:avLst>
              <a:gd name="adj" fmla="val 7407"/>
            </a:avLst>
          </a:prstGeom>
          <a:solidFill>
            <a:srgbClr val="2F4A63"/>
          </a:solidFill>
          <a:ln w="12700">
            <a:solidFill>
              <a:srgbClr val="2F4A63"/>
            </a:solidFill>
            <a:prstDash val="solid"/>
          </a:ln>
        </p:spPr>
      </p:sp>
      <p:sp>
        <p:nvSpPr>
          <p:cNvPr id="31" name="Text 25"/>
          <p:cNvSpPr txBox="1"/>
          <p:nvPr/>
        </p:nvSpPr>
        <p:spPr>
          <a:xfrm>
            <a:off x="64008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ご契約</a:t>
            </a:r>
            <a:endParaRPr lang="en-US" sz="1600" dirty="0"/>
          </a:p>
        </p:txBody>
      </p:sp>
      <p:sp>
        <p:nvSpPr>
          <p:cNvPr id="32" name="Text 26"/>
          <p:cNvSpPr txBox="1"/>
          <p:nvPr/>
        </p:nvSpPr>
        <p:spPr>
          <a:xfrm>
            <a:off x="64008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手続き（見積合わせ等）</a:t>
            </a:r>
            <a:endParaRPr lang="en-US" sz="1200" dirty="0"/>
          </a:p>
        </p:txBody>
      </p:sp>
      <p:sp>
        <p:nvSpPr>
          <p:cNvPr id="33" name="Shape 27"/>
          <p:cNvSpPr/>
          <p:nvPr/>
        </p:nvSpPr>
        <p:spPr>
          <a:xfrm>
            <a:off x="8961120" y="4434840"/>
            <a:ext cx="2514600" cy="1234440"/>
          </a:xfrm>
          <a:prstGeom prst="roundRect">
            <a:avLst>
              <a:gd name="adj" fmla="val 7407"/>
            </a:avLst>
          </a:prstGeom>
          <a:solidFill>
            <a:srgbClr val="2F4A63"/>
          </a:solidFill>
          <a:ln w="12700">
            <a:solidFill>
              <a:srgbClr val="2F4A63"/>
            </a:solidFill>
            <a:prstDash val="solid"/>
          </a:ln>
        </p:spPr>
      </p:sp>
      <p:sp>
        <p:nvSpPr>
          <p:cNvPr id="34" name="Text 28"/>
          <p:cNvSpPr txBox="1"/>
          <p:nvPr/>
        </p:nvSpPr>
        <p:spPr>
          <a:xfrm>
            <a:off x="91440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実施</a:t>
            </a:r>
            <a:endParaRPr lang="en-US" sz="1600" dirty="0"/>
          </a:p>
        </p:txBody>
      </p:sp>
      <p:sp>
        <p:nvSpPr>
          <p:cNvPr id="35" name="Text 29"/>
          <p:cNvSpPr txBox="1"/>
          <p:nvPr/>
        </p:nvSpPr>
        <p:spPr>
          <a:xfrm>
            <a:off x="91440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告知・計測・調査 → 報告</a:t>
            </a:r>
            <a:endParaRPr lang="en-US" sz="1200" dirty="0"/>
          </a:p>
        </p:txBody>
      </p:sp>
      <p:sp>
        <p:nvSpPr>
          <p:cNvPr id="36" name="Text 30"/>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BAC8D4"/>
                </a:solidFill>
                <a:latin typeface="Meiryo" pitchFamily="34" charset="0"/>
                <a:ea typeface="Meiryo" pitchFamily="34" charset="-122"/>
                <a:cs typeface="Meiry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選ばれる提案の条件（事例分析の結論）</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公開事例と自治体の審査基準から見えた、提案で最も重視すべきこと</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16</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83080"/>
            <a:ext cx="11064240" cy="1463040"/>
          </a:xfrm>
          <a:prstGeom prst="roundRect">
            <a:avLst>
              <a:gd name="adj" fmla="val 5000"/>
            </a:avLst>
          </a:prstGeom>
          <a:solidFill>
            <a:srgbClr val="13283C"/>
          </a:solidFill>
          <a:ln w="12700">
            <a:solidFill>
              <a:srgbClr val="13283C"/>
            </a:solidFill>
            <a:prstDash val="solid"/>
          </a:ln>
        </p:spPr>
      </p:sp>
      <p:sp>
        <p:nvSpPr>
          <p:cNvPr id="8" name="Shape 6"/>
          <p:cNvSpPr/>
          <p:nvPr/>
        </p:nvSpPr>
        <p:spPr>
          <a:xfrm>
            <a:off x="868680" y="2084832"/>
            <a:ext cx="822960" cy="82296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1074420" y="2290572"/>
            <a:ext cx="411480" cy="411480"/>
          </a:xfrm>
          <a:prstGeom prst="rect">
            <a:avLst/>
          </a:prstGeom>
        </p:spPr>
      </p:pic>
      <p:sp>
        <p:nvSpPr>
          <p:cNvPr id="10" name="Text 7"/>
          <p:cNvSpPr txBox="1"/>
          <p:nvPr/>
        </p:nvSpPr>
        <p:spPr>
          <a:xfrm>
            <a:off x="1920240" y="1901952"/>
            <a:ext cx="2743200" cy="274320"/>
          </a:xfrm>
          <a:prstGeom prst="rect">
            <a:avLst/>
          </a:prstGeom>
          <a:noFill/>
          <a:ln/>
        </p:spPr>
        <p:txBody>
          <a:bodyPr wrap="square" lIns="0" tIns="0" rIns="0" bIns="0" rtlCol="0" anchor="t"/>
          <a:lstStyle/>
          <a:p>
            <a:pPr indent="0" marL="0">
              <a:buNone/>
            </a:pPr>
            <a:r>
              <a:rPr lang="en-US" sz="1200" b="1" dirty="0">
                <a:solidFill>
                  <a:srgbClr val="FF8FA3"/>
                </a:solidFill>
                <a:latin typeface="Meiryo" pitchFamily="34" charset="0"/>
                <a:ea typeface="Meiryo" pitchFamily="34" charset="-122"/>
                <a:cs typeface="Meiryo" pitchFamily="34" charset="-120"/>
              </a:rPr>
              <a:t>最重要</a:t>
            </a:r>
            <a:endParaRPr lang="en-US" sz="1200" dirty="0"/>
          </a:p>
        </p:txBody>
      </p:sp>
      <p:sp>
        <p:nvSpPr>
          <p:cNvPr id="11" name="Text 8"/>
          <p:cNvSpPr txBox="1"/>
          <p:nvPr/>
        </p:nvSpPr>
        <p:spPr>
          <a:xfrm>
            <a:off x="1920240" y="2176272"/>
            <a:ext cx="9509760" cy="457200"/>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顧客の「判断」から逆算し、判断に使えるアウトプットを契約前に見せる</a:t>
            </a:r>
            <a:endParaRPr lang="en-US" sz="1900" dirty="0"/>
          </a:p>
        </p:txBody>
      </p:sp>
      <p:sp>
        <p:nvSpPr>
          <p:cNvPr id="12" name="Text 9"/>
          <p:cNvSpPr txBox="1"/>
          <p:nvPr/>
        </p:nvSpPr>
        <p:spPr>
          <a:xfrm>
            <a:off x="1920240" y="2651760"/>
            <a:ext cx="9509760" cy="4572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栃木県は、複数の無償サービスの中から「どういったデータを取れるのか明確にイメージできた」KDDIを選んだ（→本資料P.09）</a:t>
            </a:r>
            <a:endParaRPr lang="en-US" sz="1200" dirty="0"/>
          </a:p>
        </p:txBody>
      </p:sp>
      <p:sp>
        <p:nvSpPr>
          <p:cNvPr id="13" name="Shape 10"/>
          <p:cNvSpPr/>
          <p:nvPr/>
        </p:nvSpPr>
        <p:spPr>
          <a:xfrm>
            <a:off x="548640" y="3474720"/>
            <a:ext cx="2651760" cy="2148840"/>
          </a:xfrm>
          <a:prstGeom prst="roundRect">
            <a:avLst>
              <a:gd name="adj" fmla="val 3404"/>
            </a:avLst>
          </a:prstGeom>
          <a:solidFill>
            <a:srgbClr val="F2F5F8"/>
          </a:solidFill>
          <a:ln w="12700">
            <a:solidFill>
              <a:srgbClr val="F2F5F8"/>
            </a:solidFill>
            <a:prstDash val="solid"/>
          </a:ln>
        </p:spPr>
      </p:sp>
      <p:sp>
        <p:nvSpPr>
          <p:cNvPr id="14" name="Shape 11"/>
          <p:cNvSpPr/>
          <p:nvPr/>
        </p:nvSpPr>
        <p:spPr>
          <a:xfrm>
            <a:off x="777240" y="3657600"/>
            <a:ext cx="548640" cy="548640"/>
          </a:xfrm>
          <a:prstGeom prst="ellipse">
            <a:avLst/>
          </a:prstGeom>
          <a:solidFill>
            <a:srgbClr val="C9002B"/>
          </a:solidFill>
          <a:ln w="12700">
            <a:solidFill>
              <a:srgbClr val="C9002B"/>
            </a:solidFill>
            <a:prstDash val="solid"/>
          </a:ln>
        </p:spPr>
      </p:sp>
      <p:pic>
        <p:nvPicPr>
          <p:cNvPr id="15" name="Image 1" descr="preencoded.png">    </p:cNvPr>
          <p:cNvPicPr>
            <a:picLocks noChangeAspect="1"/>
          </p:cNvPicPr>
          <p:nvPr/>
        </p:nvPicPr>
        <p:blipFill>
          <a:blip r:embed="rId2"/>
          <a:stretch>
            <a:fillRect/>
          </a:stretch>
        </p:blipFill>
        <p:spPr>
          <a:xfrm>
            <a:off x="914400" y="3794760"/>
            <a:ext cx="274320" cy="274320"/>
          </a:xfrm>
          <a:prstGeom prst="rect">
            <a:avLst/>
          </a:prstGeom>
        </p:spPr>
      </p:pic>
      <p:sp>
        <p:nvSpPr>
          <p:cNvPr id="16" name="Text 12"/>
          <p:cNvSpPr txBox="1"/>
          <p:nvPr/>
        </p:nvSpPr>
        <p:spPr>
          <a:xfrm>
            <a:off x="777240" y="4297680"/>
            <a:ext cx="2286000" cy="365760"/>
          </a:xfrm>
          <a:prstGeom prst="rect">
            <a:avLst/>
          </a:prstGeom>
          <a:noFill/>
          <a:ln/>
        </p:spPr>
        <p:txBody>
          <a:bodyPr wrap="square" lIns="0" tIns="0" rIns="0" bIns="0" rtlCol="0" anchor="t"/>
          <a:lstStyle/>
          <a:p>
            <a:pPr indent="0" marL="0">
              <a:buNone/>
            </a:pPr>
            <a:r>
              <a:rPr lang="en-US" sz="1450" b="1" dirty="0">
                <a:solidFill>
                  <a:srgbClr val="13283C"/>
                </a:solidFill>
                <a:latin typeface="Meiryo" pitchFamily="34" charset="0"/>
                <a:ea typeface="Meiryo" pitchFamily="34" charset="-122"/>
                <a:cs typeface="Meiryo" pitchFamily="34" charset="-120"/>
              </a:rPr>
              <a:t>小さく試せる</a:t>
            </a:r>
            <a:endParaRPr lang="en-US" sz="1450" dirty="0"/>
          </a:p>
        </p:txBody>
      </p:sp>
      <p:sp>
        <p:nvSpPr>
          <p:cNvPr id="17" name="Text 13"/>
          <p:cNvSpPr txBox="1"/>
          <p:nvPr/>
        </p:nvSpPr>
        <p:spPr>
          <a:xfrm>
            <a:off x="777240" y="4681728"/>
            <a:ext cx="2286000" cy="5943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横浜DeNAはトライアルで確認し、定額契約へ</a:t>
            </a:r>
            <a:endParaRPr lang="en-US" sz="1100" dirty="0"/>
          </a:p>
        </p:txBody>
      </p:sp>
      <p:sp>
        <p:nvSpPr>
          <p:cNvPr id="18" name="Text 14"/>
          <p:cNvSpPr txBox="1"/>
          <p:nvPr/>
        </p:nvSpPr>
        <p:spPr>
          <a:xfrm>
            <a:off x="777240" y="5303520"/>
            <a:ext cx="228600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 P.12 A案</a:t>
            </a:r>
            <a:endParaRPr lang="en-US" sz="1050" dirty="0"/>
          </a:p>
        </p:txBody>
      </p:sp>
      <p:sp>
        <p:nvSpPr>
          <p:cNvPr id="19" name="Shape 15"/>
          <p:cNvSpPr/>
          <p:nvPr/>
        </p:nvSpPr>
        <p:spPr>
          <a:xfrm>
            <a:off x="3355848" y="3474720"/>
            <a:ext cx="2651760" cy="2148840"/>
          </a:xfrm>
          <a:prstGeom prst="roundRect">
            <a:avLst>
              <a:gd name="adj" fmla="val 3404"/>
            </a:avLst>
          </a:prstGeom>
          <a:solidFill>
            <a:srgbClr val="F2F5F8"/>
          </a:solidFill>
          <a:ln w="12700">
            <a:solidFill>
              <a:srgbClr val="F2F5F8"/>
            </a:solidFill>
            <a:prstDash val="solid"/>
          </a:ln>
        </p:spPr>
      </p:sp>
      <p:sp>
        <p:nvSpPr>
          <p:cNvPr id="20" name="Shape 16"/>
          <p:cNvSpPr/>
          <p:nvPr/>
        </p:nvSpPr>
        <p:spPr>
          <a:xfrm>
            <a:off x="3584448" y="3657600"/>
            <a:ext cx="548640" cy="548640"/>
          </a:xfrm>
          <a:prstGeom prst="ellipse">
            <a:avLst/>
          </a:prstGeom>
          <a:solidFill>
            <a:srgbClr val="C9002B"/>
          </a:solidFill>
          <a:ln w="12700">
            <a:solidFill>
              <a:srgbClr val="C9002B"/>
            </a:solidFill>
            <a:prstDash val="solid"/>
          </a:ln>
        </p:spPr>
      </p:sp>
      <p:pic>
        <p:nvPicPr>
          <p:cNvPr id="21" name="Image 2" descr="preencoded.png">    </p:cNvPr>
          <p:cNvPicPr>
            <a:picLocks noChangeAspect="1"/>
          </p:cNvPicPr>
          <p:nvPr/>
        </p:nvPicPr>
        <p:blipFill>
          <a:blip r:embed="rId3"/>
          <a:stretch>
            <a:fillRect/>
          </a:stretch>
        </p:blipFill>
        <p:spPr>
          <a:xfrm>
            <a:off x="3721608" y="3794760"/>
            <a:ext cx="274320" cy="274320"/>
          </a:xfrm>
          <a:prstGeom prst="rect">
            <a:avLst/>
          </a:prstGeom>
        </p:spPr>
      </p:pic>
      <p:sp>
        <p:nvSpPr>
          <p:cNvPr id="22" name="Text 17"/>
          <p:cNvSpPr txBox="1"/>
          <p:nvPr/>
        </p:nvSpPr>
        <p:spPr>
          <a:xfrm>
            <a:off x="3584448" y="4297680"/>
            <a:ext cx="2286000" cy="365760"/>
          </a:xfrm>
          <a:prstGeom prst="rect">
            <a:avLst/>
          </a:prstGeom>
          <a:noFill/>
          <a:ln/>
        </p:spPr>
        <p:txBody>
          <a:bodyPr wrap="square" lIns="0" tIns="0" rIns="0" bIns="0" rtlCol="0" anchor="t"/>
          <a:lstStyle/>
          <a:p>
            <a:pPr indent="0" marL="0">
              <a:buNone/>
            </a:pPr>
            <a:r>
              <a:rPr lang="en-US" sz="1450" b="1" dirty="0">
                <a:solidFill>
                  <a:srgbClr val="13283C"/>
                </a:solidFill>
                <a:latin typeface="Meiryo" pitchFamily="34" charset="0"/>
                <a:ea typeface="Meiryo" pitchFamily="34" charset="-122"/>
                <a:cs typeface="Meiryo" pitchFamily="34" charset="-120"/>
              </a:rPr>
              <a:t>成果を顧客の言葉で</a:t>
            </a:r>
            <a:endParaRPr lang="en-US" sz="1450" dirty="0"/>
          </a:p>
        </p:txBody>
      </p:sp>
      <p:sp>
        <p:nvSpPr>
          <p:cNvPr id="23" name="Text 18"/>
          <p:cNvSpPr txBox="1"/>
          <p:nvPr/>
        </p:nvSpPr>
        <p:spPr>
          <a:xfrm>
            <a:off x="3584448" y="4681728"/>
            <a:ext cx="2286000" cy="5943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川崎Fは1試合2,419万円、みやぎんは経済波及効果</a:t>
            </a:r>
            <a:endParaRPr lang="en-US" sz="1100" dirty="0"/>
          </a:p>
        </p:txBody>
      </p:sp>
      <p:sp>
        <p:nvSpPr>
          <p:cNvPr id="24" name="Text 19"/>
          <p:cNvSpPr txBox="1"/>
          <p:nvPr/>
        </p:nvSpPr>
        <p:spPr>
          <a:xfrm>
            <a:off x="3584448" y="5303520"/>
            <a:ext cx="228600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 P.09・10</a:t>
            </a:r>
            <a:endParaRPr lang="en-US" sz="1050" dirty="0"/>
          </a:p>
        </p:txBody>
      </p:sp>
      <p:sp>
        <p:nvSpPr>
          <p:cNvPr id="25" name="Shape 20"/>
          <p:cNvSpPr/>
          <p:nvPr/>
        </p:nvSpPr>
        <p:spPr>
          <a:xfrm>
            <a:off x="6163056" y="3474720"/>
            <a:ext cx="2651760" cy="2148840"/>
          </a:xfrm>
          <a:prstGeom prst="roundRect">
            <a:avLst>
              <a:gd name="adj" fmla="val 3404"/>
            </a:avLst>
          </a:prstGeom>
          <a:solidFill>
            <a:srgbClr val="F2F5F8"/>
          </a:solidFill>
          <a:ln w="12700">
            <a:solidFill>
              <a:srgbClr val="F2F5F8"/>
            </a:solidFill>
            <a:prstDash val="solid"/>
          </a:ln>
        </p:spPr>
      </p:sp>
      <p:sp>
        <p:nvSpPr>
          <p:cNvPr id="26" name="Shape 21"/>
          <p:cNvSpPr/>
          <p:nvPr/>
        </p:nvSpPr>
        <p:spPr>
          <a:xfrm>
            <a:off x="6391656" y="3657600"/>
            <a:ext cx="548640" cy="548640"/>
          </a:xfrm>
          <a:prstGeom prst="ellipse">
            <a:avLst/>
          </a:prstGeom>
          <a:solidFill>
            <a:srgbClr val="C9002B"/>
          </a:solidFill>
          <a:ln w="12700">
            <a:solidFill>
              <a:srgbClr val="C9002B"/>
            </a:solidFill>
            <a:prstDash val="solid"/>
          </a:ln>
        </p:spPr>
      </p:sp>
      <p:pic>
        <p:nvPicPr>
          <p:cNvPr id="27" name="Image 3" descr="preencoded.png">    </p:cNvPr>
          <p:cNvPicPr>
            <a:picLocks noChangeAspect="1"/>
          </p:cNvPicPr>
          <p:nvPr/>
        </p:nvPicPr>
        <p:blipFill>
          <a:blip r:embed="rId4"/>
          <a:stretch>
            <a:fillRect/>
          </a:stretch>
        </p:blipFill>
        <p:spPr>
          <a:xfrm>
            <a:off x="6528816" y="3794760"/>
            <a:ext cx="274320" cy="274320"/>
          </a:xfrm>
          <a:prstGeom prst="rect">
            <a:avLst/>
          </a:prstGeom>
        </p:spPr>
      </p:pic>
      <p:sp>
        <p:nvSpPr>
          <p:cNvPr id="28" name="Text 22"/>
          <p:cNvSpPr txBox="1"/>
          <p:nvPr/>
        </p:nvSpPr>
        <p:spPr>
          <a:xfrm>
            <a:off x="6391656" y="4297680"/>
            <a:ext cx="2286000" cy="365760"/>
          </a:xfrm>
          <a:prstGeom prst="rect">
            <a:avLst/>
          </a:prstGeom>
          <a:noFill/>
          <a:ln/>
        </p:spPr>
        <p:txBody>
          <a:bodyPr wrap="square" lIns="0" tIns="0" rIns="0" bIns="0" rtlCol="0" anchor="t"/>
          <a:lstStyle/>
          <a:p>
            <a:pPr indent="0" marL="0">
              <a:buNone/>
            </a:pPr>
            <a:r>
              <a:rPr lang="en-US" sz="1450" b="1" dirty="0">
                <a:solidFill>
                  <a:srgbClr val="13283C"/>
                </a:solidFill>
                <a:latin typeface="Meiryo" pitchFamily="34" charset="0"/>
                <a:ea typeface="Meiryo" pitchFamily="34" charset="-122"/>
                <a:cs typeface="Meiryo" pitchFamily="34" charset="-120"/>
              </a:rPr>
              <a:t>予算・調達の時期</a:t>
            </a:r>
            <a:endParaRPr lang="en-US" sz="1450" dirty="0"/>
          </a:p>
        </p:txBody>
      </p:sp>
      <p:sp>
        <p:nvSpPr>
          <p:cNvPr id="29" name="Text 23"/>
          <p:cNvSpPr txBox="1"/>
          <p:nvPr/>
        </p:nvSpPr>
        <p:spPr>
          <a:xfrm>
            <a:off x="6391656" y="4681728"/>
            <a:ext cx="2286000" cy="5943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自治体は9〜10月の予算要求前に材料を渡す</a:t>
            </a:r>
            <a:endParaRPr lang="en-US" sz="1100" dirty="0"/>
          </a:p>
        </p:txBody>
      </p:sp>
      <p:sp>
        <p:nvSpPr>
          <p:cNvPr id="30" name="Text 24"/>
          <p:cNvSpPr txBox="1"/>
          <p:nvPr/>
        </p:nvSpPr>
        <p:spPr>
          <a:xfrm>
            <a:off x="6391656" y="5303520"/>
            <a:ext cx="228600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 P.19</a:t>
            </a:r>
            <a:endParaRPr lang="en-US" sz="1050" dirty="0"/>
          </a:p>
        </p:txBody>
      </p:sp>
      <p:sp>
        <p:nvSpPr>
          <p:cNvPr id="31" name="Shape 25"/>
          <p:cNvSpPr/>
          <p:nvPr/>
        </p:nvSpPr>
        <p:spPr>
          <a:xfrm>
            <a:off x="8970264" y="3474720"/>
            <a:ext cx="2651760" cy="2148840"/>
          </a:xfrm>
          <a:prstGeom prst="roundRect">
            <a:avLst>
              <a:gd name="adj" fmla="val 3404"/>
            </a:avLst>
          </a:prstGeom>
          <a:solidFill>
            <a:srgbClr val="F2F5F8"/>
          </a:solidFill>
          <a:ln w="12700">
            <a:solidFill>
              <a:srgbClr val="F2F5F8"/>
            </a:solidFill>
            <a:prstDash val="solid"/>
          </a:ln>
        </p:spPr>
      </p:sp>
      <p:sp>
        <p:nvSpPr>
          <p:cNvPr id="32" name="Shape 26"/>
          <p:cNvSpPr/>
          <p:nvPr/>
        </p:nvSpPr>
        <p:spPr>
          <a:xfrm>
            <a:off x="9198864" y="3657600"/>
            <a:ext cx="548640" cy="548640"/>
          </a:xfrm>
          <a:prstGeom prst="ellipse">
            <a:avLst/>
          </a:prstGeom>
          <a:solidFill>
            <a:srgbClr val="C9002B"/>
          </a:solidFill>
          <a:ln w="12700">
            <a:solidFill>
              <a:srgbClr val="C9002B"/>
            </a:solidFill>
            <a:prstDash val="solid"/>
          </a:ln>
        </p:spPr>
      </p:sp>
      <p:pic>
        <p:nvPicPr>
          <p:cNvPr id="33" name="Image 4" descr="preencoded.png">    </p:cNvPr>
          <p:cNvPicPr>
            <a:picLocks noChangeAspect="1"/>
          </p:cNvPicPr>
          <p:nvPr/>
        </p:nvPicPr>
        <p:blipFill>
          <a:blip r:embed="rId5"/>
          <a:stretch>
            <a:fillRect/>
          </a:stretch>
        </p:blipFill>
        <p:spPr>
          <a:xfrm>
            <a:off x="9336024" y="3794760"/>
            <a:ext cx="274320" cy="274320"/>
          </a:xfrm>
          <a:prstGeom prst="rect">
            <a:avLst/>
          </a:prstGeom>
        </p:spPr>
      </p:pic>
      <p:sp>
        <p:nvSpPr>
          <p:cNvPr id="34" name="Text 27"/>
          <p:cNvSpPr txBox="1"/>
          <p:nvPr/>
        </p:nvSpPr>
        <p:spPr>
          <a:xfrm>
            <a:off x="9198864" y="4297680"/>
            <a:ext cx="2286000" cy="365760"/>
          </a:xfrm>
          <a:prstGeom prst="rect">
            <a:avLst/>
          </a:prstGeom>
          <a:noFill/>
          <a:ln/>
        </p:spPr>
        <p:txBody>
          <a:bodyPr wrap="square" lIns="0" tIns="0" rIns="0" bIns="0" rtlCol="0" anchor="t"/>
          <a:lstStyle/>
          <a:p>
            <a:pPr indent="0" marL="0">
              <a:buNone/>
            </a:pPr>
            <a:r>
              <a:rPr lang="en-US" sz="1450" b="1" dirty="0">
                <a:solidFill>
                  <a:srgbClr val="13283C"/>
                </a:solidFill>
                <a:latin typeface="Meiryo" pitchFamily="34" charset="0"/>
                <a:ea typeface="Meiryo" pitchFamily="34" charset="-122"/>
                <a:cs typeface="Meiryo" pitchFamily="34" charset="-120"/>
              </a:rPr>
              <a:t>課題起点・体制</a:t>
            </a:r>
            <a:endParaRPr lang="en-US" sz="1450" dirty="0"/>
          </a:p>
        </p:txBody>
      </p:sp>
      <p:sp>
        <p:nvSpPr>
          <p:cNvPr id="35" name="Text 28"/>
          <p:cNvSpPr txBox="1"/>
          <p:nvPr/>
        </p:nvSpPr>
        <p:spPr>
          <a:xfrm>
            <a:off x="9198864" y="4681728"/>
            <a:ext cx="2286000" cy="5943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審査基準は業務理解・目標設定・体制に配点</a:t>
            </a:r>
            <a:endParaRPr lang="en-US" sz="1100" dirty="0"/>
          </a:p>
        </p:txBody>
      </p:sp>
      <p:sp>
        <p:nvSpPr>
          <p:cNvPr id="36" name="Text 29"/>
          <p:cNvSpPr txBox="1"/>
          <p:nvPr/>
        </p:nvSpPr>
        <p:spPr>
          <a:xfrm>
            <a:off x="9198864" y="5303520"/>
            <a:ext cx="228600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 P.03・19・20</a:t>
            </a:r>
            <a:endParaRPr lang="en-US" sz="1050" dirty="0"/>
          </a:p>
        </p:txBody>
      </p:sp>
      <p:sp>
        <p:nvSpPr>
          <p:cNvPr id="37" name="Shape 30"/>
          <p:cNvSpPr/>
          <p:nvPr/>
        </p:nvSpPr>
        <p:spPr>
          <a:xfrm>
            <a:off x="548640" y="5760720"/>
            <a:ext cx="11064240" cy="438912"/>
          </a:xfrm>
          <a:prstGeom prst="roundRect">
            <a:avLst>
              <a:gd name="adj" fmla="val 16667"/>
            </a:avLst>
          </a:prstGeom>
          <a:solidFill>
            <a:srgbClr val="FBEAEE"/>
          </a:solidFill>
          <a:ln w="12700">
            <a:solidFill>
              <a:srgbClr val="FBEAEE"/>
            </a:solidFill>
            <a:prstDash val="solid"/>
          </a:ln>
        </p:spPr>
      </p:sp>
      <p:sp>
        <p:nvSpPr>
          <p:cNvPr id="38" name="Text 31"/>
          <p:cNvSpPr txBox="1"/>
          <p:nvPr/>
        </p:nvSpPr>
        <p:spPr>
          <a:xfrm>
            <a:off x="777240" y="5760720"/>
            <a:ext cx="10607040" cy="438912"/>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やってはいけない：商材紹介から始める／3商材を一括で売る／成果・人数を保証する／推計人口を入場者数として話す</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競合比較：人流データと、調査・広告</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取り方の違い（基地局型とGPS型）が得意・不得意を決める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17</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1828800" y="1691640"/>
            <a:ext cx="2468880" cy="457200"/>
          </a:xfrm>
          <a:prstGeom prst="rect">
            <a:avLst/>
          </a:prstGeom>
          <a:solidFill>
            <a:srgbClr val="C9002B"/>
          </a:solidFill>
          <a:ln w="12700">
            <a:solidFill>
              <a:srgbClr val="C9002B"/>
            </a:solidFill>
            <a:prstDash val="solid"/>
          </a:ln>
        </p:spPr>
      </p:sp>
      <p:sp>
        <p:nvSpPr>
          <p:cNvPr id="8" name="Text 6"/>
          <p:cNvSpPr txBox="1"/>
          <p:nvPr/>
        </p:nvSpPr>
        <p:spPr>
          <a:xfrm>
            <a:off x="1883664" y="1691640"/>
            <a:ext cx="2359152"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Meiryo" pitchFamily="34" charset="0"/>
                <a:ea typeface="Meiryo" pitchFamily="34" charset="-122"/>
                <a:cs typeface="Meiryo" pitchFamily="34" charset="-120"/>
              </a:rPr>
              <a:t>モバイル空間統計（ドコモ）</a:t>
            </a:r>
            <a:endParaRPr lang="en-US" sz="1100" dirty="0"/>
          </a:p>
        </p:txBody>
      </p:sp>
      <p:sp>
        <p:nvSpPr>
          <p:cNvPr id="9" name="Shape 7"/>
          <p:cNvSpPr/>
          <p:nvPr/>
        </p:nvSpPr>
        <p:spPr>
          <a:xfrm>
            <a:off x="4389120" y="1691640"/>
            <a:ext cx="2331720" cy="457200"/>
          </a:xfrm>
          <a:prstGeom prst="rect">
            <a:avLst/>
          </a:prstGeom>
          <a:solidFill>
            <a:srgbClr val="13283C"/>
          </a:solidFill>
          <a:ln w="12700">
            <a:solidFill>
              <a:srgbClr val="13283C"/>
            </a:solidFill>
            <a:prstDash val="solid"/>
          </a:ln>
        </p:spPr>
      </p:sp>
      <p:sp>
        <p:nvSpPr>
          <p:cNvPr id="10" name="Text 8"/>
          <p:cNvSpPr txBox="1"/>
          <p:nvPr/>
        </p:nvSpPr>
        <p:spPr>
          <a:xfrm>
            <a:off x="4443984" y="1691640"/>
            <a:ext cx="2221992"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Meiryo" pitchFamily="34" charset="0"/>
                <a:ea typeface="Meiryo" pitchFamily="34" charset="-122"/>
                <a:cs typeface="Meiryo" pitchFamily="34" charset="-120"/>
              </a:rPr>
              <a:t>KDDI Location Analyzer</a:t>
            </a:r>
            <a:endParaRPr lang="en-US" sz="1100" dirty="0"/>
          </a:p>
        </p:txBody>
      </p:sp>
      <p:sp>
        <p:nvSpPr>
          <p:cNvPr id="11" name="Shape 9"/>
          <p:cNvSpPr/>
          <p:nvPr/>
        </p:nvSpPr>
        <p:spPr>
          <a:xfrm>
            <a:off x="6812280" y="1691640"/>
            <a:ext cx="2331720" cy="457200"/>
          </a:xfrm>
          <a:prstGeom prst="rect">
            <a:avLst/>
          </a:prstGeom>
          <a:solidFill>
            <a:srgbClr val="13283C"/>
          </a:solidFill>
          <a:ln w="12700">
            <a:solidFill>
              <a:srgbClr val="13283C"/>
            </a:solidFill>
            <a:prstDash val="solid"/>
          </a:ln>
        </p:spPr>
      </p:sp>
      <p:sp>
        <p:nvSpPr>
          <p:cNvPr id="12" name="Text 10"/>
          <p:cNvSpPr txBox="1"/>
          <p:nvPr/>
        </p:nvSpPr>
        <p:spPr>
          <a:xfrm>
            <a:off x="6867144" y="1691640"/>
            <a:ext cx="2221992"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Meiryo" pitchFamily="34" charset="0"/>
                <a:ea typeface="Meiryo" pitchFamily="34" charset="-122"/>
                <a:cs typeface="Meiryo" pitchFamily="34" charset="-120"/>
              </a:rPr>
              <a:t>Agoop（ソフトバンク子会社）</a:t>
            </a:r>
            <a:endParaRPr lang="en-US" sz="1100" dirty="0"/>
          </a:p>
        </p:txBody>
      </p:sp>
      <p:sp>
        <p:nvSpPr>
          <p:cNvPr id="13" name="Shape 11"/>
          <p:cNvSpPr/>
          <p:nvPr/>
        </p:nvSpPr>
        <p:spPr>
          <a:xfrm>
            <a:off x="9235440" y="1691640"/>
            <a:ext cx="2331720" cy="457200"/>
          </a:xfrm>
          <a:prstGeom prst="rect">
            <a:avLst/>
          </a:prstGeom>
          <a:solidFill>
            <a:srgbClr val="13283C"/>
          </a:solidFill>
          <a:ln w="12700">
            <a:solidFill>
              <a:srgbClr val="13283C"/>
            </a:solidFill>
            <a:prstDash val="solid"/>
          </a:ln>
        </p:spPr>
      </p:sp>
      <p:sp>
        <p:nvSpPr>
          <p:cNvPr id="14" name="Text 12"/>
          <p:cNvSpPr txBox="1"/>
          <p:nvPr/>
        </p:nvSpPr>
        <p:spPr>
          <a:xfrm>
            <a:off x="9290304" y="1691640"/>
            <a:ext cx="2221992" cy="45720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Meiryo" pitchFamily="34" charset="0"/>
                <a:ea typeface="Meiryo" pitchFamily="34" charset="-122"/>
                <a:cs typeface="Meiryo" pitchFamily="34" charset="-120"/>
              </a:rPr>
              <a:t>混雑統計（ゼンリンデータコム）</a:t>
            </a:r>
            <a:endParaRPr lang="en-US" sz="1100" dirty="0"/>
          </a:p>
        </p:txBody>
      </p:sp>
      <p:sp>
        <p:nvSpPr>
          <p:cNvPr id="15" name="Shape 13"/>
          <p:cNvSpPr/>
          <p:nvPr/>
        </p:nvSpPr>
        <p:spPr>
          <a:xfrm>
            <a:off x="548640" y="2194560"/>
            <a:ext cx="1188720" cy="374904"/>
          </a:xfrm>
          <a:prstGeom prst="rect">
            <a:avLst/>
          </a:prstGeom>
          <a:solidFill>
            <a:srgbClr val="F2F5F8"/>
          </a:solidFill>
          <a:ln w="6350">
            <a:solidFill>
              <a:srgbClr val="D5DDE5"/>
            </a:solidFill>
            <a:prstDash val="solid"/>
          </a:ln>
        </p:spPr>
      </p:sp>
      <p:sp>
        <p:nvSpPr>
          <p:cNvPr id="16" name="Text 14"/>
          <p:cNvSpPr txBox="1"/>
          <p:nvPr/>
        </p:nvSpPr>
        <p:spPr>
          <a:xfrm>
            <a:off x="603504" y="2194560"/>
            <a:ext cx="1078992" cy="374904"/>
          </a:xfrm>
          <a:prstGeom prst="rect">
            <a:avLst/>
          </a:prstGeom>
          <a:noFill/>
          <a:ln/>
        </p:spPr>
        <p:txBody>
          <a:bodyPr wrap="square" lIns="0" tIns="0" rIns="0" bIns="0" rtlCol="0" anchor="ctr">
            <a:normAutofit/>
          </a:bodyPr>
          <a:lstStyle/>
          <a:p>
            <a:pPr indent="0" marL="0">
              <a:buNone/>
            </a:pPr>
            <a:r>
              <a:rPr lang="en-US" sz="1050" b="1" dirty="0">
                <a:solidFill>
                  <a:srgbClr val="13283C"/>
                </a:solidFill>
                <a:latin typeface="Meiryo" pitchFamily="34" charset="0"/>
                <a:ea typeface="Meiryo" pitchFamily="34" charset="-122"/>
                <a:cs typeface="Meiryo" pitchFamily="34" charset="-120"/>
              </a:rPr>
              <a:t>取り方</a:t>
            </a:r>
            <a:endParaRPr lang="en-US" sz="1050" dirty="0"/>
          </a:p>
        </p:txBody>
      </p:sp>
      <p:sp>
        <p:nvSpPr>
          <p:cNvPr id="17" name="Shape 15"/>
          <p:cNvSpPr/>
          <p:nvPr/>
        </p:nvSpPr>
        <p:spPr>
          <a:xfrm>
            <a:off x="1828800" y="2194560"/>
            <a:ext cx="2468880" cy="374904"/>
          </a:xfrm>
          <a:prstGeom prst="rect">
            <a:avLst/>
          </a:prstGeom>
          <a:solidFill>
            <a:srgbClr val="FBEAEE"/>
          </a:solidFill>
          <a:ln w="6350">
            <a:solidFill>
              <a:srgbClr val="D5DDE5"/>
            </a:solidFill>
            <a:prstDash val="solid"/>
          </a:ln>
        </p:spPr>
      </p:sp>
      <p:sp>
        <p:nvSpPr>
          <p:cNvPr id="18" name="Text 16"/>
          <p:cNvSpPr txBox="1"/>
          <p:nvPr/>
        </p:nvSpPr>
        <p:spPr>
          <a:xfrm>
            <a:off x="1883664" y="2194560"/>
            <a:ext cx="2359152" cy="374904"/>
          </a:xfrm>
          <a:prstGeom prst="rect">
            <a:avLst/>
          </a:prstGeom>
          <a:noFill/>
          <a:ln/>
        </p:spPr>
        <p:txBody>
          <a:bodyPr wrap="square" lIns="0" tIns="0" rIns="0" bIns="0" rtlCol="0" anchor="ctr">
            <a:normAutofit/>
          </a:bodyPr>
          <a:lstStyle/>
          <a:p>
            <a:pPr indent="0" marL="0">
              <a:buNone/>
            </a:pPr>
            <a:r>
              <a:rPr lang="en-US" sz="1000" b="1" dirty="0">
                <a:solidFill>
                  <a:srgbClr val="1B2B3D"/>
                </a:solidFill>
                <a:latin typeface="Meiryo" pitchFamily="34" charset="0"/>
                <a:ea typeface="Meiryo" pitchFamily="34" charset="-122"/>
                <a:cs typeface="Meiryo" pitchFamily="34" charset="-120"/>
              </a:rPr>
              <a:t>基地局の運用データ</a:t>
            </a:r>
            <a:endParaRPr lang="en-US" sz="1000" dirty="0"/>
          </a:p>
        </p:txBody>
      </p:sp>
      <p:sp>
        <p:nvSpPr>
          <p:cNvPr id="19" name="Shape 17"/>
          <p:cNvSpPr/>
          <p:nvPr/>
        </p:nvSpPr>
        <p:spPr>
          <a:xfrm>
            <a:off x="4389120" y="2194560"/>
            <a:ext cx="2331720" cy="374904"/>
          </a:xfrm>
          <a:prstGeom prst="rect">
            <a:avLst/>
          </a:prstGeom>
          <a:solidFill>
            <a:srgbClr val="FFFFFF"/>
          </a:solidFill>
          <a:ln w="6350">
            <a:solidFill>
              <a:srgbClr val="D5DDE5"/>
            </a:solidFill>
            <a:prstDash val="solid"/>
          </a:ln>
        </p:spPr>
      </p:sp>
      <p:sp>
        <p:nvSpPr>
          <p:cNvPr id="20" name="Text 18"/>
          <p:cNvSpPr txBox="1"/>
          <p:nvPr/>
        </p:nvSpPr>
        <p:spPr>
          <a:xfrm>
            <a:off x="4443984" y="219456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auスマホのGPS（同意者）</a:t>
            </a:r>
            <a:endParaRPr lang="en-US" sz="1000" dirty="0"/>
          </a:p>
        </p:txBody>
      </p:sp>
      <p:sp>
        <p:nvSpPr>
          <p:cNvPr id="21" name="Shape 19"/>
          <p:cNvSpPr/>
          <p:nvPr/>
        </p:nvSpPr>
        <p:spPr>
          <a:xfrm>
            <a:off x="6812280" y="2194560"/>
            <a:ext cx="2331720" cy="374904"/>
          </a:xfrm>
          <a:prstGeom prst="rect">
            <a:avLst/>
          </a:prstGeom>
          <a:solidFill>
            <a:srgbClr val="FFFFFF"/>
          </a:solidFill>
          <a:ln w="6350">
            <a:solidFill>
              <a:srgbClr val="D5DDE5"/>
            </a:solidFill>
            <a:prstDash val="solid"/>
          </a:ln>
        </p:spPr>
      </p:sp>
      <p:sp>
        <p:nvSpPr>
          <p:cNvPr id="22" name="Text 20"/>
          <p:cNvSpPr txBox="1"/>
          <p:nvPr/>
        </p:nvSpPr>
        <p:spPr>
          <a:xfrm>
            <a:off x="6867144" y="219456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提携アプリのGPS（同意者）</a:t>
            </a:r>
            <a:endParaRPr lang="en-US" sz="1000" dirty="0"/>
          </a:p>
        </p:txBody>
      </p:sp>
      <p:sp>
        <p:nvSpPr>
          <p:cNvPr id="23" name="Shape 21"/>
          <p:cNvSpPr/>
          <p:nvPr/>
        </p:nvSpPr>
        <p:spPr>
          <a:xfrm>
            <a:off x="9235440" y="2194560"/>
            <a:ext cx="2331720" cy="374904"/>
          </a:xfrm>
          <a:prstGeom prst="rect">
            <a:avLst/>
          </a:prstGeom>
          <a:solidFill>
            <a:srgbClr val="FFFFFF"/>
          </a:solidFill>
          <a:ln w="6350">
            <a:solidFill>
              <a:srgbClr val="D5DDE5"/>
            </a:solidFill>
            <a:prstDash val="solid"/>
          </a:ln>
        </p:spPr>
      </p:sp>
      <p:sp>
        <p:nvSpPr>
          <p:cNvPr id="24" name="Text 22"/>
          <p:cNvSpPr txBox="1"/>
          <p:nvPr/>
        </p:nvSpPr>
        <p:spPr>
          <a:xfrm>
            <a:off x="9290304" y="219456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ドコモのアプリのGPS（同意者）</a:t>
            </a:r>
            <a:endParaRPr lang="en-US" sz="1000" dirty="0"/>
          </a:p>
        </p:txBody>
      </p:sp>
      <p:sp>
        <p:nvSpPr>
          <p:cNvPr id="25" name="Shape 23"/>
          <p:cNvSpPr/>
          <p:nvPr/>
        </p:nvSpPr>
        <p:spPr>
          <a:xfrm>
            <a:off x="548640" y="2606040"/>
            <a:ext cx="1188720" cy="374904"/>
          </a:xfrm>
          <a:prstGeom prst="rect">
            <a:avLst/>
          </a:prstGeom>
          <a:solidFill>
            <a:srgbClr val="F2F5F8"/>
          </a:solidFill>
          <a:ln w="6350">
            <a:solidFill>
              <a:srgbClr val="D5DDE5"/>
            </a:solidFill>
            <a:prstDash val="solid"/>
          </a:ln>
        </p:spPr>
      </p:sp>
      <p:sp>
        <p:nvSpPr>
          <p:cNvPr id="26" name="Text 24"/>
          <p:cNvSpPr txBox="1"/>
          <p:nvPr/>
        </p:nvSpPr>
        <p:spPr>
          <a:xfrm>
            <a:off x="603504" y="2606040"/>
            <a:ext cx="1078992" cy="374904"/>
          </a:xfrm>
          <a:prstGeom prst="rect">
            <a:avLst/>
          </a:prstGeom>
          <a:noFill/>
          <a:ln/>
        </p:spPr>
        <p:txBody>
          <a:bodyPr wrap="square" lIns="0" tIns="0" rIns="0" bIns="0" rtlCol="0" anchor="ctr">
            <a:normAutofit/>
          </a:bodyPr>
          <a:lstStyle/>
          <a:p>
            <a:pPr indent="0" marL="0">
              <a:buNone/>
            </a:pPr>
            <a:r>
              <a:rPr lang="en-US" sz="1050" b="1" dirty="0">
                <a:solidFill>
                  <a:srgbClr val="13283C"/>
                </a:solidFill>
                <a:latin typeface="Meiryo" pitchFamily="34" charset="0"/>
                <a:ea typeface="Meiryo" pitchFamily="34" charset="-122"/>
                <a:cs typeface="Meiryo" pitchFamily="34" charset="-120"/>
              </a:rPr>
              <a:t>規模</a:t>
            </a:r>
            <a:endParaRPr lang="en-US" sz="1050" dirty="0"/>
          </a:p>
        </p:txBody>
      </p:sp>
      <p:sp>
        <p:nvSpPr>
          <p:cNvPr id="27" name="Shape 25"/>
          <p:cNvSpPr/>
          <p:nvPr/>
        </p:nvSpPr>
        <p:spPr>
          <a:xfrm>
            <a:off x="1828800" y="2606040"/>
            <a:ext cx="2468880" cy="374904"/>
          </a:xfrm>
          <a:prstGeom prst="rect">
            <a:avLst/>
          </a:prstGeom>
          <a:solidFill>
            <a:srgbClr val="FBEAEE"/>
          </a:solidFill>
          <a:ln w="6350">
            <a:solidFill>
              <a:srgbClr val="D5DDE5"/>
            </a:solidFill>
            <a:prstDash val="solid"/>
          </a:ln>
        </p:spPr>
      </p:sp>
      <p:sp>
        <p:nvSpPr>
          <p:cNvPr id="28" name="Text 26"/>
          <p:cNvSpPr txBox="1"/>
          <p:nvPr/>
        </p:nvSpPr>
        <p:spPr>
          <a:xfrm>
            <a:off x="1883664" y="2606040"/>
            <a:ext cx="2359152" cy="374904"/>
          </a:xfrm>
          <a:prstGeom prst="rect">
            <a:avLst/>
          </a:prstGeom>
          <a:noFill/>
          <a:ln/>
        </p:spPr>
        <p:txBody>
          <a:bodyPr wrap="square" lIns="0" tIns="0" rIns="0" bIns="0" rtlCol="0" anchor="ctr">
            <a:normAutofit/>
          </a:bodyPr>
          <a:lstStyle/>
          <a:p>
            <a:pPr indent="0" marL="0">
              <a:buNone/>
            </a:pPr>
            <a:r>
              <a:rPr lang="en-US" sz="1000" b="1" dirty="0">
                <a:solidFill>
                  <a:srgbClr val="1B2B3D"/>
                </a:solidFill>
                <a:latin typeface="Meiryo" pitchFamily="34" charset="0"/>
                <a:ea typeface="Meiryo" pitchFamily="34" charset="-122"/>
                <a:cs typeface="Meiryo" pitchFamily="34" charset="-120"/>
              </a:rPr>
              <a:t>国内 約8,900万台／訪日 約1,200万台</a:t>
            </a:r>
            <a:endParaRPr lang="en-US" sz="1000" dirty="0"/>
          </a:p>
        </p:txBody>
      </p:sp>
      <p:sp>
        <p:nvSpPr>
          <p:cNvPr id="29" name="Shape 27"/>
          <p:cNvSpPr/>
          <p:nvPr/>
        </p:nvSpPr>
        <p:spPr>
          <a:xfrm>
            <a:off x="4389120" y="2606040"/>
            <a:ext cx="2331720" cy="374904"/>
          </a:xfrm>
          <a:prstGeom prst="rect">
            <a:avLst/>
          </a:prstGeom>
          <a:solidFill>
            <a:srgbClr val="FFFFFF"/>
          </a:solidFill>
          <a:ln w="6350">
            <a:solidFill>
              <a:srgbClr val="D5DDE5"/>
            </a:solidFill>
            <a:prstDash val="solid"/>
          </a:ln>
        </p:spPr>
      </p:sp>
      <p:sp>
        <p:nvSpPr>
          <p:cNvPr id="30" name="Text 28"/>
          <p:cNvSpPr txBox="1"/>
          <p:nvPr/>
        </p:nvSpPr>
        <p:spPr>
          <a:xfrm>
            <a:off x="4443984" y="260604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公開値を確認できず</a:t>
            </a:r>
            <a:endParaRPr lang="en-US" sz="1000" dirty="0"/>
          </a:p>
        </p:txBody>
      </p:sp>
      <p:sp>
        <p:nvSpPr>
          <p:cNvPr id="31" name="Shape 29"/>
          <p:cNvSpPr/>
          <p:nvPr/>
        </p:nvSpPr>
        <p:spPr>
          <a:xfrm>
            <a:off x="6812280" y="2606040"/>
            <a:ext cx="2331720" cy="374904"/>
          </a:xfrm>
          <a:prstGeom prst="rect">
            <a:avLst/>
          </a:prstGeom>
          <a:solidFill>
            <a:srgbClr val="FFFFFF"/>
          </a:solidFill>
          <a:ln w="6350">
            <a:solidFill>
              <a:srgbClr val="D5DDE5"/>
            </a:solidFill>
            <a:prstDash val="solid"/>
          </a:ln>
        </p:spPr>
      </p:sp>
      <p:sp>
        <p:nvSpPr>
          <p:cNvPr id="32" name="Text 30"/>
          <p:cNvSpPr txBox="1"/>
          <p:nvPr/>
        </p:nvSpPr>
        <p:spPr>
          <a:xfrm>
            <a:off x="6867144" y="260604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公開値を確認できず</a:t>
            </a:r>
            <a:endParaRPr lang="en-US" sz="1000" dirty="0"/>
          </a:p>
        </p:txBody>
      </p:sp>
      <p:sp>
        <p:nvSpPr>
          <p:cNvPr id="33" name="Shape 31"/>
          <p:cNvSpPr/>
          <p:nvPr/>
        </p:nvSpPr>
        <p:spPr>
          <a:xfrm>
            <a:off x="9235440" y="2606040"/>
            <a:ext cx="2331720" cy="374904"/>
          </a:xfrm>
          <a:prstGeom prst="rect">
            <a:avLst/>
          </a:prstGeom>
          <a:solidFill>
            <a:srgbClr val="FFFFFF"/>
          </a:solidFill>
          <a:ln w="6350">
            <a:solidFill>
              <a:srgbClr val="D5DDE5"/>
            </a:solidFill>
            <a:prstDash val="solid"/>
          </a:ln>
        </p:spPr>
      </p:sp>
      <p:sp>
        <p:nvSpPr>
          <p:cNvPr id="34" name="Text 32"/>
          <p:cNvSpPr txBox="1"/>
          <p:nvPr/>
        </p:nvSpPr>
        <p:spPr>
          <a:xfrm>
            <a:off x="9290304" y="260604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公開値を確認できず</a:t>
            </a:r>
            <a:endParaRPr lang="en-US" sz="1000" dirty="0"/>
          </a:p>
        </p:txBody>
      </p:sp>
      <p:sp>
        <p:nvSpPr>
          <p:cNvPr id="35" name="Shape 33"/>
          <p:cNvSpPr/>
          <p:nvPr/>
        </p:nvSpPr>
        <p:spPr>
          <a:xfrm>
            <a:off x="548640" y="3017520"/>
            <a:ext cx="1188720" cy="374904"/>
          </a:xfrm>
          <a:prstGeom prst="rect">
            <a:avLst/>
          </a:prstGeom>
          <a:solidFill>
            <a:srgbClr val="F2F5F8"/>
          </a:solidFill>
          <a:ln w="6350">
            <a:solidFill>
              <a:srgbClr val="D5DDE5"/>
            </a:solidFill>
            <a:prstDash val="solid"/>
          </a:ln>
        </p:spPr>
      </p:sp>
      <p:sp>
        <p:nvSpPr>
          <p:cNvPr id="36" name="Text 34"/>
          <p:cNvSpPr txBox="1"/>
          <p:nvPr/>
        </p:nvSpPr>
        <p:spPr>
          <a:xfrm>
            <a:off x="603504" y="3017520"/>
            <a:ext cx="1078992" cy="374904"/>
          </a:xfrm>
          <a:prstGeom prst="rect">
            <a:avLst/>
          </a:prstGeom>
          <a:noFill/>
          <a:ln/>
        </p:spPr>
        <p:txBody>
          <a:bodyPr wrap="square" lIns="0" tIns="0" rIns="0" bIns="0" rtlCol="0" anchor="ctr">
            <a:normAutofit/>
          </a:bodyPr>
          <a:lstStyle/>
          <a:p>
            <a:pPr indent="0" marL="0">
              <a:buNone/>
            </a:pPr>
            <a:r>
              <a:rPr lang="en-US" sz="1050" b="1" dirty="0">
                <a:solidFill>
                  <a:srgbClr val="13283C"/>
                </a:solidFill>
                <a:latin typeface="Meiryo" pitchFamily="34" charset="0"/>
                <a:ea typeface="Meiryo" pitchFamily="34" charset="-122"/>
                <a:cs typeface="Meiryo" pitchFamily="34" charset="-120"/>
              </a:rPr>
              <a:t>細かさ</a:t>
            </a:r>
            <a:endParaRPr lang="en-US" sz="1050" dirty="0"/>
          </a:p>
        </p:txBody>
      </p:sp>
      <p:sp>
        <p:nvSpPr>
          <p:cNvPr id="37" name="Shape 35"/>
          <p:cNvSpPr/>
          <p:nvPr/>
        </p:nvSpPr>
        <p:spPr>
          <a:xfrm>
            <a:off x="1828800" y="3017520"/>
            <a:ext cx="2468880" cy="374904"/>
          </a:xfrm>
          <a:prstGeom prst="rect">
            <a:avLst/>
          </a:prstGeom>
          <a:solidFill>
            <a:srgbClr val="FBEAEE"/>
          </a:solidFill>
          <a:ln w="6350">
            <a:solidFill>
              <a:srgbClr val="D5DDE5"/>
            </a:solidFill>
            <a:prstDash val="solid"/>
          </a:ln>
        </p:spPr>
      </p:sp>
      <p:sp>
        <p:nvSpPr>
          <p:cNvPr id="38" name="Text 36"/>
          <p:cNvSpPr txBox="1"/>
          <p:nvPr/>
        </p:nvSpPr>
        <p:spPr>
          <a:xfrm>
            <a:off x="1883664" y="3017520"/>
            <a:ext cx="2359152" cy="374904"/>
          </a:xfrm>
          <a:prstGeom prst="rect">
            <a:avLst/>
          </a:prstGeom>
          <a:noFill/>
          <a:ln/>
        </p:spPr>
        <p:txBody>
          <a:bodyPr wrap="square" lIns="0" tIns="0" rIns="0" bIns="0" rtlCol="0" anchor="ctr">
            <a:normAutofit/>
          </a:bodyPr>
          <a:lstStyle/>
          <a:p>
            <a:pPr indent="0" marL="0">
              <a:buNone/>
            </a:pPr>
            <a:r>
              <a:rPr lang="en-US" sz="1000" b="1" dirty="0">
                <a:solidFill>
                  <a:srgbClr val="1B2B3D"/>
                </a:solidFill>
                <a:latin typeface="Meiryo" pitchFamily="34" charset="0"/>
                <a:ea typeface="Meiryo" pitchFamily="34" charset="-122"/>
                <a:cs typeface="Meiryo" pitchFamily="34" charset="-120"/>
              </a:rPr>
              <a:t>500mメッシュ（一部250m・125m）</a:t>
            </a:r>
            <a:endParaRPr lang="en-US" sz="1000" dirty="0"/>
          </a:p>
        </p:txBody>
      </p:sp>
      <p:sp>
        <p:nvSpPr>
          <p:cNvPr id="39" name="Shape 37"/>
          <p:cNvSpPr/>
          <p:nvPr/>
        </p:nvSpPr>
        <p:spPr>
          <a:xfrm>
            <a:off x="4389120" y="3017520"/>
            <a:ext cx="2331720" cy="374904"/>
          </a:xfrm>
          <a:prstGeom prst="rect">
            <a:avLst/>
          </a:prstGeom>
          <a:solidFill>
            <a:srgbClr val="FFFFFF"/>
          </a:solidFill>
          <a:ln w="6350">
            <a:solidFill>
              <a:srgbClr val="D5DDE5"/>
            </a:solidFill>
            <a:prstDash val="solid"/>
          </a:ln>
        </p:spPr>
      </p:sp>
      <p:sp>
        <p:nvSpPr>
          <p:cNvPr id="40" name="Text 38"/>
          <p:cNvSpPr txBox="1"/>
          <p:nvPr/>
        </p:nvSpPr>
        <p:spPr>
          <a:xfrm>
            <a:off x="4443984" y="301752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最小10mメッシュ・道路単位</a:t>
            </a:r>
            <a:endParaRPr lang="en-US" sz="1000" dirty="0"/>
          </a:p>
        </p:txBody>
      </p:sp>
      <p:sp>
        <p:nvSpPr>
          <p:cNvPr id="41" name="Shape 39"/>
          <p:cNvSpPr/>
          <p:nvPr/>
        </p:nvSpPr>
        <p:spPr>
          <a:xfrm>
            <a:off x="6812280" y="3017520"/>
            <a:ext cx="2331720" cy="374904"/>
          </a:xfrm>
          <a:prstGeom prst="rect">
            <a:avLst/>
          </a:prstGeom>
          <a:solidFill>
            <a:srgbClr val="FFFFFF"/>
          </a:solidFill>
          <a:ln w="6350">
            <a:solidFill>
              <a:srgbClr val="D5DDE5"/>
            </a:solidFill>
            <a:prstDash val="solid"/>
          </a:ln>
        </p:spPr>
      </p:sp>
      <p:sp>
        <p:nvSpPr>
          <p:cNvPr id="42" name="Text 40"/>
          <p:cNvSpPr txBox="1"/>
          <p:nvPr/>
        </p:nvSpPr>
        <p:spPr>
          <a:xfrm>
            <a:off x="6867144" y="301752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ポイント型・メッシュ型</a:t>
            </a:r>
            <a:endParaRPr lang="en-US" sz="1000" dirty="0"/>
          </a:p>
        </p:txBody>
      </p:sp>
      <p:sp>
        <p:nvSpPr>
          <p:cNvPr id="43" name="Shape 41"/>
          <p:cNvSpPr/>
          <p:nvPr/>
        </p:nvSpPr>
        <p:spPr>
          <a:xfrm>
            <a:off x="9235440" y="3017520"/>
            <a:ext cx="2331720" cy="374904"/>
          </a:xfrm>
          <a:prstGeom prst="rect">
            <a:avLst/>
          </a:prstGeom>
          <a:solidFill>
            <a:srgbClr val="FFFFFF"/>
          </a:solidFill>
          <a:ln w="6350">
            <a:solidFill>
              <a:srgbClr val="D5DDE5"/>
            </a:solidFill>
            <a:prstDash val="solid"/>
          </a:ln>
        </p:spPr>
      </p:sp>
      <p:sp>
        <p:nvSpPr>
          <p:cNvPr id="44" name="Text 42"/>
          <p:cNvSpPr txBox="1"/>
          <p:nvPr/>
        </p:nvSpPr>
        <p:spPr>
          <a:xfrm>
            <a:off x="9290304" y="3017520"/>
            <a:ext cx="2221992" cy="37490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出発から帰宅までの移動</a:t>
            </a:r>
            <a:endParaRPr lang="en-US" sz="1000" dirty="0"/>
          </a:p>
        </p:txBody>
      </p:sp>
      <p:sp>
        <p:nvSpPr>
          <p:cNvPr id="45" name="Shape 43"/>
          <p:cNvSpPr/>
          <p:nvPr/>
        </p:nvSpPr>
        <p:spPr>
          <a:xfrm>
            <a:off x="548640" y="3429000"/>
            <a:ext cx="1188720" cy="512064"/>
          </a:xfrm>
          <a:prstGeom prst="rect">
            <a:avLst/>
          </a:prstGeom>
          <a:solidFill>
            <a:srgbClr val="F2F5F8"/>
          </a:solidFill>
          <a:ln w="6350">
            <a:solidFill>
              <a:srgbClr val="D5DDE5"/>
            </a:solidFill>
            <a:prstDash val="solid"/>
          </a:ln>
        </p:spPr>
      </p:sp>
      <p:sp>
        <p:nvSpPr>
          <p:cNvPr id="46" name="Text 44"/>
          <p:cNvSpPr txBox="1"/>
          <p:nvPr/>
        </p:nvSpPr>
        <p:spPr>
          <a:xfrm>
            <a:off x="603504" y="3429000"/>
            <a:ext cx="1078992" cy="512064"/>
          </a:xfrm>
          <a:prstGeom prst="rect">
            <a:avLst/>
          </a:prstGeom>
          <a:noFill/>
          <a:ln/>
        </p:spPr>
        <p:txBody>
          <a:bodyPr wrap="square" lIns="0" tIns="0" rIns="0" bIns="0" rtlCol="0" anchor="ctr">
            <a:normAutofit/>
          </a:bodyPr>
          <a:lstStyle/>
          <a:p>
            <a:pPr indent="0" marL="0">
              <a:buNone/>
            </a:pPr>
            <a:r>
              <a:rPr lang="en-US" sz="1050" b="1" dirty="0">
                <a:solidFill>
                  <a:srgbClr val="13283C"/>
                </a:solidFill>
                <a:latin typeface="Meiryo" pitchFamily="34" charset="0"/>
                <a:ea typeface="Meiryo" pitchFamily="34" charset="-122"/>
                <a:cs typeface="Meiryo" pitchFamily="34" charset="-120"/>
              </a:rPr>
              <a:t>得意</a:t>
            </a:r>
            <a:endParaRPr lang="en-US" sz="1050" dirty="0"/>
          </a:p>
        </p:txBody>
      </p:sp>
      <p:sp>
        <p:nvSpPr>
          <p:cNvPr id="47" name="Shape 45"/>
          <p:cNvSpPr/>
          <p:nvPr/>
        </p:nvSpPr>
        <p:spPr>
          <a:xfrm>
            <a:off x="1828800" y="3429000"/>
            <a:ext cx="2468880" cy="512064"/>
          </a:xfrm>
          <a:prstGeom prst="rect">
            <a:avLst/>
          </a:prstGeom>
          <a:solidFill>
            <a:srgbClr val="FBEAEE"/>
          </a:solidFill>
          <a:ln w="6350">
            <a:solidFill>
              <a:srgbClr val="D5DDE5"/>
            </a:solidFill>
            <a:prstDash val="solid"/>
          </a:ln>
        </p:spPr>
      </p:sp>
      <p:sp>
        <p:nvSpPr>
          <p:cNvPr id="48" name="Text 46"/>
          <p:cNvSpPr txBox="1"/>
          <p:nvPr/>
        </p:nvSpPr>
        <p:spPr>
          <a:xfrm>
            <a:off x="1883664" y="3429000"/>
            <a:ext cx="2359152" cy="512064"/>
          </a:xfrm>
          <a:prstGeom prst="rect">
            <a:avLst/>
          </a:prstGeom>
          <a:noFill/>
          <a:ln/>
        </p:spPr>
        <p:txBody>
          <a:bodyPr wrap="square" lIns="0" tIns="0" rIns="0" bIns="0" rtlCol="0" anchor="ctr">
            <a:normAutofit/>
          </a:bodyPr>
          <a:lstStyle/>
          <a:p>
            <a:pPr indent="0" marL="0">
              <a:buNone/>
            </a:pPr>
            <a:r>
              <a:rPr lang="en-US" sz="1000" b="1" dirty="0">
                <a:solidFill>
                  <a:srgbClr val="1B2B3D"/>
                </a:solidFill>
                <a:latin typeface="Meiryo" pitchFamily="34" charset="0"/>
                <a:ea typeface="Meiryo" pitchFamily="34" charset="-122"/>
                <a:cs typeface="Meiryo" pitchFamily="34" charset="-120"/>
              </a:rPr>
              <a:t>市町村の人口推計・来訪元・訪日客・長期推移</a:t>
            </a:r>
            <a:endParaRPr lang="en-US" sz="1000" dirty="0"/>
          </a:p>
        </p:txBody>
      </p:sp>
      <p:sp>
        <p:nvSpPr>
          <p:cNvPr id="49" name="Shape 47"/>
          <p:cNvSpPr/>
          <p:nvPr/>
        </p:nvSpPr>
        <p:spPr>
          <a:xfrm>
            <a:off x="4389120" y="3429000"/>
            <a:ext cx="2331720" cy="512064"/>
          </a:xfrm>
          <a:prstGeom prst="rect">
            <a:avLst/>
          </a:prstGeom>
          <a:solidFill>
            <a:srgbClr val="FFFFFF"/>
          </a:solidFill>
          <a:ln w="6350">
            <a:solidFill>
              <a:srgbClr val="D5DDE5"/>
            </a:solidFill>
            <a:prstDash val="solid"/>
          </a:ln>
        </p:spPr>
      </p:sp>
      <p:sp>
        <p:nvSpPr>
          <p:cNvPr id="50" name="Text 48"/>
          <p:cNvSpPr txBox="1"/>
          <p:nvPr/>
        </p:nvSpPr>
        <p:spPr>
          <a:xfrm>
            <a:off x="4443984" y="3429000"/>
            <a:ext cx="2221992" cy="51206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施設単位・試合ごとの比較・自分で分析</a:t>
            </a:r>
            <a:endParaRPr lang="en-US" sz="1000" dirty="0"/>
          </a:p>
        </p:txBody>
      </p:sp>
      <p:sp>
        <p:nvSpPr>
          <p:cNvPr id="51" name="Shape 49"/>
          <p:cNvSpPr/>
          <p:nvPr/>
        </p:nvSpPr>
        <p:spPr>
          <a:xfrm>
            <a:off x="6812280" y="3429000"/>
            <a:ext cx="2331720" cy="512064"/>
          </a:xfrm>
          <a:prstGeom prst="rect">
            <a:avLst/>
          </a:prstGeom>
          <a:solidFill>
            <a:srgbClr val="FFFFFF"/>
          </a:solidFill>
          <a:ln w="6350">
            <a:solidFill>
              <a:srgbClr val="D5DDE5"/>
            </a:solidFill>
            <a:prstDash val="solid"/>
          </a:ln>
        </p:spPr>
      </p:sp>
      <p:sp>
        <p:nvSpPr>
          <p:cNvPr id="52" name="Text 50"/>
          <p:cNvSpPr txBox="1"/>
          <p:nvPr/>
        </p:nvSpPr>
        <p:spPr>
          <a:xfrm>
            <a:off x="6867144" y="3429000"/>
            <a:ext cx="2221992" cy="51206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狭い範囲・周遊ルート</a:t>
            </a:r>
            <a:endParaRPr lang="en-US" sz="1000" dirty="0"/>
          </a:p>
        </p:txBody>
      </p:sp>
      <p:sp>
        <p:nvSpPr>
          <p:cNvPr id="53" name="Shape 51"/>
          <p:cNvSpPr/>
          <p:nvPr/>
        </p:nvSpPr>
        <p:spPr>
          <a:xfrm>
            <a:off x="9235440" y="3429000"/>
            <a:ext cx="2331720" cy="512064"/>
          </a:xfrm>
          <a:prstGeom prst="rect">
            <a:avLst/>
          </a:prstGeom>
          <a:solidFill>
            <a:srgbClr val="FFFFFF"/>
          </a:solidFill>
          <a:ln w="6350">
            <a:solidFill>
              <a:srgbClr val="D5DDE5"/>
            </a:solidFill>
            <a:prstDash val="solid"/>
          </a:ln>
        </p:spPr>
      </p:sp>
      <p:sp>
        <p:nvSpPr>
          <p:cNvPr id="54" name="Text 52"/>
          <p:cNvSpPr txBox="1"/>
          <p:nvPr/>
        </p:nvSpPr>
        <p:spPr>
          <a:xfrm>
            <a:off x="9290304" y="3429000"/>
            <a:ext cx="2221992" cy="51206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どこから来てどこへ行ったか</a:t>
            </a:r>
            <a:endParaRPr lang="en-US" sz="1000" dirty="0"/>
          </a:p>
        </p:txBody>
      </p:sp>
      <p:sp>
        <p:nvSpPr>
          <p:cNvPr id="55" name="Shape 53"/>
          <p:cNvSpPr/>
          <p:nvPr/>
        </p:nvSpPr>
        <p:spPr>
          <a:xfrm>
            <a:off x="548640" y="3977640"/>
            <a:ext cx="1188720" cy="512064"/>
          </a:xfrm>
          <a:prstGeom prst="rect">
            <a:avLst/>
          </a:prstGeom>
          <a:solidFill>
            <a:srgbClr val="F2F5F8"/>
          </a:solidFill>
          <a:ln w="6350">
            <a:solidFill>
              <a:srgbClr val="D5DDE5"/>
            </a:solidFill>
            <a:prstDash val="solid"/>
          </a:ln>
        </p:spPr>
      </p:sp>
      <p:sp>
        <p:nvSpPr>
          <p:cNvPr id="56" name="Text 54"/>
          <p:cNvSpPr txBox="1"/>
          <p:nvPr/>
        </p:nvSpPr>
        <p:spPr>
          <a:xfrm>
            <a:off x="603504" y="3977640"/>
            <a:ext cx="1078992" cy="512064"/>
          </a:xfrm>
          <a:prstGeom prst="rect">
            <a:avLst/>
          </a:prstGeom>
          <a:noFill/>
          <a:ln/>
        </p:spPr>
        <p:txBody>
          <a:bodyPr wrap="square" lIns="0" tIns="0" rIns="0" bIns="0" rtlCol="0" anchor="ctr">
            <a:normAutofit/>
          </a:bodyPr>
          <a:lstStyle/>
          <a:p>
            <a:pPr indent="0" marL="0">
              <a:buNone/>
            </a:pPr>
            <a:r>
              <a:rPr lang="en-US" sz="1050" b="1" dirty="0">
                <a:solidFill>
                  <a:srgbClr val="13283C"/>
                </a:solidFill>
                <a:latin typeface="Meiryo" pitchFamily="34" charset="0"/>
                <a:ea typeface="Meiryo" pitchFamily="34" charset="-122"/>
                <a:cs typeface="Meiryo" pitchFamily="34" charset="-120"/>
              </a:rPr>
              <a:t>料金の目安</a:t>
            </a:r>
            <a:endParaRPr lang="en-US" sz="1050" dirty="0"/>
          </a:p>
        </p:txBody>
      </p:sp>
      <p:sp>
        <p:nvSpPr>
          <p:cNvPr id="57" name="Shape 55"/>
          <p:cNvSpPr/>
          <p:nvPr/>
        </p:nvSpPr>
        <p:spPr>
          <a:xfrm>
            <a:off x="1828800" y="3977640"/>
            <a:ext cx="2468880" cy="512064"/>
          </a:xfrm>
          <a:prstGeom prst="rect">
            <a:avLst/>
          </a:prstGeom>
          <a:solidFill>
            <a:srgbClr val="FBEAEE"/>
          </a:solidFill>
          <a:ln w="6350">
            <a:solidFill>
              <a:srgbClr val="D5DDE5"/>
            </a:solidFill>
            <a:prstDash val="solid"/>
          </a:ln>
        </p:spPr>
      </p:sp>
      <p:sp>
        <p:nvSpPr>
          <p:cNvPr id="58" name="Text 56"/>
          <p:cNvSpPr txBox="1"/>
          <p:nvPr/>
        </p:nvSpPr>
        <p:spPr>
          <a:xfrm>
            <a:off x="1883664" y="3977640"/>
            <a:ext cx="2359152" cy="512064"/>
          </a:xfrm>
          <a:prstGeom prst="rect">
            <a:avLst/>
          </a:prstGeom>
          <a:noFill/>
          <a:ln/>
        </p:spPr>
        <p:txBody>
          <a:bodyPr wrap="square" lIns="0" tIns="0" rIns="0" bIns="0" rtlCol="0" anchor="ctr">
            <a:normAutofit/>
          </a:bodyPr>
          <a:lstStyle/>
          <a:p>
            <a:pPr indent="0" marL="0">
              <a:buNone/>
            </a:pPr>
            <a:r>
              <a:rPr lang="en-US" sz="1000" b="1" dirty="0">
                <a:solidFill>
                  <a:srgbClr val="1B2B3D"/>
                </a:solidFill>
                <a:latin typeface="Meiryo" pitchFamily="34" charset="0"/>
                <a:ea typeface="Meiryo" pitchFamily="34" charset="-122"/>
                <a:cs typeface="Meiryo" pitchFamily="34" charset="-120"/>
              </a:rPr>
              <a:t>人口マップ 月9万円〜 ほか</a:t>
            </a:r>
            <a:endParaRPr lang="en-US" sz="1000" dirty="0"/>
          </a:p>
        </p:txBody>
      </p:sp>
      <p:sp>
        <p:nvSpPr>
          <p:cNvPr id="59" name="Shape 57"/>
          <p:cNvSpPr/>
          <p:nvPr/>
        </p:nvSpPr>
        <p:spPr>
          <a:xfrm>
            <a:off x="4389120" y="3977640"/>
            <a:ext cx="2331720" cy="512064"/>
          </a:xfrm>
          <a:prstGeom prst="rect">
            <a:avLst/>
          </a:prstGeom>
          <a:solidFill>
            <a:srgbClr val="FFFFFF"/>
          </a:solidFill>
          <a:ln w="6350">
            <a:solidFill>
              <a:srgbClr val="D5DDE5"/>
            </a:solidFill>
            <a:prstDash val="solid"/>
          </a:ln>
        </p:spPr>
      </p:sp>
      <p:sp>
        <p:nvSpPr>
          <p:cNvPr id="60" name="Text 58"/>
          <p:cNvSpPr txBox="1"/>
          <p:nvPr/>
        </p:nvSpPr>
        <p:spPr>
          <a:xfrm>
            <a:off x="4443984" y="3977640"/>
            <a:ext cx="2221992" cy="51206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年額240万円（1ID・税別）の掲載例／定額・トライアルあり</a:t>
            </a:r>
            <a:endParaRPr lang="en-US" sz="1000" dirty="0"/>
          </a:p>
        </p:txBody>
      </p:sp>
      <p:sp>
        <p:nvSpPr>
          <p:cNvPr id="61" name="Shape 59"/>
          <p:cNvSpPr/>
          <p:nvPr/>
        </p:nvSpPr>
        <p:spPr>
          <a:xfrm>
            <a:off x="6812280" y="3977640"/>
            <a:ext cx="2331720" cy="512064"/>
          </a:xfrm>
          <a:prstGeom prst="rect">
            <a:avLst/>
          </a:prstGeom>
          <a:solidFill>
            <a:srgbClr val="FFFFFF"/>
          </a:solidFill>
          <a:ln w="6350">
            <a:solidFill>
              <a:srgbClr val="D5DDE5"/>
            </a:solidFill>
            <a:prstDash val="solid"/>
          </a:ln>
        </p:spPr>
      </p:sp>
      <p:sp>
        <p:nvSpPr>
          <p:cNvPr id="62" name="Text 60"/>
          <p:cNvSpPr txBox="1"/>
          <p:nvPr/>
        </p:nvSpPr>
        <p:spPr>
          <a:xfrm>
            <a:off x="6867144" y="3977640"/>
            <a:ext cx="2221992" cy="51206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地域・期間で個別見積</a:t>
            </a:r>
            <a:endParaRPr lang="en-US" sz="1000" dirty="0"/>
          </a:p>
        </p:txBody>
      </p:sp>
      <p:sp>
        <p:nvSpPr>
          <p:cNvPr id="63" name="Shape 61"/>
          <p:cNvSpPr/>
          <p:nvPr/>
        </p:nvSpPr>
        <p:spPr>
          <a:xfrm>
            <a:off x="9235440" y="3977640"/>
            <a:ext cx="2331720" cy="512064"/>
          </a:xfrm>
          <a:prstGeom prst="rect">
            <a:avLst/>
          </a:prstGeom>
          <a:solidFill>
            <a:srgbClr val="FFFFFF"/>
          </a:solidFill>
          <a:ln w="6350">
            <a:solidFill>
              <a:srgbClr val="D5DDE5"/>
            </a:solidFill>
            <a:prstDash val="solid"/>
          </a:ln>
        </p:spPr>
      </p:sp>
      <p:sp>
        <p:nvSpPr>
          <p:cNvPr id="64" name="Text 62"/>
          <p:cNvSpPr txBox="1"/>
          <p:nvPr/>
        </p:nvSpPr>
        <p:spPr>
          <a:xfrm>
            <a:off x="9290304" y="3977640"/>
            <a:ext cx="2221992" cy="512064"/>
          </a:xfrm>
          <a:prstGeom prst="rect">
            <a:avLst/>
          </a:prstGeom>
          <a:noFill/>
          <a:ln/>
        </p:spPr>
        <p:txBody>
          <a:bodyPr wrap="square" lIns="0" tIns="0" rIns="0" bIns="0" rtlCol="0" anchor="ctr">
            <a:normAutofit/>
          </a:bodyPr>
          <a:lstStyle/>
          <a:p>
            <a:pPr indent="0" marL="0">
              <a:buNone/>
            </a:pPr>
            <a:r>
              <a:rPr lang="en-US" sz="1000" dirty="0">
                <a:solidFill>
                  <a:srgbClr val="1B2B3D"/>
                </a:solidFill>
                <a:latin typeface="Meiryo" pitchFamily="34" charset="0"/>
                <a:ea typeface="Meiryo" pitchFamily="34" charset="-122"/>
                <a:cs typeface="Meiryo" pitchFamily="34" charset="-120"/>
              </a:rPr>
              <a:t>個別見積</a:t>
            </a:r>
            <a:endParaRPr lang="en-US" sz="1000" dirty="0"/>
          </a:p>
        </p:txBody>
      </p:sp>
      <p:sp>
        <p:nvSpPr>
          <p:cNvPr id="65" name="Shape 63"/>
          <p:cNvSpPr/>
          <p:nvPr/>
        </p:nvSpPr>
        <p:spPr>
          <a:xfrm>
            <a:off x="548640" y="4663440"/>
            <a:ext cx="11064240" cy="685800"/>
          </a:xfrm>
          <a:prstGeom prst="roundRect">
            <a:avLst>
              <a:gd name="adj" fmla="val 10667"/>
            </a:avLst>
          </a:prstGeom>
          <a:solidFill>
            <a:srgbClr val="F2F5F8"/>
          </a:solidFill>
          <a:ln w="12700">
            <a:solidFill>
              <a:srgbClr val="F2F5F8"/>
            </a:solidFill>
            <a:prstDash val="solid"/>
          </a:ln>
        </p:spPr>
      </p:sp>
      <p:sp>
        <p:nvSpPr>
          <p:cNvPr id="66" name="Text 64"/>
          <p:cNvSpPr txBox="1"/>
          <p:nvPr/>
        </p:nvSpPr>
        <p:spPr>
          <a:xfrm>
            <a:off x="731520" y="4663440"/>
            <a:ext cx="1463040" cy="685800"/>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調査パネル</a:t>
            </a:r>
            <a:endParaRPr lang="en-US" sz="1300" dirty="0"/>
          </a:p>
        </p:txBody>
      </p:sp>
      <p:sp>
        <p:nvSpPr>
          <p:cNvPr id="67" name="Text 65"/>
          <p:cNvSpPr txBox="1"/>
          <p:nvPr/>
        </p:nvSpPr>
        <p:spPr>
          <a:xfrm>
            <a:off x="2194560" y="4663440"/>
            <a:ext cx="9281160" cy="685800"/>
          </a:xfrm>
          <a:prstGeom prst="rect">
            <a:avLst/>
          </a:prstGeom>
          <a:noFill/>
          <a:ln/>
        </p:spPr>
        <p:txBody>
          <a:bodyPr wrap="square" lIns="0" tIns="0" rIns="0" bIns="0" rtlCol="0" anchor="ctr"/>
          <a:lstStyle/>
          <a:p>
            <a:pPr indent="0" marL="0">
              <a:buNone/>
            </a:pPr>
            <a:r>
              <a:rPr lang="en-US" sz="1150" dirty="0">
                <a:solidFill>
                  <a:srgbClr val="1B2B3D"/>
                </a:solidFill>
                <a:latin typeface="Meiryo" pitchFamily="34" charset="0"/>
                <a:ea typeface="Meiryo" pitchFamily="34" charset="-122"/>
                <a:cs typeface="Meiryo" pitchFamily="34" charset="-120"/>
              </a:rPr>
              <a:t>マクロミル 1,000万人以上（提携含む）／プレミアパネル 約600万人／楽天インサイト 約220万人。数ではなく「ドコモの人流・広告とつながること」で勝負</a:t>
            </a:r>
            <a:endParaRPr lang="en-US" sz="1150" dirty="0"/>
          </a:p>
        </p:txBody>
      </p:sp>
      <p:sp>
        <p:nvSpPr>
          <p:cNvPr id="68" name="Shape 66"/>
          <p:cNvSpPr/>
          <p:nvPr/>
        </p:nvSpPr>
        <p:spPr>
          <a:xfrm>
            <a:off x="548640" y="5440680"/>
            <a:ext cx="11064240" cy="685800"/>
          </a:xfrm>
          <a:prstGeom prst="roundRect">
            <a:avLst>
              <a:gd name="adj" fmla="val 10667"/>
            </a:avLst>
          </a:prstGeom>
          <a:solidFill>
            <a:srgbClr val="F2F5F8"/>
          </a:solidFill>
          <a:ln w="12700">
            <a:solidFill>
              <a:srgbClr val="F2F5F8"/>
            </a:solidFill>
            <a:prstDash val="solid"/>
          </a:ln>
        </p:spPr>
      </p:sp>
      <p:sp>
        <p:nvSpPr>
          <p:cNvPr id="69" name="Text 67"/>
          <p:cNvSpPr txBox="1"/>
          <p:nvPr/>
        </p:nvSpPr>
        <p:spPr>
          <a:xfrm>
            <a:off x="731520" y="5440680"/>
            <a:ext cx="1463040" cy="685800"/>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広告</a:t>
            </a:r>
            <a:endParaRPr lang="en-US" sz="1300" dirty="0"/>
          </a:p>
        </p:txBody>
      </p:sp>
      <p:sp>
        <p:nvSpPr>
          <p:cNvPr id="70" name="Text 68"/>
          <p:cNvSpPr txBox="1"/>
          <p:nvPr/>
        </p:nvSpPr>
        <p:spPr>
          <a:xfrm>
            <a:off x="2194560" y="5440680"/>
            <a:ext cx="9281160" cy="685800"/>
          </a:xfrm>
          <a:prstGeom prst="rect">
            <a:avLst/>
          </a:prstGeom>
          <a:noFill/>
          <a:ln/>
        </p:spPr>
        <p:txBody>
          <a:bodyPr wrap="square" lIns="0" tIns="0" rIns="0" bIns="0" rtlCol="0" anchor="ctr"/>
          <a:lstStyle/>
          <a:p>
            <a:pPr indent="0" marL="0">
              <a:buNone/>
            </a:pPr>
            <a:r>
              <a:rPr lang="en-US" sz="1150" dirty="0">
                <a:solidFill>
                  <a:srgbClr val="1B2B3D"/>
                </a:solidFill>
                <a:latin typeface="Meiryo" pitchFamily="34" charset="0"/>
                <a:ea typeface="Meiryo" pitchFamily="34" charset="-122"/>
                <a:cs typeface="Meiryo" pitchFamily="34" charset="-120"/>
              </a:rPr>
              <a:t>LINE広告は約9,800万人に届く（公式）。ドコモは独自の接点＋「Ads Connect」でLINE・Google・Metaなどでもドコモデータを使える</a:t>
            </a:r>
            <a:endParaRPr lang="en-US" sz="1150" dirty="0"/>
          </a:p>
        </p:txBody>
      </p:sp>
      <p:sp>
        <p:nvSpPr>
          <p:cNvPr id="71" name="Text 6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各社の公開情報・紹介記事から整理（2026年9月27日確認）。料金・仕様は変わるため提案時に再確認。KDDIの料金は販売代理店の掲載例</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他社と比べての「読み」と切り返し</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勝てる場面で戦い、負けやすい場面は目的の違いで整理する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18</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83080"/>
            <a:ext cx="5440680" cy="1920240"/>
          </a:xfrm>
          <a:prstGeom prst="roundRect">
            <a:avLst>
              <a:gd name="adj" fmla="val 3810"/>
            </a:avLst>
          </a:prstGeom>
          <a:solidFill>
            <a:srgbClr val="FFFFFF"/>
          </a:solidFill>
          <a:ln w="12700">
            <a:solidFill>
              <a:srgbClr val="C9002B"/>
            </a:solidFill>
            <a:prstDash val="solid"/>
          </a:ln>
        </p:spPr>
      </p:sp>
      <p:sp>
        <p:nvSpPr>
          <p:cNvPr id="8" name="Text 6"/>
          <p:cNvSpPr txBox="1"/>
          <p:nvPr/>
        </p:nvSpPr>
        <p:spPr>
          <a:xfrm>
            <a:off x="777240" y="1847088"/>
            <a:ext cx="4572000" cy="320040"/>
          </a:xfrm>
          <a:prstGeom prst="rect">
            <a:avLst/>
          </a:prstGeom>
          <a:noFill/>
          <a:ln/>
        </p:spPr>
        <p:txBody>
          <a:bodyPr wrap="square" lIns="0" tIns="0" rIns="0" bIns="0" rtlCol="0" anchor="t"/>
          <a:lstStyle/>
          <a:p>
            <a:pPr indent="0" marL="0">
              <a:buNone/>
            </a:pPr>
            <a:r>
              <a:rPr lang="en-US" sz="1400" b="1" dirty="0">
                <a:solidFill>
                  <a:srgbClr val="C9002B"/>
                </a:solidFill>
                <a:latin typeface="Meiryo" pitchFamily="34" charset="0"/>
                <a:ea typeface="Meiryo" pitchFamily="34" charset="-122"/>
                <a:cs typeface="Meiryo" pitchFamily="34" charset="-120"/>
              </a:rPr>
              <a:t>勝てる場面</a:t>
            </a:r>
            <a:endParaRPr lang="en-US" sz="1400" dirty="0"/>
          </a:p>
        </p:txBody>
      </p:sp>
      <p:sp>
        <p:nvSpPr>
          <p:cNvPr id="9" name="Text 7"/>
          <p:cNvSpPr txBox="1"/>
          <p:nvPr/>
        </p:nvSpPr>
        <p:spPr>
          <a:xfrm>
            <a:off x="777240" y="2194560"/>
            <a:ext cx="507492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市町村・広域の来訪規模と来訪元を説明したい</a:t>
            </a:r>
            <a:endParaRPr lang="en-US" sz="1200" dirty="0"/>
          </a:p>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訪日客の国・地域別の把握（玉名市）</a:t>
            </a:r>
            <a:endParaRPr lang="en-US" sz="1200" dirty="0"/>
          </a:p>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イベントの経済効果（みやぎん・川崎F）</a:t>
            </a:r>
            <a:endParaRPr lang="en-US" sz="1200" dirty="0"/>
          </a:p>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人の動きと理由をセットで（琴平町）</a:t>
            </a:r>
            <a:endParaRPr lang="en-US" sz="1200" dirty="0"/>
          </a:p>
        </p:txBody>
      </p:sp>
      <p:sp>
        <p:nvSpPr>
          <p:cNvPr id="10" name="Shape 8"/>
          <p:cNvSpPr/>
          <p:nvPr/>
        </p:nvSpPr>
        <p:spPr>
          <a:xfrm>
            <a:off x="6172200" y="1783080"/>
            <a:ext cx="5440680" cy="1920240"/>
          </a:xfrm>
          <a:prstGeom prst="roundRect">
            <a:avLst>
              <a:gd name="adj" fmla="val 3810"/>
            </a:avLst>
          </a:prstGeom>
          <a:solidFill>
            <a:srgbClr val="F2F5F8"/>
          </a:solidFill>
          <a:ln w="12700">
            <a:solidFill>
              <a:srgbClr val="F2F5F8"/>
            </a:solidFill>
            <a:prstDash val="solid"/>
          </a:ln>
        </p:spPr>
      </p:sp>
      <p:sp>
        <p:nvSpPr>
          <p:cNvPr id="11" name="Text 9"/>
          <p:cNvSpPr txBox="1"/>
          <p:nvPr/>
        </p:nvSpPr>
        <p:spPr>
          <a:xfrm>
            <a:off x="6400800" y="1847088"/>
            <a:ext cx="4572000" cy="320040"/>
          </a:xfrm>
          <a:prstGeom prst="rect">
            <a:avLst/>
          </a:prstGeom>
          <a:noFill/>
          <a:ln/>
        </p:spPr>
        <p:txBody>
          <a:bodyPr wrap="square" lIns="0" tIns="0" rIns="0" bIns="0" rtlCol="0" anchor="t"/>
          <a:lstStyle/>
          <a:p>
            <a:pPr indent="0" marL="0">
              <a:buNone/>
            </a:pPr>
            <a:r>
              <a:rPr lang="en-US" sz="1400" b="1" dirty="0">
                <a:solidFill>
                  <a:srgbClr val="5A6675"/>
                </a:solidFill>
                <a:latin typeface="Meiryo" pitchFamily="34" charset="0"/>
                <a:ea typeface="Meiryo" pitchFamily="34" charset="-122"/>
                <a:cs typeface="Meiryo" pitchFamily="34" charset="-120"/>
              </a:rPr>
              <a:t>負けやすい場面</a:t>
            </a:r>
            <a:endParaRPr lang="en-US" sz="1400" dirty="0"/>
          </a:p>
        </p:txBody>
      </p:sp>
      <p:sp>
        <p:nvSpPr>
          <p:cNvPr id="12" name="Text 10"/>
          <p:cNvSpPr txBox="1"/>
          <p:nvPr/>
        </p:nvSpPr>
        <p:spPr>
          <a:xfrm>
            <a:off x="6400800" y="2194560"/>
            <a:ext cx="507492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店舗・道路単位の狭い範囲や経路（GPS型）</a:t>
            </a:r>
            <a:endParaRPr lang="en-US" sz="1200" dirty="0"/>
          </a:p>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担当者が自分で何度も分析（KDDIの定額）</a:t>
            </a:r>
            <a:endParaRPr lang="en-US" sz="1200" dirty="0"/>
          </a:p>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毎試合の来場者比較（横浜DeNAの例）</a:t>
            </a:r>
            <a:endParaRPr lang="en-US" sz="1200" dirty="0"/>
          </a:p>
          <a:p>
            <a:pPr marL="342900" indent="-342900">
              <a:spcAft>
                <a:spcPts val="300"/>
              </a:spcAft>
              <a:buSzPct val="100000"/>
              <a:buChar char="•"/>
            </a:pPr>
            <a:r>
              <a:rPr lang="en-US" sz="1200" dirty="0">
                <a:solidFill>
                  <a:srgbClr val="1B2B3D"/>
                </a:solidFill>
                <a:latin typeface="Meiryo" pitchFamily="34" charset="0"/>
                <a:ea typeface="Meiryo" pitchFamily="34" charset="-122"/>
                <a:cs typeface="Meiryo" pitchFamily="34" charset="-120"/>
              </a:rPr>
              <a:t>広告の到達人数そのもの（LINE）</a:t>
            </a:r>
            <a:endParaRPr lang="en-US" sz="1200" dirty="0"/>
          </a:p>
        </p:txBody>
      </p:sp>
      <p:sp>
        <p:nvSpPr>
          <p:cNvPr id="13" name="Shape 11"/>
          <p:cNvSpPr/>
          <p:nvPr/>
        </p:nvSpPr>
        <p:spPr>
          <a:xfrm>
            <a:off x="548640" y="3886200"/>
            <a:ext cx="5440680" cy="1051560"/>
          </a:xfrm>
          <a:prstGeom prst="roundRect">
            <a:avLst>
              <a:gd name="adj" fmla="val 6957"/>
            </a:avLst>
          </a:prstGeom>
          <a:solidFill>
            <a:srgbClr val="F2F5F8"/>
          </a:solidFill>
          <a:ln w="12700">
            <a:solidFill>
              <a:srgbClr val="F2F5F8"/>
            </a:solidFill>
            <a:prstDash val="solid"/>
          </a:ln>
        </p:spPr>
      </p:sp>
      <p:sp>
        <p:nvSpPr>
          <p:cNvPr id="14" name="Text 12"/>
          <p:cNvSpPr txBox="1"/>
          <p:nvPr/>
        </p:nvSpPr>
        <p:spPr>
          <a:xfrm>
            <a:off x="731520" y="3959352"/>
            <a:ext cx="5120640" cy="301752"/>
          </a:xfrm>
          <a:prstGeom prst="rect">
            <a:avLst/>
          </a:prstGeom>
          <a:noFill/>
          <a:ln/>
        </p:spPr>
        <p:txBody>
          <a:bodyPr wrap="square" lIns="0" tIns="0" rIns="0" bIns="0" rtlCol="0" anchor="t"/>
          <a:lstStyle/>
          <a:p>
            <a:pPr indent="0" marL="0">
              <a:buNone/>
            </a:pPr>
            <a:r>
              <a:rPr lang="en-US" sz="1250" b="1" dirty="0">
                <a:solidFill>
                  <a:srgbClr val="C9002B"/>
                </a:solidFill>
                <a:latin typeface="Meiryo" pitchFamily="34" charset="0"/>
                <a:ea typeface="Meiryo" pitchFamily="34" charset="-122"/>
                <a:cs typeface="Meiryo" pitchFamily="34" charset="-120"/>
              </a:rPr>
              <a:t>「KDDIの方が細かいのでは？」</a:t>
            </a:r>
            <a:endParaRPr lang="en-US" sz="1250" dirty="0"/>
          </a:p>
        </p:txBody>
      </p:sp>
      <p:sp>
        <p:nvSpPr>
          <p:cNvPr id="15" name="Text 13"/>
          <p:cNvSpPr txBox="1"/>
          <p:nvPr/>
        </p:nvSpPr>
        <p:spPr>
          <a:xfrm>
            <a:off x="731520" y="4270248"/>
            <a:ext cx="5120640" cy="621792"/>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施設や道路ならGPS型が得意。市全体の来訪者や来訪元を「人口」として説明するなら基地局型が向く、と目的で整理する</a:t>
            </a:r>
            <a:endParaRPr lang="en-US" sz="1100" dirty="0"/>
          </a:p>
        </p:txBody>
      </p:sp>
      <p:sp>
        <p:nvSpPr>
          <p:cNvPr id="16" name="Shape 14"/>
          <p:cNvSpPr/>
          <p:nvPr/>
        </p:nvSpPr>
        <p:spPr>
          <a:xfrm>
            <a:off x="6172200" y="3886200"/>
            <a:ext cx="5440680" cy="1051560"/>
          </a:xfrm>
          <a:prstGeom prst="roundRect">
            <a:avLst>
              <a:gd name="adj" fmla="val 6957"/>
            </a:avLst>
          </a:prstGeom>
          <a:solidFill>
            <a:srgbClr val="F2F5F8"/>
          </a:solidFill>
          <a:ln w="12700">
            <a:solidFill>
              <a:srgbClr val="F2F5F8"/>
            </a:solidFill>
            <a:prstDash val="solid"/>
          </a:ln>
        </p:spPr>
      </p:sp>
      <p:sp>
        <p:nvSpPr>
          <p:cNvPr id="17" name="Text 15"/>
          <p:cNvSpPr txBox="1"/>
          <p:nvPr/>
        </p:nvSpPr>
        <p:spPr>
          <a:xfrm>
            <a:off x="6355080" y="3959352"/>
            <a:ext cx="5120640" cy="301752"/>
          </a:xfrm>
          <a:prstGeom prst="rect">
            <a:avLst/>
          </a:prstGeom>
          <a:noFill/>
          <a:ln/>
        </p:spPr>
        <p:txBody>
          <a:bodyPr wrap="square" lIns="0" tIns="0" rIns="0" bIns="0" rtlCol="0" anchor="t"/>
          <a:lstStyle/>
          <a:p>
            <a:pPr indent="0" marL="0">
              <a:buNone/>
            </a:pPr>
            <a:r>
              <a:rPr lang="en-US" sz="1250" b="1" dirty="0">
                <a:solidFill>
                  <a:srgbClr val="C9002B"/>
                </a:solidFill>
                <a:latin typeface="Meiryo" pitchFamily="34" charset="0"/>
                <a:ea typeface="Meiryo" pitchFamily="34" charset="-122"/>
                <a:cs typeface="Meiryo" pitchFamily="34" charset="-120"/>
              </a:rPr>
              <a:t>「RESASで無料で見られるのでは？」</a:t>
            </a:r>
            <a:endParaRPr lang="en-US" sz="1250" dirty="0"/>
          </a:p>
        </p:txBody>
      </p:sp>
      <p:sp>
        <p:nvSpPr>
          <p:cNvPr id="18" name="Text 16"/>
          <p:cNvSpPr txBox="1"/>
          <p:nvPr/>
        </p:nvSpPr>
        <p:spPr>
          <a:xfrm>
            <a:off x="6355080" y="4270248"/>
            <a:ext cx="5120640" cy="621792"/>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RESASの滞在人口などもモバイル空間統計。玉名市のように市の単位・国別など、より細かく目的に合わせて見られる</a:t>
            </a:r>
            <a:endParaRPr lang="en-US" sz="1100" dirty="0"/>
          </a:p>
        </p:txBody>
      </p:sp>
      <p:sp>
        <p:nvSpPr>
          <p:cNvPr id="19" name="Shape 17"/>
          <p:cNvSpPr/>
          <p:nvPr/>
        </p:nvSpPr>
        <p:spPr>
          <a:xfrm>
            <a:off x="548640" y="5056632"/>
            <a:ext cx="5440680" cy="1051560"/>
          </a:xfrm>
          <a:prstGeom prst="roundRect">
            <a:avLst>
              <a:gd name="adj" fmla="val 6957"/>
            </a:avLst>
          </a:prstGeom>
          <a:solidFill>
            <a:srgbClr val="F2F5F8"/>
          </a:solidFill>
          <a:ln w="12700">
            <a:solidFill>
              <a:srgbClr val="F2F5F8"/>
            </a:solidFill>
            <a:prstDash val="solid"/>
          </a:ln>
        </p:spPr>
      </p:sp>
      <p:sp>
        <p:nvSpPr>
          <p:cNvPr id="20" name="Text 18"/>
          <p:cNvSpPr txBox="1"/>
          <p:nvPr/>
        </p:nvSpPr>
        <p:spPr>
          <a:xfrm>
            <a:off x="731520" y="5129784"/>
            <a:ext cx="5120640" cy="301752"/>
          </a:xfrm>
          <a:prstGeom prst="rect">
            <a:avLst/>
          </a:prstGeom>
          <a:noFill/>
          <a:ln/>
        </p:spPr>
        <p:txBody>
          <a:bodyPr wrap="square" lIns="0" tIns="0" rIns="0" bIns="0" rtlCol="0" anchor="t"/>
          <a:lstStyle/>
          <a:p>
            <a:pPr indent="0" marL="0">
              <a:buNone/>
            </a:pPr>
            <a:r>
              <a:rPr lang="en-US" sz="1250" b="1" dirty="0">
                <a:solidFill>
                  <a:srgbClr val="C9002B"/>
                </a:solidFill>
                <a:latin typeface="Meiryo" pitchFamily="34" charset="0"/>
                <a:ea typeface="Meiryo" pitchFamily="34" charset="-122"/>
                <a:cs typeface="Meiryo" pitchFamily="34" charset="-120"/>
              </a:rPr>
              <a:t>「定額ツールの方が安いのでは？」</a:t>
            </a:r>
            <a:endParaRPr lang="en-US" sz="1250" dirty="0"/>
          </a:p>
        </p:txBody>
      </p:sp>
      <p:sp>
        <p:nvSpPr>
          <p:cNvPr id="21" name="Text 19"/>
          <p:cNvSpPr txBox="1"/>
          <p:nvPr/>
        </p:nvSpPr>
        <p:spPr>
          <a:xfrm>
            <a:off x="731520" y="5440680"/>
            <a:ext cx="5120640" cy="621792"/>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毎日分析するなら定額が合う。年数回のイベント検証なら、スポット分析や月単位の人口マップから始める方が抑えられる場合がある</a:t>
            </a:r>
            <a:endParaRPr lang="en-US" sz="1100" dirty="0"/>
          </a:p>
        </p:txBody>
      </p:sp>
      <p:sp>
        <p:nvSpPr>
          <p:cNvPr id="22" name="Shape 20"/>
          <p:cNvSpPr/>
          <p:nvPr/>
        </p:nvSpPr>
        <p:spPr>
          <a:xfrm>
            <a:off x="6172200" y="5056632"/>
            <a:ext cx="5440680" cy="1051560"/>
          </a:xfrm>
          <a:prstGeom prst="roundRect">
            <a:avLst>
              <a:gd name="adj" fmla="val 6957"/>
            </a:avLst>
          </a:prstGeom>
          <a:solidFill>
            <a:srgbClr val="F2F5F8"/>
          </a:solidFill>
          <a:ln w="12700">
            <a:solidFill>
              <a:srgbClr val="F2F5F8"/>
            </a:solidFill>
            <a:prstDash val="solid"/>
          </a:ln>
        </p:spPr>
      </p:sp>
      <p:sp>
        <p:nvSpPr>
          <p:cNvPr id="23" name="Text 21"/>
          <p:cNvSpPr txBox="1"/>
          <p:nvPr/>
        </p:nvSpPr>
        <p:spPr>
          <a:xfrm>
            <a:off x="6355080" y="5129784"/>
            <a:ext cx="5120640" cy="301752"/>
          </a:xfrm>
          <a:prstGeom prst="rect">
            <a:avLst/>
          </a:prstGeom>
          <a:noFill/>
          <a:ln/>
        </p:spPr>
        <p:txBody>
          <a:bodyPr wrap="square" lIns="0" tIns="0" rIns="0" bIns="0" rtlCol="0" anchor="t"/>
          <a:lstStyle/>
          <a:p>
            <a:pPr indent="0" marL="0">
              <a:buNone/>
            </a:pPr>
            <a:r>
              <a:rPr lang="en-US" sz="1250" b="1" dirty="0">
                <a:solidFill>
                  <a:srgbClr val="C9002B"/>
                </a:solidFill>
                <a:latin typeface="Meiryo" pitchFamily="34" charset="0"/>
                <a:ea typeface="Meiryo" pitchFamily="34" charset="-122"/>
                <a:cs typeface="Meiryo" pitchFamily="34" charset="-120"/>
              </a:rPr>
              <a:t>「広告はLINEの方が届くのでは？」</a:t>
            </a:r>
            <a:endParaRPr lang="en-US" sz="1250" dirty="0"/>
          </a:p>
        </p:txBody>
      </p:sp>
      <p:sp>
        <p:nvSpPr>
          <p:cNvPr id="24" name="Text 22"/>
          <p:cNvSpPr txBox="1"/>
          <p:nvPr/>
        </p:nvSpPr>
        <p:spPr>
          <a:xfrm>
            <a:off x="6355080" y="5440680"/>
            <a:ext cx="5120640" cy="621792"/>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規模はLINEが大きい。ドコモのデータで見つけた対象に、ドコモの面に加えてLINEなどでも配信できる（Ads Connect）</a:t>
            </a:r>
            <a:endParaRPr lang="en-US" sz="1100" dirty="0"/>
          </a:p>
        </p:txBody>
      </p:sp>
      <p:sp>
        <p:nvSpPr>
          <p:cNvPr id="25" name="Text 23"/>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本資料の分析（仮説）とトーク例。他社を否定せず、料金比較は見積をそろえて示す</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自治体の予算・契約の流れと審査のポイント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予算要求の前に材料を渡し、契約ルートと審査基準に合わせて提案する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19</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894588" cy="310896"/>
          </a:xfrm>
          <a:prstGeom prst="rect">
            <a:avLst/>
          </a:prstGeom>
          <a:solidFill>
            <a:srgbClr val="13283C"/>
          </a:solidFill>
          <a:ln w="12700">
            <a:solidFill>
              <a:srgbClr val="13283C"/>
            </a:solidFill>
            <a:prstDash val="solid"/>
          </a:ln>
        </p:spPr>
      </p:sp>
      <p:sp>
        <p:nvSpPr>
          <p:cNvPr id="8" name="Text 6"/>
          <p:cNvSpPr txBox="1"/>
          <p:nvPr/>
        </p:nvSpPr>
        <p:spPr>
          <a:xfrm>
            <a:off x="54864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4月</a:t>
            </a:r>
            <a:endParaRPr lang="en-US" sz="1050" dirty="0"/>
          </a:p>
        </p:txBody>
      </p:sp>
      <p:sp>
        <p:nvSpPr>
          <p:cNvPr id="9" name="Shape 7"/>
          <p:cNvSpPr/>
          <p:nvPr/>
        </p:nvSpPr>
        <p:spPr>
          <a:xfrm>
            <a:off x="1470660" y="1737360"/>
            <a:ext cx="894588" cy="310896"/>
          </a:xfrm>
          <a:prstGeom prst="rect">
            <a:avLst/>
          </a:prstGeom>
          <a:solidFill>
            <a:srgbClr val="13283C"/>
          </a:solidFill>
          <a:ln w="12700">
            <a:solidFill>
              <a:srgbClr val="13283C"/>
            </a:solidFill>
            <a:prstDash val="solid"/>
          </a:ln>
        </p:spPr>
      </p:sp>
      <p:sp>
        <p:nvSpPr>
          <p:cNvPr id="10" name="Text 8"/>
          <p:cNvSpPr txBox="1"/>
          <p:nvPr/>
        </p:nvSpPr>
        <p:spPr>
          <a:xfrm>
            <a:off x="147066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5月</a:t>
            </a:r>
            <a:endParaRPr lang="en-US" sz="1050" dirty="0"/>
          </a:p>
        </p:txBody>
      </p:sp>
      <p:sp>
        <p:nvSpPr>
          <p:cNvPr id="11" name="Shape 9"/>
          <p:cNvSpPr/>
          <p:nvPr/>
        </p:nvSpPr>
        <p:spPr>
          <a:xfrm>
            <a:off x="2392680" y="1737360"/>
            <a:ext cx="894588" cy="310896"/>
          </a:xfrm>
          <a:prstGeom prst="rect">
            <a:avLst/>
          </a:prstGeom>
          <a:solidFill>
            <a:srgbClr val="13283C"/>
          </a:solidFill>
          <a:ln w="12700">
            <a:solidFill>
              <a:srgbClr val="13283C"/>
            </a:solidFill>
            <a:prstDash val="solid"/>
          </a:ln>
        </p:spPr>
      </p:sp>
      <p:sp>
        <p:nvSpPr>
          <p:cNvPr id="12" name="Text 10"/>
          <p:cNvSpPr txBox="1"/>
          <p:nvPr/>
        </p:nvSpPr>
        <p:spPr>
          <a:xfrm>
            <a:off x="239268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6月</a:t>
            </a:r>
            <a:endParaRPr lang="en-US" sz="1050" dirty="0"/>
          </a:p>
        </p:txBody>
      </p:sp>
      <p:sp>
        <p:nvSpPr>
          <p:cNvPr id="13" name="Shape 11"/>
          <p:cNvSpPr/>
          <p:nvPr/>
        </p:nvSpPr>
        <p:spPr>
          <a:xfrm>
            <a:off x="3314700" y="1737360"/>
            <a:ext cx="894588" cy="310896"/>
          </a:xfrm>
          <a:prstGeom prst="rect">
            <a:avLst/>
          </a:prstGeom>
          <a:solidFill>
            <a:srgbClr val="C9002B"/>
          </a:solidFill>
          <a:ln w="12700">
            <a:solidFill>
              <a:srgbClr val="C9002B"/>
            </a:solidFill>
            <a:prstDash val="solid"/>
          </a:ln>
        </p:spPr>
      </p:sp>
      <p:sp>
        <p:nvSpPr>
          <p:cNvPr id="14" name="Text 12"/>
          <p:cNvSpPr txBox="1"/>
          <p:nvPr/>
        </p:nvSpPr>
        <p:spPr>
          <a:xfrm>
            <a:off x="331470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7月</a:t>
            </a:r>
            <a:endParaRPr lang="en-US" sz="1050" dirty="0"/>
          </a:p>
        </p:txBody>
      </p:sp>
      <p:sp>
        <p:nvSpPr>
          <p:cNvPr id="15" name="Shape 13"/>
          <p:cNvSpPr/>
          <p:nvPr/>
        </p:nvSpPr>
        <p:spPr>
          <a:xfrm>
            <a:off x="4236720" y="1737360"/>
            <a:ext cx="894588" cy="310896"/>
          </a:xfrm>
          <a:prstGeom prst="rect">
            <a:avLst/>
          </a:prstGeom>
          <a:solidFill>
            <a:srgbClr val="C9002B"/>
          </a:solidFill>
          <a:ln w="12700">
            <a:solidFill>
              <a:srgbClr val="C9002B"/>
            </a:solidFill>
            <a:prstDash val="solid"/>
          </a:ln>
        </p:spPr>
      </p:sp>
      <p:sp>
        <p:nvSpPr>
          <p:cNvPr id="16" name="Text 14"/>
          <p:cNvSpPr txBox="1"/>
          <p:nvPr/>
        </p:nvSpPr>
        <p:spPr>
          <a:xfrm>
            <a:off x="423672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8月</a:t>
            </a:r>
            <a:endParaRPr lang="en-US" sz="1050" dirty="0"/>
          </a:p>
        </p:txBody>
      </p:sp>
      <p:sp>
        <p:nvSpPr>
          <p:cNvPr id="17" name="Shape 15"/>
          <p:cNvSpPr/>
          <p:nvPr/>
        </p:nvSpPr>
        <p:spPr>
          <a:xfrm>
            <a:off x="5158740" y="1737360"/>
            <a:ext cx="894588" cy="310896"/>
          </a:xfrm>
          <a:prstGeom prst="rect">
            <a:avLst/>
          </a:prstGeom>
          <a:solidFill>
            <a:srgbClr val="C9002B"/>
          </a:solidFill>
          <a:ln w="12700">
            <a:solidFill>
              <a:srgbClr val="C9002B"/>
            </a:solidFill>
            <a:prstDash val="solid"/>
          </a:ln>
        </p:spPr>
      </p:sp>
      <p:sp>
        <p:nvSpPr>
          <p:cNvPr id="18" name="Text 16"/>
          <p:cNvSpPr txBox="1"/>
          <p:nvPr/>
        </p:nvSpPr>
        <p:spPr>
          <a:xfrm>
            <a:off x="515874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9月</a:t>
            </a:r>
            <a:endParaRPr lang="en-US" sz="1050" dirty="0"/>
          </a:p>
        </p:txBody>
      </p:sp>
      <p:sp>
        <p:nvSpPr>
          <p:cNvPr id="19" name="Shape 17"/>
          <p:cNvSpPr/>
          <p:nvPr/>
        </p:nvSpPr>
        <p:spPr>
          <a:xfrm>
            <a:off x="6080760" y="1737360"/>
            <a:ext cx="894588" cy="310896"/>
          </a:xfrm>
          <a:prstGeom prst="rect">
            <a:avLst/>
          </a:prstGeom>
          <a:solidFill>
            <a:srgbClr val="C9002B"/>
          </a:solidFill>
          <a:ln w="12700">
            <a:solidFill>
              <a:srgbClr val="C9002B"/>
            </a:solidFill>
            <a:prstDash val="solid"/>
          </a:ln>
        </p:spPr>
      </p:sp>
      <p:sp>
        <p:nvSpPr>
          <p:cNvPr id="20" name="Text 18"/>
          <p:cNvSpPr txBox="1"/>
          <p:nvPr/>
        </p:nvSpPr>
        <p:spPr>
          <a:xfrm>
            <a:off x="608076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10月</a:t>
            </a:r>
            <a:endParaRPr lang="en-US" sz="1050" dirty="0"/>
          </a:p>
        </p:txBody>
      </p:sp>
      <p:sp>
        <p:nvSpPr>
          <p:cNvPr id="21" name="Shape 19"/>
          <p:cNvSpPr/>
          <p:nvPr/>
        </p:nvSpPr>
        <p:spPr>
          <a:xfrm>
            <a:off x="7002780" y="1737360"/>
            <a:ext cx="894588" cy="310896"/>
          </a:xfrm>
          <a:prstGeom prst="rect">
            <a:avLst/>
          </a:prstGeom>
          <a:solidFill>
            <a:srgbClr val="13283C"/>
          </a:solidFill>
          <a:ln w="12700">
            <a:solidFill>
              <a:srgbClr val="13283C"/>
            </a:solidFill>
            <a:prstDash val="solid"/>
          </a:ln>
        </p:spPr>
      </p:sp>
      <p:sp>
        <p:nvSpPr>
          <p:cNvPr id="22" name="Text 20"/>
          <p:cNvSpPr txBox="1"/>
          <p:nvPr/>
        </p:nvSpPr>
        <p:spPr>
          <a:xfrm>
            <a:off x="700278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11月</a:t>
            </a:r>
            <a:endParaRPr lang="en-US" sz="1050" dirty="0"/>
          </a:p>
        </p:txBody>
      </p:sp>
      <p:sp>
        <p:nvSpPr>
          <p:cNvPr id="23" name="Shape 21"/>
          <p:cNvSpPr/>
          <p:nvPr/>
        </p:nvSpPr>
        <p:spPr>
          <a:xfrm>
            <a:off x="7924800" y="1737360"/>
            <a:ext cx="894588" cy="310896"/>
          </a:xfrm>
          <a:prstGeom prst="rect">
            <a:avLst/>
          </a:prstGeom>
          <a:solidFill>
            <a:srgbClr val="13283C"/>
          </a:solidFill>
          <a:ln w="12700">
            <a:solidFill>
              <a:srgbClr val="13283C"/>
            </a:solidFill>
            <a:prstDash val="solid"/>
          </a:ln>
        </p:spPr>
      </p:sp>
      <p:sp>
        <p:nvSpPr>
          <p:cNvPr id="24" name="Text 22"/>
          <p:cNvSpPr txBox="1"/>
          <p:nvPr/>
        </p:nvSpPr>
        <p:spPr>
          <a:xfrm>
            <a:off x="792480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12月</a:t>
            </a:r>
            <a:endParaRPr lang="en-US" sz="1050" dirty="0"/>
          </a:p>
        </p:txBody>
      </p:sp>
      <p:sp>
        <p:nvSpPr>
          <p:cNvPr id="25" name="Shape 23"/>
          <p:cNvSpPr/>
          <p:nvPr/>
        </p:nvSpPr>
        <p:spPr>
          <a:xfrm>
            <a:off x="8846820" y="1737360"/>
            <a:ext cx="894588" cy="310896"/>
          </a:xfrm>
          <a:prstGeom prst="rect">
            <a:avLst/>
          </a:prstGeom>
          <a:solidFill>
            <a:srgbClr val="13283C"/>
          </a:solidFill>
          <a:ln w="12700">
            <a:solidFill>
              <a:srgbClr val="13283C"/>
            </a:solidFill>
            <a:prstDash val="solid"/>
          </a:ln>
        </p:spPr>
      </p:sp>
      <p:sp>
        <p:nvSpPr>
          <p:cNvPr id="26" name="Text 24"/>
          <p:cNvSpPr txBox="1"/>
          <p:nvPr/>
        </p:nvSpPr>
        <p:spPr>
          <a:xfrm>
            <a:off x="884682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1月</a:t>
            </a:r>
            <a:endParaRPr lang="en-US" sz="1050" dirty="0"/>
          </a:p>
        </p:txBody>
      </p:sp>
      <p:sp>
        <p:nvSpPr>
          <p:cNvPr id="27" name="Shape 25"/>
          <p:cNvSpPr/>
          <p:nvPr/>
        </p:nvSpPr>
        <p:spPr>
          <a:xfrm>
            <a:off x="9768840" y="1737360"/>
            <a:ext cx="894588" cy="310896"/>
          </a:xfrm>
          <a:prstGeom prst="rect">
            <a:avLst/>
          </a:prstGeom>
          <a:solidFill>
            <a:srgbClr val="13283C"/>
          </a:solidFill>
          <a:ln w="12700">
            <a:solidFill>
              <a:srgbClr val="13283C"/>
            </a:solidFill>
            <a:prstDash val="solid"/>
          </a:ln>
        </p:spPr>
      </p:sp>
      <p:sp>
        <p:nvSpPr>
          <p:cNvPr id="28" name="Text 26"/>
          <p:cNvSpPr txBox="1"/>
          <p:nvPr/>
        </p:nvSpPr>
        <p:spPr>
          <a:xfrm>
            <a:off x="976884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2月</a:t>
            </a:r>
            <a:endParaRPr lang="en-US" sz="1050" dirty="0"/>
          </a:p>
        </p:txBody>
      </p:sp>
      <p:sp>
        <p:nvSpPr>
          <p:cNvPr id="29" name="Shape 27"/>
          <p:cNvSpPr/>
          <p:nvPr/>
        </p:nvSpPr>
        <p:spPr>
          <a:xfrm>
            <a:off x="10690860" y="1737360"/>
            <a:ext cx="894588" cy="310896"/>
          </a:xfrm>
          <a:prstGeom prst="rect">
            <a:avLst/>
          </a:prstGeom>
          <a:solidFill>
            <a:srgbClr val="13283C"/>
          </a:solidFill>
          <a:ln w="12700">
            <a:solidFill>
              <a:srgbClr val="13283C"/>
            </a:solidFill>
            <a:prstDash val="solid"/>
          </a:ln>
        </p:spPr>
      </p:sp>
      <p:sp>
        <p:nvSpPr>
          <p:cNvPr id="30" name="Text 28"/>
          <p:cNvSpPr txBox="1"/>
          <p:nvPr/>
        </p:nvSpPr>
        <p:spPr>
          <a:xfrm>
            <a:off x="10690860" y="1737360"/>
            <a:ext cx="894588"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3月</a:t>
            </a:r>
            <a:endParaRPr lang="en-US" sz="1050" dirty="0"/>
          </a:p>
        </p:txBody>
      </p:sp>
      <p:sp>
        <p:nvSpPr>
          <p:cNvPr id="31" name="Text 29"/>
          <p:cNvSpPr txBox="1"/>
          <p:nvPr/>
        </p:nvSpPr>
        <p:spPr>
          <a:xfrm>
            <a:off x="548640" y="2103120"/>
            <a:ext cx="2738628" cy="292608"/>
          </a:xfrm>
          <a:prstGeom prst="roundRect">
            <a:avLst>
              <a:gd name="adj" fmla="val 15625"/>
            </a:avLst>
          </a:prstGeom>
          <a:solidFill>
            <a:srgbClr val="BAC8D4"/>
          </a:solidFill>
          <a:ln>
            <a:solidFill>
              <a:srgbClr val="BAC8D4"/>
            </a:solidFill>
          </a:ln>
        </p:spPr>
        <p:txBody>
          <a:bodyPr wrap="square" lIns="50800" tIns="50800" rIns="50800" bIns="50800" rtlCol="0" anchor="ctr">
            <a:normAutofit/>
          </a:bodyPr>
          <a:lstStyle/>
          <a:p>
            <a:pPr indent="0" marL="0">
              <a:buNone/>
            </a:pPr>
            <a:r>
              <a:rPr lang="en-US" sz="1000" b="1" dirty="0">
                <a:solidFill>
                  <a:srgbClr val="1B2B3D"/>
                </a:solidFill>
                <a:latin typeface="Meiryo" pitchFamily="34" charset="0"/>
                <a:ea typeface="Meiryo" pitchFamily="34" charset="-122"/>
                <a:cs typeface="Meiryo" pitchFamily="34" charset="-120"/>
              </a:rPr>
              <a:t>課題ヒアリング</a:t>
            </a:r>
            <a:endParaRPr lang="en-US" sz="1000" dirty="0"/>
          </a:p>
        </p:txBody>
      </p:sp>
      <p:sp>
        <p:nvSpPr>
          <p:cNvPr id="32" name="Text 30"/>
          <p:cNvSpPr txBox="1"/>
          <p:nvPr/>
        </p:nvSpPr>
        <p:spPr>
          <a:xfrm>
            <a:off x="3314700" y="2432304"/>
            <a:ext cx="2738628" cy="292608"/>
          </a:xfrm>
          <a:prstGeom prst="roundRect">
            <a:avLst>
              <a:gd name="adj" fmla="val 15625"/>
            </a:avLst>
          </a:prstGeom>
          <a:solidFill>
            <a:srgbClr val="C9002B"/>
          </a:solidFill>
          <a:ln>
            <a:solidFill>
              <a:srgbClr val="C9002B"/>
            </a:solidFill>
          </a:ln>
        </p:spPr>
        <p:txBody>
          <a:bodyPr wrap="square" lIns="50800" tIns="50800" rIns="50800" bIns="50800" rtlCol="0" anchor="ctr">
            <a:normAutofit/>
          </a:bodyPr>
          <a:lstStyle/>
          <a:p>
            <a:pPr indent="0" marL="0">
              <a:buNone/>
            </a:pPr>
            <a:r>
              <a:rPr lang="en-US" sz="1000" b="1" dirty="0">
                <a:solidFill>
                  <a:srgbClr val="FFFFFF"/>
                </a:solidFill>
                <a:latin typeface="Meiryo" pitchFamily="34" charset="0"/>
                <a:ea typeface="Meiryo" pitchFamily="34" charset="-122"/>
                <a:cs typeface="Meiryo" pitchFamily="34" charset="-120"/>
              </a:rPr>
              <a:t>試行・見積を渡して次年度予算を仕込む</a:t>
            </a:r>
            <a:endParaRPr lang="en-US" sz="1000" dirty="0"/>
          </a:p>
        </p:txBody>
      </p:sp>
      <p:sp>
        <p:nvSpPr>
          <p:cNvPr id="33" name="Text 31"/>
          <p:cNvSpPr txBox="1"/>
          <p:nvPr/>
        </p:nvSpPr>
        <p:spPr>
          <a:xfrm>
            <a:off x="5158740" y="2761488"/>
            <a:ext cx="1816608" cy="292608"/>
          </a:xfrm>
          <a:prstGeom prst="roundRect">
            <a:avLst>
              <a:gd name="adj" fmla="val 15625"/>
            </a:avLst>
          </a:prstGeom>
          <a:solidFill>
            <a:srgbClr val="13283C"/>
          </a:solidFill>
          <a:ln>
            <a:solidFill>
              <a:srgbClr val="13283C"/>
            </a:solidFill>
          </a:ln>
        </p:spPr>
        <p:txBody>
          <a:bodyPr wrap="square" lIns="50800" tIns="50800" rIns="50800" bIns="50800" rtlCol="0" anchor="ctr">
            <a:normAutofit/>
          </a:bodyPr>
          <a:lstStyle/>
          <a:p>
            <a:pPr indent="0" marL="0">
              <a:buNone/>
            </a:pPr>
            <a:r>
              <a:rPr lang="en-US" sz="1000" b="1" dirty="0">
                <a:solidFill>
                  <a:srgbClr val="FFFFFF"/>
                </a:solidFill>
                <a:latin typeface="Meiryo" pitchFamily="34" charset="0"/>
                <a:ea typeface="Meiryo" pitchFamily="34" charset="-122"/>
                <a:cs typeface="Meiryo" pitchFamily="34" charset="-120"/>
              </a:rPr>
              <a:t>予算要求</a:t>
            </a:r>
            <a:endParaRPr lang="en-US" sz="1000" dirty="0"/>
          </a:p>
        </p:txBody>
      </p:sp>
      <p:sp>
        <p:nvSpPr>
          <p:cNvPr id="34" name="Text 32"/>
          <p:cNvSpPr txBox="1"/>
          <p:nvPr/>
        </p:nvSpPr>
        <p:spPr>
          <a:xfrm>
            <a:off x="7924800" y="2103120"/>
            <a:ext cx="1816608" cy="292608"/>
          </a:xfrm>
          <a:prstGeom prst="roundRect">
            <a:avLst>
              <a:gd name="adj" fmla="val 15625"/>
            </a:avLst>
          </a:prstGeom>
          <a:solidFill>
            <a:srgbClr val="2F4A63"/>
          </a:solidFill>
          <a:ln>
            <a:solidFill>
              <a:srgbClr val="2F4A63"/>
            </a:solidFill>
          </a:ln>
        </p:spPr>
        <p:txBody>
          <a:bodyPr wrap="square" lIns="50800" tIns="50800" rIns="50800" bIns="50800" rtlCol="0" anchor="ctr">
            <a:normAutofit/>
          </a:bodyPr>
          <a:lstStyle/>
          <a:p>
            <a:pPr indent="0" marL="0">
              <a:buNone/>
            </a:pPr>
            <a:r>
              <a:rPr lang="en-US" sz="1000" b="1" dirty="0">
                <a:solidFill>
                  <a:srgbClr val="FFFFFF"/>
                </a:solidFill>
                <a:latin typeface="Meiryo" pitchFamily="34" charset="0"/>
                <a:ea typeface="Meiryo" pitchFamily="34" charset="-122"/>
                <a:cs typeface="Meiryo" pitchFamily="34" charset="-120"/>
              </a:rPr>
              <a:t>査定</a:t>
            </a:r>
            <a:endParaRPr lang="en-US" sz="1000" dirty="0"/>
          </a:p>
        </p:txBody>
      </p:sp>
      <p:sp>
        <p:nvSpPr>
          <p:cNvPr id="35" name="Text 33"/>
          <p:cNvSpPr txBox="1"/>
          <p:nvPr/>
        </p:nvSpPr>
        <p:spPr>
          <a:xfrm>
            <a:off x="9768840" y="2432304"/>
            <a:ext cx="1816608" cy="292608"/>
          </a:xfrm>
          <a:prstGeom prst="roundRect">
            <a:avLst>
              <a:gd name="adj" fmla="val 15625"/>
            </a:avLst>
          </a:prstGeom>
          <a:solidFill>
            <a:srgbClr val="13283C"/>
          </a:solidFill>
          <a:ln>
            <a:solidFill>
              <a:srgbClr val="13283C"/>
            </a:solidFill>
          </a:ln>
        </p:spPr>
        <p:txBody>
          <a:bodyPr wrap="square" lIns="50800" tIns="50800" rIns="50800" bIns="50800" rtlCol="0" anchor="ctr">
            <a:normAutofit/>
          </a:bodyPr>
          <a:lstStyle/>
          <a:p>
            <a:pPr indent="0" marL="0">
              <a:buNone/>
            </a:pPr>
            <a:r>
              <a:rPr lang="en-US" sz="1000" b="1" dirty="0">
                <a:solidFill>
                  <a:srgbClr val="FFFFFF"/>
                </a:solidFill>
                <a:latin typeface="Meiryo" pitchFamily="34" charset="0"/>
                <a:ea typeface="Meiryo" pitchFamily="34" charset="-122"/>
                <a:cs typeface="Meiryo" pitchFamily="34" charset="-120"/>
              </a:rPr>
              <a:t>議会で成立</a:t>
            </a:r>
            <a:endParaRPr lang="en-US" sz="1000" dirty="0"/>
          </a:p>
        </p:txBody>
      </p:sp>
      <p:sp>
        <p:nvSpPr>
          <p:cNvPr id="36" name="Shape 34"/>
          <p:cNvSpPr/>
          <p:nvPr/>
        </p:nvSpPr>
        <p:spPr>
          <a:xfrm>
            <a:off x="548640" y="3246120"/>
            <a:ext cx="6035040" cy="658368"/>
          </a:xfrm>
          <a:prstGeom prst="roundRect">
            <a:avLst>
              <a:gd name="adj" fmla="val 11111"/>
            </a:avLst>
          </a:prstGeom>
          <a:solidFill>
            <a:srgbClr val="F2F5F8"/>
          </a:solidFill>
          <a:ln w="12700">
            <a:solidFill>
              <a:srgbClr val="F2F5F8"/>
            </a:solidFill>
            <a:prstDash val="solid"/>
          </a:ln>
        </p:spPr>
      </p:sp>
      <p:sp>
        <p:nvSpPr>
          <p:cNvPr id="37" name="Text 35"/>
          <p:cNvSpPr txBox="1"/>
          <p:nvPr/>
        </p:nvSpPr>
        <p:spPr>
          <a:xfrm>
            <a:off x="731520" y="3246120"/>
            <a:ext cx="182880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公募型プロポーザル</a:t>
            </a:r>
            <a:endParaRPr lang="en-US" sz="1250" dirty="0"/>
          </a:p>
        </p:txBody>
      </p:sp>
      <p:sp>
        <p:nvSpPr>
          <p:cNvPr id="38" name="Text 36"/>
          <p:cNvSpPr txBox="1"/>
          <p:nvPr/>
        </p:nvSpPr>
        <p:spPr>
          <a:xfrm>
            <a:off x="2560320" y="3246120"/>
            <a:ext cx="3931920" cy="658368"/>
          </a:xfrm>
          <a:prstGeom prst="rect">
            <a:avLst/>
          </a:prstGeom>
          <a:noFill/>
          <a:ln/>
        </p:spPr>
        <p:txBody>
          <a:bodyPr wrap="square" lIns="0" tIns="0" rIns="0" bIns="0" rtlCol="0" anchor="ctr"/>
          <a:lstStyle/>
          <a:p>
            <a:pPr indent="0" marL="0">
              <a:buNone/>
            </a:pPr>
            <a:r>
              <a:rPr lang="en-US" sz="1050" dirty="0">
                <a:solidFill>
                  <a:srgbClr val="1B2B3D"/>
                </a:solidFill>
                <a:latin typeface="Meiryo" pitchFamily="34" charset="0"/>
                <a:ea typeface="Meiryo" pitchFamily="34" charset="-122"/>
                <a:cs typeface="Meiryo" pitchFamily="34" charset="-120"/>
              </a:rPr>
              <a:t>公告→参加表明→提案書→ヒアリング→契約。公告から結果まで約1か月（下関市 8/6→9/11）</a:t>
            </a:r>
            <a:endParaRPr lang="en-US" sz="1050" dirty="0"/>
          </a:p>
        </p:txBody>
      </p:sp>
      <p:sp>
        <p:nvSpPr>
          <p:cNvPr id="39" name="Shape 37"/>
          <p:cNvSpPr/>
          <p:nvPr/>
        </p:nvSpPr>
        <p:spPr>
          <a:xfrm>
            <a:off x="548640" y="3995928"/>
            <a:ext cx="6035040" cy="658368"/>
          </a:xfrm>
          <a:prstGeom prst="roundRect">
            <a:avLst>
              <a:gd name="adj" fmla="val 11111"/>
            </a:avLst>
          </a:prstGeom>
          <a:solidFill>
            <a:srgbClr val="F2F5F8"/>
          </a:solidFill>
          <a:ln w="12700">
            <a:solidFill>
              <a:srgbClr val="F2F5F8"/>
            </a:solidFill>
            <a:prstDash val="solid"/>
          </a:ln>
        </p:spPr>
      </p:sp>
      <p:sp>
        <p:nvSpPr>
          <p:cNvPr id="40" name="Text 38"/>
          <p:cNvSpPr txBox="1"/>
          <p:nvPr/>
        </p:nvSpPr>
        <p:spPr>
          <a:xfrm>
            <a:off x="731520" y="3995928"/>
            <a:ext cx="182880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少額随意契約</a:t>
            </a:r>
            <a:endParaRPr lang="en-US" sz="1250" dirty="0"/>
          </a:p>
        </p:txBody>
      </p:sp>
      <p:sp>
        <p:nvSpPr>
          <p:cNvPr id="41" name="Text 39"/>
          <p:cNvSpPr txBox="1"/>
          <p:nvPr/>
        </p:nvSpPr>
        <p:spPr>
          <a:xfrm>
            <a:off x="2560320" y="3995928"/>
            <a:ext cx="3931920" cy="658368"/>
          </a:xfrm>
          <a:prstGeom prst="rect">
            <a:avLst/>
          </a:prstGeom>
          <a:noFill/>
          <a:ln/>
        </p:spPr>
        <p:txBody>
          <a:bodyPr wrap="square" lIns="0" tIns="0" rIns="0" bIns="0" rtlCol="0" anchor="ctr"/>
          <a:lstStyle/>
          <a:p>
            <a:pPr indent="0" marL="0">
              <a:buNone/>
            </a:pPr>
            <a:r>
              <a:rPr lang="en-US" sz="1050" dirty="0">
                <a:solidFill>
                  <a:srgbClr val="1B2B3D"/>
                </a:solidFill>
                <a:latin typeface="Meiryo" pitchFamily="34" charset="0"/>
                <a:ea typeface="Meiryo" pitchFamily="34" charset="-122"/>
                <a:cs typeface="Meiryo" pitchFamily="34" charset="-120"/>
              </a:rPr>
              <a:t>委託などは市区町村100万円以下・都道府県200万円以下（2025年4月改正、各自治体の規則で適用）</a:t>
            </a:r>
            <a:endParaRPr lang="en-US" sz="1050" dirty="0"/>
          </a:p>
        </p:txBody>
      </p:sp>
      <p:sp>
        <p:nvSpPr>
          <p:cNvPr id="42" name="Shape 40"/>
          <p:cNvSpPr/>
          <p:nvPr/>
        </p:nvSpPr>
        <p:spPr>
          <a:xfrm>
            <a:off x="548640" y="4745736"/>
            <a:ext cx="6035040" cy="658368"/>
          </a:xfrm>
          <a:prstGeom prst="roundRect">
            <a:avLst>
              <a:gd name="adj" fmla="val 11111"/>
            </a:avLst>
          </a:prstGeom>
          <a:solidFill>
            <a:srgbClr val="F2F5F8"/>
          </a:solidFill>
          <a:ln w="12700">
            <a:solidFill>
              <a:srgbClr val="F2F5F8"/>
            </a:solidFill>
            <a:prstDash val="solid"/>
          </a:ln>
        </p:spPr>
      </p:sp>
      <p:sp>
        <p:nvSpPr>
          <p:cNvPr id="43" name="Text 41"/>
          <p:cNvSpPr txBox="1"/>
          <p:nvPr/>
        </p:nvSpPr>
        <p:spPr>
          <a:xfrm>
            <a:off x="731520" y="4745736"/>
            <a:ext cx="182880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補正予算</a:t>
            </a:r>
            <a:endParaRPr lang="en-US" sz="1250" dirty="0"/>
          </a:p>
        </p:txBody>
      </p:sp>
      <p:sp>
        <p:nvSpPr>
          <p:cNvPr id="44" name="Text 42"/>
          <p:cNvSpPr txBox="1"/>
          <p:nvPr/>
        </p:nvSpPr>
        <p:spPr>
          <a:xfrm>
            <a:off x="2560320" y="4745736"/>
            <a:ext cx="3931920" cy="658368"/>
          </a:xfrm>
          <a:prstGeom prst="rect">
            <a:avLst/>
          </a:prstGeom>
          <a:noFill/>
          <a:ln/>
        </p:spPr>
        <p:txBody>
          <a:bodyPr wrap="square" lIns="0" tIns="0" rIns="0" bIns="0" rtlCol="0" anchor="ctr"/>
          <a:lstStyle/>
          <a:p>
            <a:pPr indent="0" marL="0">
              <a:buNone/>
            </a:pPr>
            <a:r>
              <a:rPr lang="en-US" sz="1050" dirty="0">
                <a:solidFill>
                  <a:srgbClr val="1B2B3D"/>
                </a:solidFill>
                <a:latin typeface="Meiryo" pitchFamily="34" charset="0"/>
                <a:ea typeface="Meiryo" pitchFamily="34" charset="-122"/>
                <a:cs typeface="Meiryo" pitchFamily="34" charset="-120"/>
              </a:rPr>
              <a:t>年度途中に予算化。今年度に小さく検証し、次年度の当初予算で本格化する</a:t>
            </a:r>
            <a:endParaRPr lang="en-US" sz="1050" dirty="0"/>
          </a:p>
        </p:txBody>
      </p:sp>
      <p:sp>
        <p:nvSpPr>
          <p:cNvPr id="45" name="Text 43"/>
          <p:cNvSpPr txBox="1"/>
          <p:nvPr/>
        </p:nvSpPr>
        <p:spPr>
          <a:xfrm>
            <a:off x="6858000" y="3200400"/>
            <a:ext cx="4754880" cy="274320"/>
          </a:xfrm>
          <a:prstGeom prst="rect">
            <a:avLst/>
          </a:prstGeom>
          <a:noFill/>
          <a:ln/>
        </p:spPr>
        <p:txBody>
          <a:bodyPr wrap="square" lIns="0" tIns="0" rIns="0" bIns="0" rtlCol="0" anchor="t"/>
          <a:lstStyle/>
          <a:p>
            <a:pPr indent="0" marL="0">
              <a:buNone/>
            </a:pPr>
            <a:r>
              <a:rPr lang="en-US" sz="1200" b="1" dirty="0">
                <a:solidFill>
                  <a:srgbClr val="13283C"/>
                </a:solidFill>
                <a:latin typeface="Meiryo" pitchFamily="34" charset="0"/>
                <a:ea typeface="Meiryo" pitchFamily="34" charset="-122"/>
                <a:cs typeface="Meiryo" pitchFamily="34" charset="-120"/>
              </a:rPr>
              <a:t>審査基準の配点例（石川県・抜粋）</a:t>
            </a:r>
            <a:endParaRPr lang="en-US" sz="1200" dirty="0"/>
          </a:p>
        </p:txBody>
      </p:sp>
      <p:graphicFrame>
        <p:nvGraphicFramePr>
          <p:cNvPr id="46" name="Chart 0" descr=""/>
          <p:cNvGraphicFramePr/>
          <p:nvPr/>
        </p:nvGraphicFramePr>
        <p:xfrm>
          <a:off x="6858000" y="3474720"/>
          <a:ext cx="4754880" cy="2011680"/>
        </p:xfrm>
        <a:graphic xmlns:a="http://schemas.openxmlformats.org/drawingml/2006/main">
          <a:graphicData uri="http://schemas.openxmlformats.org/drawingml/2006/chart">
            <c:chart xmlns:c="http://schemas.openxmlformats.org/drawingml/2006/chart" r:id="rId1"/>
          </a:graphicData>
        </a:graphic>
      </p:graphicFrame>
      <p:sp>
        <p:nvSpPr>
          <p:cNvPr id="47" name="Shape 44"/>
          <p:cNvSpPr/>
          <p:nvPr/>
        </p:nvSpPr>
        <p:spPr>
          <a:xfrm>
            <a:off x="548640" y="5596128"/>
            <a:ext cx="11064240" cy="594360"/>
          </a:xfrm>
          <a:prstGeom prst="roundRect">
            <a:avLst>
              <a:gd name="adj" fmla="val 12308"/>
            </a:avLst>
          </a:prstGeom>
          <a:solidFill>
            <a:srgbClr val="13283C"/>
          </a:solidFill>
          <a:ln w="12700">
            <a:solidFill>
              <a:srgbClr val="13283C"/>
            </a:solidFill>
            <a:prstDash val="solid"/>
          </a:ln>
        </p:spPr>
      </p:sp>
      <p:sp>
        <p:nvSpPr>
          <p:cNvPr id="48" name="Text 45"/>
          <p:cNvSpPr txBox="1"/>
          <p:nvPr/>
        </p:nvSpPr>
        <p:spPr>
          <a:xfrm>
            <a:off x="777240" y="5596128"/>
            <a:ext cx="10607040" cy="59436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提案書は審査基準の項目順に章立てし、配点の大きい「企画」にページを割く。業務理解・目標・体制も独立して評価される</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チームの動き方と、成果の見方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窓口を1人に決め、契約前に基準値・目標・判断日を顧客と合意する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20</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83080"/>
            <a:ext cx="2651760" cy="1783080"/>
          </a:xfrm>
          <a:prstGeom prst="roundRect">
            <a:avLst>
              <a:gd name="adj" fmla="val 4103"/>
            </a:avLst>
          </a:prstGeom>
          <a:solidFill>
            <a:srgbClr val="13283C"/>
          </a:solidFill>
          <a:ln w="12700">
            <a:solidFill>
              <a:srgbClr val="13283C"/>
            </a:solidFill>
            <a:prstDash val="solid"/>
          </a:ln>
        </p:spPr>
      </p:sp>
      <p:sp>
        <p:nvSpPr>
          <p:cNvPr id="8" name="Shape 6"/>
          <p:cNvSpPr/>
          <p:nvPr/>
        </p:nvSpPr>
        <p:spPr>
          <a:xfrm>
            <a:off x="731520" y="1920240"/>
            <a:ext cx="502920" cy="50292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857250" y="2045970"/>
            <a:ext cx="251460" cy="251460"/>
          </a:xfrm>
          <a:prstGeom prst="rect">
            <a:avLst/>
          </a:prstGeom>
        </p:spPr>
      </p:pic>
      <p:sp>
        <p:nvSpPr>
          <p:cNvPr id="10" name="Text 7"/>
          <p:cNvSpPr txBox="1"/>
          <p:nvPr/>
        </p:nvSpPr>
        <p:spPr>
          <a:xfrm>
            <a:off x="1325880" y="1920240"/>
            <a:ext cx="1783080" cy="502920"/>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案件窓口（藤田さん案）</a:t>
            </a:r>
            <a:endParaRPr lang="en-US" sz="1250" dirty="0"/>
          </a:p>
        </p:txBody>
      </p:sp>
      <p:sp>
        <p:nvSpPr>
          <p:cNvPr id="11" name="Text 8"/>
          <p:cNvSpPr txBox="1"/>
          <p:nvPr/>
        </p:nvSpPr>
        <p:spPr>
          <a:xfrm>
            <a:off x="731520" y="2560320"/>
            <a:ext cx="2331720" cy="914400"/>
          </a:xfrm>
          <a:prstGeom prst="rect">
            <a:avLst/>
          </a:prstGeom>
          <a:noFill/>
          <a:ln/>
        </p:spPr>
        <p:txBody>
          <a:bodyPr wrap="square" lIns="0" tIns="0" rIns="0" bIns="0" rtlCol="0" anchor="t"/>
          <a:lstStyle/>
          <a:p>
            <a:pPr indent="0" marL="0">
              <a:buNone/>
            </a:pPr>
            <a:r>
              <a:rPr lang="en-US" sz="1100" dirty="0">
                <a:solidFill>
                  <a:srgbClr val="DDE5EC"/>
                </a:solidFill>
                <a:latin typeface="Meiryo" pitchFamily="34" charset="0"/>
                <a:ea typeface="Meiryo" pitchFamily="34" charset="-122"/>
                <a:cs typeface="Meiryo" pitchFamily="34" charset="-120"/>
              </a:rPr>
              <a:t>顧客の課題・予算・決裁日を確認し、次回商談を管理</a:t>
            </a:r>
            <a:endParaRPr lang="en-US" sz="1100" dirty="0"/>
          </a:p>
        </p:txBody>
      </p:sp>
      <p:sp>
        <p:nvSpPr>
          <p:cNvPr id="12" name="Shape 9"/>
          <p:cNvSpPr/>
          <p:nvPr/>
        </p:nvSpPr>
        <p:spPr>
          <a:xfrm>
            <a:off x="3355848" y="1783080"/>
            <a:ext cx="2651760" cy="1783080"/>
          </a:xfrm>
          <a:prstGeom prst="roundRect">
            <a:avLst>
              <a:gd name="adj" fmla="val 4103"/>
            </a:avLst>
          </a:prstGeom>
          <a:solidFill>
            <a:srgbClr val="F2F5F8"/>
          </a:solidFill>
          <a:ln w="12700">
            <a:solidFill>
              <a:srgbClr val="F2F5F8"/>
            </a:solidFill>
            <a:prstDash val="solid"/>
          </a:ln>
        </p:spPr>
      </p:sp>
      <p:sp>
        <p:nvSpPr>
          <p:cNvPr id="13" name="Shape 10"/>
          <p:cNvSpPr/>
          <p:nvPr/>
        </p:nvSpPr>
        <p:spPr>
          <a:xfrm>
            <a:off x="3538728" y="1920240"/>
            <a:ext cx="502920" cy="50292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3664458" y="2045970"/>
            <a:ext cx="251460" cy="251460"/>
          </a:xfrm>
          <a:prstGeom prst="rect">
            <a:avLst/>
          </a:prstGeom>
        </p:spPr>
      </p:pic>
      <p:sp>
        <p:nvSpPr>
          <p:cNvPr id="15" name="Text 11"/>
          <p:cNvSpPr txBox="1"/>
          <p:nvPr/>
        </p:nvSpPr>
        <p:spPr>
          <a:xfrm>
            <a:off x="4133088" y="1920240"/>
            <a:ext cx="1783080" cy="502920"/>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分析・調査担当</a:t>
            </a:r>
            <a:endParaRPr lang="en-US" sz="1250" dirty="0"/>
          </a:p>
        </p:txBody>
      </p:sp>
      <p:sp>
        <p:nvSpPr>
          <p:cNvPr id="16" name="Text 12"/>
          <p:cNvSpPr txBox="1"/>
          <p:nvPr/>
        </p:nvSpPr>
        <p:spPr>
          <a:xfrm>
            <a:off x="3538728" y="2560320"/>
            <a:ext cx="2331720" cy="91440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人流の分析条件と調査票を設計、見積・回収条件を確認</a:t>
            </a:r>
            <a:endParaRPr lang="en-US" sz="1100" dirty="0"/>
          </a:p>
        </p:txBody>
      </p:sp>
      <p:sp>
        <p:nvSpPr>
          <p:cNvPr id="17" name="Shape 13"/>
          <p:cNvSpPr/>
          <p:nvPr/>
        </p:nvSpPr>
        <p:spPr>
          <a:xfrm>
            <a:off x="6163056" y="1783080"/>
            <a:ext cx="2651760" cy="1783080"/>
          </a:xfrm>
          <a:prstGeom prst="roundRect">
            <a:avLst>
              <a:gd name="adj" fmla="val 4103"/>
            </a:avLst>
          </a:prstGeom>
          <a:solidFill>
            <a:srgbClr val="F2F5F8"/>
          </a:solidFill>
          <a:ln w="12700">
            <a:solidFill>
              <a:srgbClr val="F2F5F8"/>
            </a:solidFill>
            <a:prstDash val="solid"/>
          </a:ln>
        </p:spPr>
      </p:sp>
      <p:sp>
        <p:nvSpPr>
          <p:cNvPr id="18" name="Shape 14"/>
          <p:cNvSpPr/>
          <p:nvPr/>
        </p:nvSpPr>
        <p:spPr>
          <a:xfrm>
            <a:off x="6345936" y="1920240"/>
            <a:ext cx="502920" cy="50292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6471666" y="2045970"/>
            <a:ext cx="251460" cy="251460"/>
          </a:xfrm>
          <a:prstGeom prst="rect">
            <a:avLst/>
          </a:prstGeom>
        </p:spPr>
      </p:pic>
      <p:sp>
        <p:nvSpPr>
          <p:cNvPr id="20" name="Text 15"/>
          <p:cNvSpPr txBox="1"/>
          <p:nvPr/>
        </p:nvSpPr>
        <p:spPr>
          <a:xfrm>
            <a:off x="6940296" y="1920240"/>
            <a:ext cx="1783080" cy="502920"/>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広告担当</a:t>
            </a:r>
            <a:endParaRPr lang="en-US" sz="1250" dirty="0"/>
          </a:p>
        </p:txBody>
      </p:sp>
      <p:sp>
        <p:nvSpPr>
          <p:cNvPr id="21" name="Text 16"/>
          <p:cNvSpPr txBox="1"/>
          <p:nvPr/>
        </p:nvSpPr>
        <p:spPr>
          <a:xfrm>
            <a:off x="6345936" y="2560320"/>
            <a:ext cx="2331720" cy="91440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対象条件・素材・申込先を準備し、計測と配信を改善</a:t>
            </a:r>
            <a:endParaRPr lang="en-US" sz="1100" dirty="0"/>
          </a:p>
        </p:txBody>
      </p:sp>
      <p:sp>
        <p:nvSpPr>
          <p:cNvPr id="22" name="Shape 17"/>
          <p:cNvSpPr/>
          <p:nvPr/>
        </p:nvSpPr>
        <p:spPr>
          <a:xfrm>
            <a:off x="8970264" y="1783080"/>
            <a:ext cx="2651760" cy="1783080"/>
          </a:xfrm>
          <a:prstGeom prst="roundRect">
            <a:avLst>
              <a:gd name="adj" fmla="val 4103"/>
            </a:avLst>
          </a:prstGeom>
          <a:solidFill>
            <a:srgbClr val="F2F5F8"/>
          </a:solidFill>
          <a:ln w="12700">
            <a:solidFill>
              <a:srgbClr val="F2F5F8"/>
            </a:solidFill>
            <a:prstDash val="solid"/>
          </a:ln>
        </p:spPr>
      </p:sp>
      <p:sp>
        <p:nvSpPr>
          <p:cNvPr id="23" name="Shape 18"/>
          <p:cNvSpPr/>
          <p:nvPr/>
        </p:nvSpPr>
        <p:spPr>
          <a:xfrm>
            <a:off x="9153144" y="1920240"/>
            <a:ext cx="502920" cy="502920"/>
          </a:xfrm>
          <a:prstGeom prst="ellipse">
            <a:avLst/>
          </a:prstGeom>
          <a:solidFill>
            <a:srgbClr val="C9002B"/>
          </a:solidFill>
          <a:ln w="12700">
            <a:solidFill>
              <a:srgbClr val="C9002B"/>
            </a:solidFill>
            <a:prstDash val="solid"/>
          </a:ln>
        </p:spPr>
      </p:sp>
      <p:pic>
        <p:nvPicPr>
          <p:cNvPr id="24" name="Image 3" descr="preencoded.png">    </p:cNvPr>
          <p:cNvPicPr>
            <a:picLocks noChangeAspect="1"/>
          </p:cNvPicPr>
          <p:nvPr/>
        </p:nvPicPr>
        <p:blipFill>
          <a:blip r:embed="rId4"/>
          <a:stretch>
            <a:fillRect/>
          </a:stretch>
        </p:blipFill>
        <p:spPr>
          <a:xfrm>
            <a:off x="9278874" y="2045970"/>
            <a:ext cx="251460" cy="251460"/>
          </a:xfrm>
          <a:prstGeom prst="rect">
            <a:avLst/>
          </a:prstGeom>
        </p:spPr>
      </p:pic>
      <p:sp>
        <p:nvSpPr>
          <p:cNvPr id="25" name="Text 19"/>
          <p:cNvSpPr txBox="1"/>
          <p:nvPr/>
        </p:nvSpPr>
        <p:spPr>
          <a:xfrm>
            <a:off x="9747504" y="1920240"/>
            <a:ext cx="1783080" cy="502920"/>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リーダー</a:t>
            </a:r>
            <a:endParaRPr lang="en-US" sz="1250" dirty="0"/>
          </a:p>
        </p:txBody>
      </p:sp>
      <p:sp>
        <p:nvSpPr>
          <p:cNvPr id="26" name="Text 20"/>
          <p:cNvSpPr txBox="1"/>
          <p:nvPr/>
        </p:nvSpPr>
        <p:spPr>
          <a:xfrm>
            <a:off x="9153144" y="2560320"/>
            <a:ext cx="2331720" cy="91440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提案内容と採算を確認し、事例を別案件へ展開</a:t>
            </a:r>
            <a:endParaRPr lang="en-US" sz="1100" dirty="0"/>
          </a:p>
        </p:txBody>
      </p:sp>
      <p:sp>
        <p:nvSpPr>
          <p:cNvPr id="27" name="Text 21"/>
          <p:cNvSpPr txBox="1"/>
          <p:nvPr/>
        </p:nvSpPr>
        <p:spPr>
          <a:xfrm>
            <a:off x="548640" y="3749040"/>
            <a:ext cx="36576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成果の見方</a:t>
            </a:r>
            <a:endParaRPr lang="en-US" sz="1300" dirty="0"/>
          </a:p>
        </p:txBody>
      </p:sp>
      <p:sp>
        <p:nvSpPr>
          <p:cNvPr id="28" name="Shape 22"/>
          <p:cNvSpPr/>
          <p:nvPr/>
        </p:nvSpPr>
        <p:spPr>
          <a:xfrm>
            <a:off x="548640" y="4114800"/>
            <a:ext cx="3566160" cy="960120"/>
          </a:xfrm>
          <a:prstGeom prst="roundRect">
            <a:avLst>
              <a:gd name="adj" fmla="val 7619"/>
            </a:avLst>
          </a:prstGeom>
          <a:solidFill>
            <a:srgbClr val="F2F5F8"/>
          </a:solidFill>
          <a:ln w="12700">
            <a:solidFill>
              <a:srgbClr val="F2F5F8"/>
            </a:solidFill>
            <a:prstDash val="solid"/>
          </a:ln>
        </p:spPr>
      </p:sp>
      <p:sp>
        <p:nvSpPr>
          <p:cNvPr id="29" name="Text 23"/>
          <p:cNvSpPr txBox="1"/>
          <p:nvPr/>
        </p:nvSpPr>
        <p:spPr>
          <a:xfrm>
            <a:off x="731520" y="4160520"/>
            <a:ext cx="3200400" cy="320040"/>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地域の変化</a:t>
            </a:r>
            <a:endParaRPr lang="en-US" sz="1300" dirty="0"/>
          </a:p>
        </p:txBody>
      </p:sp>
      <p:sp>
        <p:nvSpPr>
          <p:cNvPr id="30" name="Text 24"/>
          <p:cNvSpPr txBox="1"/>
          <p:nvPr/>
        </p:nvSpPr>
        <p:spPr>
          <a:xfrm>
            <a:off x="731520" y="4480560"/>
            <a:ext cx="324612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周辺人口・来訪元・時間帯を通常日・前年と比較</a:t>
            </a:r>
            <a:endParaRPr lang="en-US" sz="1100" dirty="0"/>
          </a:p>
        </p:txBody>
      </p:sp>
      <p:sp>
        <p:nvSpPr>
          <p:cNvPr id="31" name="Shape 25"/>
          <p:cNvSpPr/>
          <p:nvPr/>
        </p:nvSpPr>
        <p:spPr>
          <a:xfrm>
            <a:off x="4297680" y="4114800"/>
            <a:ext cx="3566160" cy="960120"/>
          </a:xfrm>
          <a:prstGeom prst="roundRect">
            <a:avLst>
              <a:gd name="adj" fmla="val 7619"/>
            </a:avLst>
          </a:prstGeom>
          <a:solidFill>
            <a:srgbClr val="F2F5F8"/>
          </a:solidFill>
          <a:ln w="12700">
            <a:solidFill>
              <a:srgbClr val="F2F5F8"/>
            </a:solidFill>
            <a:prstDash val="solid"/>
          </a:ln>
        </p:spPr>
      </p:sp>
      <p:sp>
        <p:nvSpPr>
          <p:cNvPr id="32" name="Text 26"/>
          <p:cNvSpPr txBox="1"/>
          <p:nvPr/>
        </p:nvSpPr>
        <p:spPr>
          <a:xfrm>
            <a:off x="4480560" y="4160520"/>
            <a:ext cx="3200400" cy="320040"/>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意識の変化</a:t>
            </a:r>
            <a:endParaRPr lang="en-US" sz="1300" dirty="0"/>
          </a:p>
        </p:txBody>
      </p:sp>
      <p:sp>
        <p:nvSpPr>
          <p:cNvPr id="33" name="Text 27"/>
          <p:cNvSpPr txBox="1"/>
          <p:nvPr/>
        </p:nvSpPr>
        <p:spPr>
          <a:xfrm>
            <a:off x="4480560" y="4480560"/>
            <a:ext cx="324612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認知・参加意向・障壁を対象と設問をそろえて比較</a:t>
            </a:r>
            <a:endParaRPr lang="en-US" sz="1100" dirty="0"/>
          </a:p>
        </p:txBody>
      </p:sp>
      <p:sp>
        <p:nvSpPr>
          <p:cNvPr id="34" name="Shape 28"/>
          <p:cNvSpPr/>
          <p:nvPr/>
        </p:nvSpPr>
        <p:spPr>
          <a:xfrm>
            <a:off x="8046720" y="4114800"/>
            <a:ext cx="3566160" cy="960120"/>
          </a:xfrm>
          <a:prstGeom prst="roundRect">
            <a:avLst>
              <a:gd name="adj" fmla="val 7619"/>
            </a:avLst>
          </a:prstGeom>
          <a:solidFill>
            <a:srgbClr val="F2F5F8"/>
          </a:solidFill>
          <a:ln w="12700">
            <a:solidFill>
              <a:srgbClr val="F2F5F8"/>
            </a:solidFill>
            <a:prstDash val="solid"/>
          </a:ln>
        </p:spPr>
      </p:sp>
      <p:sp>
        <p:nvSpPr>
          <p:cNvPr id="35" name="Text 29"/>
          <p:cNvSpPr txBox="1"/>
          <p:nvPr/>
        </p:nvSpPr>
        <p:spPr>
          <a:xfrm>
            <a:off x="8229600" y="4160520"/>
            <a:ext cx="3200400" cy="320040"/>
          </a:xfrm>
          <a:prstGeom prst="rect">
            <a:avLst/>
          </a:prstGeom>
          <a:noFill/>
          <a:ln/>
        </p:spPr>
        <p:txBody>
          <a:bodyPr wrap="square" lIns="0" tIns="0" rIns="0" bIns="0" rtlCol="0" anchor="t"/>
          <a:lstStyle/>
          <a:p>
            <a:pPr indent="0" marL="0">
              <a:buNone/>
            </a:pPr>
            <a:r>
              <a:rPr lang="en-US" sz="1300" b="1" dirty="0">
                <a:solidFill>
                  <a:srgbClr val="13283C"/>
                </a:solidFill>
                <a:latin typeface="Meiryo" pitchFamily="34" charset="0"/>
                <a:ea typeface="Meiryo" pitchFamily="34" charset="-122"/>
                <a:cs typeface="Meiryo" pitchFamily="34" charset="-120"/>
              </a:rPr>
              <a:t>広告と申込</a:t>
            </a:r>
            <a:endParaRPr lang="en-US" sz="1300" dirty="0"/>
          </a:p>
        </p:txBody>
      </p:sp>
      <p:sp>
        <p:nvSpPr>
          <p:cNvPr id="36" name="Text 30"/>
          <p:cNvSpPr txBox="1"/>
          <p:nvPr/>
        </p:nvSpPr>
        <p:spPr>
          <a:xfrm>
            <a:off x="8229600" y="4480560"/>
            <a:ext cx="324612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表示・クリック・申込数、申込1件あたりの費用</a:t>
            </a:r>
            <a:endParaRPr lang="en-US" sz="1100" dirty="0"/>
          </a:p>
        </p:txBody>
      </p:sp>
      <p:sp>
        <p:nvSpPr>
          <p:cNvPr id="37" name="Text 31"/>
          <p:cNvSpPr txBox="1"/>
          <p:nvPr/>
        </p:nvSpPr>
        <p:spPr>
          <a:xfrm>
            <a:off x="548640" y="5303520"/>
            <a:ext cx="3566160" cy="502920"/>
          </a:xfrm>
          <a:prstGeom prst="roundRect">
            <a:avLst>
              <a:gd name="adj" fmla="val 14545"/>
            </a:avLst>
          </a:prstGeom>
          <a:solidFill>
            <a:srgbClr val="7D93A8"/>
          </a:solidFill>
          <a:ln>
            <a:solidFill>
              <a:srgbClr val="7D93A8"/>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1ヶ月　</a:t>
            </a:r>
            <a:pPr algn="ctr" indent="0" marL="0">
              <a:buNone/>
            </a:pPr>
            <a:r>
              <a:rPr lang="en-US" sz="1300" dirty="0">
                <a:solidFill>
                  <a:srgbClr val="FFFFFF"/>
                </a:solidFill>
                <a:latin typeface="Meiryo" pitchFamily="34" charset="0"/>
                <a:ea typeface="Meiryo" pitchFamily="34" charset="-122"/>
                <a:cs typeface="Meiryo" pitchFamily="34" charset="-120"/>
              </a:rPr>
              <a:t>次の検証条件を決める</a:t>
            </a:r>
            <a:endParaRPr lang="en-US" sz="1300" dirty="0"/>
          </a:p>
        </p:txBody>
      </p:sp>
      <p:sp>
        <p:nvSpPr>
          <p:cNvPr id="38" name="Text 32"/>
          <p:cNvSpPr txBox="1"/>
          <p:nvPr/>
        </p:nvSpPr>
        <p:spPr>
          <a:xfrm>
            <a:off x="4297680" y="5303520"/>
            <a:ext cx="3566160" cy="502920"/>
          </a:xfrm>
          <a:prstGeom prst="roundRect">
            <a:avLst>
              <a:gd name="adj" fmla="val 14545"/>
            </a:avLst>
          </a:prstGeom>
          <a:solidFill>
            <a:srgbClr val="3E5A76"/>
          </a:solidFill>
          <a:ln>
            <a:solidFill>
              <a:srgbClr val="3E5A76"/>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3ヶ月　</a:t>
            </a:r>
            <a:pPr algn="ctr" indent="0" marL="0">
              <a:buNone/>
            </a:pPr>
            <a:r>
              <a:rPr lang="en-US" sz="1300" dirty="0">
                <a:solidFill>
                  <a:srgbClr val="FFFFFF"/>
                </a:solidFill>
                <a:latin typeface="Meiryo" pitchFamily="34" charset="0"/>
                <a:ea typeface="Meiryo" pitchFamily="34" charset="-122"/>
                <a:cs typeface="Meiryo" pitchFamily="34" charset="-120"/>
              </a:rPr>
              <a:t>継続・修正を判断</a:t>
            </a:r>
            <a:endParaRPr lang="en-US" sz="1300" dirty="0"/>
          </a:p>
        </p:txBody>
      </p:sp>
      <p:sp>
        <p:nvSpPr>
          <p:cNvPr id="39" name="Text 33"/>
          <p:cNvSpPr txBox="1"/>
          <p:nvPr/>
        </p:nvSpPr>
        <p:spPr>
          <a:xfrm>
            <a:off x="8046720" y="5303520"/>
            <a:ext cx="3566160" cy="502920"/>
          </a:xfrm>
          <a:prstGeom prst="roundRect">
            <a:avLst>
              <a:gd name="adj" fmla="val 14545"/>
            </a:avLst>
          </a:prstGeom>
          <a:solidFill>
            <a:srgbClr val="C9002B"/>
          </a:solidFill>
          <a:ln>
            <a:solidFill>
              <a:srgbClr val="C9002B"/>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1年　</a:t>
            </a:r>
            <a:pPr algn="ctr" indent="0" marL="0">
              <a:buNone/>
            </a:pPr>
            <a:r>
              <a:rPr lang="en-US" sz="1300" dirty="0">
                <a:solidFill>
                  <a:srgbClr val="FFFFFF"/>
                </a:solidFill>
                <a:latin typeface="Meiryo" pitchFamily="34" charset="0"/>
                <a:ea typeface="Meiryo" pitchFamily="34" charset="-122"/>
                <a:cs typeface="Meiryo" pitchFamily="34" charset="-120"/>
              </a:rPr>
              <a:t>次年度の配分を決める</a:t>
            </a:r>
            <a:endParaRPr lang="en-US" sz="1300" dirty="0"/>
          </a:p>
        </p:txBody>
      </p:sp>
      <p:sp>
        <p:nvSpPr>
          <p:cNvPr id="40" name="Text 34"/>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体制は提案（少人数なら兼務）。広告だけが増減の原因とは断定しない。クリック率＝クリック数÷表示数、申込単価＝広告費÷申込件数</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参考</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出典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サービス・料金は2026年9月25日、事例・競合・制度は9月27日に確認。一部は検索結果の要約による。正式提案前に再確認する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21</a:t>
            </a:r>
            <a:endParaRPr lang="en-US" sz="1000" dirty="0"/>
          </a:p>
        </p:txBody>
      </p:sp>
      <p:sp>
        <p:nvSpPr>
          <p:cNvPr id="6" name="Text 4"/>
          <p:cNvSpPr txBox="1"/>
          <p:nvPr/>
        </p:nvSpPr>
        <p:spPr>
          <a:xfrm>
            <a:off x="548640" y="17830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サービス・料金</a:t>
            </a:r>
            <a:endParaRPr lang="en-US" sz="1200" dirty="0"/>
          </a:p>
        </p:txBody>
      </p:sp>
      <p:sp>
        <p:nvSpPr>
          <p:cNvPr id="7" name="Text 5"/>
          <p:cNvSpPr txBox="1"/>
          <p:nvPr/>
        </p:nvSpPr>
        <p:spPr>
          <a:xfrm>
            <a:off x="548640" y="2075688"/>
            <a:ext cx="5440680" cy="1755648"/>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https://mobaku.jp/</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https://mobaku.jp/price/jpn/</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https://mobaku.jp/faq/</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https://mobaku.jp/analysis/2017/1101_50.html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https://ssw.web.docomo.ne.jp/marketing/products/premium-panel/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https://www.ntt.com/business/services/premierepanel/research.html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https://ssw.web.docomo.ne.jp/marketing/products/ad-network/</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https://www.cartazero.co.jp/ja/news/20260701</a:t>
            </a:r>
            <a:endParaRPr lang="en-US" sz="1000" dirty="0"/>
          </a:p>
        </p:txBody>
      </p:sp>
      <p:sp>
        <p:nvSpPr>
          <p:cNvPr id="8" name="Text 6"/>
          <p:cNvSpPr txBox="1"/>
          <p:nvPr/>
        </p:nvSpPr>
        <p:spPr>
          <a:xfrm>
            <a:off x="548640" y="4087368"/>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活用事例</a:t>
            </a:r>
            <a:endParaRPr lang="en-US" sz="1200" dirty="0"/>
          </a:p>
        </p:txBody>
      </p:sp>
      <p:sp>
        <p:nvSpPr>
          <p:cNvPr id="9" name="Text 7"/>
          <p:cNvSpPr txBox="1"/>
          <p:nvPr/>
        </p:nvSpPr>
        <p:spPr>
          <a:xfrm>
            <a:off x="548640" y="4379976"/>
            <a:ext cx="5440680" cy="1316736"/>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https://www.ntt.com/business/case-studies/kotohira_town.html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https://www.ntt.com/business/case-studies/tamana.html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https://www.ntt.com/business/services/spatial_statistics/case_shigaken.html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https://www.docomobs.com/case/toyama/</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https://www.ntt.com/business/services/spatial_statistics/case_miyaginresearch.html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https://www.intage.co.jp/news/6237/</a:t>
            </a:r>
            <a:endParaRPr lang="en-US" sz="1000" dirty="0"/>
          </a:p>
        </p:txBody>
      </p:sp>
      <p:sp>
        <p:nvSpPr>
          <p:cNvPr id="10" name="Text 8"/>
          <p:cNvSpPr txBox="1"/>
          <p:nvPr/>
        </p:nvSpPr>
        <p:spPr>
          <a:xfrm>
            <a:off x="6172200" y="17830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競合・他社事例</a:t>
            </a:r>
            <a:endParaRPr lang="en-US" sz="1200" dirty="0"/>
          </a:p>
        </p:txBody>
      </p:sp>
      <p:sp>
        <p:nvSpPr>
          <p:cNvPr id="11" name="Text 9"/>
          <p:cNvSpPr txBox="1"/>
          <p:nvPr/>
        </p:nvSpPr>
        <p:spPr>
          <a:xfrm>
            <a:off x="6172200" y="2075688"/>
            <a:ext cx="5440680" cy="219456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https://biz.kddi.com/usecase/tochigi2/</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https://k-locationanalyzer.com/case/baystars</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https://bizzine.jp/article/detail/10718</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https://k-locationanalyzer.com/domestic</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https://www.giken.co.jp/service/kla/fee/</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https://agoop.co.jp/service/dynamic-population-data/</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https://blog.esrij.com/archives/69141</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https://www.research-media.net/company/macromill.php</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https://insight.rakuten.co.jp/panel/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https://www.lycbiz.com/jp/service/line-ads/</a:t>
            </a:r>
            <a:endParaRPr lang="en-US" sz="1000" dirty="0"/>
          </a:p>
        </p:txBody>
      </p:sp>
      <p:sp>
        <p:nvSpPr>
          <p:cNvPr id="12" name="Text 10"/>
          <p:cNvSpPr txBox="1"/>
          <p:nvPr/>
        </p:nvSpPr>
        <p:spPr>
          <a:xfrm>
            <a:off x="6172200" y="45262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調達・審査基準</a:t>
            </a:r>
            <a:endParaRPr lang="en-US" sz="1200" dirty="0"/>
          </a:p>
        </p:txBody>
      </p:sp>
      <p:sp>
        <p:nvSpPr>
          <p:cNvPr id="13" name="Text 11"/>
          <p:cNvSpPr txBox="1"/>
          <p:nvPr/>
        </p:nvSpPr>
        <p:spPr>
          <a:xfrm>
            <a:off x="6172200" y="4818888"/>
            <a:ext cx="5440680" cy="109728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https://www.pref.ishikawa.lg.jp/kouhou/nyusatsu/documents/kijun.pdf</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https://www.soumu.go.jp/main_content/001026062.pdf</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https://www.city.shimonoseki.lg.jp/site/nyuusatu/161035.html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https://www.tokachi.pref.hokkaido.lg.jp/ss/srk/265425.html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https://journal.labid.jp/article/exL3ENJP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ドコモの3商材 提案資料（顧客提案・社内共有 兼用）</dc:title>
  <dc:subject>PptxGenJS Presentation</dc:subject>
  <dc:creator>PptxGenJS</dc:creator>
  <cp:lastModifiedBy>PptxGenJS</cp:lastModifiedBy>
  <cp:revision>1</cp:revision>
  <dcterms:created xsi:type="dcterms:W3CDTF">2026-09-27T14:27:35Z</dcterms:created>
  <dcterms:modified xsi:type="dcterms:W3CDTF">2026-09-27T14:27:35Z</dcterms:modified>
</cp:coreProperties>
</file>