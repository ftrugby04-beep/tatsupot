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調査基本料</c:v>
                </c:pt>
              </c:strCache>
            </c:strRef>
          </c:tx>
          <c:spPr>
            <a:solidFill>
              <a:srgbClr val="C9002B"/>
            </a:solidFill>
            <a:effectLst/>
          </c:spPr>
          <c:invertIfNegative val="0"/>
          <c:dLbls>
            <c:numFmt formatCode="0.0" sourceLinked="0"/>
            <c:txPr>
              <a:bodyPr/>
              <a:lstStyle/>
              <a:p>
                <a:pPr>
                  <a:defRPr b="1" i="0" strike="noStrike" sz="1400" u="none">
                    <a:solidFill>
                      <a:srgbClr val="20232A"/>
                    </a:solidFill>
                    <a:latin typeface="Meiryo"/>
                  </a:defRPr>
                </a:pPr>
              </a:p>
            </c:txPr>
            <c:showLegendKey val="0"/>
            <c:showVal val="1"/>
            <c:showCatName val="0"/>
            <c:showSerName val="0"/>
            <c:showPercent val="0"/>
            <c:showBubbleSize val="0"/>
            <c:showLeaderLines val="0"/>
          </c:dLbls>
          <c:cat>
            <c:multiLvlStrRef>
              <c:f>Sheet1!$A$2:$A$4</c:f>
              <c:multiLvlStrCache>
                <c:ptCount val="3"/>
                <c:lvl>
                  <c:pt idx="0">
                    <c:v>1ヶ月（1回）</c:v>
                  </c:pt>
                  <c:pt idx="1">
                    <c:v>3ヶ月（2回）</c:v>
                  </c:pt>
                  <c:pt idx="2">
                    <c:v>1年（4回）</c:v>
                  </c:pt>
                </c:lvl>
              </c:multiLvlStrCache>
            </c:multiLvlStrRef>
          </c:cat>
          <c:val>
            <c:numRef>
              <c:f>Sheet1!$B$2:$B$4</c:f>
              <c:numCache>
                <c:formatCode>General</c:formatCode>
                <c:ptCount val="3"/>
                <c:pt idx="0">
                  <c:v>27.5</c:v>
                </c:pt>
                <c:pt idx="1">
                  <c:v>55</c:v>
                </c:pt>
                <c:pt idx="2">
                  <c:v>110</c:v>
                </c:pt>
              </c:numCache>
            </c:numRef>
          </c:val>
        </c:ser>
        <c:dLbls>
          <c:numFmt formatCode="0.0" sourceLinked="0"/>
          <c:txPr>
            <a:bodyPr/>
            <a:lstStyle/>
            <a:p>
              <a:pPr>
                <a:defRPr b="1" i="0" strike="noStrike" sz="1400" u="none">
                  <a:solidFill>
                    <a:srgbClr val="20232A"/>
                  </a:solidFill>
                  <a:latin typeface="Meiryo"/>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C626D"/>
                </a:solidFill>
                <a:latin typeface="Meiryo"/>
              </a:defRPr>
            </a:pPr>
            <a:endParaRPr lang="en-US"/>
          </a:p>
        </c:txPr>
        <c:crossAx val="2094734552"/>
        <c:crosses val="autoZero"/>
        <c:auto val="1"/>
        <c:lblAlgn val="ctr"/>
        <c:noMultiLvlLbl val="1"/>
      </c:catAx>
      <c:valAx>
        <c:axId val="2094734552"/>
        <c:scaling>
          <c:orientation val="minMax"/>
          <c:max val="13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冒頭の説明例：地域に人がいるか、なぜ選ばれるか、どう知らせるか。この3つの課題に合わせて商材を組み合わせます。
本資料は藤田さんの説明用資料。期間別プランや提案例は本資料で設計したモデルで、公式セット商品ではありません。
出典（2026年9月25日確認、※は9月27日追加確認）
https://mobaku.jp/
https://ssw.web.docomo.ne.jp/marketing/products/premium-panel/
https://ssw.web.docomo.ne.jp/marketing/products/ad-network/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説明例：まず3商材が何を答えられるかを押さえ、次に相手の課題に合わせた提案の型、期間と費用、最後にチームでの進め方を確認します。
出典（2026年9月25日確認、※は9月27日追加確認）
本資料の営業モデル（外部出典なし）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説明例：人流は地域の実態、アンケートは理由、広告は告知を担います。まず相手の課題を聞き、必要な商材から提案します。
出典（2026年9月25日確認、※は9月27日追加確認）
https://mobaku.jp/
https://ssw.web.docomo.ne.jp/marketing/products/premium-panel/
https://ssw.web.docomo.ne.jp/marketing/products/ad-network/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説明例：現地で全員を数える代わりに、地域別・時間帯別の人口を比較できます。施設内の入場者数そのものや、個人の来訪理由を示すデータではありません。顧客の来場実績と分けて見ます。
※公式サイトでは国内約8,900万台・訪日外国人約1,200万台の運用データ、2013年10月以降のデータを保有と案内。
画像出典：https://mobaku.jp/top/img/table/table1.jpg
出典（2026年9月25日確認、※は9月27日追加確認）
https://mobaku.jp/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説明例：人の数だけでは分からない、選ぶ理由や参加しない理由を聞けます。対象地域を絞り過ぎると回収しにくくなるため、対象者と設問を一緒に設計します。市区町村などの絞り込みや調査設計は追加費用を確認します。
画像出典：https://ssw.web.docomo.ne.jp/marketing/assets/images/products_detail/premium-panel/kv.png
出典（2026年9月25日確認、※は9月27日追加確認）
https://ssw.web.docomo.ne.jp/marketing/products/premium-panel/
https://www.ntt.com/business/services/premierepanel/research.html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説明例：ドコモの広告接点を使って、関心が見込める層へ告知します。配信だけでなく、申込ページで迷わず申し込めることが大切です。
※2026年7月1日：docomo Ad NetworkはD2CからCARTA ZEROへ承継。CARTA ZEROの広告基盤PORTOと統合し「docomo data square Ads Platform」として販売。あわせて主要広告プラットフォームでドコモデータを活用する「docomo data square Ads Connect」を開始（同社・ドコモのリリース）。提案書のメニュー名は見積時点の名称に合わせる。
画像出典：https://ssw.web.docomo.ne.jp/marketing/assets/images/products_detail/ad-network/kv.jpg
出典（2026年9月25日確認、※は9月27日追加確認）
https://ssw.web.docomo.ne.jp/marketing/products/ad-network/
https://www.d2c.co.jp/solutions/docomo-media/docomo-ad-network/
※https://www.cartazero.co.jp/ja/news/20260701
※https://ssw.web.docomo.ne.jp/marketing/assets/pdf/20260701_release.pdf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説明例：3商材を一括で入れれば成功するという話ではありません。人流だけでは理由が分からず、調査だけでは告知できないので、課題に応じて補います。限界と補い方は本資料による営業上の整理です。
出典（2026年9月25日確認、※は9月27日追加確認）
https://mobaku.jp/
https://ssw.web.docomo.ne.jp/marketing/products/premium-panel/
https://ssw.web.docomo.ne.jp/marketing/products/ad-network/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藤田さんの説明例：スポーツチームなら、まず来場者数なのか新規観戦者なのかを確認します。自治体は説明責任、大学は申込数など、相手の成果に言い換えて提案します。全て本資料の提案例です。
出典（2026年9月25日確認、※は9月27日追加確認）
本資料の営業モデル（外部出典なし）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説明例：地域を選び、参加しない理由を聞き、それに合わせて広告を出します。地域人口の変化と、実際のチケット購入は別々に評価します。統計データから個人を特定して広告を出す説明はしません。本資料の仮説に基づく提案例です。
出典（2026年9月25日確認、※は9月27日追加確認）
本資料の営業モデル（外部出典なし）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説明例：初回は1ヶ月で論点を絞り、調査前後の比較や改善まで見るなら3ヶ月、季節差まで見たいなら1年です。調査の回数は本資料の想定であり、顧客の予算と意思決定に合わせて変えます。
出典（2026年9月25日確認、※は9月27日追加確認）
本資料の営業モデル（外部出典なし）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説明例：1ヶ月とは、すべてをゼロから始めて終える期間ではなく、準備後の実施期間です。詳細な事前・事後調査まで詰め込み過ぎず、次の検証条件を決めることを成果にします。
出典（2026年9月25日確認、※は9月27日追加確認）
本資料の営業モデル（外部出典なし）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説明例：公開料金は比較の入口です。人口マップ9万円と調査27.5万円を足しただけで3商材の最低総額とは言えません。広告の最低出稿額、契約期間、追加費用をそろえて見積を取ります。
プレミアパネルの公開オプション例：アンケート設計16.5万円、簡易レポート16.5万円〜（いずれも税込、掲載条件による）。
※リサーチの料金はサンプル数と設問数で決まる旨の案内あり。提案時は条件をそろえて見積を依頼する。広告は2026年7月以降CARTA ZEROが窓口のため、現行メニューで見積を取る。
出典（2026年9月25日確認、※は9月27日追加確認）
https://mobaku.jp/
https://www.ntt.com/business/services/premierepanel/research.html
https://ssw.web.docomo.ne.jp/marketing/products/ad-network/
※https://www.cartazero.co.jp/ja/news/20260701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説明例：費用を抑えるときは、検証する課題と対象を絞ります。ただし調査対象を狭め過ぎると回収しにくくなるため、必要な回収数とのバランスを確認します。金額は最低基本料27.5万円に想定回数を乗じた計算です。27.5×2＝55、27.5×4＝110。調査の全費用ではありません。
出典（2026年9月25日確認、※は9月27日追加確認）
https://www.ntt.com/business/services/premierepanel/research.html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説明例：1ヶ月プランでも事前準備は必要です。人流データの最短10営業日は仕様に依存します。3商材すべてが同じ日に始められると約束せず、工程を確認してから開始日を提示します。
※広告は2026年7月以降CARTA ZEROが運営。入稿・審査の窓口を確認する。
出典（2026年9月25日確認、※は9月27日追加確認）
https://mobaku.jp/faq/
https://www.ntt.com/business/services/premierepanel/research.html
https://ssw.web.docomo.ne.jp/marketing/products/ad-network/
https://www.d2c.co.jp/solutions/docomo-media/docomo-ad-network/
※https://www.cartazero.co.jp/ja/news/20260701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説明例：案件窓口を1人に決め、専門担当が設計と見積を支えます。全員がすべてを詳しく説明できる必要はありません。顧客の課題と、次に専門担当へ確認することを共有できる状態を目指します。役割分担は提案です。
出典（2026年9月25日確認、※は9月27日追加確認）
本資料の営業モデル（外部出典なし）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藤田さんの切り出し例：今回、一番増やしたいのは来場者数でしょうか。それとも新しいお客様の申込でしょうか。
締め方の例：対象・日程・計測できる数字を整理して、必要な商材と実施期間を次回ご提案します。
出典（2026年9月25日確認、※は9月27日追加確認）
本資料の営業モデル（外部出典なし）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説明例：広告の数字だけでなく、事業の成果につながったかを確認します。天候や日程、対戦相手なども来場に影響するので、比較条件を記録します。継続の判断日と、どの数字を見るかを契約前に決めます。
出典（2026年9月25日確認、※は9月27日追加確認）
本資料の営業モデル（外部出典なし）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説明例：施策が1ヶ月でも、選ぶサービスの最低契約期間は別に確認します。標準版の国内①は最低3ヶ月です。一方、人口マップの9万円〜という表示から最低契約期間を推定することはできません。
参考計算：10＋15×3＝55万円、10＋15×12＝190万円。対象は月平均値で、個別イベント日の詳細分析と同一仕様ではありません。
出典（2026年9月25日確認、※は9月27日追加確認）
https://mobaku.jp/price/jpn/
https://mobaku.jp/
https://mobaku.jp/faq/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締めの説明例：3商材は、実態・理由・告知の役割を分担します。相手の成果から入り、限界を説明した上で組み合わせ、準備期間・費用・判断日を先に合意することが提案の基本です。
出典（2026年9月25日確認、※は9月27日追加確認）
本資料の営業モデル（外部出典なし）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補足：同一公式ページ内でも画像の更新時点と本文の更新時点が異なる場合があります。プレミアパネルの回答対象者数は本文の約600万人（2026年1月）を採用しました。
期間別プラン、役割分担、各業種の提案例は本資料の営業モデルです。
出典（2026年9月25日確認、※は9月27日追加確認）
https://mobaku.jp/
https://mobaku.jp/price/jpn/
https://mobaku.jp/faq/
https://ssw.web.docomo.ne.jp/marketing/products/premium-panel/
https://www.ntt.com/business/services/premierepanel/research.html
https://ssw.web.docomo.ne.jp/marketing/products/ad-network/
https://www.d2c.co.jp/solutions/docomo-media/docomo-ad-network/
https://www.cartazero.co.jp/ja/news/20260701
https://ssw.web.docomo.ne.jp/marketing/assets/pdf/20260701_release.pdf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jpe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jpe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3-1.png"/><Relationship Id="rId3" Type="http://schemas.openxmlformats.org/officeDocument/2006/relationships/image" Target="../media/image-13-2.png"/><Relationship Id="rId4" Type="http://schemas.openxmlformats.org/officeDocument/2006/relationships/image" Target="../media/image-13-3.png"/><Relationship Id="rId5" Type="http://schemas.openxmlformats.org/officeDocument/2006/relationships/image" Target="../media/image-13-4.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0232A"/>
        </a:solidFill>
      </p:bgPr>
    </p:bg>
    <p:spTree>
      <p:nvGrpSpPr>
        <p:cNvPr id="1" name=""/>
        <p:cNvGrpSpPr/>
        <p:nvPr/>
      </p:nvGrpSpPr>
      <p:grpSpPr>
        <a:xfrm>
          <a:off x="0" y="0"/>
          <a:ext cx="0" cy="0"/>
          <a:chOff x="0" y="0"/>
          <a:chExt cx="0" cy="0"/>
        </a:xfrm>
      </p:grpSpPr>
      <p:sp>
        <p:nvSpPr>
          <p:cNvPr id="2" name="Text 0"/>
          <p:cNvSpPr txBox="1"/>
          <p:nvPr/>
        </p:nvSpPr>
        <p:spPr>
          <a:xfrm>
            <a:off x="731520" y="822960"/>
            <a:ext cx="6400800" cy="365760"/>
          </a:xfrm>
          <a:prstGeom prst="rect">
            <a:avLst/>
          </a:prstGeom>
          <a:noFill/>
          <a:ln/>
        </p:spPr>
        <p:txBody>
          <a:bodyPr wrap="square" lIns="0" tIns="0" rIns="0" bIns="0" rtlCol="0" anchor="t"/>
          <a:lstStyle/>
          <a:p>
            <a:pPr indent="0" marL="0">
              <a:buNone/>
            </a:pPr>
            <a:r>
              <a:rPr lang="en-US" sz="1400" dirty="0">
                <a:solidFill>
                  <a:srgbClr val="C8CBD1"/>
                </a:solidFill>
                <a:latin typeface="Meiryo" pitchFamily="34" charset="0"/>
                <a:ea typeface="Meiryo" pitchFamily="34" charset="-122"/>
                <a:cs typeface="Meiryo" pitchFamily="34" charset="-120"/>
              </a:rPr>
              <a:t>藤田さん用　チーム説明・商談準備</a:t>
            </a:r>
            <a:endParaRPr lang="en-US" sz="1400" dirty="0"/>
          </a:p>
        </p:txBody>
      </p:sp>
      <p:sp>
        <p:nvSpPr>
          <p:cNvPr id="3" name="Text 1"/>
          <p:cNvSpPr txBox="1"/>
          <p:nvPr/>
        </p:nvSpPr>
        <p:spPr>
          <a:xfrm>
            <a:off x="731520" y="1737360"/>
            <a:ext cx="6400800" cy="822960"/>
          </a:xfrm>
          <a:prstGeom prst="rect">
            <a:avLst/>
          </a:prstGeom>
          <a:noFill/>
          <a:ln/>
        </p:spPr>
        <p:txBody>
          <a:bodyPr wrap="square" lIns="0" tIns="0" rIns="0" bIns="0" rtlCol="0" anchor="t"/>
          <a:lstStyle/>
          <a:p>
            <a:pPr indent="0" marL="0">
              <a:buNone/>
            </a:pPr>
            <a:r>
              <a:rPr lang="en-US" sz="4400" b="1" dirty="0">
                <a:solidFill>
                  <a:srgbClr val="FFFFFF"/>
                </a:solidFill>
                <a:latin typeface="Meiryo" pitchFamily="34" charset="0"/>
                <a:ea typeface="Meiryo" pitchFamily="34" charset="-122"/>
                <a:cs typeface="Meiryo" pitchFamily="34" charset="-120"/>
              </a:rPr>
              <a:t>ドコモの3商材</a:t>
            </a:r>
            <a:endParaRPr lang="en-US" sz="4400" dirty="0"/>
          </a:p>
        </p:txBody>
      </p:sp>
      <p:sp>
        <p:nvSpPr>
          <p:cNvPr id="4" name="Text 2"/>
          <p:cNvSpPr txBox="1"/>
          <p:nvPr/>
        </p:nvSpPr>
        <p:spPr>
          <a:xfrm>
            <a:off x="731520" y="2606040"/>
            <a:ext cx="6400800" cy="822960"/>
          </a:xfrm>
          <a:prstGeom prst="rect">
            <a:avLst/>
          </a:prstGeom>
          <a:noFill/>
          <a:ln/>
        </p:spPr>
        <p:txBody>
          <a:bodyPr wrap="square" lIns="0" tIns="0" rIns="0" bIns="0" rtlCol="0" anchor="t"/>
          <a:lstStyle/>
          <a:p>
            <a:pPr indent="0" marL="0">
              <a:buNone/>
            </a:pPr>
            <a:r>
              <a:rPr lang="en-US" sz="4400" b="1" dirty="0">
                <a:solidFill>
                  <a:srgbClr val="FF5A78"/>
                </a:solidFill>
                <a:latin typeface="Meiryo" pitchFamily="34" charset="0"/>
                <a:ea typeface="Meiryo" pitchFamily="34" charset="-122"/>
                <a:cs typeface="Meiryo" pitchFamily="34" charset="-120"/>
              </a:rPr>
              <a:t>営業提案資料</a:t>
            </a:r>
            <a:endParaRPr lang="en-US" sz="4400" dirty="0"/>
          </a:p>
        </p:txBody>
      </p:sp>
      <p:sp>
        <p:nvSpPr>
          <p:cNvPr id="5" name="Text 3"/>
          <p:cNvSpPr txBox="1"/>
          <p:nvPr/>
        </p:nvSpPr>
        <p:spPr>
          <a:xfrm>
            <a:off x="731520" y="3749040"/>
            <a:ext cx="6035040" cy="822960"/>
          </a:xfrm>
          <a:prstGeom prst="rect">
            <a:avLst/>
          </a:prstGeom>
          <a:noFill/>
          <a:ln/>
        </p:spPr>
        <p:txBody>
          <a:bodyPr wrap="square" lIns="0" tIns="0" rIns="0" bIns="0" rtlCol="0" anchor="t"/>
          <a:lstStyle/>
          <a:p>
            <a:pPr indent="0" marL="0">
              <a:lnSpc>
                <a:spcPct val="130000"/>
              </a:lnSpc>
              <a:buNone/>
            </a:pPr>
            <a:r>
              <a:rPr lang="en-US" sz="1500" dirty="0">
                <a:solidFill>
                  <a:srgbClr val="E6E8EB"/>
                </a:solidFill>
                <a:latin typeface="Meiryo" pitchFamily="34" charset="0"/>
                <a:ea typeface="Meiryo" pitchFamily="34" charset="-122"/>
                <a:cs typeface="Meiryo" pitchFamily="34" charset="-120"/>
              </a:rPr>
              <a:t>地域に「人がいるか」、なぜ「選ばれるか」、どう「知らせるか」。</a:t>
            </a:r>
            <a:endParaRPr lang="en-US" sz="1500" dirty="0"/>
          </a:p>
          <a:p>
            <a:pPr indent="0" marL="0">
              <a:lnSpc>
                <a:spcPct val="130000"/>
              </a:lnSpc>
              <a:buNone/>
            </a:pPr>
            <a:r>
              <a:rPr lang="en-US" sz="1500" dirty="0">
                <a:solidFill>
                  <a:srgbClr val="E6E8EB"/>
                </a:solidFill>
                <a:latin typeface="Meiryo" pitchFamily="34" charset="0"/>
                <a:ea typeface="Meiryo" pitchFamily="34" charset="-122"/>
                <a:cs typeface="Meiryo" pitchFamily="34" charset="-120"/>
              </a:rPr>
              <a:t>3つの課題に合わせて商材を組み合わせる。</a:t>
            </a:r>
            <a:endParaRPr lang="en-US" sz="1500" dirty="0"/>
          </a:p>
        </p:txBody>
      </p:sp>
      <p:sp>
        <p:nvSpPr>
          <p:cNvPr id="6" name="Text 4"/>
          <p:cNvSpPr txBox="1"/>
          <p:nvPr/>
        </p:nvSpPr>
        <p:spPr>
          <a:xfrm>
            <a:off x="731520" y="5943600"/>
            <a:ext cx="6858000" cy="320040"/>
          </a:xfrm>
          <a:prstGeom prst="rect">
            <a:avLst/>
          </a:prstGeom>
          <a:noFill/>
          <a:ln/>
        </p:spPr>
        <p:txBody>
          <a:bodyPr wrap="square" lIns="0" tIns="0" rIns="0" bIns="0" rtlCol="0" anchor="t"/>
          <a:lstStyle/>
          <a:p>
            <a:pPr indent="0" marL="0">
              <a:buNone/>
            </a:pPr>
            <a:r>
              <a:rPr lang="en-US" sz="1100" dirty="0">
                <a:solidFill>
                  <a:srgbClr val="9AA0A8"/>
                </a:solidFill>
                <a:latin typeface="Meiryo" pitchFamily="34" charset="0"/>
                <a:ea typeface="Meiryo" pitchFamily="34" charset="-122"/>
                <a:cs typeface="Meiryo" pitchFamily="34" charset="-120"/>
              </a:rPr>
              <a:t>2026年9月25日作成／9月27日 公開情報を更新　営業提案モデル</a:t>
            </a:r>
            <a:endParaRPr lang="en-US" sz="1100" dirty="0"/>
          </a:p>
        </p:txBody>
      </p:sp>
      <p:sp>
        <p:nvSpPr>
          <p:cNvPr id="7" name="Shape 5"/>
          <p:cNvSpPr/>
          <p:nvPr/>
        </p:nvSpPr>
        <p:spPr>
          <a:xfrm>
            <a:off x="7498080" y="1600200"/>
            <a:ext cx="4023360" cy="1051560"/>
          </a:xfrm>
          <a:prstGeom prst="roundRect">
            <a:avLst>
              <a:gd name="adj" fmla="val 8696"/>
            </a:avLst>
          </a:prstGeom>
          <a:solidFill>
            <a:srgbClr val="2E323B"/>
          </a:solidFill>
          <a:ln w="12700">
            <a:solidFill>
              <a:srgbClr val="3A3F4A"/>
            </a:solidFill>
            <a:prstDash val="solid"/>
          </a:ln>
        </p:spPr>
      </p:sp>
      <p:sp>
        <p:nvSpPr>
          <p:cNvPr id="8" name="Shape 6"/>
          <p:cNvSpPr/>
          <p:nvPr/>
        </p:nvSpPr>
        <p:spPr>
          <a:xfrm>
            <a:off x="7726680" y="1783080"/>
            <a:ext cx="685800" cy="685800"/>
          </a:xfrm>
          <a:prstGeom prst="ellipse">
            <a:avLst/>
          </a:prstGeom>
          <a:solidFill>
            <a:srgbClr val="C9002B"/>
          </a:solidFill>
          <a:ln w="12700">
            <a:solidFill>
              <a:srgbClr val="C9002B"/>
            </a:solidFill>
            <a:prstDash val="solid"/>
          </a:ln>
        </p:spPr>
      </p:sp>
      <p:pic>
        <p:nvPicPr>
          <p:cNvPr id="9" name="Image 0" descr="preencoded.png">    </p:cNvPr>
          <p:cNvPicPr>
            <a:picLocks noChangeAspect="1"/>
          </p:cNvPicPr>
          <p:nvPr/>
        </p:nvPicPr>
        <p:blipFill>
          <a:blip r:embed="rId1"/>
          <a:stretch>
            <a:fillRect/>
          </a:stretch>
        </p:blipFill>
        <p:spPr>
          <a:xfrm>
            <a:off x="7898130" y="1954530"/>
            <a:ext cx="342900" cy="342900"/>
          </a:xfrm>
          <a:prstGeom prst="rect">
            <a:avLst/>
          </a:prstGeom>
        </p:spPr>
      </p:pic>
      <p:sp>
        <p:nvSpPr>
          <p:cNvPr id="10" name="Text 7"/>
          <p:cNvSpPr txBox="1"/>
          <p:nvPr/>
        </p:nvSpPr>
        <p:spPr>
          <a:xfrm>
            <a:off x="8595360" y="1783080"/>
            <a:ext cx="2834640" cy="365760"/>
          </a:xfrm>
          <a:prstGeom prst="rect">
            <a:avLst/>
          </a:prstGeom>
          <a:noFill/>
          <a:ln/>
        </p:spPr>
        <p:txBody>
          <a:bodyPr wrap="square" lIns="0" tIns="0" rIns="0" bIns="0" rtlCol="0" anchor="ctr"/>
          <a:lstStyle/>
          <a:p>
            <a:pPr indent="0" marL="0">
              <a:buNone/>
            </a:pPr>
            <a:r>
              <a:rPr lang="en-US" sz="1600" b="1" dirty="0">
                <a:solidFill>
                  <a:srgbClr val="FFFFFF"/>
                </a:solidFill>
                <a:latin typeface="Meiryo" pitchFamily="34" charset="0"/>
                <a:ea typeface="Meiryo" pitchFamily="34" charset="-122"/>
                <a:cs typeface="Meiryo" pitchFamily="34" charset="-120"/>
              </a:rPr>
              <a:t>モバイル空間統計</a:t>
            </a:r>
            <a:endParaRPr lang="en-US" sz="1600" dirty="0"/>
          </a:p>
        </p:txBody>
      </p:sp>
      <p:sp>
        <p:nvSpPr>
          <p:cNvPr id="11" name="Text 8"/>
          <p:cNvSpPr txBox="1"/>
          <p:nvPr/>
        </p:nvSpPr>
        <p:spPr>
          <a:xfrm>
            <a:off x="8595360" y="2167128"/>
            <a:ext cx="2834640" cy="292608"/>
          </a:xfrm>
          <a:prstGeom prst="rect">
            <a:avLst/>
          </a:prstGeom>
          <a:noFill/>
          <a:ln/>
        </p:spPr>
        <p:txBody>
          <a:bodyPr wrap="square" lIns="0" tIns="0" rIns="0" bIns="0" rtlCol="0" anchor="ctr"/>
          <a:lstStyle/>
          <a:p>
            <a:pPr indent="0" marL="0">
              <a:buNone/>
            </a:pPr>
            <a:r>
              <a:rPr lang="en-US" sz="1200" dirty="0">
                <a:solidFill>
                  <a:srgbClr val="C8CBD1"/>
                </a:solidFill>
                <a:latin typeface="Meiryo" pitchFamily="34" charset="0"/>
                <a:ea typeface="Meiryo" pitchFamily="34" charset="-122"/>
                <a:cs typeface="Meiryo" pitchFamily="34" charset="-120"/>
              </a:rPr>
              <a:t>いつ・どこに人がいるか</a:t>
            </a:r>
            <a:endParaRPr lang="en-US" sz="1200" dirty="0"/>
          </a:p>
        </p:txBody>
      </p:sp>
      <p:sp>
        <p:nvSpPr>
          <p:cNvPr id="12" name="Shape 9"/>
          <p:cNvSpPr/>
          <p:nvPr/>
        </p:nvSpPr>
        <p:spPr>
          <a:xfrm>
            <a:off x="7498080" y="2926080"/>
            <a:ext cx="4023360" cy="1051560"/>
          </a:xfrm>
          <a:prstGeom prst="roundRect">
            <a:avLst>
              <a:gd name="adj" fmla="val 8696"/>
            </a:avLst>
          </a:prstGeom>
          <a:solidFill>
            <a:srgbClr val="2E323B"/>
          </a:solidFill>
          <a:ln w="12700">
            <a:solidFill>
              <a:srgbClr val="3A3F4A"/>
            </a:solidFill>
            <a:prstDash val="solid"/>
          </a:ln>
        </p:spPr>
      </p:sp>
      <p:sp>
        <p:nvSpPr>
          <p:cNvPr id="13" name="Shape 10"/>
          <p:cNvSpPr/>
          <p:nvPr/>
        </p:nvSpPr>
        <p:spPr>
          <a:xfrm>
            <a:off x="7726680" y="3108960"/>
            <a:ext cx="685800" cy="685800"/>
          </a:xfrm>
          <a:prstGeom prst="ellipse">
            <a:avLst/>
          </a:prstGeom>
          <a:solidFill>
            <a:srgbClr val="C9002B"/>
          </a:solidFill>
          <a:ln w="12700">
            <a:solidFill>
              <a:srgbClr val="C9002B"/>
            </a:solidFill>
            <a:prstDash val="solid"/>
          </a:ln>
        </p:spPr>
      </p:sp>
      <p:pic>
        <p:nvPicPr>
          <p:cNvPr id="14" name="Image 1" descr="preencoded.png">    </p:cNvPr>
          <p:cNvPicPr>
            <a:picLocks noChangeAspect="1"/>
          </p:cNvPicPr>
          <p:nvPr/>
        </p:nvPicPr>
        <p:blipFill>
          <a:blip r:embed="rId2"/>
          <a:stretch>
            <a:fillRect/>
          </a:stretch>
        </p:blipFill>
        <p:spPr>
          <a:xfrm>
            <a:off x="7898130" y="3280410"/>
            <a:ext cx="342900" cy="342900"/>
          </a:xfrm>
          <a:prstGeom prst="rect">
            <a:avLst/>
          </a:prstGeom>
        </p:spPr>
      </p:pic>
      <p:sp>
        <p:nvSpPr>
          <p:cNvPr id="15" name="Text 11"/>
          <p:cNvSpPr txBox="1"/>
          <p:nvPr/>
        </p:nvSpPr>
        <p:spPr>
          <a:xfrm>
            <a:off x="8595360" y="3108960"/>
            <a:ext cx="2834640" cy="365760"/>
          </a:xfrm>
          <a:prstGeom prst="rect">
            <a:avLst/>
          </a:prstGeom>
          <a:noFill/>
          <a:ln/>
        </p:spPr>
        <p:txBody>
          <a:bodyPr wrap="square" lIns="0" tIns="0" rIns="0" bIns="0" rtlCol="0" anchor="ctr"/>
          <a:lstStyle/>
          <a:p>
            <a:pPr indent="0" marL="0">
              <a:buNone/>
            </a:pPr>
            <a:r>
              <a:rPr lang="en-US" sz="1600" b="1" dirty="0">
                <a:solidFill>
                  <a:srgbClr val="FFFFFF"/>
                </a:solidFill>
                <a:latin typeface="Meiryo" pitchFamily="34" charset="0"/>
                <a:ea typeface="Meiryo" pitchFamily="34" charset="-122"/>
                <a:cs typeface="Meiryo" pitchFamily="34" charset="-120"/>
              </a:rPr>
              <a:t>プレミアパネル</a:t>
            </a:r>
            <a:endParaRPr lang="en-US" sz="1600" dirty="0"/>
          </a:p>
        </p:txBody>
      </p:sp>
      <p:sp>
        <p:nvSpPr>
          <p:cNvPr id="16" name="Text 12"/>
          <p:cNvSpPr txBox="1"/>
          <p:nvPr/>
        </p:nvSpPr>
        <p:spPr>
          <a:xfrm>
            <a:off x="8595360" y="3493008"/>
            <a:ext cx="2834640" cy="292608"/>
          </a:xfrm>
          <a:prstGeom prst="rect">
            <a:avLst/>
          </a:prstGeom>
          <a:noFill/>
          <a:ln/>
        </p:spPr>
        <p:txBody>
          <a:bodyPr wrap="square" lIns="0" tIns="0" rIns="0" bIns="0" rtlCol="0" anchor="ctr"/>
          <a:lstStyle/>
          <a:p>
            <a:pPr indent="0" marL="0">
              <a:buNone/>
            </a:pPr>
            <a:r>
              <a:rPr lang="en-US" sz="1200" dirty="0">
                <a:solidFill>
                  <a:srgbClr val="C8CBD1"/>
                </a:solidFill>
                <a:latin typeface="Meiryo" pitchFamily="34" charset="0"/>
                <a:ea typeface="Meiryo" pitchFamily="34" charset="-122"/>
                <a:cs typeface="Meiryo" pitchFamily="34" charset="-120"/>
              </a:rPr>
              <a:t>なぜ参加する／しないか</a:t>
            </a:r>
            <a:endParaRPr lang="en-US" sz="1200" dirty="0"/>
          </a:p>
        </p:txBody>
      </p:sp>
      <p:sp>
        <p:nvSpPr>
          <p:cNvPr id="17" name="Shape 13"/>
          <p:cNvSpPr/>
          <p:nvPr/>
        </p:nvSpPr>
        <p:spPr>
          <a:xfrm>
            <a:off x="7498080" y="4251960"/>
            <a:ext cx="4023360" cy="1051560"/>
          </a:xfrm>
          <a:prstGeom prst="roundRect">
            <a:avLst>
              <a:gd name="adj" fmla="val 8696"/>
            </a:avLst>
          </a:prstGeom>
          <a:solidFill>
            <a:srgbClr val="2E323B"/>
          </a:solidFill>
          <a:ln w="12700">
            <a:solidFill>
              <a:srgbClr val="3A3F4A"/>
            </a:solidFill>
            <a:prstDash val="solid"/>
          </a:ln>
        </p:spPr>
      </p:sp>
      <p:sp>
        <p:nvSpPr>
          <p:cNvPr id="18" name="Shape 14"/>
          <p:cNvSpPr/>
          <p:nvPr/>
        </p:nvSpPr>
        <p:spPr>
          <a:xfrm>
            <a:off x="7726680" y="4434840"/>
            <a:ext cx="685800" cy="685800"/>
          </a:xfrm>
          <a:prstGeom prst="ellipse">
            <a:avLst/>
          </a:prstGeom>
          <a:solidFill>
            <a:srgbClr val="C9002B"/>
          </a:solidFill>
          <a:ln w="12700">
            <a:solidFill>
              <a:srgbClr val="C9002B"/>
            </a:solidFill>
            <a:prstDash val="solid"/>
          </a:ln>
        </p:spPr>
      </p:sp>
      <p:pic>
        <p:nvPicPr>
          <p:cNvPr id="19" name="Image 2" descr="preencoded.png">    </p:cNvPr>
          <p:cNvPicPr>
            <a:picLocks noChangeAspect="1"/>
          </p:cNvPicPr>
          <p:nvPr/>
        </p:nvPicPr>
        <p:blipFill>
          <a:blip r:embed="rId3"/>
          <a:stretch>
            <a:fillRect/>
          </a:stretch>
        </p:blipFill>
        <p:spPr>
          <a:xfrm>
            <a:off x="7898130" y="4606290"/>
            <a:ext cx="342900" cy="342900"/>
          </a:xfrm>
          <a:prstGeom prst="rect">
            <a:avLst/>
          </a:prstGeom>
        </p:spPr>
      </p:pic>
      <p:sp>
        <p:nvSpPr>
          <p:cNvPr id="20" name="Text 15"/>
          <p:cNvSpPr txBox="1"/>
          <p:nvPr/>
        </p:nvSpPr>
        <p:spPr>
          <a:xfrm>
            <a:off x="8595360" y="4434840"/>
            <a:ext cx="2834640" cy="365760"/>
          </a:xfrm>
          <a:prstGeom prst="rect">
            <a:avLst/>
          </a:prstGeom>
          <a:noFill/>
          <a:ln/>
        </p:spPr>
        <p:txBody>
          <a:bodyPr wrap="square" lIns="0" tIns="0" rIns="0" bIns="0" rtlCol="0" anchor="ctr"/>
          <a:lstStyle/>
          <a:p>
            <a:pPr indent="0" marL="0">
              <a:buNone/>
            </a:pPr>
            <a:r>
              <a:rPr lang="en-US" sz="1600" b="1" dirty="0">
                <a:solidFill>
                  <a:srgbClr val="FFFFFF"/>
                </a:solidFill>
                <a:latin typeface="Meiryo" pitchFamily="34" charset="0"/>
                <a:ea typeface="Meiryo" pitchFamily="34" charset="-122"/>
                <a:cs typeface="Meiryo" pitchFamily="34" charset="-120"/>
              </a:rPr>
              <a:t>docomo Ad Network</a:t>
            </a:r>
            <a:endParaRPr lang="en-US" sz="1600" dirty="0"/>
          </a:p>
        </p:txBody>
      </p:sp>
      <p:sp>
        <p:nvSpPr>
          <p:cNvPr id="21" name="Text 16"/>
          <p:cNvSpPr txBox="1"/>
          <p:nvPr/>
        </p:nvSpPr>
        <p:spPr>
          <a:xfrm>
            <a:off x="8595360" y="4818888"/>
            <a:ext cx="2834640" cy="292608"/>
          </a:xfrm>
          <a:prstGeom prst="rect">
            <a:avLst/>
          </a:prstGeom>
          <a:noFill/>
          <a:ln/>
        </p:spPr>
        <p:txBody>
          <a:bodyPr wrap="square" lIns="0" tIns="0" rIns="0" bIns="0" rtlCol="0" anchor="ctr"/>
          <a:lstStyle/>
          <a:p>
            <a:pPr indent="0" marL="0">
              <a:buNone/>
            </a:pPr>
            <a:r>
              <a:rPr lang="en-US" sz="1200" dirty="0">
                <a:solidFill>
                  <a:srgbClr val="C8CBD1"/>
                </a:solidFill>
                <a:latin typeface="Meiryo" pitchFamily="34" charset="0"/>
                <a:ea typeface="Meiryo" pitchFamily="34" charset="-122"/>
                <a:cs typeface="Meiryo" pitchFamily="34" charset="-120"/>
              </a:rPr>
              <a:t>対象層へどう届けるか</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20232A"/>
                </a:solidFill>
                <a:latin typeface="Meiryo" pitchFamily="34" charset="0"/>
                <a:ea typeface="Meiryo" pitchFamily="34" charset="-122"/>
                <a:cs typeface="Meiryo" pitchFamily="34" charset="-120"/>
              </a:rPr>
              <a:t>この資料の流れ</a:t>
            </a:r>
            <a:endParaRPr lang="en-US" sz="2600" dirty="0"/>
          </a:p>
        </p:txBody>
      </p:sp>
      <p:sp>
        <p:nvSpPr>
          <p:cNvPr id="3" name="Text 1"/>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C626D"/>
                </a:solidFill>
                <a:latin typeface="Meiryo" pitchFamily="34" charset="0"/>
                <a:ea typeface="Meiryo" pitchFamily="34" charset="-122"/>
                <a:cs typeface="Meiryo" pitchFamily="34" charset="-120"/>
              </a:rPr>
              <a:t>商材を知る → 提案の型を決める → 期間と費用を見積もる → チームで進める</a:t>
            </a:r>
            <a:endParaRPr lang="en-US" sz="1400" dirty="0"/>
          </a:p>
        </p:txBody>
      </p:sp>
      <p:sp>
        <p:nvSpPr>
          <p:cNvPr id="4" name="Text 2"/>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C626D"/>
                </a:solidFill>
                <a:latin typeface="Meiryo" pitchFamily="34" charset="0"/>
                <a:ea typeface="Meiryo" pitchFamily="34" charset="-122"/>
                <a:cs typeface="Meiryo" pitchFamily="34" charset="-120"/>
              </a:rPr>
              <a:t>02</a:t>
            </a:r>
            <a:endParaRPr lang="en-US" sz="1000" dirty="0"/>
          </a:p>
        </p:txBody>
      </p:sp>
      <p:sp>
        <p:nvSpPr>
          <p:cNvPr id="5" name="Shape 3"/>
          <p:cNvSpPr/>
          <p:nvPr/>
        </p:nvSpPr>
        <p:spPr>
          <a:xfrm>
            <a:off x="548640" y="1874520"/>
            <a:ext cx="2560320" cy="2788920"/>
          </a:xfrm>
          <a:prstGeom prst="roundRect">
            <a:avLst>
              <a:gd name="adj" fmla="val 2857"/>
            </a:avLst>
          </a:prstGeom>
          <a:solidFill>
            <a:srgbClr val="F4F5F7"/>
          </a:solidFill>
          <a:ln w="12700">
            <a:solidFill>
              <a:srgbClr val="F4F5F7"/>
            </a:solidFill>
            <a:prstDash val="solid"/>
          </a:ln>
        </p:spPr>
      </p:sp>
      <p:sp>
        <p:nvSpPr>
          <p:cNvPr id="6" name="Text 4"/>
          <p:cNvSpPr txBox="1"/>
          <p:nvPr/>
        </p:nvSpPr>
        <p:spPr>
          <a:xfrm>
            <a:off x="822960" y="2103120"/>
            <a:ext cx="2011680" cy="731520"/>
          </a:xfrm>
          <a:prstGeom prst="rect">
            <a:avLst/>
          </a:prstGeom>
          <a:noFill/>
          <a:ln/>
        </p:spPr>
        <p:txBody>
          <a:bodyPr wrap="square" lIns="0" tIns="0" rIns="0" bIns="0" rtlCol="0" anchor="t"/>
          <a:lstStyle/>
          <a:p>
            <a:pPr indent="0" marL="0">
              <a:buNone/>
            </a:pPr>
            <a:r>
              <a:rPr lang="en-US" sz="4000" b="1" dirty="0">
                <a:solidFill>
                  <a:srgbClr val="C9002B"/>
                </a:solidFill>
                <a:latin typeface="Meiryo" pitchFamily="34" charset="0"/>
                <a:ea typeface="Meiryo" pitchFamily="34" charset="-122"/>
                <a:cs typeface="Meiryo" pitchFamily="34" charset="-120"/>
              </a:rPr>
              <a:t>01</a:t>
            </a:r>
            <a:endParaRPr lang="en-US" sz="4000" dirty="0"/>
          </a:p>
        </p:txBody>
      </p:sp>
      <p:sp>
        <p:nvSpPr>
          <p:cNvPr id="7" name="Text 5"/>
          <p:cNvSpPr txBox="1"/>
          <p:nvPr/>
        </p:nvSpPr>
        <p:spPr>
          <a:xfrm>
            <a:off x="822960" y="2926080"/>
            <a:ext cx="2103120" cy="457200"/>
          </a:xfrm>
          <a:prstGeom prst="rect">
            <a:avLst/>
          </a:prstGeom>
          <a:noFill/>
          <a:ln/>
        </p:spPr>
        <p:txBody>
          <a:bodyPr wrap="square" lIns="0" tIns="0" rIns="0" bIns="0" rtlCol="0" anchor="t"/>
          <a:lstStyle/>
          <a:p>
            <a:pPr indent="0" marL="0">
              <a:buNone/>
            </a:pPr>
            <a:r>
              <a:rPr lang="en-US" sz="2000" b="1" dirty="0">
                <a:solidFill>
                  <a:srgbClr val="20232A"/>
                </a:solidFill>
                <a:latin typeface="Meiryo" pitchFamily="34" charset="0"/>
                <a:ea typeface="Meiryo" pitchFamily="34" charset="-122"/>
                <a:cs typeface="Meiryo" pitchFamily="34" charset="-120"/>
              </a:rPr>
              <a:t>商材を知る</a:t>
            </a:r>
            <a:endParaRPr lang="en-US" sz="2000" dirty="0"/>
          </a:p>
        </p:txBody>
      </p:sp>
      <p:sp>
        <p:nvSpPr>
          <p:cNvPr id="8" name="Text 6"/>
          <p:cNvSpPr txBox="1"/>
          <p:nvPr/>
        </p:nvSpPr>
        <p:spPr>
          <a:xfrm>
            <a:off x="822960" y="3474720"/>
            <a:ext cx="2148840" cy="640080"/>
          </a:xfrm>
          <a:prstGeom prst="rect">
            <a:avLst/>
          </a:prstGeom>
          <a:noFill/>
          <a:ln/>
        </p:spPr>
        <p:txBody>
          <a:bodyPr wrap="square" lIns="0" tIns="0" rIns="0" bIns="0" rtlCol="0" anchor="t"/>
          <a:lstStyle/>
          <a:p>
            <a:pPr indent="0" marL="0">
              <a:buNone/>
            </a:pPr>
            <a:r>
              <a:rPr lang="en-US" sz="1200" dirty="0">
                <a:solidFill>
                  <a:srgbClr val="5C626D"/>
                </a:solidFill>
                <a:latin typeface="Meiryo" pitchFamily="34" charset="0"/>
                <a:ea typeface="Meiryo" pitchFamily="34" charset="-122"/>
                <a:cs typeface="Meiryo" pitchFamily="34" charset="-120"/>
              </a:rPr>
              <a:t>3商材の役割・強み・限界</a:t>
            </a:r>
            <a:endParaRPr lang="en-US" sz="1200" dirty="0"/>
          </a:p>
        </p:txBody>
      </p:sp>
      <p:sp>
        <p:nvSpPr>
          <p:cNvPr id="9" name="Text 7"/>
          <p:cNvSpPr txBox="1"/>
          <p:nvPr/>
        </p:nvSpPr>
        <p:spPr>
          <a:xfrm>
            <a:off x="822960" y="4206240"/>
            <a:ext cx="2103120" cy="274320"/>
          </a:xfrm>
          <a:prstGeom prst="rect">
            <a:avLst/>
          </a:prstGeom>
          <a:noFill/>
          <a:ln/>
        </p:spPr>
        <p:txBody>
          <a:bodyPr wrap="square" lIns="0" tIns="0" rIns="0" bIns="0" rtlCol="0" anchor="t"/>
          <a:lstStyle/>
          <a:p>
            <a:pPr indent="0" marL="0">
              <a:buNone/>
            </a:pPr>
            <a:r>
              <a:rPr lang="en-US" sz="1100" b="1" dirty="0">
                <a:solidFill>
                  <a:srgbClr val="5C626D"/>
                </a:solidFill>
                <a:latin typeface="Meiryo" pitchFamily="34" charset="0"/>
                <a:ea typeface="Meiryo" pitchFamily="34" charset="-122"/>
                <a:cs typeface="Meiryo" pitchFamily="34" charset="-120"/>
              </a:rPr>
              <a:t>P.03–07</a:t>
            </a:r>
            <a:endParaRPr lang="en-US" sz="1100" dirty="0"/>
          </a:p>
        </p:txBody>
      </p:sp>
      <p:pic>
        <p:nvPicPr>
          <p:cNvPr id="10" name="Image 0" descr="preencoded.png">    </p:cNvPr>
          <p:cNvPicPr>
            <a:picLocks noChangeAspect="1"/>
          </p:cNvPicPr>
          <p:nvPr/>
        </p:nvPicPr>
        <p:blipFill>
          <a:blip r:embed="rId1"/>
          <a:stretch>
            <a:fillRect/>
          </a:stretch>
        </p:blipFill>
        <p:spPr>
          <a:xfrm>
            <a:off x="3163824" y="3154680"/>
            <a:ext cx="164592" cy="164592"/>
          </a:xfrm>
          <a:prstGeom prst="rect">
            <a:avLst/>
          </a:prstGeom>
        </p:spPr>
      </p:pic>
      <p:sp>
        <p:nvSpPr>
          <p:cNvPr id="11" name="Shape 8"/>
          <p:cNvSpPr/>
          <p:nvPr/>
        </p:nvSpPr>
        <p:spPr>
          <a:xfrm>
            <a:off x="3383280" y="1874520"/>
            <a:ext cx="2560320" cy="2788920"/>
          </a:xfrm>
          <a:prstGeom prst="roundRect">
            <a:avLst>
              <a:gd name="adj" fmla="val 2857"/>
            </a:avLst>
          </a:prstGeom>
          <a:solidFill>
            <a:srgbClr val="F4F5F7"/>
          </a:solidFill>
          <a:ln w="12700">
            <a:solidFill>
              <a:srgbClr val="F4F5F7"/>
            </a:solidFill>
            <a:prstDash val="solid"/>
          </a:ln>
        </p:spPr>
      </p:sp>
      <p:sp>
        <p:nvSpPr>
          <p:cNvPr id="12" name="Text 9"/>
          <p:cNvSpPr txBox="1"/>
          <p:nvPr/>
        </p:nvSpPr>
        <p:spPr>
          <a:xfrm>
            <a:off x="3657600" y="2103120"/>
            <a:ext cx="2011680" cy="731520"/>
          </a:xfrm>
          <a:prstGeom prst="rect">
            <a:avLst/>
          </a:prstGeom>
          <a:noFill/>
          <a:ln/>
        </p:spPr>
        <p:txBody>
          <a:bodyPr wrap="square" lIns="0" tIns="0" rIns="0" bIns="0" rtlCol="0" anchor="t"/>
          <a:lstStyle/>
          <a:p>
            <a:pPr indent="0" marL="0">
              <a:buNone/>
            </a:pPr>
            <a:r>
              <a:rPr lang="en-US" sz="4000" b="1" dirty="0">
                <a:solidFill>
                  <a:srgbClr val="C9002B"/>
                </a:solidFill>
                <a:latin typeface="Meiryo" pitchFamily="34" charset="0"/>
                <a:ea typeface="Meiryo" pitchFamily="34" charset="-122"/>
                <a:cs typeface="Meiryo" pitchFamily="34" charset="-120"/>
              </a:rPr>
              <a:t>02</a:t>
            </a:r>
            <a:endParaRPr lang="en-US" sz="4000" dirty="0"/>
          </a:p>
        </p:txBody>
      </p:sp>
      <p:sp>
        <p:nvSpPr>
          <p:cNvPr id="13" name="Text 10"/>
          <p:cNvSpPr txBox="1"/>
          <p:nvPr/>
        </p:nvSpPr>
        <p:spPr>
          <a:xfrm>
            <a:off x="3657600" y="2926080"/>
            <a:ext cx="2103120" cy="457200"/>
          </a:xfrm>
          <a:prstGeom prst="rect">
            <a:avLst/>
          </a:prstGeom>
          <a:noFill/>
          <a:ln/>
        </p:spPr>
        <p:txBody>
          <a:bodyPr wrap="square" lIns="0" tIns="0" rIns="0" bIns="0" rtlCol="0" anchor="t"/>
          <a:lstStyle/>
          <a:p>
            <a:pPr indent="0" marL="0">
              <a:buNone/>
            </a:pPr>
            <a:r>
              <a:rPr lang="en-US" sz="2000" b="1" dirty="0">
                <a:solidFill>
                  <a:srgbClr val="20232A"/>
                </a:solidFill>
                <a:latin typeface="Meiryo" pitchFamily="34" charset="0"/>
                <a:ea typeface="Meiryo" pitchFamily="34" charset="-122"/>
                <a:cs typeface="Meiryo" pitchFamily="34" charset="-120"/>
              </a:rPr>
              <a:t>提案の型</a:t>
            </a:r>
            <a:endParaRPr lang="en-US" sz="2000" dirty="0"/>
          </a:p>
        </p:txBody>
      </p:sp>
      <p:sp>
        <p:nvSpPr>
          <p:cNvPr id="14" name="Text 11"/>
          <p:cNvSpPr txBox="1"/>
          <p:nvPr/>
        </p:nvSpPr>
        <p:spPr>
          <a:xfrm>
            <a:off x="3657600" y="3474720"/>
            <a:ext cx="2148840" cy="640080"/>
          </a:xfrm>
          <a:prstGeom prst="rect">
            <a:avLst/>
          </a:prstGeom>
          <a:noFill/>
          <a:ln/>
        </p:spPr>
        <p:txBody>
          <a:bodyPr wrap="square" lIns="0" tIns="0" rIns="0" bIns="0" rtlCol="0" anchor="t"/>
          <a:lstStyle/>
          <a:p>
            <a:pPr indent="0" marL="0">
              <a:buNone/>
            </a:pPr>
            <a:r>
              <a:rPr lang="en-US" sz="1200" dirty="0">
                <a:solidFill>
                  <a:srgbClr val="5C626D"/>
                </a:solidFill>
                <a:latin typeface="Meiryo" pitchFamily="34" charset="0"/>
                <a:ea typeface="Meiryo" pitchFamily="34" charset="-122"/>
                <a:cs typeface="Meiryo" pitchFamily="34" charset="-120"/>
              </a:rPr>
              <a:t>業種別の入口と組み合わせ例</a:t>
            </a:r>
            <a:endParaRPr lang="en-US" sz="1200" dirty="0"/>
          </a:p>
        </p:txBody>
      </p:sp>
      <p:sp>
        <p:nvSpPr>
          <p:cNvPr id="15" name="Text 12"/>
          <p:cNvSpPr txBox="1"/>
          <p:nvPr/>
        </p:nvSpPr>
        <p:spPr>
          <a:xfrm>
            <a:off x="3657600" y="4206240"/>
            <a:ext cx="2103120" cy="274320"/>
          </a:xfrm>
          <a:prstGeom prst="rect">
            <a:avLst/>
          </a:prstGeom>
          <a:noFill/>
          <a:ln/>
        </p:spPr>
        <p:txBody>
          <a:bodyPr wrap="square" lIns="0" tIns="0" rIns="0" bIns="0" rtlCol="0" anchor="t"/>
          <a:lstStyle/>
          <a:p>
            <a:pPr indent="0" marL="0">
              <a:buNone/>
            </a:pPr>
            <a:r>
              <a:rPr lang="en-US" sz="1100" b="1" dirty="0">
                <a:solidFill>
                  <a:srgbClr val="5C626D"/>
                </a:solidFill>
                <a:latin typeface="Meiryo" pitchFamily="34" charset="0"/>
                <a:ea typeface="Meiryo" pitchFamily="34" charset="-122"/>
                <a:cs typeface="Meiryo" pitchFamily="34" charset="-120"/>
              </a:rPr>
              <a:t>P.08–09</a:t>
            </a:r>
            <a:endParaRPr lang="en-US" sz="1100" dirty="0"/>
          </a:p>
        </p:txBody>
      </p:sp>
      <p:pic>
        <p:nvPicPr>
          <p:cNvPr id="16" name="Image 1" descr="preencoded.png">    </p:cNvPr>
          <p:cNvPicPr>
            <a:picLocks noChangeAspect="1"/>
          </p:cNvPicPr>
          <p:nvPr/>
        </p:nvPicPr>
        <p:blipFill>
          <a:blip r:embed="rId2"/>
          <a:stretch>
            <a:fillRect/>
          </a:stretch>
        </p:blipFill>
        <p:spPr>
          <a:xfrm>
            <a:off x="5998464" y="3154680"/>
            <a:ext cx="164592" cy="164592"/>
          </a:xfrm>
          <a:prstGeom prst="rect">
            <a:avLst/>
          </a:prstGeom>
        </p:spPr>
      </p:pic>
      <p:sp>
        <p:nvSpPr>
          <p:cNvPr id="17" name="Shape 13"/>
          <p:cNvSpPr/>
          <p:nvPr/>
        </p:nvSpPr>
        <p:spPr>
          <a:xfrm>
            <a:off x="6217920" y="1874520"/>
            <a:ext cx="2560320" cy="2788920"/>
          </a:xfrm>
          <a:prstGeom prst="roundRect">
            <a:avLst>
              <a:gd name="adj" fmla="val 2857"/>
            </a:avLst>
          </a:prstGeom>
          <a:solidFill>
            <a:srgbClr val="F4F5F7"/>
          </a:solidFill>
          <a:ln w="12700">
            <a:solidFill>
              <a:srgbClr val="F4F5F7"/>
            </a:solidFill>
            <a:prstDash val="solid"/>
          </a:ln>
        </p:spPr>
      </p:sp>
      <p:sp>
        <p:nvSpPr>
          <p:cNvPr id="18" name="Text 14"/>
          <p:cNvSpPr txBox="1"/>
          <p:nvPr/>
        </p:nvSpPr>
        <p:spPr>
          <a:xfrm>
            <a:off x="6492240" y="2103120"/>
            <a:ext cx="2011680" cy="731520"/>
          </a:xfrm>
          <a:prstGeom prst="rect">
            <a:avLst/>
          </a:prstGeom>
          <a:noFill/>
          <a:ln/>
        </p:spPr>
        <p:txBody>
          <a:bodyPr wrap="square" lIns="0" tIns="0" rIns="0" bIns="0" rtlCol="0" anchor="t"/>
          <a:lstStyle/>
          <a:p>
            <a:pPr indent="0" marL="0">
              <a:buNone/>
            </a:pPr>
            <a:r>
              <a:rPr lang="en-US" sz="4000" b="1" dirty="0">
                <a:solidFill>
                  <a:srgbClr val="C9002B"/>
                </a:solidFill>
                <a:latin typeface="Meiryo" pitchFamily="34" charset="0"/>
                <a:ea typeface="Meiryo" pitchFamily="34" charset="-122"/>
                <a:cs typeface="Meiryo" pitchFamily="34" charset="-120"/>
              </a:rPr>
              <a:t>03</a:t>
            </a:r>
            <a:endParaRPr lang="en-US" sz="4000" dirty="0"/>
          </a:p>
        </p:txBody>
      </p:sp>
      <p:sp>
        <p:nvSpPr>
          <p:cNvPr id="19" name="Text 15"/>
          <p:cNvSpPr txBox="1"/>
          <p:nvPr/>
        </p:nvSpPr>
        <p:spPr>
          <a:xfrm>
            <a:off x="6492240" y="2926080"/>
            <a:ext cx="2103120" cy="457200"/>
          </a:xfrm>
          <a:prstGeom prst="rect">
            <a:avLst/>
          </a:prstGeom>
          <a:noFill/>
          <a:ln/>
        </p:spPr>
        <p:txBody>
          <a:bodyPr wrap="square" lIns="0" tIns="0" rIns="0" bIns="0" rtlCol="0" anchor="t"/>
          <a:lstStyle/>
          <a:p>
            <a:pPr indent="0" marL="0">
              <a:buNone/>
            </a:pPr>
            <a:r>
              <a:rPr lang="en-US" sz="2000" b="1" dirty="0">
                <a:solidFill>
                  <a:srgbClr val="20232A"/>
                </a:solidFill>
                <a:latin typeface="Meiryo" pitchFamily="34" charset="0"/>
                <a:ea typeface="Meiryo" pitchFamily="34" charset="-122"/>
                <a:cs typeface="Meiryo" pitchFamily="34" charset="-120"/>
              </a:rPr>
              <a:t>プランと費用</a:t>
            </a:r>
            <a:endParaRPr lang="en-US" sz="2000" dirty="0"/>
          </a:p>
        </p:txBody>
      </p:sp>
      <p:sp>
        <p:nvSpPr>
          <p:cNvPr id="20" name="Text 16"/>
          <p:cNvSpPr txBox="1"/>
          <p:nvPr/>
        </p:nvSpPr>
        <p:spPr>
          <a:xfrm>
            <a:off x="6492240" y="3474720"/>
            <a:ext cx="2148840" cy="640080"/>
          </a:xfrm>
          <a:prstGeom prst="rect">
            <a:avLst/>
          </a:prstGeom>
          <a:noFill/>
          <a:ln/>
        </p:spPr>
        <p:txBody>
          <a:bodyPr wrap="square" lIns="0" tIns="0" rIns="0" bIns="0" rtlCol="0" anchor="t"/>
          <a:lstStyle/>
          <a:p>
            <a:pPr indent="0" marL="0">
              <a:buNone/>
            </a:pPr>
            <a:r>
              <a:rPr lang="en-US" sz="1200" dirty="0">
                <a:solidFill>
                  <a:srgbClr val="5C626D"/>
                </a:solidFill>
                <a:latin typeface="Meiryo" pitchFamily="34" charset="0"/>
                <a:ea typeface="Meiryo" pitchFamily="34" charset="-122"/>
                <a:cs typeface="Meiryo" pitchFamily="34" charset="-120"/>
              </a:rPr>
              <a:t>期間別プラン・公開料金・予算</a:t>
            </a:r>
            <a:endParaRPr lang="en-US" sz="1200" dirty="0"/>
          </a:p>
        </p:txBody>
      </p:sp>
      <p:sp>
        <p:nvSpPr>
          <p:cNvPr id="21" name="Text 17"/>
          <p:cNvSpPr txBox="1"/>
          <p:nvPr/>
        </p:nvSpPr>
        <p:spPr>
          <a:xfrm>
            <a:off x="6492240" y="4206240"/>
            <a:ext cx="2103120" cy="274320"/>
          </a:xfrm>
          <a:prstGeom prst="rect">
            <a:avLst/>
          </a:prstGeom>
          <a:noFill/>
          <a:ln/>
        </p:spPr>
        <p:txBody>
          <a:bodyPr wrap="square" lIns="0" tIns="0" rIns="0" bIns="0" rtlCol="0" anchor="t"/>
          <a:lstStyle/>
          <a:p>
            <a:pPr indent="0" marL="0">
              <a:buNone/>
            </a:pPr>
            <a:r>
              <a:rPr lang="en-US" sz="1100" b="1" dirty="0">
                <a:solidFill>
                  <a:srgbClr val="5C626D"/>
                </a:solidFill>
                <a:latin typeface="Meiryo" pitchFamily="34" charset="0"/>
                <a:ea typeface="Meiryo" pitchFamily="34" charset="-122"/>
                <a:cs typeface="Meiryo" pitchFamily="34" charset="-120"/>
              </a:rPr>
              <a:t>P.10–14</a:t>
            </a:r>
            <a:endParaRPr lang="en-US" sz="1100" dirty="0"/>
          </a:p>
        </p:txBody>
      </p:sp>
      <p:pic>
        <p:nvPicPr>
          <p:cNvPr id="22" name="Image 2" descr="preencoded.png">    </p:cNvPr>
          <p:cNvPicPr>
            <a:picLocks noChangeAspect="1"/>
          </p:cNvPicPr>
          <p:nvPr/>
        </p:nvPicPr>
        <p:blipFill>
          <a:blip r:embed="rId3"/>
          <a:stretch>
            <a:fillRect/>
          </a:stretch>
        </p:blipFill>
        <p:spPr>
          <a:xfrm>
            <a:off x="8833104" y="3154680"/>
            <a:ext cx="164592" cy="164592"/>
          </a:xfrm>
          <a:prstGeom prst="rect">
            <a:avLst/>
          </a:prstGeom>
        </p:spPr>
      </p:pic>
      <p:sp>
        <p:nvSpPr>
          <p:cNvPr id="23" name="Shape 18"/>
          <p:cNvSpPr/>
          <p:nvPr/>
        </p:nvSpPr>
        <p:spPr>
          <a:xfrm>
            <a:off x="9052560" y="1874520"/>
            <a:ext cx="2560320" cy="2788920"/>
          </a:xfrm>
          <a:prstGeom prst="roundRect">
            <a:avLst>
              <a:gd name="adj" fmla="val 2857"/>
            </a:avLst>
          </a:prstGeom>
          <a:solidFill>
            <a:srgbClr val="F4F5F7"/>
          </a:solidFill>
          <a:ln w="12700">
            <a:solidFill>
              <a:srgbClr val="F4F5F7"/>
            </a:solidFill>
            <a:prstDash val="solid"/>
          </a:ln>
        </p:spPr>
      </p:sp>
      <p:sp>
        <p:nvSpPr>
          <p:cNvPr id="24" name="Text 19"/>
          <p:cNvSpPr txBox="1"/>
          <p:nvPr/>
        </p:nvSpPr>
        <p:spPr>
          <a:xfrm>
            <a:off x="9326880" y="2103120"/>
            <a:ext cx="2011680" cy="731520"/>
          </a:xfrm>
          <a:prstGeom prst="rect">
            <a:avLst/>
          </a:prstGeom>
          <a:noFill/>
          <a:ln/>
        </p:spPr>
        <p:txBody>
          <a:bodyPr wrap="square" lIns="0" tIns="0" rIns="0" bIns="0" rtlCol="0" anchor="t"/>
          <a:lstStyle/>
          <a:p>
            <a:pPr indent="0" marL="0">
              <a:buNone/>
            </a:pPr>
            <a:r>
              <a:rPr lang="en-US" sz="4000" b="1" dirty="0">
                <a:solidFill>
                  <a:srgbClr val="C9002B"/>
                </a:solidFill>
                <a:latin typeface="Meiryo" pitchFamily="34" charset="0"/>
                <a:ea typeface="Meiryo" pitchFamily="34" charset="-122"/>
                <a:cs typeface="Meiryo" pitchFamily="34" charset="-120"/>
              </a:rPr>
              <a:t>04</a:t>
            </a:r>
            <a:endParaRPr lang="en-US" sz="4000" dirty="0"/>
          </a:p>
        </p:txBody>
      </p:sp>
      <p:sp>
        <p:nvSpPr>
          <p:cNvPr id="25" name="Text 20"/>
          <p:cNvSpPr txBox="1"/>
          <p:nvPr/>
        </p:nvSpPr>
        <p:spPr>
          <a:xfrm>
            <a:off x="9326880" y="2926080"/>
            <a:ext cx="2103120" cy="457200"/>
          </a:xfrm>
          <a:prstGeom prst="rect">
            <a:avLst/>
          </a:prstGeom>
          <a:noFill/>
          <a:ln/>
        </p:spPr>
        <p:txBody>
          <a:bodyPr wrap="square" lIns="0" tIns="0" rIns="0" bIns="0" rtlCol="0" anchor="t"/>
          <a:lstStyle/>
          <a:p>
            <a:pPr indent="0" marL="0">
              <a:buNone/>
            </a:pPr>
            <a:r>
              <a:rPr lang="en-US" sz="2000" b="1" dirty="0">
                <a:solidFill>
                  <a:srgbClr val="20232A"/>
                </a:solidFill>
                <a:latin typeface="Meiryo" pitchFamily="34" charset="0"/>
                <a:ea typeface="Meiryo" pitchFamily="34" charset="-122"/>
                <a:cs typeface="Meiryo" pitchFamily="34" charset="-120"/>
              </a:rPr>
              <a:t>進め方</a:t>
            </a:r>
            <a:endParaRPr lang="en-US" sz="2000" dirty="0"/>
          </a:p>
        </p:txBody>
      </p:sp>
      <p:sp>
        <p:nvSpPr>
          <p:cNvPr id="26" name="Text 21"/>
          <p:cNvSpPr txBox="1"/>
          <p:nvPr/>
        </p:nvSpPr>
        <p:spPr>
          <a:xfrm>
            <a:off x="9326880" y="3474720"/>
            <a:ext cx="2148840" cy="640080"/>
          </a:xfrm>
          <a:prstGeom prst="rect">
            <a:avLst/>
          </a:prstGeom>
          <a:noFill/>
          <a:ln/>
        </p:spPr>
        <p:txBody>
          <a:bodyPr wrap="square" lIns="0" tIns="0" rIns="0" bIns="0" rtlCol="0" anchor="t"/>
          <a:lstStyle/>
          <a:p>
            <a:pPr indent="0" marL="0">
              <a:buNone/>
            </a:pPr>
            <a:r>
              <a:rPr lang="en-US" sz="1200" dirty="0">
                <a:solidFill>
                  <a:srgbClr val="5C626D"/>
                </a:solidFill>
                <a:latin typeface="Meiryo" pitchFamily="34" charset="0"/>
                <a:ea typeface="Meiryo" pitchFamily="34" charset="-122"/>
                <a:cs typeface="Meiryo" pitchFamily="34" charset="-120"/>
              </a:rPr>
              <a:t>体制・初回商談・成果の見方</a:t>
            </a:r>
            <a:endParaRPr lang="en-US" sz="1200" dirty="0"/>
          </a:p>
        </p:txBody>
      </p:sp>
      <p:sp>
        <p:nvSpPr>
          <p:cNvPr id="27" name="Text 22"/>
          <p:cNvSpPr txBox="1"/>
          <p:nvPr/>
        </p:nvSpPr>
        <p:spPr>
          <a:xfrm>
            <a:off x="9326880" y="4206240"/>
            <a:ext cx="2103120" cy="274320"/>
          </a:xfrm>
          <a:prstGeom prst="rect">
            <a:avLst/>
          </a:prstGeom>
          <a:noFill/>
          <a:ln/>
        </p:spPr>
        <p:txBody>
          <a:bodyPr wrap="square" lIns="0" tIns="0" rIns="0" bIns="0" rtlCol="0" anchor="t"/>
          <a:lstStyle/>
          <a:p>
            <a:pPr indent="0" marL="0">
              <a:buNone/>
            </a:pPr>
            <a:r>
              <a:rPr lang="en-US" sz="1100" b="1" dirty="0">
                <a:solidFill>
                  <a:srgbClr val="5C626D"/>
                </a:solidFill>
                <a:latin typeface="Meiryo" pitchFamily="34" charset="0"/>
                <a:ea typeface="Meiryo" pitchFamily="34" charset="-122"/>
                <a:cs typeface="Meiryo" pitchFamily="34" charset="-120"/>
              </a:rPr>
              <a:t>P.15–17</a:t>
            </a:r>
            <a:endParaRPr lang="en-US" sz="1100" dirty="0"/>
          </a:p>
        </p:txBody>
      </p:sp>
      <p:sp>
        <p:nvSpPr>
          <p:cNvPr id="28" name="Shape 23"/>
          <p:cNvSpPr/>
          <p:nvPr/>
        </p:nvSpPr>
        <p:spPr>
          <a:xfrm>
            <a:off x="548640" y="5029200"/>
            <a:ext cx="11064240" cy="960120"/>
          </a:xfrm>
          <a:prstGeom prst="roundRect">
            <a:avLst>
              <a:gd name="adj" fmla="val 7619"/>
            </a:avLst>
          </a:prstGeom>
          <a:solidFill>
            <a:srgbClr val="FBEAEE"/>
          </a:solidFill>
          <a:ln w="12700">
            <a:solidFill>
              <a:srgbClr val="FBEAEE"/>
            </a:solidFill>
            <a:prstDash val="solid"/>
          </a:ln>
        </p:spPr>
      </p:sp>
      <p:pic>
        <p:nvPicPr>
          <p:cNvPr id="29" name="Image 3" descr="preencoded.png">    </p:cNvPr>
          <p:cNvPicPr>
            <a:picLocks noChangeAspect="1"/>
          </p:cNvPicPr>
          <p:nvPr/>
        </p:nvPicPr>
        <p:blipFill>
          <a:blip r:embed="rId4"/>
          <a:stretch>
            <a:fillRect/>
          </a:stretch>
        </p:blipFill>
        <p:spPr>
          <a:xfrm>
            <a:off x="822960" y="5321808"/>
            <a:ext cx="365760" cy="365760"/>
          </a:xfrm>
          <a:prstGeom prst="rect">
            <a:avLst/>
          </a:prstGeom>
        </p:spPr>
      </p:pic>
      <p:sp>
        <p:nvSpPr>
          <p:cNvPr id="30" name="Text 24"/>
          <p:cNvSpPr txBox="1"/>
          <p:nvPr/>
        </p:nvSpPr>
        <p:spPr>
          <a:xfrm>
            <a:off x="1371600" y="5120640"/>
            <a:ext cx="9966960" cy="777240"/>
          </a:xfrm>
          <a:prstGeom prst="rect">
            <a:avLst/>
          </a:prstGeom>
          <a:noFill/>
          <a:ln/>
        </p:spPr>
        <p:txBody>
          <a:bodyPr wrap="square" lIns="0" tIns="0" rIns="0" bIns="0" rtlCol="0" anchor="ctr"/>
          <a:lstStyle/>
          <a:p>
            <a:pPr indent="0" marL="0">
              <a:buNone/>
            </a:pPr>
            <a:r>
              <a:rPr lang="en-US" sz="1300" b="1" dirty="0">
                <a:solidFill>
                  <a:srgbClr val="C9002B"/>
                </a:solidFill>
                <a:latin typeface="Meiryo" pitchFamily="34" charset="0"/>
                <a:ea typeface="Meiryo" pitchFamily="34" charset="-122"/>
                <a:cs typeface="Meiryo" pitchFamily="34" charset="-120"/>
              </a:rPr>
              <a:t>この資料の前提　</a:t>
            </a:r>
            <a:pPr indent="0" marL="0">
              <a:buNone/>
            </a:pPr>
            <a:r>
              <a:rPr lang="en-US" sz="1300" dirty="0">
                <a:solidFill>
                  <a:srgbClr val="20232A"/>
                </a:solidFill>
                <a:latin typeface="Meiryo" pitchFamily="34" charset="0"/>
                <a:ea typeface="Meiryo" pitchFamily="34" charset="-122"/>
                <a:cs typeface="Meiryo" pitchFamily="34" charset="-120"/>
              </a:rPr>
              <a:t>期間別プラン・提案例・役割分担は本資料で設計した営業モデル。公式のセット商品・料金プランではなく、特定団体の導入実績や効果を示すものでもない。</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4864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01　商材を知る</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20232A"/>
                </a:solidFill>
                <a:latin typeface="Meiryo" pitchFamily="34" charset="0"/>
                <a:ea typeface="Meiryo" pitchFamily="34" charset="-122"/>
                <a:cs typeface="Meiryo" pitchFamily="34" charset="-120"/>
              </a:rPr>
              <a:t>3商材の役割：実態・理由・告知を分担する</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C626D"/>
                </a:solidFill>
                <a:latin typeface="Meiryo" pitchFamily="34" charset="0"/>
                <a:ea typeface="Meiryo" pitchFamily="34" charset="-122"/>
                <a:cs typeface="Meiryo" pitchFamily="34" charset="-120"/>
              </a:rPr>
              <a:t>顧客が知りたいことに合わせて、使う商材を選ぶ</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C626D"/>
                </a:solidFill>
                <a:latin typeface="Meiryo" pitchFamily="34" charset="0"/>
                <a:ea typeface="Meiryo" pitchFamily="34" charset="-122"/>
                <a:cs typeface="Meiryo" pitchFamily="34" charset="-120"/>
              </a:rPr>
              <a:t>03</a:t>
            </a:r>
            <a:endParaRPr lang="en-US" sz="1000" dirty="0"/>
          </a:p>
        </p:txBody>
      </p:sp>
      <p:sp>
        <p:nvSpPr>
          <p:cNvPr id="6" name="Shape 4"/>
          <p:cNvSpPr/>
          <p:nvPr/>
        </p:nvSpPr>
        <p:spPr>
          <a:xfrm>
            <a:off x="548640" y="1783080"/>
            <a:ext cx="3383280" cy="4251960"/>
          </a:xfrm>
          <a:prstGeom prst="roundRect">
            <a:avLst>
              <a:gd name="adj" fmla="val 2162"/>
            </a:avLst>
          </a:prstGeom>
          <a:solidFill>
            <a:srgbClr val="F4F5F7"/>
          </a:solidFill>
          <a:ln w="12700">
            <a:solidFill>
              <a:srgbClr val="F4F5F7"/>
            </a:solidFill>
            <a:prstDash val="solid"/>
          </a:ln>
        </p:spPr>
      </p:sp>
      <p:sp>
        <p:nvSpPr>
          <p:cNvPr id="7" name="Shape 5"/>
          <p:cNvSpPr/>
          <p:nvPr/>
        </p:nvSpPr>
        <p:spPr>
          <a:xfrm>
            <a:off x="822960" y="2057400"/>
            <a:ext cx="777240" cy="777240"/>
          </a:xfrm>
          <a:prstGeom prst="ellipse">
            <a:avLst/>
          </a:prstGeom>
          <a:solidFill>
            <a:srgbClr val="C9002B"/>
          </a:solidFill>
          <a:ln w="12700">
            <a:solidFill>
              <a:srgbClr val="C9002B"/>
            </a:solidFill>
            <a:prstDash val="solid"/>
          </a:ln>
        </p:spPr>
      </p:sp>
      <p:pic>
        <p:nvPicPr>
          <p:cNvPr id="8" name="Image 0" descr="preencoded.png">    </p:cNvPr>
          <p:cNvPicPr>
            <a:picLocks noChangeAspect="1"/>
          </p:cNvPicPr>
          <p:nvPr/>
        </p:nvPicPr>
        <p:blipFill>
          <a:blip r:embed="rId1"/>
          <a:stretch>
            <a:fillRect/>
          </a:stretch>
        </p:blipFill>
        <p:spPr>
          <a:xfrm>
            <a:off x="1017270" y="2251710"/>
            <a:ext cx="388620" cy="388620"/>
          </a:xfrm>
          <a:prstGeom prst="rect">
            <a:avLst/>
          </a:prstGeom>
        </p:spPr>
      </p:pic>
      <p:sp>
        <p:nvSpPr>
          <p:cNvPr id="9" name="Text 6"/>
          <p:cNvSpPr txBox="1"/>
          <p:nvPr/>
        </p:nvSpPr>
        <p:spPr>
          <a:xfrm>
            <a:off x="1783080" y="2103120"/>
            <a:ext cx="2011680" cy="274320"/>
          </a:xfrm>
          <a:prstGeom prst="rect">
            <a:avLst/>
          </a:prstGeom>
          <a:noFill/>
          <a:ln/>
        </p:spPr>
        <p:txBody>
          <a:bodyPr wrap="square" lIns="0" tIns="0" rIns="0" bIns="0" rtlCol="0" anchor="t"/>
          <a:lstStyle/>
          <a:p>
            <a:pPr indent="0" marL="0">
              <a:buNone/>
            </a:pPr>
            <a:r>
              <a:rPr lang="en-US" sz="1200" b="1" dirty="0">
                <a:solidFill>
                  <a:srgbClr val="C9002B"/>
                </a:solidFill>
                <a:latin typeface="Meiryo" pitchFamily="34" charset="0"/>
                <a:ea typeface="Meiryo" pitchFamily="34" charset="-122"/>
                <a:cs typeface="Meiryo" pitchFamily="34" charset="-120"/>
              </a:rPr>
              <a:t>実態を知る</a:t>
            </a:r>
            <a:endParaRPr lang="en-US" sz="1200" dirty="0"/>
          </a:p>
        </p:txBody>
      </p:sp>
      <p:sp>
        <p:nvSpPr>
          <p:cNvPr id="10" name="Text 7"/>
          <p:cNvSpPr txBox="1"/>
          <p:nvPr/>
        </p:nvSpPr>
        <p:spPr>
          <a:xfrm>
            <a:off x="1783080" y="2377440"/>
            <a:ext cx="2103120" cy="457200"/>
          </a:xfrm>
          <a:prstGeom prst="rect">
            <a:avLst/>
          </a:prstGeom>
          <a:noFill/>
          <a:ln/>
        </p:spPr>
        <p:txBody>
          <a:bodyPr wrap="square" lIns="0" tIns="0" rIns="0" bIns="0" rtlCol="0" anchor="ctr"/>
          <a:lstStyle/>
          <a:p>
            <a:pPr indent="0" marL="0">
              <a:buNone/>
            </a:pPr>
            <a:r>
              <a:rPr lang="en-US" sz="1700" b="1" dirty="0">
                <a:solidFill>
                  <a:srgbClr val="20232A"/>
                </a:solidFill>
                <a:latin typeface="Meiryo" pitchFamily="34" charset="0"/>
                <a:ea typeface="Meiryo" pitchFamily="34" charset="-122"/>
                <a:cs typeface="Meiryo" pitchFamily="34" charset="-120"/>
              </a:rPr>
              <a:t>モバイル空間統計</a:t>
            </a:r>
            <a:endParaRPr lang="en-US" sz="1700" dirty="0"/>
          </a:p>
        </p:txBody>
      </p:sp>
      <p:sp>
        <p:nvSpPr>
          <p:cNvPr id="11" name="Text 8"/>
          <p:cNvSpPr txBox="1"/>
          <p:nvPr/>
        </p:nvSpPr>
        <p:spPr>
          <a:xfrm>
            <a:off x="822960" y="3108960"/>
            <a:ext cx="2834640" cy="274320"/>
          </a:xfrm>
          <a:prstGeom prst="rect">
            <a:avLst/>
          </a:prstGeom>
          <a:noFill/>
          <a:ln/>
        </p:spPr>
        <p:txBody>
          <a:bodyPr wrap="square" lIns="0" tIns="0" rIns="0" bIns="0" rtlCol="0" anchor="t"/>
          <a:lstStyle/>
          <a:p>
            <a:pPr indent="0" marL="0">
              <a:buNone/>
            </a:pPr>
            <a:r>
              <a:rPr lang="en-US" sz="1100" b="1" dirty="0">
                <a:solidFill>
                  <a:srgbClr val="5C626D"/>
                </a:solidFill>
                <a:latin typeface="Meiryo" pitchFamily="34" charset="0"/>
                <a:ea typeface="Meiryo" pitchFamily="34" charset="-122"/>
                <a:cs typeface="Meiryo" pitchFamily="34" charset="-120"/>
              </a:rPr>
              <a:t>答えられること</a:t>
            </a:r>
            <a:endParaRPr lang="en-US" sz="1100" dirty="0"/>
          </a:p>
        </p:txBody>
      </p:sp>
      <p:sp>
        <p:nvSpPr>
          <p:cNvPr id="12" name="Text 9"/>
          <p:cNvSpPr txBox="1"/>
          <p:nvPr/>
        </p:nvSpPr>
        <p:spPr>
          <a:xfrm>
            <a:off x="822960" y="3401568"/>
            <a:ext cx="2926080" cy="914400"/>
          </a:xfrm>
          <a:prstGeom prst="rect">
            <a:avLst/>
          </a:prstGeom>
          <a:noFill/>
          <a:ln/>
        </p:spPr>
        <p:txBody>
          <a:bodyPr wrap="square" lIns="0" tIns="0" rIns="0" bIns="0" rtlCol="0" anchor="t"/>
          <a:lstStyle/>
          <a:p>
            <a:pPr indent="0" marL="0">
              <a:lnSpc>
                <a:spcPct val="115000"/>
              </a:lnSpc>
              <a:buNone/>
            </a:pPr>
            <a:r>
              <a:rPr lang="en-US" sz="1800" b="1" dirty="0">
                <a:solidFill>
                  <a:srgbClr val="20232A"/>
                </a:solidFill>
                <a:latin typeface="Meiryo" pitchFamily="34" charset="0"/>
                <a:ea typeface="Meiryo" pitchFamily="34" charset="-122"/>
                <a:cs typeface="Meiryo" pitchFamily="34" charset="-120"/>
              </a:rPr>
              <a:t>いつ、どこに</a:t>
            </a:r>
            <a:endParaRPr lang="en-US" sz="1800" dirty="0"/>
          </a:p>
          <a:p>
            <a:pPr indent="0" marL="0">
              <a:lnSpc>
                <a:spcPct val="115000"/>
              </a:lnSpc>
              <a:buNone/>
            </a:pPr>
            <a:r>
              <a:rPr lang="en-US" sz="1800" b="1" dirty="0">
                <a:solidFill>
                  <a:srgbClr val="20232A"/>
                </a:solidFill>
                <a:latin typeface="Meiryo" pitchFamily="34" charset="0"/>
                <a:ea typeface="Meiryo" pitchFamily="34" charset="-122"/>
                <a:cs typeface="Meiryo" pitchFamily="34" charset="-120"/>
              </a:rPr>
              <a:t>どんな人がいるか</a:t>
            </a:r>
            <a:endParaRPr lang="en-US" sz="1800" dirty="0"/>
          </a:p>
        </p:txBody>
      </p:sp>
      <p:sp>
        <p:nvSpPr>
          <p:cNvPr id="13" name="Shape 10"/>
          <p:cNvSpPr/>
          <p:nvPr/>
        </p:nvSpPr>
        <p:spPr>
          <a:xfrm>
            <a:off x="822960" y="4526280"/>
            <a:ext cx="2834640" cy="0"/>
          </a:xfrm>
          <a:prstGeom prst="line">
            <a:avLst/>
          </a:prstGeom>
          <a:noFill/>
          <a:ln w="12700">
            <a:solidFill>
              <a:srgbClr val="DADDE2"/>
            </a:solidFill>
            <a:prstDash val="solid"/>
          </a:ln>
        </p:spPr>
      </p:sp>
      <p:sp>
        <p:nvSpPr>
          <p:cNvPr id="14" name="Text 11"/>
          <p:cNvSpPr txBox="1"/>
          <p:nvPr/>
        </p:nvSpPr>
        <p:spPr>
          <a:xfrm>
            <a:off x="822960" y="4663440"/>
            <a:ext cx="2834640" cy="274320"/>
          </a:xfrm>
          <a:prstGeom prst="rect">
            <a:avLst/>
          </a:prstGeom>
          <a:noFill/>
          <a:ln/>
        </p:spPr>
        <p:txBody>
          <a:bodyPr wrap="square" lIns="0" tIns="0" rIns="0" bIns="0" rtlCol="0" anchor="t"/>
          <a:lstStyle/>
          <a:p>
            <a:pPr indent="0" marL="0">
              <a:buNone/>
            </a:pPr>
            <a:r>
              <a:rPr lang="en-US" sz="1100" b="1" dirty="0">
                <a:solidFill>
                  <a:srgbClr val="5C626D"/>
                </a:solidFill>
                <a:latin typeface="Meiryo" pitchFamily="34" charset="0"/>
                <a:ea typeface="Meiryo" pitchFamily="34" charset="-122"/>
                <a:cs typeface="Meiryo" pitchFamily="34" charset="-120"/>
              </a:rPr>
              <a:t>顧客の判断に使うこと</a:t>
            </a:r>
            <a:endParaRPr lang="en-US" sz="1100" dirty="0"/>
          </a:p>
        </p:txBody>
      </p:sp>
      <p:sp>
        <p:nvSpPr>
          <p:cNvPr id="15" name="Text 12"/>
          <p:cNvSpPr txBox="1"/>
          <p:nvPr/>
        </p:nvSpPr>
        <p:spPr>
          <a:xfrm>
            <a:off x="822960" y="4956048"/>
            <a:ext cx="2926080" cy="731520"/>
          </a:xfrm>
          <a:prstGeom prst="rect">
            <a:avLst/>
          </a:prstGeom>
          <a:noFill/>
          <a:ln/>
        </p:spPr>
        <p:txBody>
          <a:bodyPr wrap="square" lIns="0" tIns="0" rIns="0" bIns="0" rtlCol="0" anchor="t"/>
          <a:lstStyle/>
          <a:p>
            <a:pPr indent="0" marL="0">
              <a:buNone/>
            </a:pPr>
            <a:r>
              <a:rPr lang="en-US" sz="1400" dirty="0">
                <a:solidFill>
                  <a:srgbClr val="20232A"/>
                </a:solidFill>
                <a:latin typeface="Meiryo" pitchFamily="34" charset="0"/>
                <a:ea typeface="Meiryo" pitchFamily="34" charset="-122"/>
                <a:cs typeface="Meiryo" pitchFamily="34" charset="-120"/>
              </a:rPr>
              <a:t>告知エリアや開催条件を選ぶ</a:t>
            </a:r>
            <a:endParaRPr lang="en-US" sz="1400" dirty="0"/>
          </a:p>
        </p:txBody>
      </p:sp>
      <p:pic>
        <p:nvPicPr>
          <p:cNvPr id="16" name="Image 1" descr="preencoded.png">    </p:cNvPr>
          <p:cNvPicPr>
            <a:picLocks noChangeAspect="1"/>
          </p:cNvPicPr>
          <p:nvPr/>
        </p:nvPicPr>
        <p:blipFill>
          <a:blip r:embed="rId2"/>
          <a:stretch>
            <a:fillRect/>
          </a:stretch>
        </p:blipFill>
        <p:spPr>
          <a:xfrm>
            <a:off x="4023360" y="3703320"/>
            <a:ext cx="274320" cy="274320"/>
          </a:xfrm>
          <a:prstGeom prst="rect">
            <a:avLst/>
          </a:prstGeom>
        </p:spPr>
      </p:pic>
      <p:sp>
        <p:nvSpPr>
          <p:cNvPr id="17" name="Shape 13"/>
          <p:cNvSpPr/>
          <p:nvPr/>
        </p:nvSpPr>
        <p:spPr>
          <a:xfrm>
            <a:off x="4389120" y="1783080"/>
            <a:ext cx="3383280" cy="4251960"/>
          </a:xfrm>
          <a:prstGeom prst="roundRect">
            <a:avLst>
              <a:gd name="adj" fmla="val 2162"/>
            </a:avLst>
          </a:prstGeom>
          <a:solidFill>
            <a:srgbClr val="F4F5F7"/>
          </a:solidFill>
          <a:ln w="12700">
            <a:solidFill>
              <a:srgbClr val="F4F5F7"/>
            </a:solidFill>
            <a:prstDash val="solid"/>
          </a:ln>
        </p:spPr>
      </p:sp>
      <p:sp>
        <p:nvSpPr>
          <p:cNvPr id="18" name="Shape 14"/>
          <p:cNvSpPr/>
          <p:nvPr/>
        </p:nvSpPr>
        <p:spPr>
          <a:xfrm>
            <a:off x="4663440" y="2057400"/>
            <a:ext cx="777240" cy="777240"/>
          </a:xfrm>
          <a:prstGeom prst="ellipse">
            <a:avLst/>
          </a:prstGeom>
          <a:solidFill>
            <a:srgbClr val="C9002B"/>
          </a:solidFill>
          <a:ln w="12700">
            <a:solidFill>
              <a:srgbClr val="C9002B"/>
            </a:solidFill>
            <a:prstDash val="solid"/>
          </a:ln>
        </p:spPr>
      </p:sp>
      <p:pic>
        <p:nvPicPr>
          <p:cNvPr id="19" name="Image 2" descr="preencoded.png">    </p:cNvPr>
          <p:cNvPicPr>
            <a:picLocks noChangeAspect="1"/>
          </p:cNvPicPr>
          <p:nvPr/>
        </p:nvPicPr>
        <p:blipFill>
          <a:blip r:embed="rId3"/>
          <a:stretch>
            <a:fillRect/>
          </a:stretch>
        </p:blipFill>
        <p:spPr>
          <a:xfrm>
            <a:off x="4857750" y="2251710"/>
            <a:ext cx="388620" cy="388620"/>
          </a:xfrm>
          <a:prstGeom prst="rect">
            <a:avLst/>
          </a:prstGeom>
        </p:spPr>
      </p:pic>
      <p:sp>
        <p:nvSpPr>
          <p:cNvPr id="20" name="Text 15"/>
          <p:cNvSpPr txBox="1"/>
          <p:nvPr/>
        </p:nvSpPr>
        <p:spPr>
          <a:xfrm>
            <a:off x="5623560" y="2103120"/>
            <a:ext cx="2011680" cy="274320"/>
          </a:xfrm>
          <a:prstGeom prst="rect">
            <a:avLst/>
          </a:prstGeom>
          <a:noFill/>
          <a:ln/>
        </p:spPr>
        <p:txBody>
          <a:bodyPr wrap="square" lIns="0" tIns="0" rIns="0" bIns="0" rtlCol="0" anchor="t"/>
          <a:lstStyle/>
          <a:p>
            <a:pPr indent="0" marL="0">
              <a:buNone/>
            </a:pPr>
            <a:r>
              <a:rPr lang="en-US" sz="1200" b="1" dirty="0">
                <a:solidFill>
                  <a:srgbClr val="C9002B"/>
                </a:solidFill>
                <a:latin typeface="Meiryo" pitchFamily="34" charset="0"/>
                <a:ea typeface="Meiryo" pitchFamily="34" charset="-122"/>
                <a:cs typeface="Meiryo" pitchFamily="34" charset="-120"/>
              </a:rPr>
              <a:t>理由を知る</a:t>
            </a:r>
            <a:endParaRPr lang="en-US" sz="1200" dirty="0"/>
          </a:p>
        </p:txBody>
      </p:sp>
      <p:sp>
        <p:nvSpPr>
          <p:cNvPr id="21" name="Text 16"/>
          <p:cNvSpPr txBox="1"/>
          <p:nvPr/>
        </p:nvSpPr>
        <p:spPr>
          <a:xfrm>
            <a:off x="5623560" y="2377440"/>
            <a:ext cx="2103120" cy="457200"/>
          </a:xfrm>
          <a:prstGeom prst="rect">
            <a:avLst/>
          </a:prstGeom>
          <a:noFill/>
          <a:ln/>
        </p:spPr>
        <p:txBody>
          <a:bodyPr wrap="square" lIns="0" tIns="0" rIns="0" bIns="0" rtlCol="0" anchor="ctr"/>
          <a:lstStyle/>
          <a:p>
            <a:pPr indent="0" marL="0">
              <a:buNone/>
            </a:pPr>
            <a:r>
              <a:rPr lang="en-US" sz="1700" b="1" dirty="0">
                <a:solidFill>
                  <a:srgbClr val="20232A"/>
                </a:solidFill>
                <a:latin typeface="Meiryo" pitchFamily="34" charset="0"/>
                <a:ea typeface="Meiryo" pitchFamily="34" charset="-122"/>
                <a:cs typeface="Meiryo" pitchFamily="34" charset="-120"/>
              </a:rPr>
              <a:t>プレミアパネル</a:t>
            </a:r>
            <a:endParaRPr lang="en-US" sz="1700" dirty="0"/>
          </a:p>
        </p:txBody>
      </p:sp>
      <p:sp>
        <p:nvSpPr>
          <p:cNvPr id="22" name="Text 17"/>
          <p:cNvSpPr txBox="1"/>
          <p:nvPr/>
        </p:nvSpPr>
        <p:spPr>
          <a:xfrm>
            <a:off x="4663440" y="3108960"/>
            <a:ext cx="2834640" cy="274320"/>
          </a:xfrm>
          <a:prstGeom prst="rect">
            <a:avLst/>
          </a:prstGeom>
          <a:noFill/>
          <a:ln/>
        </p:spPr>
        <p:txBody>
          <a:bodyPr wrap="square" lIns="0" tIns="0" rIns="0" bIns="0" rtlCol="0" anchor="t"/>
          <a:lstStyle/>
          <a:p>
            <a:pPr indent="0" marL="0">
              <a:buNone/>
            </a:pPr>
            <a:r>
              <a:rPr lang="en-US" sz="1100" b="1" dirty="0">
                <a:solidFill>
                  <a:srgbClr val="5C626D"/>
                </a:solidFill>
                <a:latin typeface="Meiryo" pitchFamily="34" charset="0"/>
                <a:ea typeface="Meiryo" pitchFamily="34" charset="-122"/>
                <a:cs typeface="Meiryo" pitchFamily="34" charset="-120"/>
              </a:rPr>
              <a:t>答えられること</a:t>
            </a:r>
            <a:endParaRPr lang="en-US" sz="1100" dirty="0"/>
          </a:p>
        </p:txBody>
      </p:sp>
      <p:sp>
        <p:nvSpPr>
          <p:cNvPr id="23" name="Text 18"/>
          <p:cNvSpPr txBox="1"/>
          <p:nvPr/>
        </p:nvSpPr>
        <p:spPr>
          <a:xfrm>
            <a:off x="4663440" y="3401568"/>
            <a:ext cx="2926080" cy="914400"/>
          </a:xfrm>
          <a:prstGeom prst="rect">
            <a:avLst/>
          </a:prstGeom>
          <a:noFill/>
          <a:ln/>
        </p:spPr>
        <p:txBody>
          <a:bodyPr wrap="square" lIns="0" tIns="0" rIns="0" bIns="0" rtlCol="0" anchor="t"/>
          <a:lstStyle/>
          <a:p>
            <a:pPr indent="0" marL="0">
              <a:lnSpc>
                <a:spcPct val="115000"/>
              </a:lnSpc>
              <a:buNone/>
            </a:pPr>
            <a:r>
              <a:rPr lang="en-US" sz="1800" b="1" dirty="0">
                <a:solidFill>
                  <a:srgbClr val="20232A"/>
                </a:solidFill>
                <a:latin typeface="Meiryo" pitchFamily="34" charset="0"/>
                <a:ea typeface="Meiryo" pitchFamily="34" charset="-122"/>
                <a:cs typeface="Meiryo" pitchFamily="34" charset="-120"/>
              </a:rPr>
              <a:t>何を知り、何を望み</a:t>
            </a:r>
            <a:endParaRPr lang="en-US" sz="1800" dirty="0"/>
          </a:p>
          <a:p>
            <a:pPr indent="0" marL="0">
              <a:lnSpc>
                <a:spcPct val="115000"/>
              </a:lnSpc>
              <a:buNone/>
            </a:pPr>
            <a:r>
              <a:rPr lang="en-US" sz="1800" b="1" dirty="0">
                <a:solidFill>
                  <a:srgbClr val="20232A"/>
                </a:solidFill>
                <a:latin typeface="Meiryo" pitchFamily="34" charset="0"/>
                <a:ea typeface="Meiryo" pitchFamily="34" charset="-122"/>
                <a:cs typeface="Meiryo" pitchFamily="34" charset="-120"/>
              </a:rPr>
              <a:t>なぜ参加しないか</a:t>
            </a:r>
            <a:endParaRPr lang="en-US" sz="1800" dirty="0"/>
          </a:p>
        </p:txBody>
      </p:sp>
      <p:sp>
        <p:nvSpPr>
          <p:cNvPr id="24" name="Shape 19"/>
          <p:cNvSpPr/>
          <p:nvPr/>
        </p:nvSpPr>
        <p:spPr>
          <a:xfrm>
            <a:off x="4663440" y="4526280"/>
            <a:ext cx="2834640" cy="0"/>
          </a:xfrm>
          <a:prstGeom prst="line">
            <a:avLst/>
          </a:prstGeom>
          <a:noFill/>
          <a:ln w="12700">
            <a:solidFill>
              <a:srgbClr val="DADDE2"/>
            </a:solidFill>
            <a:prstDash val="solid"/>
          </a:ln>
        </p:spPr>
      </p:sp>
      <p:sp>
        <p:nvSpPr>
          <p:cNvPr id="25" name="Text 20"/>
          <p:cNvSpPr txBox="1"/>
          <p:nvPr/>
        </p:nvSpPr>
        <p:spPr>
          <a:xfrm>
            <a:off x="4663440" y="4663440"/>
            <a:ext cx="2834640" cy="274320"/>
          </a:xfrm>
          <a:prstGeom prst="rect">
            <a:avLst/>
          </a:prstGeom>
          <a:noFill/>
          <a:ln/>
        </p:spPr>
        <p:txBody>
          <a:bodyPr wrap="square" lIns="0" tIns="0" rIns="0" bIns="0" rtlCol="0" anchor="t"/>
          <a:lstStyle/>
          <a:p>
            <a:pPr indent="0" marL="0">
              <a:buNone/>
            </a:pPr>
            <a:r>
              <a:rPr lang="en-US" sz="1100" b="1" dirty="0">
                <a:solidFill>
                  <a:srgbClr val="5C626D"/>
                </a:solidFill>
                <a:latin typeface="Meiryo" pitchFamily="34" charset="0"/>
                <a:ea typeface="Meiryo" pitchFamily="34" charset="-122"/>
                <a:cs typeface="Meiryo" pitchFamily="34" charset="-120"/>
              </a:rPr>
              <a:t>顧客の判断に使うこと</a:t>
            </a:r>
            <a:endParaRPr lang="en-US" sz="1100" dirty="0"/>
          </a:p>
        </p:txBody>
      </p:sp>
      <p:sp>
        <p:nvSpPr>
          <p:cNvPr id="26" name="Text 21"/>
          <p:cNvSpPr txBox="1"/>
          <p:nvPr/>
        </p:nvSpPr>
        <p:spPr>
          <a:xfrm>
            <a:off x="4663440" y="4956048"/>
            <a:ext cx="2926080" cy="731520"/>
          </a:xfrm>
          <a:prstGeom prst="rect">
            <a:avLst/>
          </a:prstGeom>
          <a:noFill/>
          <a:ln/>
        </p:spPr>
        <p:txBody>
          <a:bodyPr wrap="square" lIns="0" tIns="0" rIns="0" bIns="0" rtlCol="0" anchor="t"/>
          <a:lstStyle/>
          <a:p>
            <a:pPr indent="0" marL="0">
              <a:buNone/>
            </a:pPr>
            <a:r>
              <a:rPr lang="en-US" sz="1400" dirty="0">
                <a:solidFill>
                  <a:srgbClr val="20232A"/>
                </a:solidFill>
                <a:latin typeface="Meiryo" pitchFamily="34" charset="0"/>
                <a:ea typeface="Meiryo" pitchFamily="34" charset="-122"/>
                <a:cs typeface="Meiryo" pitchFamily="34" charset="-120"/>
              </a:rPr>
              <a:t>訴求内容や参加条件を見直す</a:t>
            </a:r>
            <a:endParaRPr lang="en-US" sz="1400" dirty="0"/>
          </a:p>
        </p:txBody>
      </p:sp>
      <p:pic>
        <p:nvPicPr>
          <p:cNvPr id="27" name="Image 3" descr="preencoded.png">    </p:cNvPr>
          <p:cNvPicPr>
            <a:picLocks noChangeAspect="1"/>
          </p:cNvPicPr>
          <p:nvPr/>
        </p:nvPicPr>
        <p:blipFill>
          <a:blip r:embed="rId4"/>
          <a:stretch>
            <a:fillRect/>
          </a:stretch>
        </p:blipFill>
        <p:spPr>
          <a:xfrm>
            <a:off x="7863840" y="3703320"/>
            <a:ext cx="274320" cy="274320"/>
          </a:xfrm>
          <a:prstGeom prst="rect">
            <a:avLst/>
          </a:prstGeom>
        </p:spPr>
      </p:pic>
      <p:sp>
        <p:nvSpPr>
          <p:cNvPr id="28" name="Shape 22"/>
          <p:cNvSpPr/>
          <p:nvPr/>
        </p:nvSpPr>
        <p:spPr>
          <a:xfrm>
            <a:off x="8229600" y="1783080"/>
            <a:ext cx="3383280" cy="4251960"/>
          </a:xfrm>
          <a:prstGeom prst="roundRect">
            <a:avLst>
              <a:gd name="adj" fmla="val 2162"/>
            </a:avLst>
          </a:prstGeom>
          <a:solidFill>
            <a:srgbClr val="F4F5F7"/>
          </a:solidFill>
          <a:ln w="12700">
            <a:solidFill>
              <a:srgbClr val="F4F5F7"/>
            </a:solidFill>
            <a:prstDash val="solid"/>
          </a:ln>
        </p:spPr>
      </p:sp>
      <p:sp>
        <p:nvSpPr>
          <p:cNvPr id="29" name="Shape 23"/>
          <p:cNvSpPr/>
          <p:nvPr/>
        </p:nvSpPr>
        <p:spPr>
          <a:xfrm>
            <a:off x="8503920" y="2057400"/>
            <a:ext cx="777240" cy="777240"/>
          </a:xfrm>
          <a:prstGeom prst="ellipse">
            <a:avLst/>
          </a:prstGeom>
          <a:solidFill>
            <a:srgbClr val="C9002B"/>
          </a:solidFill>
          <a:ln w="12700">
            <a:solidFill>
              <a:srgbClr val="C9002B"/>
            </a:solidFill>
            <a:prstDash val="solid"/>
          </a:ln>
        </p:spPr>
      </p:sp>
      <p:pic>
        <p:nvPicPr>
          <p:cNvPr id="30" name="Image 4" descr="preencoded.png">    </p:cNvPr>
          <p:cNvPicPr>
            <a:picLocks noChangeAspect="1"/>
          </p:cNvPicPr>
          <p:nvPr/>
        </p:nvPicPr>
        <p:blipFill>
          <a:blip r:embed="rId5"/>
          <a:stretch>
            <a:fillRect/>
          </a:stretch>
        </p:blipFill>
        <p:spPr>
          <a:xfrm>
            <a:off x="8698230" y="2251710"/>
            <a:ext cx="388620" cy="388620"/>
          </a:xfrm>
          <a:prstGeom prst="rect">
            <a:avLst/>
          </a:prstGeom>
        </p:spPr>
      </p:pic>
      <p:sp>
        <p:nvSpPr>
          <p:cNvPr id="31" name="Text 24"/>
          <p:cNvSpPr txBox="1"/>
          <p:nvPr/>
        </p:nvSpPr>
        <p:spPr>
          <a:xfrm>
            <a:off x="9464040" y="2103120"/>
            <a:ext cx="2011680" cy="274320"/>
          </a:xfrm>
          <a:prstGeom prst="rect">
            <a:avLst/>
          </a:prstGeom>
          <a:noFill/>
          <a:ln/>
        </p:spPr>
        <p:txBody>
          <a:bodyPr wrap="square" lIns="0" tIns="0" rIns="0" bIns="0" rtlCol="0" anchor="t"/>
          <a:lstStyle/>
          <a:p>
            <a:pPr indent="0" marL="0">
              <a:buNone/>
            </a:pPr>
            <a:r>
              <a:rPr lang="en-US" sz="1200" b="1" dirty="0">
                <a:solidFill>
                  <a:srgbClr val="C9002B"/>
                </a:solidFill>
                <a:latin typeface="Meiryo" pitchFamily="34" charset="0"/>
                <a:ea typeface="Meiryo" pitchFamily="34" charset="-122"/>
                <a:cs typeface="Meiryo" pitchFamily="34" charset="-120"/>
              </a:rPr>
              <a:t>届ける</a:t>
            </a:r>
            <a:endParaRPr lang="en-US" sz="1200" dirty="0"/>
          </a:p>
        </p:txBody>
      </p:sp>
      <p:sp>
        <p:nvSpPr>
          <p:cNvPr id="32" name="Text 25"/>
          <p:cNvSpPr txBox="1"/>
          <p:nvPr/>
        </p:nvSpPr>
        <p:spPr>
          <a:xfrm>
            <a:off x="9464040" y="2377440"/>
            <a:ext cx="2103120" cy="457200"/>
          </a:xfrm>
          <a:prstGeom prst="rect">
            <a:avLst/>
          </a:prstGeom>
          <a:noFill/>
          <a:ln/>
        </p:spPr>
        <p:txBody>
          <a:bodyPr wrap="square" lIns="0" tIns="0" rIns="0" bIns="0" rtlCol="0" anchor="ctr"/>
          <a:lstStyle/>
          <a:p>
            <a:pPr indent="0" marL="0">
              <a:buNone/>
            </a:pPr>
            <a:r>
              <a:rPr lang="en-US" sz="1700" b="1" dirty="0">
                <a:solidFill>
                  <a:srgbClr val="20232A"/>
                </a:solidFill>
                <a:latin typeface="Meiryo" pitchFamily="34" charset="0"/>
                <a:ea typeface="Meiryo" pitchFamily="34" charset="-122"/>
                <a:cs typeface="Meiryo" pitchFamily="34" charset="-120"/>
              </a:rPr>
              <a:t>docomo Ad Network</a:t>
            </a:r>
            <a:endParaRPr lang="en-US" sz="1700" dirty="0"/>
          </a:p>
        </p:txBody>
      </p:sp>
      <p:sp>
        <p:nvSpPr>
          <p:cNvPr id="33" name="Text 26"/>
          <p:cNvSpPr txBox="1"/>
          <p:nvPr/>
        </p:nvSpPr>
        <p:spPr>
          <a:xfrm>
            <a:off x="8503920" y="3108960"/>
            <a:ext cx="2834640" cy="274320"/>
          </a:xfrm>
          <a:prstGeom prst="rect">
            <a:avLst/>
          </a:prstGeom>
          <a:noFill/>
          <a:ln/>
        </p:spPr>
        <p:txBody>
          <a:bodyPr wrap="square" lIns="0" tIns="0" rIns="0" bIns="0" rtlCol="0" anchor="t"/>
          <a:lstStyle/>
          <a:p>
            <a:pPr indent="0" marL="0">
              <a:buNone/>
            </a:pPr>
            <a:r>
              <a:rPr lang="en-US" sz="1100" b="1" dirty="0">
                <a:solidFill>
                  <a:srgbClr val="5C626D"/>
                </a:solidFill>
                <a:latin typeface="Meiryo" pitchFamily="34" charset="0"/>
                <a:ea typeface="Meiryo" pitchFamily="34" charset="-122"/>
                <a:cs typeface="Meiryo" pitchFamily="34" charset="-120"/>
              </a:rPr>
              <a:t>答えられること</a:t>
            </a:r>
            <a:endParaRPr lang="en-US" sz="1100" dirty="0"/>
          </a:p>
        </p:txBody>
      </p:sp>
      <p:sp>
        <p:nvSpPr>
          <p:cNvPr id="34" name="Text 27"/>
          <p:cNvSpPr txBox="1"/>
          <p:nvPr/>
        </p:nvSpPr>
        <p:spPr>
          <a:xfrm>
            <a:off x="8503920" y="3401568"/>
            <a:ext cx="2926080" cy="914400"/>
          </a:xfrm>
          <a:prstGeom prst="rect">
            <a:avLst/>
          </a:prstGeom>
          <a:noFill/>
          <a:ln/>
        </p:spPr>
        <p:txBody>
          <a:bodyPr wrap="square" lIns="0" tIns="0" rIns="0" bIns="0" rtlCol="0" anchor="t"/>
          <a:lstStyle/>
          <a:p>
            <a:pPr indent="0" marL="0">
              <a:lnSpc>
                <a:spcPct val="115000"/>
              </a:lnSpc>
              <a:buNone/>
            </a:pPr>
            <a:r>
              <a:rPr lang="en-US" sz="1800" b="1" dirty="0">
                <a:solidFill>
                  <a:srgbClr val="20232A"/>
                </a:solidFill>
                <a:latin typeface="Meiryo" pitchFamily="34" charset="0"/>
                <a:ea typeface="Meiryo" pitchFamily="34" charset="-122"/>
                <a:cs typeface="Meiryo" pitchFamily="34" charset="-120"/>
              </a:rPr>
              <a:t>対象層へどう告知し</a:t>
            </a:r>
            <a:endParaRPr lang="en-US" sz="1800" dirty="0"/>
          </a:p>
          <a:p>
            <a:pPr indent="0" marL="0">
              <a:lnSpc>
                <a:spcPct val="115000"/>
              </a:lnSpc>
              <a:buNone/>
            </a:pPr>
            <a:r>
              <a:rPr lang="en-US" sz="1800" b="1" dirty="0">
                <a:solidFill>
                  <a:srgbClr val="20232A"/>
                </a:solidFill>
                <a:latin typeface="Meiryo" pitchFamily="34" charset="0"/>
                <a:ea typeface="Meiryo" pitchFamily="34" charset="-122"/>
                <a:cs typeface="Meiryo" pitchFamily="34" charset="-120"/>
              </a:rPr>
              <a:t>申込先へ誘導するか</a:t>
            </a:r>
            <a:endParaRPr lang="en-US" sz="1800" dirty="0"/>
          </a:p>
        </p:txBody>
      </p:sp>
      <p:sp>
        <p:nvSpPr>
          <p:cNvPr id="35" name="Shape 28"/>
          <p:cNvSpPr/>
          <p:nvPr/>
        </p:nvSpPr>
        <p:spPr>
          <a:xfrm>
            <a:off x="8503920" y="4526280"/>
            <a:ext cx="2834640" cy="0"/>
          </a:xfrm>
          <a:prstGeom prst="line">
            <a:avLst/>
          </a:prstGeom>
          <a:noFill/>
          <a:ln w="12700">
            <a:solidFill>
              <a:srgbClr val="DADDE2"/>
            </a:solidFill>
            <a:prstDash val="solid"/>
          </a:ln>
        </p:spPr>
      </p:sp>
      <p:sp>
        <p:nvSpPr>
          <p:cNvPr id="36" name="Text 29"/>
          <p:cNvSpPr txBox="1"/>
          <p:nvPr/>
        </p:nvSpPr>
        <p:spPr>
          <a:xfrm>
            <a:off x="8503920" y="4663440"/>
            <a:ext cx="2834640" cy="274320"/>
          </a:xfrm>
          <a:prstGeom prst="rect">
            <a:avLst/>
          </a:prstGeom>
          <a:noFill/>
          <a:ln/>
        </p:spPr>
        <p:txBody>
          <a:bodyPr wrap="square" lIns="0" tIns="0" rIns="0" bIns="0" rtlCol="0" anchor="t"/>
          <a:lstStyle/>
          <a:p>
            <a:pPr indent="0" marL="0">
              <a:buNone/>
            </a:pPr>
            <a:r>
              <a:rPr lang="en-US" sz="1100" b="1" dirty="0">
                <a:solidFill>
                  <a:srgbClr val="5C626D"/>
                </a:solidFill>
                <a:latin typeface="Meiryo" pitchFamily="34" charset="0"/>
                <a:ea typeface="Meiryo" pitchFamily="34" charset="-122"/>
                <a:cs typeface="Meiryo" pitchFamily="34" charset="-120"/>
              </a:rPr>
              <a:t>顧客の判断に使うこと</a:t>
            </a:r>
            <a:endParaRPr lang="en-US" sz="1100" dirty="0"/>
          </a:p>
        </p:txBody>
      </p:sp>
      <p:sp>
        <p:nvSpPr>
          <p:cNvPr id="37" name="Text 30"/>
          <p:cNvSpPr txBox="1"/>
          <p:nvPr/>
        </p:nvSpPr>
        <p:spPr>
          <a:xfrm>
            <a:off x="8503920" y="4956048"/>
            <a:ext cx="2926080" cy="731520"/>
          </a:xfrm>
          <a:prstGeom prst="rect">
            <a:avLst/>
          </a:prstGeom>
          <a:noFill/>
          <a:ln/>
        </p:spPr>
        <p:txBody>
          <a:bodyPr wrap="square" lIns="0" tIns="0" rIns="0" bIns="0" rtlCol="0" anchor="t"/>
          <a:lstStyle/>
          <a:p>
            <a:pPr indent="0" marL="0">
              <a:buNone/>
            </a:pPr>
            <a:r>
              <a:rPr lang="en-US" sz="1400" dirty="0">
                <a:solidFill>
                  <a:srgbClr val="20232A"/>
                </a:solidFill>
                <a:latin typeface="Meiryo" pitchFamily="34" charset="0"/>
                <a:ea typeface="Meiryo" pitchFamily="34" charset="-122"/>
                <a:cs typeface="Meiryo" pitchFamily="34" charset="-120"/>
              </a:rPr>
              <a:t>広告配信と集客施策を改善する</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4864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01　商材を知る</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20232A"/>
                </a:solidFill>
                <a:latin typeface="Meiryo" pitchFamily="34" charset="0"/>
                <a:ea typeface="Meiryo" pitchFamily="34" charset="-122"/>
                <a:cs typeface="Meiryo" pitchFamily="34" charset="-120"/>
              </a:rPr>
              <a:t>モバイル空間統計</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C626D"/>
                </a:solidFill>
                <a:latin typeface="Meiryo" pitchFamily="34" charset="0"/>
                <a:ea typeface="Meiryo" pitchFamily="34" charset="-122"/>
                <a:cs typeface="Meiryo" pitchFamily="34" charset="-120"/>
              </a:rPr>
              <a:t>携帯電話ネットワークの運用データから、地域の人口を推計する</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C626D"/>
                </a:solidFill>
                <a:latin typeface="Meiryo" pitchFamily="34" charset="0"/>
                <a:ea typeface="Meiryo" pitchFamily="34" charset="-122"/>
                <a:cs typeface="Meiryo" pitchFamily="34" charset="-120"/>
              </a:rPr>
              <a:t>04</a:t>
            </a:r>
            <a:endParaRPr lang="en-US" sz="1000" dirty="0"/>
          </a:p>
        </p:txBody>
      </p:sp>
      <p:sp>
        <p:nvSpPr>
          <p:cNvPr id="6" name="Shape 4"/>
          <p:cNvSpPr/>
          <p:nvPr/>
        </p:nvSpPr>
        <p:spPr>
          <a:xfrm>
            <a:off x="548640" y="1783080"/>
            <a:ext cx="1828800" cy="1463040"/>
          </a:xfrm>
          <a:prstGeom prst="roundRect">
            <a:avLst>
              <a:gd name="adj" fmla="val 5000"/>
            </a:avLst>
          </a:prstGeom>
          <a:solidFill>
            <a:srgbClr val="F4F5F7"/>
          </a:solidFill>
          <a:ln w="12700">
            <a:solidFill>
              <a:srgbClr val="F4F5F7"/>
            </a:solidFill>
            <a:prstDash val="solid"/>
          </a:ln>
        </p:spPr>
      </p:sp>
      <p:pic>
        <p:nvPicPr>
          <p:cNvPr id="7" name="Image 0" descr="preencoded.png">    </p:cNvPr>
          <p:cNvPicPr>
            <a:picLocks noChangeAspect="1"/>
          </p:cNvPicPr>
          <p:nvPr/>
        </p:nvPicPr>
        <p:blipFill>
          <a:blip r:embed="rId1"/>
          <a:stretch>
            <a:fillRect/>
          </a:stretch>
        </p:blipFill>
        <p:spPr>
          <a:xfrm>
            <a:off x="731520" y="1938528"/>
            <a:ext cx="329184" cy="329184"/>
          </a:xfrm>
          <a:prstGeom prst="rect">
            <a:avLst/>
          </a:prstGeom>
        </p:spPr>
      </p:pic>
      <p:sp>
        <p:nvSpPr>
          <p:cNvPr id="8" name="Text 5"/>
          <p:cNvSpPr txBox="1"/>
          <p:nvPr/>
        </p:nvSpPr>
        <p:spPr>
          <a:xfrm>
            <a:off x="731520" y="2359152"/>
            <a:ext cx="1600200" cy="457200"/>
          </a:xfrm>
          <a:prstGeom prst="rect">
            <a:avLst/>
          </a:prstGeom>
          <a:noFill/>
          <a:ln/>
        </p:spPr>
        <p:txBody>
          <a:bodyPr wrap="square" lIns="0" tIns="0" rIns="0" bIns="0" rtlCol="0" anchor="ctr">
            <a:normAutofit/>
          </a:bodyPr>
          <a:lstStyle/>
          <a:p>
            <a:pPr indent="0" marL="0">
              <a:buNone/>
            </a:pPr>
            <a:r>
              <a:rPr lang="en-US" sz="1900" b="1" dirty="0">
                <a:solidFill>
                  <a:srgbClr val="C9002B"/>
                </a:solidFill>
                <a:latin typeface="Meiryo" pitchFamily="34" charset="0"/>
                <a:ea typeface="Meiryo" pitchFamily="34" charset="-122"/>
                <a:cs typeface="Meiryo" pitchFamily="34" charset="-120"/>
              </a:rPr>
              <a:t>約8,900万台</a:t>
            </a:r>
            <a:endParaRPr lang="en-US" sz="1900" dirty="0"/>
          </a:p>
        </p:txBody>
      </p:sp>
      <p:sp>
        <p:nvSpPr>
          <p:cNvPr id="9" name="Text 6"/>
          <p:cNvSpPr txBox="1"/>
          <p:nvPr/>
        </p:nvSpPr>
        <p:spPr>
          <a:xfrm>
            <a:off x="731520" y="2834640"/>
            <a:ext cx="1600200" cy="320040"/>
          </a:xfrm>
          <a:prstGeom prst="rect">
            <a:avLst/>
          </a:prstGeom>
          <a:noFill/>
          <a:ln/>
        </p:spPr>
        <p:txBody>
          <a:bodyPr wrap="square" lIns="0" tIns="0" rIns="0" bIns="0" rtlCol="0" anchor="t"/>
          <a:lstStyle/>
          <a:p>
            <a:pPr indent="0" marL="0">
              <a:buNone/>
            </a:pPr>
            <a:r>
              <a:rPr lang="en-US" sz="1100" dirty="0">
                <a:solidFill>
                  <a:srgbClr val="5C626D"/>
                </a:solidFill>
                <a:latin typeface="Meiryo" pitchFamily="34" charset="0"/>
                <a:ea typeface="Meiryo" pitchFamily="34" charset="-122"/>
                <a:cs typeface="Meiryo" pitchFamily="34" charset="-120"/>
              </a:rPr>
              <a:t>国内の運用データ規模</a:t>
            </a:r>
            <a:endParaRPr lang="en-US" sz="1100" dirty="0"/>
          </a:p>
        </p:txBody>
      </p:sp>
      <p:sp>
        <p:nvSpPr>
          <p:cNvPr id="10" name="Shape 7"/>
          <p:cNvSpPr/>
          <p:nvPr/>
        </p:nvSpPr>
        <p:spPr>
          <a:xfrm>
            <a:off x="2560320" y="1783080"/>
            <a:ext cx="1828800" cy="1463040"/>
          </a:xfrm>
          <a:prstGeom prst="roundRect">
            <a:avLst>
              <a:gd name="adj" fmla="val 5000"/>
            </a:avLst>
          </a:prstGeom>
          <a:solidFill>
            <a:srgbClr val="F4F5F7"/>
          </a:solidFill>
          <a:ln w="12700">
            <a:solidFill>
              <a:srgbClr val="F4F5F7"/>
            </a:solidFill>
            <a:prstDash val="solid"/>
          </a:ln>
        </p:spPr>
      </p:sp>
      <p:pic>
        <p:nvPicPr>
          <p:cNvPr id="11" name="Image 1" descr="preencoded.png">    </p:cNvPr>
          <p:cNvPicPr>
            <a:picLocks noChangeAspect="1"/>
          </p:cNvPicPr>
          <p:nvPr/>
        </p:nvPicPr>
        <p:blipFill>
          <a:blip r:embed="rId2"/>
          <a:stretch>
            <a:fillRect/>
          </a:stretch>
        </p:blipFill>
        <p:spPr>
          <a:xfrm>
            <a:off x="2743200" y="1938528"/>
            <a:ext cx="329184" cy="329184"/>
          </a:xfrm>
          <a:prstGeom prst="rect">
            <a:avLst/>
          </a:prstGeom>
        </p:spPr>
      </p:pic>
      <p:sp>
        <p:nvSpPr>
          <p:cNvPr id="12" name="Text 8"/>
          <p:cNvSpPr txBox="1"/>
          <p:nvPr/>
        </p:nvSpPr>
        <p:spPr>
          <a:xfrm>
            <a:off x="2743200" y="2359152"/>
            <a:ext cx="1600200" cy="457200"/>
          </a:xfrm>
          <a:prstGeom prst="rect">
            <a:avLst/>
          </a:prstGeom>
          <a:noFill/>
          <a:ln/>
        </p:spPr>
        <p:txBody>
          <a:bodyPr wrap="square" lIns="0" tIns="0" rIns="0" bIns="0" rtlCol="0" anchor="ctr">
            <a:normAutofit/>
          </a:bodyPr>
          <a:lstStyle/>
          <a:p>
            <a:pPr indent="0" marL="0">
              <a:buNone/>
            </a:pPr>
            <a:r>
              <a:rPr lang="en-US" sz="1900" b="1" dirty="0">
                <a:solidFill>
                  <a:srgbClr val="C9002B"/>
                </a:solidFill>
                <a:latin typeface="Meiryo" pitchFamily="34" charset="0"/>
                <a:ea typeface="Meiryo" pitchFamily="34" charset="-122"/>
                <a:cs typeface="Meiryo" pitchFamily="34" charset="-120"/>
              </a:rPr>
              <a:t>1時間ごと</a:t>
            </a:r>
            <a:endParaRPr lang="en-US" sz="1900" dirty="0"/>
          </a:p>
        </p:txBody>
      </p:sp>
      <p:sp>
        <p:nvSpPr>
          <p:cNvPr id="13" name="Text 9"/>
          <p:cNvSpPr txBox="1"/>
          <p:nvPr/>
        </p:nvSpPr>
        <p:spPr>
          <a:xfrm>
            <a:off x="2743200" y="2834640"/>
            <a:ext cx="1600200" cy="320040"/>
          </a:xfrm>
          <a:prstGeom prst="rect">
            <a:avLst/>
          </a:prstGeom>
          <a:noFill/>
          <a:ln/>
        </p:spPr>
        <p:txBody>
          <a:bodyPr wrap="square" lIns="0" tIns="0" rIns="0" bIns="0" rtlCol="0" anchor="t"/>
          <a:lstStyle/>
          <a:p>
            <a:pPr indent="0" marL="0">
              <a:buNone/>
            </a:pPr>
            <a:r>
              <a:rPr lang="en-US" sz="1100" dirty="0">
                <a:solidFill>
                  <a:srgbClr val="5C626D"/>
                </a:solidFill>
                <a:latin typeface="Meiryo" pitchFamily="34" charset="0"/>
                <a:ea typeface="Meiryo" pitchFamily="34" charset="-122"/>
                <a:cs typeface="Meiryo" pitchFamily="34" charset="-120"/>
              </a:rPr>
              <a:t>の人口を推計できる</a:t>
            </a:r>
            <a:endParaRPr lang="en-US" sz="1100" dirty="0"/>
          </a:p>
        </p:txBody>
      </p:sp>
      <p:sp>
        <p:nvSpPr>
          <p:cNvPr id="14" name="Shape 10"/>
          <p:cNvSpPr/>
          <p:nvPr/>
        </p:nvSpPr>
        <p:spPr>
          <a:xfrm>
            <a:off x="4572000" y="1783080"/>
            <a:ext cx="1828800" cy="1463040"/>
          </a:xfrm>
          <a:prstGeom prst="roundRect">
            <a:avLst>
              <a:gd name="adj" fmla="val 5000"/>
            </a:avLst>
          </a:prstGeom>
          <a:solidFill>
            <a:srgbClr val="F4F5F7"/>
          </a:solidFill>
          <a:ln w="12700">
            <a:solidFill>
              <a:srgbClr val="F4F5F7"/>
            </a:solidFill>
            <a:prstDash val="solid"/>
          </a:ln>
        </p:spPr>
      </p:sp>
      <p:pic>
        <p:nvPicPr>
          <p:cNvPr id="15" name="Image 2" descr="preencoded.png">    </p:cNvPr>
          <p:cNvPicPr>
            <a:picLocks noChangeAspect="1"/>
          </p:cNvPicPr>
          <p:nvPr/>
        </p:nvPicPr>
        <p:blipFill>
          <a:blip r:embed="rId3"/>
          <a:stretch>
            <a:fillRect/>
          </a:stretch>
        </p:blipFill>
        <p:spPr>
          <a:xfrm>
            <a:off x="4754880" y="1938528"/>
            <a:ext cx="329184" cy="329184"/>
          </a:xfrm>
          <a:prstGeom prst="rect">
            <a:avLst/>
          </a:prstGeom>
        </p:spPr>
      </p:pic>
      <p:sp>
        <p:nvSpPr>
          <p:cNvPr id="16" name="Text 11"/>
          <p:cNvSpPr txBox="1"/>
          <p:nvPr/>
        </p:nvSpPr>
        <p:spPr>
          <a:xfrm>
            <a:off x="4754880" y="2359152"/>
            <a:ext cx="1600200" cy="457200"/>
          </a:xfrm>
          <a:prstGeom prst="rect">
            <a:avLst/>
          </a:prstGeom>
          <a:noFill/>
          <a:ln/>
        </p:spPr>
        <p:txBody>
          <a:bodyPr wrap="square" lIns="0" tIns="0" rIns="0" bIns="0" rtlCol="0" anchor="ctr">
            <a:normAutofit/>
          </a:bodyPr>
          <a:lstStyle/>
          <a:p>
            <a:pPr indent="0" marL="0">
              <a:buNone/>
            </a:pPr>
            <a:r>
              <a:rPr lang="en-US" sz="1900" b="1" dirty="0">
                <a:solidFill>
                  <a:srgbClr val="C9002B"/>
                </a:solidFill>
                <a:latin typeface="Meiryo" pitchFamily="34" charset="0"/>
                <a:ea typeface="Meiryo" pitchFamily="34" charset="-122"/>
                <a:cs typeface="Meiryo" pitchFamily="34" charset="-120"/>
              </a:rPr>
              <a:t>個人特定なし</a:t>
            </a:r>
            <a:endParaRPr lang="en-US" sz="1900" dirty="0"/>
          </a:p>
        </p:txBody>
      </p:sp>
      <p:sp>
        <p:nvSpPr>
          <p:cNvPr id="17" name="Text 12"/>
          <p:cNvSpPr txBox="1"/>
          <p:nvPr/>
        </p:nvSpPr>
        <p:spPr>
          <a:xfrm>
            <a:off x="4754880" y="2834640"/>
            <a:ext cx="1600200" cy="320040"/>
          </a:xfrm>
          <a:prstGeom prst="rect">
            <a:avLst/>
          </a:prstGeom>
          <a:noFill/>
          <a:ln/>
        </p:spPr>
        <p:txBody>
          <a:bodyPr wrap="square" lIns="0" tIns="0" rIns="0" bIns="0" rtlCol="0" anchor="t"/>
          <a:lstStyle/>
          <a:p>
            <a:pPr indent="0" marL="0">
              <a:buNone/>
            </a:pPr>
            <a:r>
              <a:rPr lang="en-US" sz="1100" dirty="0">
                <a:solidFill>
                  <a:srgbClr val="5C626D"/>
                </a:solidFill>
                <a:latin typeface="Meiryo" pitchFamily="34" charset="0"/>
                <a:ea typeface="Meiryo" pitchFamily="34" charset="-122"/>
                <a:cs typeface="Meiryo" pitchFamily="34" charset="-120"/>
              </a:rPr>
              <a:t>集団の人数のみの統計</a:t>
            </a:r>
            <a:endParaRPr lang="en-US" sz="1100" dirty="0"/>
          </a:p>
        </p:txBody>
      </p:sp>
      <p:sp>
        <p:nvSpPr>
          <p:cNvPr id="18" name="Text 13"/>
          <p:cNvSpPr txBox="1"/>
          <p:nvPr/>
        </p:nvSpPr>
        <p:spPr>
          <a:xfrm>
            <a:off x="548640" y="3566160"/>
            <a:ext cx="5669280" cy="320040"/>
          </a:xfrm>
          <a:prstGeom prst="rect">
            <a:avLst/>
          </a:prstGeom>
          <a:noFill/>
          <a:ln/>
        </p:spPr>
        <p:txBody>
          <a:bodyPr wrap="square" lIns="0" tIns="0" rIns="0" bIns="0" rtlCol="0" anchor="t"/>
          <a:lstStyle/>
          <a:p>
            <a:pPr indent="0" marL="0">
              <a:buNone/>
            </a:pPr>
            <a:r>
              <a:rPr lang="en-US" sz="1500" b="1" dirty="0">
                <a:solidFill>
                  <a:srgbClr val="C9002B"/>
                </a:solidFill>
                <a:latin typeface="Meiryo" pitchFamily="34" charset="0"/>
                <a:ea typeface="Meiryo" pitchFamily="34" charset="-122"/>
                <a:cs typeface="Meiryo" pitchFamily="34" charset="-120"/>
              </a:rPr>
              <a:t>営業で伝える価値</a:t>
            </a:r>
            <a:endParaRPr lang="en-US" sz="1500" dirty="0"/>
          </a:p>
        </p:txBody>
      </p:sp>
      <p:sp>
        <p:nvSpPr>
          <p:cNvPr id="19" name="Text 14"/>
          <p:cNvSpPr txBox="1"/>
          <p:nvPr/>
        </p:nvSpPr>
        <p:spPr>
          <a:xfrm>
            <a:off x="548640" y="3931920"/>
            <a:ext cx="5669280" cy="640080"/>
          </a:xfrm>
          <a:prstGeom prst="rect">
            <a:avLst/>
          </a:prstGeom>
          <a:noFill/>
          <a:ln/>
        </p:spPr>
        <p:txBody>
          <a:bodyPr wrap="square" lIns="0" tIns="0" rIns="0" bIns="0" rtlCol="0" anchor="t"/>
          <a:lstStyle/>
          <a:p>
            <a:pPr indent="0" marL="0">
              <a:buNone/>
            </a:pPr>
            <a:r>
              <a:rPr lang="en-US" sz="1400" dirty="0">
                <a:solidFill>
                  <a:srgbClr val="20232A"/>
                </a:solidFill>
                <a:latin typeface="Meiryo" pitchFamily="34" charset="0"/>
                <a:ea typeface="Meiryo" pitchFamily="34" charset="-122"/>
                <a:cs typeface="Meiryo" pitchFamily="34" charset="-120"/>
              </a:rPr>
              <a:t>イベント日の周辺人口や来訪元を、</a:t>
            </a:r>
            <a:endParaRPr lang="en-US" sz="1400" dirty="0"/>
          </a:p>
          <a:p>
            <a:pPr indent="0" marL="0">
              <a:buNone/>
            </a:pPr>
            <a:r>
              <a:rPr lang="en-US" sz="1400" dirty="0">
                <a:solidFill>
                  <a:srgbClr val="20232A"/>
                </a:solidFill>
                <a:latin typeface="Meiryo" pitchFamily="34" charset="0"/>
                <a:ea typeface="Meiryo" pitchFamily="34" charset="-122"/>
                <a:cs typeface="Meiryo" pitchFamily="34" charset="-120"/>
              </a:rPr>
              <a:t>通常日とそろえた条件で比較できる。</a:t>
            </a:r>
            <a:endParaRPr lang="en-US" sz="1400" dirty="0"/>
          </a:p>
        </p:txBody>
      </p:sp>
      <p:sp>
        <p:nvSpPr>
          <p:cNvPr id="20" name="Text 15"/>
          <p:cNvSpPr txBox="1"/>
          <p:nvPr/>
        </p:nvSpPr>
        <p:spPr>
          <a:xfrm>
            <a:off x="548640" y="4709160"/>
            <a:ext cx="5669280" cy="320040"/>
          </a:xfrm>
          <a:prstGeom prst="rect">
            <a:avLst/>
          </a:prstGeom>
          <a:noFill/>
          <a:ln/>
        </p:spPr>
        <p:txBody>
          <a:bodyPr wrap="square" lIns="0" tIns="0" rIns="0" bIns="0" rtlCol="0" anchor="t"/>
          <a:lstStyle/>
          <a:p>
            <a:pPr indent="0" marL="0">
              <a:buNone/>
            </a:pPr>
            <a:r>
              <a:rPr lang="en-US" sz="1500" b="1" dirty="0">
                <a:solidFill>
                  <a:srgbClr val="C9002B"/>
                </a:solidFill>
                <a:latin typeface="Meiryo" pitchFamily="34" charset="0"/>
                <a:ea typeface="Meiryo" pitchFamily="34" charset="-122"/>
                <a:cs typeface="Meiryo" pitchFamily="34" charset="-120"/>
              </a:rPr>
              <a:t>次の提案につながる問い</a:t>
            </a:r>
            <a:endParaRPr lang="en-US" sz="1500" dirty="0"/>
          </a:p>
        </p:txBody>
      </p:sp>
      <p:sp>
        <p:nvSpPr>
          <p:cNvPr id="21" name="Text 16"/>
          <p:cNvSpPr txBox="1"/>
          <p:nvPr/>
        </p:nvSpPr>
        <p:spPr>
          <a:xfrm>
            <a:off x="548640" y="5074920"/>
            <a:ext cx="5669280" cy="6858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20232A"/>
                </a:solidFill>
                <a:latin typeface="Meiryo" pitchFamily="34" charset="0"/>
                <a:ea typeface="Meiryo" pitchFamily="34" charset="-122"/>
                <a:cs typeface="Meiryo" pitchFamily="34" charset="-120"/>
              </a:rPr>
              <a:t>どの地域へ告知するか</a:t>
            </a:r>
            <a:endParaRPr lang="en-US" sz="1400" dirty="0"/>
          </a:p>
          <a:p>
            <a:pPr marL="342900" indent="-342900">
              <a:spcAft>
                <a:spcPts val="400"/>
              </a:spcAft>
              <a:buSzPct val="100000"/>
              <a:buChar char="•"/>
            </a:pPr>
            <a:r>
              <a:rPr lang="en-US" sz="1400" dirty="0">
                <a:solidFill>
                  <a:srgbClr val="20232A"/>
                </a:solidFill>
                <a:latin typeface="Meiryo" pitchFamily="34" charset="0"/>
                <a:ea typeface="Meiryo" pitchFamily="34" charset="-122"/>
                <a:cs typeface="Meiryo" pitchFamily="34" charset="-120"/>
              </a:rPr>
              <a:t>どの時間帯の運営を厚くするか</a:t>
            </a:r>
            <a:endParaRPr lang="en-US" sz="1400" dirty="0"/>
          </a:p>
        </p:txBody>
      </p:sp>
      <p:pic>
        <p:nvPicPr>
          <p:cNvPr id="22" name="Image 3" descr="preencoded.png">    </p:cNvPr>
          <p:cNvPicPr>
            <a:picLocks noChangeAspect="1"/>
          </p:cNvPicPr>
          <p:nvPr/>
        </p:nvPicPr>
        <p:blipFill>
          <a:blip r:embed="rId4"/>
          <a:stretch>
            <a:fillRect/>
          </a:stretch>
        </p:blipFill>
        <p:spPr>
          <a:xfrm>
            <a:off x="6675120" y="1783080"/>
            <a:ext cx="4937760" cy="2752344"/>
          </a:xfrm>
          <a:prstGeom prst="rect">
            <a:avLst/>
          </a:prstGeom>
        </p:spPr>
      </p:pic>
      <p:sp>
        <p:nvSpPr>
          <p:cNvPr id="23" name="Shape 17"/>
          <p:cNvSpPr/>
          <p:nvPr/>
        </p:nvSpPr>
        <p:spPr>
          <a:xfrm>
            <a:off x="6675120" y="1783080"/>
            <a:ext cx="4937760" cy="2752344"/>
          </a:xfrm>
          <a:prstGeom prst="rect">
            <a:avLst/>
          </a:prstGeom>
          <a:ln w="12700">
            <a:solidFill>
              <a:srgbClr val="DADDE2"/>
            </a:solidFill>
            <a:prstDash val="solid"/>
          </a:ln>
        </p:spPr>
      </p:sp>
      <p:sp>
        <p:nvSpPr>
          <p:cNvPr id="24" name="Text 18"/>
          <p:cNvSpPr txBox="1"/>
          <p:nvPr/>
        </p:nvSpPr>
        <p:spPr>
          <a:xfrm>
            <a:off x="6675120" y="4617720"/>
            <a:ext cx="4937760" cy="274320"/>
          </a:xfrm>
          <a:prstGeom prst="rect">
            <a:avLst/>
          </a:prstGeom>
          <a:noFill/>
          <a:ln/>
        </p:spPr>
        <p:txBody>
          <a:bodyPr wrap="square" lIns="0" tIns="0" rIns="0" bIns="0" rtlCol="0" anchor="t"/>
          <a:lstStyle/>
          <a:p>
            <a:pPr indent="0" marL="0">
              <a:buNone/>
            </a:pPr>
            <a:r>
              <a:rPr lang="en-US" sz="1000" dirty="0">
                <a:solidFill>
                  <a:srgbClr val="5C626D"/>
                </a:solidFill>
                <a:latin typeface="Meiryo" pitchFamily="34" charset="0"/>
                <a:ea typeface="Meiryo" pitchFamily="34" charset="-122"/>
                <a:cs typeface="Meiryo" pitchFamily="34" charset="-120"/>
              </a:rPr>
              <a:t>公式サイトの人口マップ掲載イメージ</a:t>
            </a:r>
            <a:endParaRPr lang="en-US" sz="1000" dirty="0"/>
          </a:p>
        </p:txBody>
      </p:sp>
      <p:sp>
        <p:nvSpPr>
          <p:cNvPr id="25" name="Shape 19"/>
          <p:cNvSpPr/>
          <p:nvPr/>
        </p:nvSpPr>
        <p:spPr>
          <a:xfrm>
            <a:off x="6675120" y="5029200"/>
            <a:ext cx="4937760" cy="777240"/>
          </a:xfrm>
          <a:prstGeom prst="roundRect">
            <a:avLst>
              <a:gd name="adj" fmla="val 9412"/>
            </a:avLst>
          </a:prstGeom>
          <a:solidFill>
            <a:srgbClr val="FBEAEE"/>
          </a:solidFill>
          <a:ln w="12700">
            <a:solidFill>
              <a:srgbClr val="FBEAEE"/>
            </a:solidFill>
            <a:prstDash val="solid"/>
          </a:ln>
        </p:spPr>
      </p:sp>
      <p:sp>
        <p:nvSpPr>
          <p:cNvPr id="26" name="Text 20"/>
          <p:cNvSpPr txBox="1"/>
          <p:nvPr/>
        </p:nvSpPr>
        <p:spPr>
          <a:xfrm>
            <a:off x="6858000" y="5074920"/>
            <a:ext cx="4617720" cy="685800"/>
          </a:xfrm>
          <a:prstGeom prst="rect">
            <a:avLst/>
          </a:prstGeom>
          <a:noFill/>
          <a:ln/>
        </p:spPr>
        <p:txBody>
          <a:bodyPr wrap="square" lIns="0" tIns="0" rIns="0" bIns="0" rtlCol="0" anchor="ctr"/>
          <a:lstStyle/>
          <a:p>
            <a:pPr indent="0" marL="0">
              <a:buNone/>
            </a:pPr>
            <a:r>
              <a:rPr lang="en-US" sz="1200" dirty="0">
                <a:solidFill>
                  <a:srgbClr val="20232A"/>
                </a:solidFill>
                <a:latin typeface="Meiryo" pitchFamily="34" charset="0"/>
                <a:ea typeface="Meiryo" pitchFamily="34" charset="-122"/>
                <a:cs typeface="Meiryo" pitchFamily="34" charset="-120"/>
              </a:rPr>
              <a:t>施設内の入場者数そのものや、個人の来訪理由を示すデータではない。顧客の来場実績と分けて見る。</a:t>
            </a:r>
            <a:endParaRPr lang="en-US" sz="1200" dirty="0"/>
          </a:p>
        </p:txBody>
      </p:sp>
      <p:sp>
        <p:nvSpPr>
          <p:cNvPr id="27" name="Text 21"/>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C626D"/>
                </a:solidFill>
                <a:latin typeface="Meiryo" pitchFamily="34" charset="0"/>
                <a:ea typeface="Meiryo" pitchFamily="34" charset="-122"/>
                <a:cs typeface="Meiryo" pitchFamily="34" charset="-120"/>
              </a:rPr>
              <a:t>取得できる地域・期間・属性・時間粒度は選択するメニューによって異なる。台数は公式サイト掲載値（2026年9月27日確認）</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4864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01　商材を知る</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20232A"/>
                </a:solidFill>
                <a:latin typeface="Meiryo" pitchFamily="34" charset="0"/>
                <a:ea typeface="Meiryo" pitchFamily="34" charset="-122"/>
                <a:cs typeface="Meiryo" pitchFamily="34" charset="-120"/>
              </a:rPr>
              <a:t>プレミアパネル</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C626D"/>
                </a:solidFill>
                <a:latin typeface="Meiryo" pitchFamily="34" charset="0"/>
                <a:ea typeface="Meiryo" pitchFamily="34" charset="-122"/>
                <a:cs typeface="Meiryo" pitchFamily="34" charset="-120"/>
              </a:rPr>
              <a:t>dポイントクラブ会員を対象に、アンケートで理由や意向を聞く</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C626D"/>
                </a:solidFill>
                <a:latin typeface="Meiryo" pitchFamily="34" charset="0"/>
                <a:ea typeface="Meiryo" pitchFamily="34" charset="-122"/>
                <a:cs typeface="Meiryo" pitchFamily="34" charset="-120"/>
              </a:rPr>
              <a:t>05</a:t>
            </a:r>
            <a:endParaRPr lang="en-US" sz="1000" dirty="0"/>
          </a:p>
        </p:txBody>
      </p:sp>
      <p:sp>
        <p:nvSpPr>
          <p:cNvPr id="6" name="Text 4"/>
          <p:cNvSpPr txBox="1"/>
          <p:nvPr/>
        </p:nvSpPr>
        <p:spPr>
          <a:xfrm>
            <a:off x="548640" y="1828800"/>
            <a:ext cx="3657600" cy="274320"/>
          </a:xfrm>
          <a:prstGeom prst="rect">
            <a:avLst/>
          </a:prstGeom>
          <a:noFill/>
          <a:ln/>
        </p:spPr>
        <p:txBody>
          <a:bodyPr wrap="square" lIns="0" tIns="0" rIns="0" bIns="0" rtlCol="0" anchor="t"/>
          <a:lstStyle/>
          <a:p>
            <a:pPr indent="0" marL="0">
              <a:buNone/>
            </a:pPr>
            <a:r>
              <a:rPr lang="en-US" sz="1200" b="1" dirty="0">
                <a:solidFill>
                  <a:srgbClr val="5C626D"/>
                </a:solidFill>
                <a:latin typeface="Meiryo" pitchFamily="34" charset="0"/>
                <a:ea typeface="Meiryo" pitchFamily="34" charset="-122"/>
                <a:cs typeface="Meiryo" pitchFamily="34" charset="-120"/>
              </a:rPr>
              <a:t>回答対象者</a:t>
            </a:r>
            <a:endParaRPr lang="en-US" sz="1200" dirty="0"/>
          </a:p>
        </p:txBody>
      </p:sp>
      <p:sp>
        <p:nvSpPr>
          <p:cNvPr id="7" name="Text 5"/>
          <p:cNvSpPr txBox="1"/>
          <p:nvPr/>
        </p:nvSpPr>
        <p:spPr>
          <a:xfrm>
            <a:off x="548640" y="2103120"/>
            <a:ext cx="3840480" cy="1005840"/>
          </a:xfrm>
          <a:prstGeom prst="rect">
            <a:avLst/>
          </a:prstGeom>
          <a:noFill/>
          <a:ln/>
        </p:spPr>
        <p:txBody>
          <a:bodyPr wrap="square" lIns="0" tIns="0" rIns="0" bIns="0" rtlCol="0" anchor="b"/>
          <a:lstStyle/>
          <a:p>
            <a:pPr indent="0" marL="0">
              <a:buNone/>
            </a:pPr>
            <a:r>
              <a:rPr lang="en-US" sz="6000" b="1" dirty="0">
                <a:solidFill>
                  <a:srgbClr val="C9002B"/>
                </a:solidFill>
                <a:latin typeface="Meiryo" pitchFamily="34" charset="0"/>
                <a:ea typeface="Meiryo" pitchFamily="34" charset="-122"/>
                <a:cs typeface="Meiryo" pitchFamily="34" charset="-120"/>
              </a:rPr>
              <a:t>約600</a:t>
            </a:r>
            <a:pPr indent="0" marL="0">
              <a:buNone/>
            </a:pPr>
            <a:r>
              <a:rPr lang="en-US" sz="2400" b="1" dirty="0">
                <a:solidFill>
                  <a:srgbClr val="C9002B"/>
                </a:solidFill>
                <a:latin typeface="Meiryo" pitchFamily="34" charset="0"/>
                <a:ea typeface="Meiryo" pitchFamily="34" charset="-122"/>
                <a:cs typeface="Meiryo" pitchFamily="34" charset="-120"/>
              </a:rPr>
              <a:t>万人</a:t>
            </a:r>
            <a:endParaRPr lang="en-US" sz="6000" dirty="0"/>
          </a:p>
        </p:txBody>
      </p:sp>
      <p:sp>
        <p:nvSpPr>
          <p:cNvPr id="8" name="Text 6"/>
          <p:cNvSpPr txBox="1"/>
          <p:nvPr/>
        </p:nvSpPr>
        <p:spPr>
          <a:xfrm>
            <a:off x="548640" y="3154680"/>
            <a:ext cx="3657600" cy="274320"/>
          </a:xfrm>
          <a:prstGeom prst="rect">
            <a:avLst/>
          </a:prstGeom>
          <a:noFill/>
          <a:ln/>
        </p:spPr>
        <p:txBody>
          <a:bodyPr wrap="square" lIns="0" tIns="0" rIns="0" bIns="0" rtlCol="0" anchor="t"/>
          <a:lstStyle/>
          <a:p>
            <a:pPr indent="0" marL="0">
              <a:buNone/>
            </a:pPr>
            <a:r>
              <a:rPr lang="en-US" sz="1100" dirty="0">
                <a:solidFill>
                  <a:srgbClr val="5C626D"/>
                </a:solidFill>
                <a:latin typeface="Meiryo" pitchFamily="34" charset="0"/>
                <a:ea typeface="Meiryo" pitchFamily="34" charset="-122"/>
                <a:cs typeface="Meiryo" pitchFamily="34" charset="-120"/>
              </a:rPr>
              <a:t>（2026年1月時点）</a:t>
            </a:r>
            <a:endParaRPr lang="en-US" sz="1100" dirty="0"/>
          </a:p>
        </p:txBody>
      </p:sp>
      <p:sp>
        <p:nvSpPr>
          <p:cNvPr id="9" name="Shape 7"/>
          <p:cNvSpPr/>
          <p:nvPr/>
        </p:nvSpPr>
        <p:spPr>
          <a:xfrm>
            <a:off x="548640" y="3657600"/>
            <a:ext cx="3657600" cy="914400"/>
          </a:xfrm>
          <a:prstGeom prst="roundRect">
            <a:avLst>
              <a:gd name="adj" fmla="val 8000"/>
            </a:avLst>
          </a:prstGeom>
          <a:solidFill>
            <a:srgbClr val="F4F5F7"/>
          </a:solidFill>
          <a:ln w="12700">
            <a:solidFill>
              <a:srgbClr val="F4F5F7"/>
            </a:solidFill>
            <a:prstDash val="solid"/>
          </a:ln>
        </p:spPr>
      </p:sp>
      <p:pic>
        <p:nvPicPr>
          <p:cNvPr id="10" name="Image 0" descr="preencoded.png">    </p:cNvPr>
          <p:cNvPicPr>
            <a:picLocks noChangeAspect="1"/>
          </p:cNvPicPr>
          <p:nvPr/>
        </p:nvPicPr>
        <p:blipFill>
          <a:blip r:embed="rId1"/>
          <a:stretch>
            <a:fillRect/>
          </a:stretch>
        </p:blipFill>
        <p:spPr>
          <a:xfrm>
            <a:off x="777240" y="3913632"/>
            <a:ext cx="384048" cy="384048"/>
          </a:xfrm>
          <a:prstGeom prst="rect">
            <a:avLst/>
          </a:prstGeom>
        </p:spPr>
      </p:pic>
      <p:sp>
        <p:nvSpPr>
          <p:cNvPr id="11" name="Text 8"/>
          <p:cNvSpPr txBox="1"/>
          <p:nvPr/>
        </p:nvSpPr>
        <p:spPr>
          <a:xfrm>
            <a:off x="1325880" y="3749040"/>
            <a:ext cx="2743200" cy="731520"/>
          </a:xfrm>
          <a:prstGeom prst="rect">
            <a:avLst/>
          </a:prstGeom>
          <a:noFill/>
          <a:ln/>
        </p:spPr>
        <p:txBody>
          <a:bodyPr wrap="square" lIns="0" tIns="0" rIns="0" bIns="0" rtlCol="0" anchor="ctr"/>
          <a:lstStyle/>
          <a:p>
            <a:pPr indent="0" marL="0">
              <a:buNone/>
            </a:pPr>
            <a:r>
              <a:rPr lang="en-US" sz="1800" b="1" dirty="0">
                <a:solidFill>
                  <a:srgbClr val="C9002B"/>
                </a:solidFill>
                <a:latin typeface="Meiryo" pitchFamily="34" charset="0"/>
                <a:ea typeface="Meiryo" pitchFamily="34" charset="-122"/>
                <a:cs typeface="Meiryo" pitchFamily="34" charset="-120"/>
              </a:rPr>
              <a:t>100種以上</a:t>
            </a:r>
            <a:pPr indent="0" marL="0">
              <a:buNone/>
            </a:pPr>
            <a:endParaRPr lang="en-US" sz="1800" dirty="0"/>
          </a:p>
          <a:p>
            <a:pPr indent="0" marL="0">
              <a:buNone/>
            </a:pPr>
            <a:r>
              <a:rPr lang="en-US" sz="1200" dirty="0">
                <a:solidFill>
                  <a:srgbClr val="20232A"/>
                </a:solidFill>
                <a:latin typeface="Meiryo" pitchFamily="34" charset="0"/>
                <a:ea typeface="Meiryo" pitchFamily="34" charset="-122"/>
                <a:cs typeface="Meiryo" pitchFamily="34" charset="-120"/>
              </a:rPr>
              <a:t>の属性で回答者を絞り込み</a:t>
            </a:r>
            <a:endParaRPr lang="en-US" sz="1800" dirty="0"/>
          </a:p>
        </p:txBody>
      </p:sp>
      <p:sp>
        <p:nvSpPr>
          <p:cNvPr id="12" name="Text 9"/>
          <p:cNvSpPr txBox="1"/>
          <p:nvPr/>
        </p:nvSpPr>
        <p:spPr>
          <a:xfrm>
            <a:off x="4663440" y="1828800"/>
            <a:ext cx="3474720" cy="320040"/>
          </a:xfrm>
          <a:prstGeom prst="rect">
            <a:avLst/>
          </a:prstGeom>
          <a:noFill/>
          <a:ln/>
        </p:spPr>
        <p:txBody>
          <a:bodyPr wrap="square" lIns="0" tIns="0" rIns="0" bIns="0" rtlCol="0" anchor="t"/>
          <a:lstStyle/>
          <a:p>
            <a:pPr indent="0" marL="0">
              <a:buNone/>
            </a:pPr>
            <a:r>
              <a:rPr lang="en-US" sz="1500" b="1" dirty="0">
                <a:solidFill>
                  <a:srgbClr val="C9002B"/>
                </a:solidFill>
                <a:latin typeface="Meiryo" pitchFamily="34" charset="0"/>
                <a:ea typeface="Meiryo" pitchFamily="34" charset="-122"/>
                <a:cs typeface="Meiryo" pitchFamily="34" charset="-120"/>
              </a:rPr>
              <a:t>聞く内容の例</a:t>
            </a:r>
            <a:endParaRPr lang="en-US" sz="1500" dirty="0"/>
          </a:p>
        </p:txBody>
      </p:sp>
      <p:sp>
        <p:nvSpPr>
          <p:cNvPr id="13" name="Shape 10"/>
          <p:cNvSpPr/>
          <p:nvPr/>
        </p:nvSpPr>
        <p:spPr>
          <a:xfrm>
            <a:off x="4663440" y="2286000"/>
            <a:ext cx="3474720" cy="621792"/>
          </a:xfrm>
          <a:prstGeom prst="roundRect">
            <a:avLst>
              <a:gd name="adj" fmla="val 11765"/>
            </a:avLst>
          </a:prstGeom>
          <a:solidFill>
            <a:srgbClr val="F4F5F7"/>
          </a:solidFill>
          <a:ln w="12700">
            <a:solidFill>
              <a:srgbClr val="F4F5F7"/>
            </a:solidFill>
            <a:prstDash val="solid"/>
          </a:ln>
        </p:spPr>
      </p:sp>
      <p:sp>
        <p:nvSpPr>
          <p:cNvPr id="14" name="Text 11"/>
          <p:cNvSpPr txBox="1"/>
          <p:nvPr/>
        </p:nvSpPr>
        <p:spPr>
          <a:xfrm>
            <a:off x="4800600" y="2432304"/>
            <a:ext cx="548640" cy="329184"/>
          </a:xfrm>
          <a:prstGeom prst="roundRect">
            <a:avLst>
              <a:gd name="adj" fmla="val 50000"/>
            </a:avLst>
          </a:prstGeom>
          <a:solidFill>
            <a:srgbClr val="C9002B"/>
          </a:solidFill>
          <a:ln>
            <a:solidFill>
              <a:srgbClr val="C9002B"/>
            </a:solid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Q1</a:t>
            </a:r>
            <a:endParaRPr lang="en-US" sz="1100" dirty="0"/>
          </a:p>
        </p:txBody>
      </p:sp>
      <p:sp>
        <p:nvSpPr>
          <p:cNvPr id="15" name="Text 12"/>
          <p:cNvSpPr txBox="1"/>
          <p:nvPr/>
        </p:nvSpPr>
        <p:spPr>
          <a:xfrm>
            <a:off x="5486400" y="2286000"/>
            <a:ext cx="2606040" cy="621792"/>
          </a:xfrm>
          <a:prstGeom prst="rect">
            <a:avLst/>
          </a:prstGeom>
          <a:noFill/>
          <a:ln/>
        </p:spPr>
        <p:txBody>
          <a:bodyPr wrap="square" lIns="0" tIns="0" rIns="0" bIns="0" rtlCol="0" anchor="ctr"/>
          <a:lstStyle/>
          <a:p>
            <a:pPr indent="0" marL="0">
              <a:buNone/>
            </a:pPr>
            <a:r>
              <a:rPr lang="en-US" sz="1300" b="1" dirty="0">
                <a:solidFill>
                  <a:srgbClr val="20232A"/>
                </a:solidFill>
                <a:latin typeface="Meiryo" pitchFamily="34" charset="0"/>
                <a:ea typeface="Meiryo" pitchFamily="34" charset="-122"/>
                <a:cs typeface="Meiryo" pitchFamily="34" charset="-120"/>
              </a:rPr>
              <a:t>イベントを知っていたか</a:t>
            </a:r>
            <a:endParaRPr lang="en-US" sz="1300" dirty="0"/>
          </a:p>
        </p:txBody>
      </p:sp>
      <p:sp>
        <p:nvSpPr>
          <p:cNvPr id="16" name="Shape 13"/>
          <p:cNvSpPr/>
          <p:nvPr/>
        </p:nvSpPr>
        <p:spPr>
          <a:xfrm>
            <a:off x="4663440" y="3063240"/>
            <a:ext cx="3474720" cy="621792"/>
          </a:xfrm>
          <a:prstGeom prst="roundRect">
            <a:avLst>
              <a:gd name="adj" fmla="val 11765"/>
            </a:avLst>
          </a:prstGeom>
          <a:solidFill>
            <a:srgbClr val="F4F5F7"/>
          </a:solidFill>
          <a:ln w="12700">
            <a:solidFill>
              <a:srgbClr val="F4F5F7"/>
            </a:solidFill>
            <a:prstDash val="solid"/>
          </a:ln>
        </p:spPr>
      </p:sp>
      <p:sp>
        <p:nvSpPr>
          <p:cNvPr id="17" name="Text 14"/>
          <p:cNvSpPr txBox="1"/>
          <p:nvPr/>
        </p:nvSpPr>
        <p:spPr>
          <a:xfrm>
            <a:off x="4800600" y="3209544"/>
            <a:ext cx="548640" cy="329184"/>
          </a:xfrm>
          <a:prstGeom prst="roundRect">
            <a:avLst>
              <a:gd name="adj" fmla="val 50000"/>
            </a:avLst>
          </a:prstGeom>
          <a:solidFill>
            <a:srgbClr val="C9002B"/>
          </a:solidFill>
          <a:ln>
            <a:solidFill>
              <a:srgbClr val="C9002B"/>
            </a:solid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Q2</a:t>
            </a:r>
            <a:endParaRPr lang="en-US" sz="1100" dirty="0"/>
          </a:p>
        </p:txBody>
      </p:sp>
      <p:sp>
        <p:nvSpPr>
          <p:cNvPr id="18" name="Text 15"/>
          <p:cNvSpPr txBox="1"/>
          <p:nvPr/>
        </p:nvSpPr>
        <p:spPr>
          <a:xfrm>
            <a:off x="5486400" y="3063240"/>
            <a:ext cx="2606040" cy="621792"/>
          </a:xfrm>
          <a:prstGeom prst="rect">
            <a:avLst/>
          </a:prstGeom>
          <a:noFill/>
          <a:ln/>
        </p:spPr>
        <p:txBody>
          <a:bodyPr wrap="square" lIns="0" tIns="0" rIns="0" bIns="0" rtlCol="0" anchor="ctr"/>
          <a:lstStyle/>
          <a:p>
            <a:pPr indent="0" marL="0">
              <a:buNone/>
            </a:pPr>
            <a:r>
              <a:rPr lang="en-US" sz="1300" b="1" dirty="0">
                <a:solidFill>
                  <a:srgbClr val="20232A"/>
                </a:solidFill>
                <a:latin typeface="Meiryo" pitchFamily="34" charset="0"/>
                <a:ea typeface="Meiryo" pitchFamily="34" charset="-122"/>
                <a:cs typeface="Meiryo" pitchFamily="34" charset="-120"/>
              </a:rPr>
              <a:t>参加しなかった理由は何か</a:t>
            </a:r>
            <a:endParaRPr lang="en-US" sz="1300" dirty="0"/>
          </a:p>
        </p:txBody>
      </p:sp>
      <p:sp>
        <p:nvSpPr>
          <p:cNvPr id="19" name="Shape 16"/>
          <p:cNvSpPr/>
          <p:nvPr/>
        </p:nvSpPr>
        <p:spPr>
          <a:xfrm>
            <a:off x="4663440" y="3840480"/>
            <a:ext cx="3474720" cy="621792"/>
          </a:xfrm>
          <a:prstGeom prst="roundRect">
            <a:avLst>
              <a:gd name="adj" fmla="val 11765"/>
            </a:avLst>
          </a:prstGeom>
          <a:solidFill>
            <a:srgbClr val="F4F5F7"/>
          </a:solidFill>
          <a:ln w="12700">
            <a:solidFill>
              <a:srgbClr val="F4F5F7"/>
            </a:solidFill>
            <a:prstDash val="solid"/>
          </a:ln>
        </p:spPr>
      </p:sp>
      <p:sp>
        <p:nvSpPr>
          <p:cNvPr id="20" name="Text 17"/>
          <p:cNvSpPr txBox="1"/>
          <p:nvPr/>
        </p:nvSpPr>
        <p:spPr>
          <a:xfrm>
            <a:off x="4800600" y="3986784"/>
            <a:ext cx="548640" cy="329184"/>
          </a:xfrm>
          <a:prstGeom prst="roundRect">
            <a:avLst>
              <a:gd name="adj" fmla="val 50000"/>
            </a:avLst>
          </a:prstGeom>
          <a:solidFill>
            <a:srgbClr val="C9002B"/>
          </a:solidFill>
          <a:ln>
            <a:solidFill>
              <a:srgbClr val="C9002B"/>
            </a:solid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Q3</a:t>
            </a:r>
            <a:endParaRPr lang="en-US" sz="1100" dirty="0"/>
          </a:p>
        </p:txBody>
      </p:sp>
      <p:sp>
        <p:nvSpPr>
          <p:cNvPr id="21" name="Text 18"/>
          <p:cNvSpPr txBox="1"/>
          <p:nvPr/>
        </p:nvSpPr>
        <p:spPr>
          <a:xfrm>
            <a:off x="5486400" y="3840480"/>
            <a:ext cx="2606040" cy="621792"/>
          </a:xfrm>
          <a:prstGeom prst="rect">
            <a:avLst/>
          </a:prstGeom>
          <a:noFill/>
          <a:ln/>
        </p:spPr>
        <p:txBody>
          <a:bodyPr wrap="square" lIns="0" tIns="0" rIns="0" bIns="0" rtlCol="0" anchor="ctr"/>
          <a:lstStyle/>
          <a:p>
            <a:pPr indent="0" marL="0">
              <a:buNone/>
            </a:pPr>
            <a:r>
              <a:rPr lang="en-US" sz="1300" b="1" dirty="0">
                <a:solidFill>
                  <a:srgbClr val="20232A"/>
                </a:solidFill>
                <a:latin typeface="Meiryo" pitchFamily="34" charset="0"/>
                <a:ea typeface="Meiryo" pitchFamily="34" charset="-122"/>
                <a:cs typeface="Meiryo" pitchFamily="34" charset="-120"/>
              </a:rPr>
              <a:t>どの条件なら参加したいか</a:t>
            </a:r>
            <a:endParaRPr lang="en-US" sz="1300" dirty="0"/>
          </a:p>
        </p:txBody>
      </p:sp>
      <p:pic>
        <p:nvPicPr>
          <p:cNvPr id="22" name="Image 1" descr="preencoded.png">    </p:cNvPr>
          <p:cNvPicPr>
            <a:picLocks noChangeAspect="1"/>
          </p:cNvPicPr>
          <p:nvPr/>
        </p:nvPicPr>
        <p:blipFill>
          <a:blip r:embed="rId2"/>
          <a:stretch>
            <a:fillRect/>
          </a:stretch>
        </p:blipFill>
        <p:spPr>
          <a:xfrm>
            <a:off x="8503920" y="1783080"/>
            <a:ext cx="3108960" cy="2852928"/>
          </a:xfrm>
          <a:prstGeom prst="rect">
            <a:avLst/>
          </a:prstGeom>
        </p:spPr>
      </p:pic>
      <p:sp>
        <p:nvSpPr>
          <p:cNvPr id="23" name="Shape 19"/>
          <p:cNvSpPr/>
          <p:nvPr/>
        </p:nvSpPr>
        <p:spPr>
          <a:xfrm>
            <a:off x="4663440" y="4892040"/>
            <a:ext cx="6949440" cy="868680"/>
          </a:xfrm>
          <a:prstGeom prst="roundRect">
            <a:avLst>
              <a:gd name="adj" fmla="val 8421"/>
            </a:avLst>
          </a:prstGeom>
          <a:solidFill>
            <a:srgbClr val="FBEAEE"/>
          </a:solidFill>
          <a:ln w="12700">
            <a:solidFill>
              <a:srgbClr val="FBEAEE"/>
            </a:solidFill>
            <a:prstDash val="solid"/>
          </a:ln>
        </p:spPr>
      </p:sp>
      <p:sp>
        <p:nvSpPr>
          <p:cNvPr id="24" name="Text 20"/>
          <p:cNvSpPr txBox="1"/>
          <p:nvPr/>
        </p:nvSpPr>
        <p:spPr>
          <a:xfrm>
            <a:off x="4846320" y="4937760"/>
            <a:ext cx="6629400" cy="777240"/>
          </a:xfrm>
          <a:prstGeom prst="rect">
            <a:avLst/>
          </a:prstGeom>
          <a:noFill/>
          <a:ln/>
        </p:spPr>
        <p:txBody>
          <a:bodyPr wrap="square" lIns="0" tIns="0" rIns="0" bIns="0" rtlCol="0" anchor="ctr"/>
          <a:lstStyle/>
          <a:p>
            <a:pPr indent="0" marL="0">
              <a:buNone/>
            </a:pPr>
            <a:r>
              <a:rPr lang="en-US" sz="1200" dirty="0">
                <a:solidFill>
                  <a:srgbClr val="20232A"/>
                </a:solidFill>
                <a:latin typeface="Meiryo" pitchFamily="34" charset="0"/>
                <a:ea typeface="Meiryo" pitchFamily="34" charset="-122"/>
                <a:cs typeface="Meiryo" pitchFamily="34" charset="-120"/>
              </a:rPr>
              <a:t>対象地域を絞り過ぎると回収しにくい。対象者と設問を一緒に設計し、市区町村などの絞り込みや調査設計は追加費用を確認する。</a:t>
            </a:r>
            <a:endParaRPr lang="en-US" sz="1200" dirty="0"/>
          </a:p>
        </p:txBody>
      </p:sp>
      <p:sp>
        <p:nvSpPr>
          <p:cNvPr id="25" name="Text 21"/>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C626D"/>
                </a:solidFill>
                <a:latin typeface="Meiryo" pitchFamily="34" charset="0"/>
                <a:ea typeface="Meiryo" pitchFamily="34" charset="-122"/>
                <a:cs typeface="Meiryo" pitchFamily="34" charset="-120"/>
              </a:rPr>
              <a:t>約600万人は回答対象者の規模。必要な条件・回収数を保証する数ではない</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4864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01　商材を知る</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20232A"/>
                </a:solidFill>
                <a:latin typeface="Meiryo" pitchFamily="34" charset="0"/>
                <a:ea typeface="Meiryo" pitchFamily="34" charset="-122"/>
                <a:cs typeface="Meiryo" pitchFamily="34" charset="-120"/>
              </a:rPr>
              <a:t>docomo Ad Network</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C626D"/>
                </a:solidFill>
                <a:latin typeface="Meiryo" pitchFamily="34" charset="0"/>
                <a:ea typeface="Meiryo" pitchFamily="34" charset="-122"/>
                <a:cs typeface="Meiryo" pitchFamily="34" charset="-120"/>
              </a:rPr>
              <a:t>ドコモのデータを活用し、対象層へ広告を配信する</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C626D"/>
                </a:solidFill>
                <a:latin typeface="Meiryo" pitchFamily="34" charset="0"/>
                <a:ea typeface="Meiryo" pitchFamily="34" charset="-122"/>
                <a:cs typeface="Meiryo" pitchFamily="34" charset="-120"/>
              </a:rPr>
              <a:t>06</a:t>
            </a:r>
            <a:endParaRPr lang="en-US" sz="1000" dirty="0"/>
          </a:p>
        </p:txBody>
      </p:sp>
      <p:sp>
        <p:nvSpPr>
          <p:cNvPr id="6" name="Text 4"/>
          <p:cNvSpPr txBox="1"/>
          <p:nvPr/>
        </p:nvSpPr>
        <p:spPr>
          <a:xfrm>
            <a:off x="548640" y="1783080"/>
            <a:ext cx="4572000" cy="320040"/>
          </a:xfrm>
          <a:prstGeom prst="rect">
            <a:avLst/>
          </a:prstGeom>
          <a:noFill/>
          <a:ln/>
        </p:spPr>
        <p:txBody>
          <a:bodyPr wrap="square" lIns="0" tIns="0" rIns="0" bIns="0" rtlCol="0" anchor="t"/>
          <a:lstStyle/>
          <a:p>
            <a:pPr indent="0" marL="0">
              <a:buNone/>
            </a:pPr>
            <a:r>
              <a:rPr lang="en-US" sz="1500" b="1" dirty="0">
                <a:solidFill>
                  <a:srgbClr val="C9002B"/>
                </a:solidFill>
                <a:latin typeface="Meiryo" pitchFamily="34" charset="0"/>
                <a:ea typeface="Meiryo" pitchFamily="34" charset="-122"/>
                <a:cs typeface="Meiryo" pitchFamily="34" charset="-120"/>
              </a:rPr>
              <a:t>主な広告接点</a:t>
            </a:r>
            <a:endParaRPr lang="en-US" sz="1500" dirty="0"/>
          </a:p>
        </p:txBody>
      </p:sp>
      <p:sp>
        <p:nvSpPr>
          <p:cNvPr id="7" name="Text 5"/>
          <p:cNvSpPr txBox="1"/>
          <p:nvPr/>
        </p:nvSpPr>
        <p:spPr>
          <a:xfrm>
            <a:off x="548640" y="2148840"/>
            <a:ext cx="7223760" cy="365760"/>
          </a:xfrm>
          <a:prstGeom prst="rect">
            <a:avLst/>
          </a:prstGeom>
          <a:noFill/>
          <a:ln/>
        </p:spPr>
        <p:txBody>
          <a:bodyPr wrap="square" lIns="0" tIns="0" rIns="0" bIns="0" rtlCol="0" anchor="t"/>
          <a:lstStyle/>
          <a:p>
            <a:pPr indent="0" marL="0">
              <a:buNone/>
            </a:pPr>
            <a:r>
              <a:rPr lang="en-US" sz="1400" dirty="0">
                <a:solidFill>
                  <a:srgbClr val="20232A"/>
                </a:solidFill>
                <a:latin typeface="Meiryo" pitchFamily="34" charset="0"/>
                <a:ea typeface="Meiryo" pitchFamily="34" charset="-122"/>
                <a:cs typeface="Meiryo" pitchFamily="34" charset="-120"/>
              </a:rPr>
              <a:t>dメニューなどのWebサイトやアプリ。一部のメニューは外部メディアにも配信。</a:t>
            </a:r>
            <a:endParaRPr lang="en-US" sz="1400" dirty="0"/>
          </a:p>
        </p:txBody>
      </p:sp>
      <p:sp>
        <p:nvSpPr>
          <p:cNvPr id="8" name="Text 6"/>
          <p:cNvSpPr txBox="1"/>
          <p:nvPr/>
        </p:nvSpPr>
        <p:spPr>
          <a:xfrm>
            <a:off x="548640" y="2743200"/>
            <a:ext cx="6400800" cy="320040"/>
          </a:xfrm>
          <a:prstGeom prst="rect">
            <a:avLst/>
          </a:prstGeom>
          <a:noFill/>
          <a:ln/>
        </p:spPr>
        <p:txBody>
          <a:bodyPr wrap="square" lIns="0" tIns="0" rIns="0" bIns="0" rtlCol="0" anchor="t"/>
          <a:lstStyle/>
          <a:p>
            <a:pPr indent="0" marL="0">
              <a:buNone/>
            </a:pPr>
            <a:r>
              <a:rPr lang="en-US" sz="1500" b="1" dirty="0">
                <a:solidFill>
                  <a:srgbClr val="C9002B"/>
                </a:solidFill>
                <a:latin typeface="Meiryo" pitchFamily="34" charset="0"/>
                <a:ea typeface="Meiryo" pitchFamily="34" charset="-122"/>
                <a:cs typeface="Meiryo" pitchFamily="34" charset="-120"/>
              </a:rPr>
              <a:t>提案に含める準備：4点をセットで決める</a:t>
            </a:r>
            <a:endParaRPr lang="en-US" sz="1500" dirty="0"/>
          </a:p>
        </p:txBody>
      </p:sp>
      <p:sp>
        <p:nvSpPr>
          <p:cNvPr id="9" name="Shape 7"/>
          <p:cNvSpPr/>
          <p:nvPr/>
        </p:nvSpPr>
        <p:spPr>
          <a:xfrm>
            <a:off x="548640" y="3154680"/>
            <a:ext cx="1645920" cy="960120"/>
          </a:xfrm>
          <a:prstGeom prst="roundRect">
            <a:avLst>
              <a:gd name="adj" fmla="val 7619"/>
            </a:avLst>
          </a:prstGeom>
          <a:solidFill>
            <a:srgbClr val="F4F5F7"/>
          </a:solidFill>
          <a:ln w="12700">
            <a:solidFill>
              <a:srgbClr val="F4F5F7"/>
            </a:solidFill>
            <a:prstDash val="solid"/>
          </a:ln>
        </p:spPr>
      </p:sp>
      <p:pic>
        <p:nvPicPr>
          <p:cNvPr id="10" name="Image 0" descr="preencoded.png">    </p:cNvPr>
          <p:cNvPicPr>
            <a:picLocks noChangeAspect="1"/>
          </p:cNvPicPr>
          <p:nvPr/>
        </p:nvPicPr>
        <p:blipFill>
          <a:blip r:embed="rId1"/>
          <a:stretch>
            <a:fillRect/>
          </a:stretch>
        </p:blipFill>
        <p:spPr>
          <a:xfrm>
            <a:off x="1188720" y="3273552"/>
            <a:ext cx="365760" cy="365760"/>
          </a:xfrm>
          <a:prstGeom prst="rect">
            <a:avLst/>
          </a:prstGeom>
        </p:spPr>
      </p:pic>
      <p:sp>
        <p:nvSpPr>
          <p:cNvPr id="11" name="Text 8"/>
          <p:cNvSpPr txBox="1"/>
          <p:nvPr/>
        </p:nvSpPr>
        <p:spPr>
          <a:xfrm>
            <a:off x="594360" y="3703320"/>
            <a:ext cx="1554480" cy="320040"/>
          </a:xfrm>
          <a:prstGeom prst="rect">
            <a:avLst/>
          </a:prstGeom>
          <a:noFill/>
          <a:ln/>
        </p:spPr>
        <p:txBody>
          <a:bodyPr wrap="square" lIns="0" tIns="0" rIns="0" bIns="0" rtlCol="0" anchor="ctr"/>
          <a:lstStyle/>
          <a:p>
            <a:pPr algn="ctr" indent="0" marL="0">
              <a:buNone/>
            </a:pPr>
            <a:r>
              <a:rPr lang="en-US" sz="1200" b="1" dirty="0">
                <a:solidFill>
                  <a:srgbClr val="20232A"/>
                </a:solidFill>
                <a:latin typeface="Meiryo" pitchFamily="34" charset="0"/>
                <a:ea typeface="Meiryo" pitchFamily="34" charset="-122"/>
                <a:cs typeface="Meiryo" pitchFamily="34" charset="-120"/>
              </a:rPr>
              <a:t>対象条件</a:t>
            </a:r>
            <a:endParaRPr lang="en-US" sz="1200" dirty="0"/>
          </a:p>
        </p:txBody>
      </p:sp>
      <p:sp>
        <p:nvSpPr>
          <p:cNvPr id="12" name="Shape 9"/>
          <p:cNvSpPr/>
          <p:nvPr/>
        </p:nvSpPr>
        <p:spPr>
          <a:xfrm>
            <a:off x="2377440" y="3154680"/>
            <a:ext cx="1645920" cy="960120"/>
          </a:xfrm>
          <a:prstGeom prst="roundRect">
            <a:avLst>
              <a:gd name="adj" fmla="val 7619"/>
            </a:avLst>
          </a:prstGeom>
          <a:solidFill>
            <a:srgbClr val="F4F5F7"/>
          </a:solidFill>
          <a:ln w="12700">
            <a:solidFill>
              <a:srgbClr val="F4F5F7"/>
            </a:solidFill>
            <a:prstDash val="solid"/>
          </a:ln>
        </p:spPr>
      </p:sp>
      <p:pic>
        <p:nvPicPr>
          <p:cNvPr id="13" name="Image 1" descr="preencoded.png">    </p:cNvPr>
          <p:cNvPicPr>
            <a:picLocks noChangeAspect="1"/>
          </p:cNvPicPr>
          <p:nvPr/>
        </p:nvPicPr>
        <p:blipFill>
          <a:blip r:embed="rId2"/>
          <a:stretch>
            <a:fillRect/>
          </a:stretch>
        </p:blipFill>
        <p:spPr>
          <a:xfrm>
            <a:off x="3017520" y="3273552"/>
            <a:ext cx="365760" cy="365760"/>
          </a:xfrm>
          <a:prstGeom prst="rect">
            <a:avLst/>
          </a:prstGeom>
        </p:spPr>
      </p:pic>
      <p:sp>
        <p:nvSpPr>
          <p:cNvPr id="14" name="Text 10"/>
          <p:cNvSpPr txBox="1"/>
          <p:nvPr/>
        </p:nvSpPr>
        <p:spPr>
          <a:xfrm>
            <a:off x="2423160" y="3703320"/>
            <a:ext cx="1554480" cy="320040"/>
          </a:xfrm>
          <a:prstGeom prst="rect">
            <a:avLst/>
          </a:prstGeom>
          <a:noFill/>
          <a:ln/>
        </p:spPr>
        <p:txBody>
          <a:bodyPr wrap="square" lIns="0" tIns="0" rIns="0" bIns="0" rtlCol="0" anchor="ctr"/>
          <a:lstStyle/>
          <a:p>
            <a:pPr algn="ctr" indent="0" marL="0">
              <a:buNone/>
            </a:pPr>
            <a:r>
              <a:rPr lang="en-US" sz="1200" b="1" dirty="0">
                <a:solidFill>
                  <a:srgbClr val="20232A"/>
                </a:solidFill>
                <a:latin typeface="Meiryo" pitchFamily="34" charset="0"/>
                <a:ea typeface="Meiryo" pitchFamily="34" charset="-122"/>
                <a:cs typeface="Meiryo" pitchFamily="34" charset="-120"/>
              </a:rPr>
              <a:t>広告画像・文章</a:t>
            </a:r>
            <a:endParaRPr lang="en-US" sz="1200" dirty="0"/>
          </a:p>
        </p:txBody>
      </p:sp>
      <p:sp>
        <p:nvSpPr>
          <p:cNvPr id="15" name="Shape 11"/>
          <p:cNvSpPr/>
          <p:nvPr/>
        </p:nvSpPr>
        <p:spPr>
          <a:xfrm>
            <a:off x="4206240" y="3154680"/>
            <a:ext cx="1645920" cy="960120"/>
          </a:xfrm>
          <a:prstGeom prst="roundRect">
            <a:avLst>
              <a:gd name="adj" fmla="val 7619"/>
            </a:avLst>
          </a:prstGeom>
          <a:solidFill>
            <a:srgbClr val="F4F5F7"/>
          </a:solidFill>
          <a:ln w="12700">
            <a:solidFill>
              <a:srgbClr val="F4F5F7"/>
            </a:solidFill>
            <a:prstDash val="solid"/>
          </a:ln>
        </p:spPr>
      </p:sp>
      <p:pic>
        <p:nvPicPr>
          <p:cNvPr id="16" name="Image 2" descr="preencoded.png">    </p:cNvPr>
          <p:cNvPicPr>
            <a:picLocks noChangeAspect="1"/>
          </p:cNvPicPr>
          <p:nvPr/>
        </p:nvPicPr>
        <p:blipFill>
          <a:blip r:embed="rId3"/>
          <a:stretch>
            <a:fillRect/>
          </a:stretch>
        </p:blipFill>
        <p:spPr>
          <a:xfrm>
            <a:off x="4846320" y="3273552"/>
            <a:ext cx="365760" cy="365760"/>
          </a:xfrm>
          <a:prstGeom prst="rect">
            <a:avLst/>
          </a:prstGeom>
        </p:spPr>
      </p:pic>
      <p:sp>
        <p:nvSpPr>
          <p:cNvPr id="17" name="Text 12"/>
          <p:cNvSpPr txBox="1"/>
          <p:nvPr/>
        </p:nvSpPr>
        <p:spPr>
          <a:xfrm>
            <a:off x="4251960" y="3703320"/>
            <a:ext cx="1554480" cy="320040"/>
          </a:xfrm>
          <a:prstGeom prst="rect">
            <a:avLst/>
          </a:prstGeom>
          <a:noFill/>
          <a:ln/>
        </p:spPr>
        <p:txBody>
          <a:bodyPr wrap="square" lIns="0" tIns="0" rIns="0" bIns="0" rtlCol="0" anchor="ctr"/>
          <a:lstStyle/>
          <a:p>
            <a:pPr algn="ctr" indent="0" marL="0">
              <a:buNone/>
            </a:pPr>
            <a:r>
              <a:rPr lang="en-US" sz="1200" b="1" dirty="0">
                <a:solidFill>
                  <a:srgbClr val="20232A"/>
                </a:solidFill>
                <a:latin typeface="Meiryo" pitchFamily="34" charset="0"/>
                <a:ea typeface="Meiryo" pitchFamily="34" charset="-122"/>
                <a:cs typeface="Meiryo" pitchFamily="34" charset="-120"/>
              </a:rPr>
              <a:t>申込先</a:t>
            </a:r>
            <a:endParaRPr lang="en-US" sz="1200" dirty="0"/>
          </a:p>
        </p:txBody>
      </p:sp>
      <p:sp>
        <p:nvSpPr>
          <p:cNvPr id="18" name="Shape 13"/>
          <p:cNvSpPr/>
          <p:nvPr/>
        </p:nvSpPr>
        <p:spPr>
          <a:xfrm>
            <a:off x="6035040" y="3154680"/>
            <a:ext cx="1645920" cy="960120"/>
          </a:xfrm>
          <a:prstGeom prst="roundRect">
            <a:avLst>
              <a:gd name="adj" fmla="val 7619"/>
            </a:avLst>
          </a:prstGeom>
          <a:solidFill>
            <a:srgbClr val="F4F5F7"/>
          </a:solidFill>
          <a:ln w="12700">
            <a:solidFill>
              <a:srgbClr val="F4F5F7"/>
            </a:solidFill>
            <a:prstDash val="solid"/>
          </a:ln>
        </p:spPr>
      </p:sp>
      <p:pic>
        <p:nvPicPr>
          <p:cNvPr id="19" name="Image 3" descr="preencoded.png">    </p:cNvPr>
          <p:cNvPicPr>
            <a:picLocks noChangeAspect="1"/>
          </p:cNvPicPr>
          <p:nvPr/>
        </p:nvPicPr>
        <p:blipFill>
          <a:blip r:embed="rId4"/>
          <a:stretch>
            <a:fillRect/>
          </a:stretch>
        </p:blipFill>
        <p:spPr>
          <a:xfrm>
            <a:off x="6675120" y="3273552"/>
            <a:ext cx="365760" cy="365760"/>
          </a:xfrm>
          <a:prstGeom prst="rect">
            <a:avLst/>
          </a:prstGeom>
        </p:spPr>
      </p:pic>
      <p:sp>
        <p:nvSpPr>
          <p:cNvPr id="20" name="Text 14"/>
          <p:cNvSpPr txBox="1"/>
          <p:nvPr/>
        </p:nvSpPr>
        <p:spPr>
          <a:xfrm>
            <a:off x="6080760" y="3703320"/>
            <a:ext cx="1554480" cy="320040"/>
          </a:xfrm>
          <a:prstGeom prst="rect">
            <a:avLst/>
          </a:prstGeom>
          <a:noFill/>
          <a:ln/>
        </p:spPr>
        <p:txBody>
          <a:bodyPr wrap="square" lIns="0" tIns="0" rIns="0" bIns="0" rtlCol="0" anchor="ctr"/>
          <a:lstStyle/>
          <a:p>
            <a:pPr algn="ctr" indent="0" marL="0">
              <a:buNone/>
            </a:pPr>
            <a:r>
              <a:rPr lang="en-US" sz="1200" b="1" dirty="0">
                <a:solidFill>
                  <a:srgbClr val="20232A"/>
                </a:solidFill>
                <a:latin typeface="Meiryo" pitchFamily="34" charset="0"/>
                <a:ea typeface="Meiryo" pitchFamily="34" charset="-122"/>
                <a:cs typeface="Meiryo" pitchFamily="34" charset="-120"/>
              </a:rPr>
              <a:t>申込数の計測</a:t>
            </a:r>
            <a:endParaRPr lang="en-US" sz="1200" dirty="0"/>
          </a:p>
        </p:txBody>
      </p:sp>
      <p:pic>
        <p:nvPicPr>
          <p:cNvPr id="21" name="Image 4" descr="preencoded.png">    </p:cNvPr>
          <p:cNvPicPr>
            <a:picLocks noChangeAspect="1"/>
          </p:cNvPicPr>
          <p:nvPr/>
        </p:nvPicPr>
        <p:blipFill>
          <a:blip r:embed="rId5"/>
          <a:stretch>
            <a:fillRect/>
          </a:stretch>
        </p:blipFill>
        <p:spPr>
          <a:xfrm>
            <a:off x="8595360" y="1783080"/>
            <a:ext cx="3017520" cy="2487168"/>
          </a:xfrm>
          <a:prstGeom prst="rect">
            <a:avLst/>
          </a:prstGeom>
        </p:spPr>
      </p:pic>
      <p:sp>
        <p:nvSpPr>
          <p:cNvPr id="22" name="Shape 15"/>
          <p:cNvSpPr/>
          <p:nvPr/>
        </p:nvSpPr>
        <p:spPr>
          <a:xfrm>
            <a:off x="548640" y="4526280"/>
            <a:ext cx="11064240" cy="1280160"/>
          </a:xfrm>
          <a:prstGeom prst="roundRect">
            <a:avLst>
              <a:gd name="adj" fmla="val 5714"/>
            </a:avLst>
          </a:prstGeom>
          <a:solidFill>
            <a:srgbClr val="FBEAEE"/>
          </a:solidFill>
          <a:ln w="12700">
            <a:solidFill>
              <a:srgbClr val="FBEAEE"/>
            </a:solidFill>
            <a:prstDash val="solid"/>
          </a:ln>
        </p:spPr>
      </p:sp>
      <p:sp>
        <p:nvSpPr>
          <p:cNvPr id="23" name="Text 16"/>
          <p:cNvSpPr txBox="1"/>
          <p:nvPr/>
        </p:nvSpPr>
        <p:spPr>
          <a:xfrm>
            <a:off x="777240" y="4690872"/>
            <a:ext cx="1097280" cy="310896"/>
          </a:xfrm>
          <a:prstGeom prst="roundRect">
            <a:avLst>
              <a:gd name="adj" fmla="val 50000"/>
            </a:avLst>
          </a:prstGeom>
          <a:solidFill>
            <a:srgbClr val="C9002B"/>
          </a:solidFill>
          <a:ln>
            <a:solidFill>
              <a:srgbClr val="C9002B"/>
            </a:solid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最新動向</a:t>
            </a:r>
            <a:endParaRPr lang="en-US" sz="1100" dirty="0"/>
          </a:p>
        </p:txBody>
      </p:sp>
      <p:sp>
        <p:nvSpPr>
          <p:cNvPr id="24" name="Text 17"/>
          <p:cNvSpPr txBox="1"/>
          <p:nvPr/>
        </p:nvSpPr>
        <p:spPr>
          <a:xfrm>
            <a:off x="2011680" y="4663440"/>
            <a:ext cx="9418320" cy="365760"/>
          </a:xfrm>
          <a:prstGeom prst="rect">
            <a:avLst/>
          </a:prstGeom>
          <a:noFill/>
          <a:ln/>
        </p:spPr>
        <p:txBody>
          <a:bodyPr wrap="square" lIns="0" tIns="0" rIns="0" bIns="0" rtlCol="0" anchor="ctr"/>
          <a:lstStyle/>
          <a:p>
            <a:pPr indent="0" marL="0">
              <a:buNone/>
            </a:pPr>
            <a:r>
              <a:rPr lang="en-US" sz="1500" b="1" dirty="0">
                <a:solidFill>
                  <a:srgbClr val="20232A"/>
                </a:solidFill>
                <a:latin typeface="Meiryo" pitchFamily="34" charset="0"/>
                <a:ea typeface="Meiryo" pitchFamily="34" charset="-122"/>
                <a:cs typeface="Meiryo" pitchFamily="34" charset="-120"/>
              </a:rPr>
              <a:t>2026年7月1日から運営はCARTA ZEROへ承継</a:t>
            </a:r>
            <a:endParaRPr lang="en-US" sz="1500" dirty="0"/>
          </a:p>
        </p:txBody>
      </p:sp>
      <p:sp>
        <p:nvSpPr>
          <p:cNvPr id="25" name="Text 18"/>
          <p:cNvSpPr txBox="1"/>
          <p:nvPr/>
        </p:nvSpPr>
        <p:spPr>
          <a:xfrm>
            <a:off x="777240" y="5102352"/>
            <a:ext cx="10607040" cy="640080"/>
          </a:xfrm>
          <a:prstGeom prst="rect">
            <a:avLst/>
          </a:prstGeom>
          <a:noFill/>
          <a:ln/>
        </p:spPr>
        <p:txBody>
          <a:bodyPr wrap="square" lIns="0" tIns="0" rIns="0" bIns="0" rtlCol="0" anchor="t"/>
          <a:lstStyle/>
          <a:p>
            <a:pPr indent="0" marL="0">
              <a:buNone/>
            </a:pPr>
            <a:r>
              <a:rPr lang="en-US" sz="1250" dirty="0">
                <a:solidFill>
                  <a:srgbClr val="20232A"/>
                </a:solidFill>
                <a:latin typeface="Meiryo" pitchFamily="34" charset="0"/>
                <a:ea typeface="Meiryo" pitchFamily="34" charset="-122"/>
                <a:cs typeface="Meiryo" pitchFamily="34" charset="-120"/>
              </a:rPr>
              <a:t>同社の広告基盤と統合し「docomo data square Ads Platform」として販売。Google・Metaなど主要広告媒体でドコモデータを使う「Ads Connect」も開始。提案前に見積窓口と現行メニュー名を確認する。</a:t>
            </a:r>
            <a:endParaRPr lang="en-US" sz="1250" dirty="0"/>
          </a:p>
        </p:txBody>
      </p:sp>
      <p:sp>
        <p:nvSpPr>
          <p:cNvPr id="26" name="Text 19"/>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C626D"/>
                </a:solidFill>
                <a:latin typeface="Meiryo" pitchFamily="34" charset="0"/>
                <a:ea typeface="Meiryo" pitchFamily="34" charset="-122"/>
                <a:cs typeface="Meiryo" pitchFamily="34" charset="-120"/>
              </a:rPr>
              <a:t>配信先・利用できる条件・課金方式はメニューによる。広告の成果は保証されない</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4864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01　商材を知る</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20232A"/>
                </a:solidFill>
                <a:latin typeface="Meiryo" pitchFamily="34" charset="0"/>
                <a:ea typeface="Meiryo" pitchFamily="34" charset="-122"/>
                <a:cs typeface="Meiryo" pitchFamily="34" charset="-120"/>
              </a:rPr>
              <a:t>強みと、提案時に補う点</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C626D"/>
                </a:solidFill>
                <a:latin typeface="Meiryo" pitchFamily="34" charset="0"/>
                <a:ea typeface="Meiryo" pitchFamily="34" charset="-122"/>
                <a:cs typeface="Meiryo" pitchFamily="34" charset="-120"/>
              </a:rPr>
              <a:t>得意分野と限界を説明すると、組み合わせる理由が伝わる</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C626D"/>
                </a:solidFill>
                <a:latin typeface="Meiryo" pitchFamily="34" charset="0"/>
                <a:ea typeface="Meiryo" pitchFamily="34" charset="-122"/>
                <a:cs typeface="Meiryo" pitchFamily="34" charset="-120"/>
              </a:rPr>
              <a:t>07</a:t>
            </a:r>
            <a:endParaRPr lang="en-US" sz="1000" dirty="0"/>
          </a:p>
        </p:txBody>
      </p:sp>
      <p:pic>
        <p:nvPicPr>
          <p:cNvPr id="6" name="Image 0" descr="preencoded.png">    </p:cNvPr>
          <p:cNvPicPr>
            <a:picLocks noChangeAspect="1"/>
          </p:cNvPicPr>
          <p:nvPr/>
        </p:nvPicPr>
        <p:blipFill>
          <a:blip r:embed="rId1"/>
          <a:stretch>
            <a:fillRect/>
          </a:stretch>
        </p:blipFill>
        <p:spPr>
          <a:xfrm>
            <a:off x="3017520" y="1810512"/>
            <a:ext cx="292608" cy="292608"/>
          </a:xfrm>
          <a:prstGeom prst="rect">
            <a:avLst/>
          </a:prstGeom>
        </p:spPr>
      </p:pic>
      <p:sp>
        <p:nvSpPr>
          <p:cNvPr id="7" name="Text 4"/>
          <p:cNvSpPr txBox="1"/>
          <p:nvPr/>
        </p:nvSpPr>
        <p:spPr>
          <a:xfrm>
            <a:off x="3401568" y="1783080"/>
            <a:ext cx="2286000" cy="347472"/>
          </a:xfrm>
          <a:prstGeom prst="rect">
            <a:avLst/>
          </a:prstGeom>
          <a:noFill/>
          <a:ln/>
        </p:spPr>
        <p:txBody>
          <a:bodyPr wrap="square" lIns="0" tIns="0" rIns="0" bIns="0" rtlCol="0" anchor="ctr"/>
          <a:lstStyle/>
          <a:p>
            <a:pPr indent="0" marL="0">
              <a:buNone/>
            </a:pPr>
            <a:r>
              <a:rPr lang="en-US" sz="1400" b="1" dirty="0">
                <a:solidFill>
                  <a:srgbClr val="20232A"/>
                </a:solidFill>
                <a:latin typeface="Meiryo" pitchFamily="34" charset="0"/>
                <a:ea typeface="Meiryo" pitchFamily="34" charset="-122"/>
                <a:cs typeface="Meiryo" pitchFamily="34" charset="-120"/>
              </a:rPr>
              <a:t>強み</a:t>
            </a:r>
            <a:endParaRPr lang="en-US" sz="1400" dirty="0"/>
          </a:p>
        </p:txBody>
      </p:sp>
      <p:pic>
        <p:nvPicPr>
          <p:cNvPr id="8" name="Image 1" descr="preencoded.png">    </p:cNvPr>
          <p:cNvPicPr>
            <a:picLocks noChangeAspect="1"/>
          </p:cNvPicPr>
          <p:nvPr/>
        </p:nvPicPr>
        <p:blipFill>
          <a:blip r:embed="rId2"/>
          <a:stretch>
            <a:fillRect/>
          </a:stretch>
        </p:blipFill>
        <p:spPr>
          <a:xfrm>
            <a:off x="5925312" y="1810512"/>
            <a:ext cx="292608" cy="292608"/>
          </a:xfrm>
          <a:prstGeom prst="rect">
            <a:avLst/>
          </a:prstGeom>
        </p:spPr>
      </p:pic>
      <p:sp>
        <p:nvSpPr>
          <p:cNvPr id="9" name="Text 5"/>
          <p:cNvSpPr txBox="1"/>
          <p:nvPr/>
        </p:nvSpPr>
        <p:spPr>
          <a:xfrm>
            <a:off x="6309360" y="1783080"/>
            <a:ext cx="2286000" cy="347472"/>
          </a:xfrm>
          <a:prstGeom prst="rect">
            <a:avLst/>
          </a:prstGeom>
          <a:noFill/>
          <a:ln/>
        </p:spPr>
        <p:txBody>
          <a:bodyPr wrap="square" lIns="0" tIns="0" rIns="0" bIns="0" rtlCol="0" anchor="ctr"/>
          <a:lstStyle/>
          <a:p>
            <a:pPr indent="0" marL="0">
              <a:buNone/>
            </a:pPr>
            <a:r>
              <a:rPr lang="en-US" sz="1400" b="1" dirty="0">
                <a:solidFill>
                  <a:srgbClr val="20232A"/>
                </a:solidFill>
                <a:latin typeface="Meiryo" pitchFamily="34" charset="0"/>
                <a:ea typeface="Meiryo" pitchFamily="34" charset="-122"/>
                <a:cs typeface="Meiryo" pitchFamily="34" charset="-120"/>
              </a:rPr>
              <a:t>限界・注意点</a:t>
            </a:r>
            <a:endParaRPr lang="en-US" sz="1400" dirty="0"/>
          </a:p>
        </p:txBody>
      </p:sp>
      <p:pic>
        <p:nvPicPr>
          <p:cNvPr id="10" name="Image 2" descr="preencoded.png">    </p:cNvPr>
          <p:cNvPicPr>
            <a:picLocks noChangeAspect="1"/>
          </p:cNvPicPr>
          <p:nvPr/>
        </p:nvPicPr>
        <p:blipFill>
          <a:blip r:embed="rId3"/>
          <a:stretch>
            <a:fillRect/>
          </a:stretch>
        </p:blipFill>
        <p:spPr>
          <a:xfrm>
            <a:off x="8833104" y="1810512"/>
            <a:ext cx="292608" cy="292608"/>
          </a:xfrm>
          <a:prstGeom prst="rect">
            <a:avLst/>
          </a:prstGeom>
        </p:spPr>
      </p:pic>
      <p:sp>
        <p:nvSpPr>
          <p:cNvPr id="11" name="Text 6"/>
          <p:cNvSpPr txBox="1"/>
          <p:nvPr/>
        </p:nvSpPr>
        <p:spPr>
          <a:xfrm>
            <a:off x="9217152" y="1783080"/>
            <a:ext cx="2286000" cy="347472"/>
          </a:xfrm>
          <a:prstGeom prst="rect">
            <a:avLst/>
          </a:prstGeom>
          <a:noFill/>
          <a:ln/>
        </p:spPr>
        <p:txBody>
          <a:bodyPr wrap="square" lIns="0" tIns="0" rIns="0" bIns="0" rtlCol="0" anchor="ctr"/>
          <a:lstStyle/>
          <a:p>
            <a:pPr indent="0" marL="0">
              <a:buNone/>
            </a:pPr>
            <a:r>
              <a:rPr lang="en-US" sz="1400" b="1" dirty="0">
                <a:solidFill>
                  <a:srgbClr val="20232A"/>
                </a:solidFill>
                <a:latin typeface="Meiryo" pitchFamily="34" charset="0"/>
                <a:ea typeface="Meiryo" pitchFamily="34" charset="-122"/>
                <a:cs typeface="Meiryo" pitchFamily="34" charset="-120"/>
              </a:rPr>
              <a:t>補い方</a:t>
            </a:r>
            <a:endParaRPr lang="en-US" sz="1400" dirty="0"/>
          </a:p>
        </p:txBody>
      </p:sp>
      <p:sp>
        <p:nvSpPr>
          <p:cNvPr id="12" name="Shape 7"/>
          <p:cNvSpPr/>
          <p:nvPr/>
        </p:nvSpPr>
        <p:spPr>
          <a:xfrm>
            <a:off x="548640" y="2331720"/>
            <a:ext cx="2286000" cy="1005840"/>
          </a:xfrm>
          <a:prstGeom prst="roundRect">
            <a:avLst>
              <a:gd name="adj" fmla="val 7273"/>
            </a:avLst>
          </a:prstGeom>
          <a:solidFill>
            <a:srgbClr val="20232A"/>
          </a:solidFill>
          <a:ln w="12700">
            <a:solidFill>
              <a:srgbClr val="20232A"/>
            </a:solidFill>
            <a:prstDash val="solid"/>
          </a:ln>
        </p:spPr>
      </p:sp>
      <p:sp>
        <p:nvSpPr>
          <p:cNvPr id="13" name="Shape 8"/>
          <p:cNvSpPr/>
          <p:nvPr/>
        </p:nvSpPr>
        <p:spPr>
          <a:xfrm>
            <a:off x="685800" y="2606040"/>
            <a:ext cx="457200" cy="457200"/>
          </a:xfrm>
          <a:prstGeom prst="ellipse">
            <a:avLst/>
          </a:prstGeom>
          <a:solidFill>
            <a:srgbClr val="C9002B"/>
          </a:solidFill>
          <a:ln w="12700">
            <a:solidFill>
              <a:srgbClr val="C9002B"/>
            </a:solidFill>
            <a:prstDash val="solid"/>
          </a:ln>
        </p:spPr>
      </p:sp>
      <p:pic>
        <p:nvPicPr>
          <p:cNvPr id="14" name="Image 3" descr="preencoded.png">    </p:cNvPr>
          <p:cNvPicPr>
            <a:picLocks noChangeAspect="1"/>
          </p:cNvPicPr>
          <p:nvPr/>
        </p:nvPicPr>
        <p:blipFill>
          <a:blip r:embed="rId4"/>
          <a:stretch>
            <a:fillRect/>
          </a:stretch>
        </p:blipFill>
        <p:spPr>
          <a:xfrm>
            <a:off x="800100" y="2720340"/>
            <a:ext cx="228600" cy="228600"/>
          </a:xfrm>
          <a:prstGeom prst="rect">
            <a:avLst/>
          </a:prstGeom>
        </p:spPr>
      </p:pic>
      <p:sp>
        <p:nvSpPr>
          <p:cNvPr id="15" name="Text 9"/>
          <p:cNvSpPr txBox="1"/>
          <p:nvPr/>
        </p:nvSpPr>
        <p:spPr>
          <a:xfrm>
            <a:off x="1234440" y="2331720"/>
            <a:ext cx="1554480" cy="1005840"/>
          </a:xfrm>
          <a:prstGeom prst="rect">
            <a:avLst/>
          </a:prstGeom>
          <a:noFill/>
          <a:ln/>
        </p:spPr>
        <p:txBody>
          <a:bodyPr wrap="square" lIns="0" tIns="0" rIns="0" bIns="0" rtlCol="0" anchor="ctr"/>
          <a:lstStyle/>
          <a:p>
            <a:pPr indent="0" marL="0">
              <a:buNone/>
            </a:pPr>
            <a:r>
              <a:rPr lang="en-US" sz="1300" b="1" dirty="0">
                <a:solidFill>
                  <a:srgbClr val="FFFFFF"/>
                </a:solidFill>
                <a:latin typeface="Meiryo" pitchFamily="34" charset="0"/>
                <a:ea typeface="Meiryo" pitchFamily="34" charset="-122"/>
                <a:cs typeface="Meiryo" pitchFamily="34" charset="-120"/>
              </a:rPr>
              <a:t>モバイル空間統計</a:t>
            </a:r>
            <a:endParaRPr lang="en-US" sz="1300" dirty="0"/>
          </a:p>
        </p:txBody>
      </p:sp>
      <p:sp>
        <p:nvSpPr>
          <p:cNvPr id="16" name="Shape 10"/>
          <p:cNvSpPr/>
          <p:nvPr/>
        </p:nvSpPr>
        <p:spPr>
          <a:xfrm>
            <a:off x="3017520" y="2331720"/>
            <a:ext cx="2743200" cy="1005840"/>
          </a:xfrm>
          <a:prstGeom prst="roundRect">
            <a:avLst>
              <a:gd name="adj" fmla="val 7273"/>
            </a:avLst>
          </a:prstGeom>
          <a:solidFill>
            <a:srgbClr val="FBEAEE"/>
          </a:solidFill>
          <a:ln w="12700">
            <a:solidFill>
              <a:srgbClr val="FBEAEE"/>
            </a:solidFill>
            <a:prstDash val="solid"/>
          </a:ln>
        </p:spPr>
      </p:sp>
      <p:sp>
        <p:nvSpPr>
          <p:cNvPr id="17" name="Text 11"/>
          <p:cNvSpPr txBox="1"/>
          <p:nvPr/>
        </p:nvSpPr>
        <p:spPr>
          <a:xfrm>
            <a:off x="3200400" y="2331720"/>
            <a:ext cx="2423160" cy="1005840"/>
          </a:xfrm>
          <a:prstGeom prst="rect">
            <a:avLst/>
          </a:prstGeom>
          <a:noFill/>
          <a:ln/>
        </p:spPr>
        <p:txBody>
          <a:bodyPr wrap="square" lIns="0" tIns="0" rIns="0" bIns="0" rtlCol="0" anchor="ctr"/>
          <a:lstStyle/>
          <a:p>
            <a:pPr indent="0" marL="0">
              <a:buNone/>
            </a:pPr>
            <a:r>
              <a:rPr lang="en-US" sz="1400" b="1" dirty="0">
                <a:solidFill>
                  <a:srgbClr val="20232A"/>
                </a:solidFill>
                <a:latin typeface="Meiryo" pitchFamily="34" charset="0"/>
                <a:ea typeface="Meiryo" pitchFamily="34" charset="-122"/>
                <a:cs typeface="Meiryo" pitchFamily="34" charset="-120"/>
              </a:rPr>
              <a:t>地域・時間をそろえて比較</a:t>
            </a:r>
            <a:endParaRPr lang="en-US" sz="1400" dirty="0"/>
          </a:p>
        </p:txBody>
      </p:sp>
      <p:sp>
        <p:nvSpPr>
          <p:cNvPr id="18" name="Shape 12"/>
          <p:cNvSpPr/>
          <p:nvPr/>
        </p:nvSpPr>
        <p:spPr>
          <a:xfrm>
            <a:off x="5925312" y="2331720"/>
            <a:ext cx="2743200" cy="1005840"/>
          </a:xfrm>
          <a:prstGeom prst="roundRect">
            <a:avLst>
              <a:gd name="adj" fmla="val 7273"/>
            </a:avLst>
          </a:prstGeom>
          <a:solidFill>
            <a:srgbClr val="F4F5F7"/>
          </a:solidFill>
          <a:ln w="12700">
            <a:solidFill>
              <a:srgbClr val="F4F5F7"/>
            </a:solidFill>
            <a:prstDash val="solid"/>
          </a:ln>
        </p:spPr>
      </p:sp>
      <p:sp>
        <p:nvSpPr>
          <p:cNvPr id="19" name="Text 13"/>
          <p:cNvSpPr txBox="1"/>
          <p:nvPr/>
        </p:nvSpPr>
        <p:spPr>
          <a:xfrm>
            <a:off x="6108192" y="2331720"/>
            <a:ext cx="2423160" cy="1005840"/>
          </a:xfrm>
          <a:prstGeom prst="rect">
            <a:avLst/>
          </a:prstGeom>
          <a:noFill/>
          <a:ln/>
        </p:spPr>
        <p:txBody>
          <a:bodyPr wrap="square" lIns="0" tIns="0" rIns="0" bIns="0" rtlCol="0" anchor="ctr"/>
          <a:lstStyle/>
          <a:p>
            <a:pPr indent="0" marL="0">
              <a:buNone/>
            </a:pPr>
            <a:r>
              <a:rPr lang="en-US" sz="1400" dirty="0">
                <a:solidFill>
                  <a:srgbClr val="20232A"/>
                </a:solidFill>
                <a:latin typeface="Meiryo" pitchFamily="34" charset="0"/>
                <a:ea typeface="Meiryo" pitchFamily="34" charset="-122"/>
                <a:cs typeface="Meiryo" pitchFamily="34" charset="-120"/>
              </a:rPr>
              <a:t>来訪理由や個人は分からない</a:t>
            </a:r>
            <a:endParaRPr lang="en-US" sz="1400" dirty="0"/>
          </a:p>
        </p:txBody>
      </p:sp>
      <p:sp>
        <p:nvSpPr>
          <p:cNvPr id="20" name="Shape 14"/>
          <p:cNvSpPr/>
          <p:nvPr/>
        </p:nvSpPr>
        <p:spPr>
          <a:xfrm>
            <a:off x="8833104" y="2331720"/>
            <a:ext cx="2743200" cy="1005840"/>
          </a:xfrm>
          <a:prstGeom prst="roundRect">
            <a:avLst>
              <a:gd name="adj" fmla="val 7273"/>
            </a:avLst>
          </a:prstGeom>
          <a:solidFill>
            <a:srgbClr val="F4F5F7"/>
          </a:solidFill>
          <a:ln w="12700">
            <a:solidFill>
              <a:srgbClr val="F4F5F7"/>
            </a:solidFill>
            <a:prstDash val="solid"/>
          </a:ln>
        </p:spPr>
      </p:sp>
      <p:sp>
        <p:nvSpPr>
          <p:cNvPr id="21" name="Text 15"/>
          <p:cNvSpPr txBox="1"/>
          <p:nvPr/>
        </p:nvSpPr>
        <p:spPr>
          <a:xfrm>
            <a:off x="9015984" y="2331720"/>
            <a:ext cx="2423160" cy="1005840"/>
          </a:xfrm>
          <a:prstGeom prst="rect">
            <a:avLst/>
          </a:prstGeom>
          <a:noFill/>
          <a:ln/>
        </p:spPr>
        <p:txBody>
          <a:bodyPr wrap="square" lIns="0" tIns="0" rIns="0" bIns="0" rtlCol="0" anchor="ctr"/>
          <a:lstStyle/>
          <a:p>
            <a:pPr indent="0" marL="0">
              <a:buNone/>
            </a:pPr>
            <a:r>
              <a:rPr lang="en-US" sz="1400" dirty="0">
                <a:solidFill>
                  <a:srgbClr val="20232A"/>
                </a:solidFill>
                <a:latin typeface="Meiryo" pitchFamily="34" charset="0"/>
                <a:ea typeface="Meiryo" pitchFamily="34" charset="-122"/>
                <a:cs typeface="Meiryo" pitchFamily="34" charset="-120"/>
              </a:rPr>
              <a:t>顧客の実績や調査結果と照合</a:t>
            </a:r>
            <a:endParaRPr lang="en-US" sz="1400" dirty="0"/>
          </a:p>
        </p:txBody>
      </p:sp>
      <p:sp>
        <p:nvSpPr>
          <p:cNvPr id="22" name="Shape 16"/>
          <p:cNvSpPr/>
          <p:nvPr/>
        </p:nvSpPr>
        <p:spPr>
          <a:xfrm>
            <a:off x="548640" y="3520440"/>
            <a:ext cx="2286000" cy="1005840"/>
          </a:xfrm>
          <a:prstGeom prst="roundRect">
            <a:avLst>
              <a:gd name="adj" fmla="val 7273"/>
            </a:avLst>
          </a:prstGeom>
          <a:solidFill>
            <a:srgbClr val="20232A"/>
          </a:solidFill>
          <a:ln w="12700">
            <a:solidFill>
              <a:srgbClr val="20232A"/>
            </a:solidFill>
            <a:prstDash val="solid"/>
          </a:ln>
        </p:spPr>
      </p:sp>
      <p:sp>
        <p:nvSpPr>
          <p:cNvPr id="23" name="Shape 17"/>
          <p:cNvSpPr/>
          <p:nvPr/>
        </p:nvSpPr>
        <p:spPr>
          <a:xfrm>
            <a:off x="685800" y="3794760"/>
            <a:ext cx="457200" cy="457200"/>
          </a:xfrm>
          <a:prstGeom prst="ellipse">
            <a:avLst/>
          </a:prstGeom>
          <a:solidFill>
            <a:srgbClr val="C9002B"/>
          </a:solidFill>
          <a:ln w="12700">
            <a:solidFill>
              <a:srgbClr val="C9002B"/>
            </a:solidFill>
            <a:prstDash val="solid"/>
          </a:ln>
        </p:spPr>
      </p:sp>
      <p:pic>
        <p:nvPicPr>
          <p:cNvPr id="24" name="Image 4" descr="preencoded.png">    </p:cNvPr>
          <p:cNvPicPr>
            <a:picLocks noChangeAspect="1"/>
          </p:cNvPicPr>
          <p:nvPr/>
        </p:nvPicPr>
        <p:blipFill>
          <a:blip r:embed="rId5"/>
          <a:stretch>
            <a:fillRect/>
          </a:stretch>
        </p:blipFill>
        <p:spPr>
          <a:xfrm>
            <a:off x="800100" y="3909060"/>
            <a:ext cx="228600" cy="228600"/>
          </a:xfrm>
          <a:prstGeom prst="rect">
            <a:avLst/>
          </a:prstGeom>
        </p:spPr>
      </p:pic>
      <p:sp>
        <p:nvSpPr>
          <p:cNvPr id="25" name="Text 18"/>
          <p:cNvSpPr txBox="1"/>
          <p:nvPr/>
        </p:nvSpPr>
        <p:spPr>
          <a:xfrm>
            <a:off x="1234440" y="3520440"/>
            <a:ext cx="1554480" cy="1005840"/>
          </a:xfrm>
          <a:prstGeom prst="rect">
            <a:avLst/>
          </a:prstGeom>
          <a:noFill/>
          <a:ln/>
        </p:spPr>
        <p:txBody>
          <a:bodyPr wrap="square" lIns="0" tIns="0" rIns="0" bIns="0" rtlCol="0" anchor="ctr"/>
          <a:lstStyle/>
          <a:p>
            <a:pPr indent="0" marL="0">
              <a:buNone/>
            </a:pPr>
            <a:r>
              <a:rPr lang="en-US" sz="1300" b="1" dirty="0">
                <a:solidFill>
                  <a:srgbClr val="FFFFFF"/>
                </a:solidFill>
                <a:latin typeface="Meiryo" pitchFamily="34" charset="0"/>
                <a:ea typeface="Meiryo" pitchFamily="34" charset="-122"/>
                <a:cs typeface="Meiryo" pitchFamily="34" charset="-120"/>
              </a:rPr>
              <a:t>プレミアパネル</a:t>
            </a:r>
            <a:endParaRPr lang="en-US" sz="1300" dirty="0"/>
          </a:p>
        </p:txBody>
      </p:sp>
      <p:sp>
        <p:nvSpPr>
          <p:cNvPr id="26" name="Shape 19"/>
          <p:cNvSpPr/>
          <p:nvPr/>
        </p:nvSpPr>
        <p:spPr>
          <a:xfrm>
            <a:off x="3017520" y="3520440"/>
            <a:ext cx="2743200" cy="1005840"/>
          </a:xfrm>
          <a:prstGeom prst="roundRect">
            <a:avLst>
              <a:gd name="adj" fmla="val 7273"/>
            </a:avLst>
          </a:prstGeom>
          <a:solidFill>
            <a:srgbClr val="FBEAEE"/>
          </a:solidFill>
          <a:ln w="12700">
            <a:solidFill>
              <a:srgbClr val="FBEAEE"/>
            </a:solidFill>
            <a:prstDash val="solid"/>
          </a:ln>
        </p:spPr>
      </p:sp>
      <p:sp>
        <p:nvSpPr>
          <p:cNvPr id="27" name="Text 20"/>
          <p:cNvSpPr txBox="1"/>
          <p:nvPr/>
        </p:nvSpPr>
        <p:spPr>
          <a:xfrm>
            <a:off x="3200400" y="3520440"/>
            <a:ext cx="2423160" cy="1005840"/>
          </a:xfrm>
          <a:prstGeom prst="rect">
            <a:avLst/>
          </a:prstGeom>
          <a:noFill/>
          <a:ln/>
        </p:spPr>
        <p:txBody>
          <a:bodyPr wrap="square" lIns="0" tIns="0" rIns="0" bIns="0" rtlCol="0" anchor="ctr"/>
          <a:lstStyle/>
          <a:p>
            <a:pPr indent="0" marL="0">
              <a:buNone/>
            </a:pPr>
            <a:r>
              <a:rPr lang="en-US" sz="1400" b="1" dirty="0">
                <a:solidFill>
                  <a:srgbClr val="20232A"/>
                </a:solidFill>
                <a:latin typeface="Meiryo" pitchFamily="34" charset="0"/>
                <a:ea typeface="Meiryo" pitchFamily="34" charset="-122"/>
                <a:cs typeface="Meiryo" pitchFamily="34" charset="-120"/>
              </a:rPr>
              <a:t>理由・意向を直接質問できる</a:t>
            </a:r>
            <a:endParaRPr lang="en-US" sz="1400" dirty="0"/>
          </a:p>
        </p:txBody>
      </p:sp>
      <p:sp>
        <p:nvSpPr>
          <p:cNvPr id="28" name="Shape 21"/>
          <p:cNvSpPr/>
          <p:nvPr/>
        </p:nvSpPr>
        <p:spPr>
          <a:xfrm>
            <a:off x="5925312" y="3520440"/>
            <a:ext cx="2743200" cy="1005840"/>
          </a:xfrm>
          <a:prstGeom prst="roundRect">
            <a:avLst>
              <a:gd name="adj" fmla="val 7273"/>
            </a:avLst>
          </a:prstGeom>
          <a:solidFill>
            <a:srgbClr val="F4F5F7"/>
          </a:solidFill>
          <a:ln w="12700">
            <a:solidFill>
              <a:srgbClr val="F4F5F7"/>
            </a:solidFill>
            <a:prstDash val="solid"/>
          </a:ln>
        </p:spPr>
      </p:sp>
      <p:sp>
        <p:nvSpPr>
          <p:cNvPr id="29" name="Text 22"/>
          <p:cNvSpPr txBox="1"/>
          <p:nvPr/>
        </p:nvSpPr>
        <p:spPr>
          <a:xfrm>
            <a:off x="6108192" y="3520440"/>
            <a:ext cx="2423160" cy="1005840"/>
          </a:xfrm>
          <a:prstGeom prst="rect">
            <a:avLst/>
          </a:prstGeom>
          <a:noFill/>
          <a:ln/>
        </p:spPr>
        <p:txBody>
          <a:bodyPr wrap="square" lIns="0" tIns="0" rIns="0" bIns="0" rtlCol="0" anchor="ctr"/>
          <a:lstStyle/>
          <a:p>
            <a:pPr indent="0" marL="0">
              <a:buNone/>
            </a:pPr>
            <a:r>
              <a:rPr lang="en-US" sz="1400" dirty="0">
                <a:solidFill>
                  <a:srgbClr val="20232A"/>
                </a:solidFill>
                <a:latin typeface="Meiryo" pitchFamily="34" charset="0"/>
                <a:ea typeface="Meiryo" pitchFamily="34" charset="-122"/>
                <a:cs typeface="Meiryo" pitchFamily="34" charset="-120"/>
              </a:rPr>
              <a:t>回答者の偏りや回収数に注意</a:t>
            </a:r>
            <a:endParaRPr lang="en-US" sz="1400" dirty="0"/>
          </a:p>
        </p:txBody>
      </p:sp>
      <p:sp>
        <p:nvSpPr>
          <p:cNvPr id="30" name="Shape 23"/>
          <p:cNvSpPr/>
          <p:nvPr/>
        </p:nvSpPr>
        <p:spPr>
          <a:xfrm>
            <a:off x="8833104" y="3520440"/>
            <a:ext cx="2743200" cy="1005840"/>
          </a:xfrm>
          <a:prstGeom prst="roundRect">
            <a:avLst>
              <a:gd name="adj" fmla="val 7273"/>
            </a:avLst>
          </a:prstGeom>
          <a:solidFill>
            <a:srgbClr val="F4F5F7"/>
          </a:solidFill>
          <a:ln w="12700">
            <a:solidFill>
              <a:srgbClr val="F4F5F7"/>
            </a:solidFill>
            <a:prstDash val="solid"/>
          </a:ln>
        </p:spPr>
      </p:sp>
      <p:sp>
        <p:nvSpPr>
          <p:cNvPr id="31" name="Text 24"/>
          <p:cNvSpPr txBox="1"/>
          <p:nvPr/>
        </p:nvSpPr>
        <p:spPr>
          <a:xfrm>
            <a:off x="9015984" y="3520440"/>
            <a:ext cx="2423160" cy="1005840"/>
          </a:xfrm>
          <a:prstGeom prst="rect">
            <a:avLst/>
          </a:prstGeom>
          <a:noFill/>
          <a:ln/>
        </p:spPr>
        <p:txBody>
          <a:bodyPr wrap="square" lIns="0" tIns="0" rIns="0" bIns="0" rtlCol="0" anchor="ctr"/>
          <a:lstStyle/>
          <a:p>
            <a:pPr indent="0" marL="0">
              <a:buNone/>
            </a:pPr>
            <a:r>
              <a:rPr lang="en-US" sz="1400" dirty="0">
                <a:solidFill>
                  <a:srgbClr val="20232A"/>
                </a:solidFill>
                <a:latin typeface="Meiryo" pitchFamily="34" charset="0"/>
                <a:ea typeface="Meiryo" pitchFamily="34" charset="-122"/>
                <a:cs typeface="Meiryo" pitchFamily="34" charset="-120"/>
              </a:rPr>
              <a:t>対象・設問・集計条件を明記</a:t>
            </a:r>
            <a:endParaRPr lang="en-US" sz="1400" dirty="0"/>
          </a:p>
        </p:txBody>
      </p:sp>
      <p:sp>
        <p:nvSpPr>
          <p:cNvPr id="32" name="Shape 25"/>
          <p:cNvSpPr/>
          <p:nvPr/>
        </p:nvSpPr>
        <p:spPr>
          <a:xfrm>
            <a:off x="548640" y="4709160"/>
            <a:ext cx="2286000" cy="1005840"/>
          </a:xfrm>
          <a:prstGeom prst="roundRect">
            <a:avLst>
              <a:gd name="adj" fmla="val 7273"/>
            </a:avLst>
          </a:prstGeom>
          <a:solidFill>
            <a:srgbClr val="20232A"/>
          </a:solidFill>
          <a:ln w="12700">
            <a:solidFill>
              <a:srgbClr val="20232A"/>
            </a:solidFill>
            <a:prstDash val="solid"/>
          </a:ln>
        </p:spPr>
      </p:sp>
      <p:sp>
        <p:nvSpPr>
          <p:cNvPr id="33" name="Shape 26"/>
          <p:cNvSpPr/>
          <p:nvPr/>
        </p:nvSpPr>
        <p:spPr>
          <a:xfrm>
            <a:off x="685800" y="4983480"/>
            <a:ext cx="457200" cy="457200"/>
          </a:xfrm>
          <a:prstGeom prst="ellipse">
            <a:avLst/>
          </a:prstGeom>
          <a:solidFill>
            <a:srgbClr val="C9002B"/>
          </a:solidFill>
          <a:ln w="12700">
            <a:solidFill>
              <a:srgbClr val="C9002B"/>
            </a:solidFill>
            <a:prstDash val="solid"/>
          </a:ln>
        </p:spPr>
      </p:sp>
      <p:pic>
        <p:nvPicPr>
          <p:cNvPr id="34" name="Image 5" descr="preencoded.png">    </p:cNvPr>
          <p:cNvPicPr>
            <a:picLocks noChangeAspect="1"/>
          </p:cNvPicPr>
          <p:nvPr/>
        </p:nvPicPr>
        <p:blipFill>
          <a:blip r:embed="rId6"/>
          <a:stretch>
            <a:fillRect/>
          </a:stretch>
        </p:blipFill>
        <p:spPr>
          <a:xfrm>
            <a:off x="800100" y="5097780"/>
            <a:ext cx="228600" cy="228600"/>
          </a:xfrm>
          <a:prstGeom prst="rect">
            <a:avLst/>
          </a:prstGeom>
        </p:spPr>
      </p:pic>
      <p:sp>
        <p:nvSpPr>
          <p:cNvPr id="35" name="Text 27"/>
          <p:cNvSpPr txBox="1"/>
          <p:nvPr/>
        </p:nvSpPr>
        <p:spPr>
          <a:xfrm>
            <a:off x="1234440" y="4709160"/>
            <a:ext cx="1554480" cy="1005840"/>
          </a:xfrm>
          <a:prstGeom prst="rect">
            <a:avLst/>
          </a:prstGeom>
          <a:noFill/>
          <a:ln/>
        </p:spPr>
        <p:txBody>
          <a:bodyPr wrap="square" lIns="0" tIns="0" rIns="0" bIns="0" rtlCol="0" anchor="ctr"/>
          <a:lstStyle/>
          <a:p>
            <a:pPr indent="0" marL="0">
              <a:buNone/>
            </a:pPr>
            <a:r>
              <a:rPr lang="en-US" sz="1300" b="1" dirty="0">
                <a:solidFill>
                  <a:srgbClr val="FFFFFF"/>
                </a:solidFill>
                <a:latin typeface="Meiryo" pitchFamily="34" charset="0"/>
                <a:ea typeface="Meiryo" pitchFamily="34" charset="-122"/>
                <a:cs typeface="Meiryo" pitchFamily="34" charset="-120"/>
              </a:rPr>
              <a:t>docomo Ad Network</a:t>
            </a:r>
            <a:endParaRPr lang="en-US" sz="1300" dirty="0"/>
          </a:p>
        </p:txBody>
      </p:sp>
      <p:sp>
        <p:nvSpPr>
          <p:cNvPr id="36" name="Shape 28"/>
          <p:cNvSpPr/>
          <p:nvPr/>
        </p:nvSpPr>
        <p:spPr>
          <a:xfrm>
            <a:off x="3017520" y="4709160"/>
            <a:ext cx="2743200" cy="1005840"/>
          </a:xfrm>
          <a:prstGeom prst="roundRect">
            <a:avLst>
              <a:gd name="adj" fmla="val 7273"/>
            </a:avLst>
          </a:prstGeom>
          <a:solidFill>
            <a:srgbClr val="FBEAEE"/>
          </a:solidFill>
          <a:ln w="12700">
            <a:solidFill>
              <a:srgbClr val="FBEAEE"/>
            </a:solidFill>
            <a:prstDash val="solid"/>
          </a:ln>
        </p:spPr>
      </p:sp>
      <p:sp>
        <p:nvSpPr>
          <p:cNvPr id="37" name="Text 29"/>
          <p:cNvSpPr txBox="1"/>
          <p:nvPr/>
        </p:nvSpPr>
        <p:spPr>
          <a:xfrm>
            <a:off x="3200400" y="4709160"/>
            <a:ext cx="2423160" cy="1005840"/>
          </a:xfrm>
          <a:prstGeom prst="rect">
            <a:avLst/>
          </a:prstGeom>
          <a:noFill/>
          <a:ln/>
        </p:spPr>
        <p:txBody>
          <a:bodyPr wrap="square" lIns="0" tIns="0" rIns="0" bIns="0" rtlCol="0" anchor="ctr"/>
          <a:lstStyle/>
          <a:p>
            <a:pPr indent="0" marL="0">
              <a:buNone/>
            </a:pPr>
            <a:r>
              <a:rPr lang="en-US" sz="1400" b="1" dirty="0">
                <a:solidFill>
                  <a:srgbClr val="20232A"/>
                </a:solidFill>
                <a:latin typeface="Meiryo" pitchFamily="34" charset="0"/>
                <a:ea typeface="Meiryo" pitchFamily="34" charset="-122"/>
                <a:cs typeface="Meiryo" pitchFamily="34" charset="-120"/>
              </a:rPr>
              <a:t>対象を絞った配信と運用改善</a:t>
            </a:r>
            <a:endParaRPr lang="en-US" sz="1400" dirty="0"/>
          </a:p>
        </p:txBody>
      </p:sp>
      <p:sp>
        <p:nvSpPr>
          <p:cNvPr id="38" name="Shape 30"/>
          <p:cNvSpPr/>
          <p:nvPr/>
        </p:nvSpPr>
        <p:spPr>
          <a:xfrm>
            <a:off x="5925312" y="4709160"/>
            <a:ext cx="2743200" cy="1005840"/>
          </a:xfrm>
          <a:prstGeom prst="roundRect">
            <a:avLst>
              <a:gd name="adj" fmla="val 7273"/>
            </a:avLst>
          </a:prstGeom>
          <a:solidFill>
            <a:srgbClr val="F4F5F7"/>
          </a:solidFill>
          <a:ln w="12700">
            <a:solidFill>
              <a:srgbClr val="F4F5F7"/>
            </a:solidFill>
            <a:prstDash val="solid"/>
          </a:ln>
        </p:spPr>
      </p:sp>
      <p:sp>
        <p:nvSpPr>
          <p:cNvPr id="39" name="Text 31"/>
          <p:cNvSpPr txBox="1"/>
          <p:nvPr/>
        </p:nvSpPr>
        <p:spPr>
          <a:xfrm>
            <a:off x="6108192" y="4709160"/>
            <a:ext cx="2423160" cy="1005840"/>
          </a:xfrm>
          <a:prstGeom prst="rect">
            <a:avLst/>
          </a:prstGeom>
          <a:noFill/>
          <a:ln/>
        </p:spPr>
        <p:txBody>
          <a:bodyPr wrap="square" lIns="0" tIns="0" rIns="0" bIns="0" rtlCol="0" anchor="ctr"/>
          <a:lstStyle/>
          <a:p>
            <a:pPr indent="0" marL="0">
              <a:buNone/>
            </a:pPr>
            <a:r>
              <a:rPr lang="en-US" sz="1400" dirty="0">
                <a:solidFill>
                  <a:srgbClr val="20232A"/>
                </a:solidFill>
                <a:latin typeface="Meiryo" pitchFamily="34" charset="0"/>
                <a:ea typeface="Meiryo" pitchFamily="34" charset="-122"/>
                <a:cs typeface="Meiryo" pitchFamily="34" charset="-120"/>
              </a:rPr>
              <a:t>素材・申込先・予算で成果が変動</a:t>
            </a:r>
            <a:endParaRPr lang="en-US" sz="1400" dirty="0"/>
          </a:p>
        </p:txBody>
      </p:sp>
      <p:sp>
        <p:nvSpPr>
          <p:cNvPr id="40" name="Shape 32"/>
          <p:cNvSpPr/>
          <p:nvPr/>
        </p:nvSpPr>
        <p:spPr>
          <a:xfrm>
            <a:off x="8833104" y="4709160"/>
            <a:ext cx="2743200" cy="1005840"/>
          </a:xfrm>
          <a:prstGeom prst="roundRect">
            <a:avLst>
              <a:gd name="adj" fmla="val 7273"/>
            </a:avLst>
          </a:prstGeom>
          <a:solidFill>
            <a:srgbClr val="F4F5F7"/>
          </a:solidFill>
          <a:ln w="12700">
            <a:solidFill>
              <a:srgbClr val="F4F5F7"/>
            </a:solidFill>
            <a:prstDash val="solid"/>
          </a:ln>
        </p:spPr>
      </p:sp>
      <p:sp>
        <p:nvSpPr>
          <p:cNvPr id="41" name="Text 33"/>
          <p:cNvSpPr txBox="1"/>
          <p:nvPr/>
        </p:nvSpPr>
        <p:spPr>
          <a:xfrm>
            <a:off x="9015984" y="4709160"/>
            <a:ext cx="2423160" cy="1005840"/>
          </a:xfrm>
          <a:prstGeom prst="rect">
            <a:avLst/>
          </a:prstGeom>
          <a:noFill/>
          <a:ln/>
        </p:spPr>
        <p:txBody>
          <a:bodyPr wrap="square" lIns="0" tIns="0" rIns="0" bIns="0" rtlCol="0" anchor="ctr"/>
          <a:lstStyle/>
          <a:p>
            <a:pPr indent="0" marL="0">
              <a:buNone/>
            </a:pPr>
            <a:r>
              <a:rPr lang="en-US" sz="1400" dirty="0">
                <a:solidFill>
                  <a:srgbClr val="20232A"/>
                </a:solidFill>
                <a:latin typeface="Meiryo" pitchFamily="34" charset="0"/>
                <a:ea typeface="Meiryo" pitchFamily="34" charset="-122"/>
                <a:cs typeface="Meiryo" pitchFamily="34" charset="-120"/>
              </a:rPr>
              <a:t>申込まで計測し改善点を選ぶ</a:t>
            </a:r>
            <a:endParaRPr lang="en-US" sz="1400" dirty="0"/>
          </a:p>
        </p:txBody>
      </p:sp>
      <p:sp>
        <p:nvSpPr>
          <p:cNvPr id="42" name="Text 34"/>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C626D"/>
                </a:solidFill>
                <a:latin typeface="Meiryo" pitchFamily="34" charset="0"/>
                <a:ea typeface="Meiryo" pitchFamily="34" charset="-122"/>
                <a:cs typeface="Meiryo" pitchFamily="34" charset="-120"/>
              </a:rPr>
              <a:t>3商材を一括で入れれば成功するわけではない。限界と補い方は本資料による営業上の整理</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4864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02　提案の型</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20232A"/>
                </a:solidFill>
                <a:latin typeface="Meiryo" pitchFamily="34" charset="0"/>
                <a:ea typeface="Meiryo" pitchFamily="34" charset="-122"/>
                <a:cs typeface="Meiryo" pitchFamily="34" charset="-120"/>
              </a:rPr>
              <a:t>自治体・大学・スポーツチームへの提案</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C626D"/>
                </a:solidFill>
                <a:latin typeface="Meiryo" pitchFamily="34" charset="0"/>
                <a:ea typeface="Meiryo" pitchFamily="34" charset="-122"/>
                <a:cs typeface="Meiryo" pitchFamily="34" charset="-120"/>
              </a:rPr>
              <a:t>最初の商材は、相手が今困っていることから選ぶ</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C626D"/>
                </a:solidFill>
                <a:latin typeface="Meiryo" pitchFamily="34" charset="0"/>
                <a:ea typeface="Meiryo" pitchFamily="34" charset="-122"/>
                <a:cs typeface="Meiryo" pitchFamily="34" charset="-120"/>
              </a:rPr>
              <a:t>08</a:t>
            </a:r>
            <a:endParaRPr lang="en-US" sz="1000" dirty="0"/>
          </a:p>
        </p:txBody>
      </p:sp>
      <p:sp>
        <p:nvSpPr>
          <p:cNvPr id="6" name="Shape 4"/>
          <p:cNvSpPr/>
          <p:nvPr/>
        </p:nvSpPr>
        <p:spPr>
          <a:xfrm>
            <a:off x="548640" y="1737360"/>
            <a:ext cx="3474720" cy="4343400"/>
          </a:xfrm>
          <a:prstGeom prst="roundRect">
            <a:avLst>
              <a:gd name="adj" fmla="val 2105"/>
            </a:avLst>
          </a:prstGeom>
          <a:solidFill>
            <a:srgbClr val="FFFFFF"/>
          </a:solidFill>
          <a:ln w="12700">
            <a:solidFill>
              <a:srgbClr val="DADDE2"/>
            </a:solidFill>
            <a:prstDash val="solid"/>
          </a:ln>
        </p:spPr>
      </p:sp>
      <p:sp>
        <p:nvSpPr>
          <p:cNvPr id="7" name="Shape 5"/>
          <p:cNvSpPr/>
          <p:nvPr/>
        </p:nvSpPr>
        <p:spPr>
          <a:xfrm>
            <a:off x="777240" y="1920240"/>
            <a:ext cx="640080" cy="640080"/>
          </a:xfrm>
          <a:prstGeom prst="ellipse">
            <a:avLst/>
          </a:prstGeom>
          <a:solidFill>
            <a:srgbClr val="20232A"/>
          </a:solidFill>
          <a:ln w="12700">
            <a:solidFill>
              <a:srgbClr val="20232A"/>
            </a:solidFill>
            <a:prstDash val="solid"/>
          </a:ln>
        </p:spPr>
      </p:sp>
      <p:pic>
        <p:nvPicPr>
          <p:cNvPr id="8" name="Image 0" descr="preencoded.png">    </p:cNvPr>
          <p:cNvPicPr>
            <a:picLocks noChangeAspect="1"/>
          </p:cNvPicPr>
          <p:nvPr/>
        </p:nvPicPr>
        <p:blipFill>
          <a:blip r:embed="rId1"/>
          <a:stretch>
            <a:fillRect/>
          </a:stretch>
        </p:blipFill>
        <p:spPr>
          <a:xfrm>
            <a:off x="937260" y="2080260"/>
            <a:ext cx="320040" cy="320040"/>
          </a:xfrm>
          <a:prstGeom prst="rect">
            <a:avLst/>
          </a:prstGeom>
        </p:spPr>
      </p:pic>
      <p:sp>
        <p:nvSpPr>
          <p:cNvPr id="9" name="Text 6"/>
          <p:cNvSpPr txBox="1"/>
          <p:nvPr/>
        </p:nvSpPr>
        <p:spPr>
          <a:xfrm>
            <a:off x="1554480" y="1920240"/>
            <a:ext cx="2377440" cy="365760"/>
          </a:xfrm>
          <a:prstGeom prst="rect">
            <a:avLst/>
          </a:prstGeom>
          <a:noFill/>
          <a:ln/>
        </p:spPr>
        <p:txBody>
          <a:bodyPr wrap="square" lIns="0" tIns="0" rIns="0" bIns="0" rtlCol="0" anchor="ctr"/>
          <a:lstStyle/>
          <a:p>
            <a:pPr indent="0" marL="0">
              <a:buNone/>
            </a:pPr>
            <a:r>
              <a:rPr lang="en-US" sz="1800" b="1" dirty="0">
                <a:solidFill>
                  <a:srgbClr val="20232A"/>
                </a:solidFill>
                <a:latin typeface="Meiryo" pitchFamily="34" charset="0"/>
                <a:ea typeface="Meiryo" pitchFamily="34" charset="-122"/>
                <a:cs typeface="Meiryo" pitchFamily="34" charset="-120"/>
              </a:rPr>
              <a:t>自治体</a:t>
            </a:r>
            <a:endParaRPr lang="en-US" sz="1800" dirty="0"/>
          </a:p>
        </p:txBody>
      </p:sp>
      <p:sp>
        <p:nvSpPr>
          <p:cNvPr id="10" name="Text 7"/>
          <p:cNvSpPr txBox="1"/>
          <p:nvPr/>
        </p:nvSpPr>
        <p:spPr>
          <a:xfrm>
            <a:off x="1554480" y="2286000"/>
            <a:ext cx="2377440" cy="274320"/>
          </a:xfrm>
          <a:prstGeom prst="rect">
            <a:avLst/>
          </a:prstGeom>
          <a:noFill/>
          <a:ln/>
        </p:spPr>
        <p:txBody>
          <a:bodyPr wrap="square" lIns="0" tIns="0" rIns="0" bIns="0" rtlCol="0" anchor="t"/>
          <a:lstStyle/>
          <a:p>
            <a:pPr indent="0" marL="0">
              <a:buNone/>
            </a:pPr>
            <a:r>
              <a:rPr lang="en-US" sz="1100" dirty="0">
                <a:solidFill>
                  <a:srgbClr val="5C626D"/>
                </a:solidFill>
                <a:latin typeface="Meiryo" pitchFamily="34" charset="0"/>
                <a:ea typeface="Meiryo" pitchFamily="34" charset="-122"/>
                <a:cs typeface="Meiryo" pitchFamily="34" charset="-120"/>
              </a:rPr>
              <a:t>成果の軸：説明責任</a:t>
            </a:r>
            <a:endParaRPr lang="en-US" sz="1100" dirty="0"/>
          </a:p>
        </p:txBody>
      </p:sp>
      <p:sp>
        <p:nvSpPr>
          <p:cNvPr id="11" name="Text 8"/>
          <p:cNvSpPr txBox="1"/>
          <p:nvPr/>
        </p:nvSpPr>
        <p:spPr>
          <a:xfrm>
            <a:off x="731520" y="2743200"/>
            <a:ext cx="3154680" cy="731520"/>
          </a:xfrm>
          <a:prstGeom prst="rect">
            <a:avLst/>
          </a:prstGeom>
          <a:noFill/>
          <a:ln/>
        </p:spPr>
        <p:txBody>
          <a:bodyPr wrap="square" lIns="0" tIns="0" rIns="0" bIns="0" rtlCol="0" anchor="t"/>
          <a:lstStyle/>
          <a:p>
            <a:pPr indent="0" marL="0">
              <a:buNone/>
            </a:pPr>
            <a:r>
              <a:rPr lang="en-US" sz="1200" i="1" dirty="0">
                <a:solidFill>
                  <a:srgbClr val="20232A"/>
                </a:solidFill>
                <a:latin typeface="Meiryo" pitchFamily="34" charset="0"/>
                <a:ea typeface="Meiryo" pitchFamily="34" charset="-122"/>
                <a:cs typeface="Meiryo" pitchFamily="34" charset="-120"/>
              </a:rPr>
              <a:t>「イベントや観光の効果を説明したい」</a:t>
            </a:r>
            <a:endParaRPr lang="en-US" sz="1200" dirty="0"/>
          </a:p>
        </p:txBody>
      </p:sp>
      <p:sp>
        <p:nvSpPr>
          <p:cNvPr id="12" name="Text 9"/>
          <p:cNvSpPr txBox="1"/>
          <p:nvPr/>
        </p:nvSpPr>
        <p:spPr>
          <a:xfrm>
            <a:off x="777240" y="3566160"/>
            <a:ext cx="1188720" cy="274320"/>
          </a:xfrm>
          <a:prstGeom prst="roundRect">
            <a:avLst>
              <a:gd name="adj" fmla="val 50000"/>
            </a:avLst>
          </a:prstGeom>
          <a:solidFill>
            <a:srgbClr val="C9002B"/>
          </a:solidFill>
          <a:ln>
            <a:solidFill>
              <a:srgbClr val="C9002B"/>
            </a:solid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最初の提案</a:t>
            </a:r>
            <a:endParaRPr lang="en-US" sz="1000" dirty="0"/>
          </a:p>
        </p:txBody>
      </p:sp>
      <p:sp>
        <p:nvSpPr>
          <p:cNvPr id="13" name="Text 10"/>
          <p:cNvSpPr txBox="1"/>
          <p:nvPr/>
        </p:nvSpPr>
        <p:spPr>
          <a:xfrm>
            <a:off x="777240" y="3913632"/>
            <a:ext cx="3063240" cy="594360"/>
          </a:xfrm>
          <a:prstGeom prst="rect">
            <a:avLst/>
          </a:prstGeom>
          <a:noFill/>
          <a:ln/>
        </p:spPr>
        <p:txBody>
          <a:bodyPr wrap="square" lIns="0" tIns="0" rIns="0" bIns="0" rtlCol="0" anchor="t"/>
          <a:lstStyle/>
          <a:p>
            <a:pPr indent="0" marL="0">
              <a:buNone/>
            </a:pPr>
            <a:r>
              <a:rPr lang="en-US" sz="1400" b="1" dirty="0">
                <a:solidFill>
                  <a:srgbClr val="20232A"/>
                </a:solidFill>
                <a:latin typeface="Meiryo" pitchFamily="34" charset="0"/>
                <a:ea typeface="Meiryo" pitchFamily="34" charset="-122"/>
                <a:cs typeface="Meiryo" pitchFamily="34" charset="-120"/>
              </a:rPr>
              <a:t>人流の比較で周辺の変化を把握</a:t>
            </a:r>
            <a:endParaRPr lang="en-US" sz="1400" dirty="0"/>
          </a:p>
        </p:txBody>
      </p:sp>
      <p:pic>
        <p:nvPicPr>
          <p:cNvPr id="14" name="Image 1" descr="preencoded.png">    </p:cNvPr>
          <p:cNvPicPr>
            <a:picLocks noChangeAspect="1"/>
          </p:cNvPicPr>
          <p:nvPr/>
        </p:nvPicPr>
        <p:blipFill>
          <a:blip r:embed="rId2"/>
          <a:stretch>
            <a:fillRect/>
          </a:stretch>
        </p:blipFill>
        <p:spPr>
          <a:xfrm>
            <a:off x="2148840" y="4572000"/>
            <a:ext cx="237744" cy="237744"/>
          </a:xfrm>
          <a:prstGeom prst="rect">
            <a:avLst/>
          </a:prstGeom>
        </p:spPr>
      </p:pic>
      <p:sp>
        <p:nvSpPr>
          <p:cNvPr id="15" name="Text 11"/>
          <p:cNvSpPr txBox="1"/>
          <p:nvPr/>
        </p:nvSpPr>
        <p:spPr>
          <a:xfrm>
            <a:off x="777240" y="4892040"/>
            <a:ext cx="1188720" cy="274320"/>
          </a:xfrm>
          <a:prstGeom prst="roundRect">
            <a:avLst>
              <a:gd name="adj" fmla="val 50000"/>
            </a:avLst>
          </a:prstGeom>
          <a:solidFill>
            <a:srgbClr val="5C626D"/>
          </a:solidFill>
          <a:ln>
            <a:solidFill>
              <a:srgbClr val="5C626D"/>
            </a:solid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次につなげる</a:t>
            </a:r>
            <a:endParaRPr lang="en-US" sz="1000" dirty="0"/>
          </a:p>
        </p:txBody>
      </p:sp>
      <p:sp>
        <p:nvSpPr>
          <p:cNvPr id="16" name="Text 12"/>
          <p:cNvSpPr txBox="1"/>
          <p:nvPr/>
        </p:nvSpPr>
        <p:spPr>
          <a:xfrm>
            <a:off x="777240" y="5230368"/>
            <a:ext cx="3063240" cy="594360"/>
          </a:xfrm>
          <a:prstGeom prst="rect">
            <a:avLst/>
          </a:prstGeom>
          <a:noFill/>
          <a:ln/>
        </p:spPr>
        <p:txBody>
          <a:bodyPr wrap="square" lIns="0" tIns="0" rIns="0" bIns="0" rtlCol="0" anchor="t"/>
          <a:lstStyle/>
          <a:p>
            <a:pPr indent="0" marL="0">
              <a:buNone/>
            </a:pPr>
            <a:r>
              <a:rPr lang="en-US" sz="1400" dirty="0">
                <a:solidFill>
                  <a:srgbClr val="20232A"/>
                </a:solidFill>
                <a:latin typeface="Meiryo" pitchFamily="34" charset="0"/>
                <a:ea typeface="Meiryo" pitchFamily="34" charset="-122"/>
                <a:cs typeface="Meiryo" pitchFamily="34" charset="-120"/>
              </a:rPr>
              <a:t>参加理由を調査し次回の告知を設計</a:t>
            </a:r>
            <a:endParaRPr lang="en-US" sz="1400" dirty="0"/>
          </a:p>
        </p:txBody>
      </p:sp>
      <p:sp>
        <p:nvSpPr>
          <p:cNvPr id="17" name="Shape 13"/>
          <p:cNvSpPr/>
          <p:nvPr/>
        </p:nvSpPr>
        <p:spPr>
          <a:xfrm>
            <a:off x="4297680" y="1737360"/>
            <a:ext cx="3474720" cy="4343400"/>
          </a:xfrm>
          <a:prstGeom prst="roundRect">
            <a:avLst>
              <a:gd name="adj" fmla="val 2105"/>
            </a:avLst>
          </a:prstGeom>
          <a:solidFill>
            <a:srgbClr val="FFFFFF"/>
          </a:solidFill>
          <a:ln w="12700">
            <a:solidFill>
              <a:srgbClr val="DADDE2"/>
            </a:solidFill>
            <a:prstDash val="solid"/>
          </a:ln>
        </p:spPr>
      </p:sp>
      <p:sp>
        <p:nvSpPr>
          <p:cNvPr id="18" name="Shape 14"/>
          <p:cNvSpPr/>
          <p:nvPr/>
        </p:nvSpPr>
        <p:spPr>
          <a:xfrm>
            <a:off x="4526280" y="1920240"/>
            <a:ext cx="640080" cy="640080"/>
          </a:xfrm>
          <a:prstGeom prst="ellipse">
            <a:avLst/>
          </a:prstGeom>
          <a:solidFill>
            <a:srgbClr val="20232A"/>
          </a:solidFill>
          <a:ln w="12700">
            <a:solidFill>
              <a:srgbClr val="20232A"/>
            </a:solidFill>
            <a:prstDash val="solid"/>
          </a:ln>
        </p:spPr>
      </p:sp>
      <p:pic>
        <p:nvPicPr>
          <p:cNvPr id="19" name="Image 2" descr="preencoded.png">    </p:cNvPr>
          <p:cNvPicPr>
            <a:picLocks noChangeAspect="1"/>
          </p:cNvPicPr>
          <p:nvPr/>
        </p:nvPicPr>
        <p:blipFill>
          <a:blip r:embed="rId3"/>
          <a:stretch>
            <a:fillRect/>
          </a:stretch>
        </p:blipFill>
        <p:spPr>
          <a:xfrm>
            <a:off x="4686300" y="2080260"/>
            <a:ext cx="320040" cy="320040"/>
          </a:xfrm>
          <a:prstGeom prst="rect">
            <a:avLst/>
          </a:prstGeom>
        </p:spPr>
      </p:pic>
      <p:sp>
        <p:nvSpPr>
          <p:cNvPr id="20" name="Text 15"/>
          <p:cNvSpPr txBox="1"/>
          <p:nvPr/>
        </p:nvSpPr>
        <p:spPr>
          <a:xfrm>
            <a:off x="5303520" y="1920240"/>
            <a:ext cx="2377440" cy="365760"/>
          </a:xfrm>
          <a:prstGeom prst="rect">
            <a:avLst/>
          </a:prstGeom>
          <a:noFill/>
          <a:ln/>
        </p:spPr>
        <p:txBody>
          <a:bodyPr wrap="square" lIns="0" tIns="0" rIns="0" bIns="0" rtlCol="0" anchor="ctr"/>
          <a:lstStyle/>
          <a:p>
            <a:pPr indent="0" marL="0">
              <a:buNone/>
            </a:pPr>
            <a:r>
              <a:rPr lang="en-US" sz="1800" b="1" dirty="0">
                <a:solidFill>
                  <a:srgbClr val="20232A"/>
                </a:solidFill>
                <a:latin typeface="Meiryo" pitchFamily="34" charset="0"/>
                <a:ea typeface="Meiryo" pitchFamily="34" charset="-122"/>
                <a:cs typeface="Meiryo" pitchFamily="34" charset="-120"/>
              </a:rPr>
              <a:t>大学</a:t>
            </a:r>
            <a:endParaRPr lang="en-US" sz="1800" dirty="0"/>
          </a:p>
        </p:txBody>
      </p:sp>
      <p:sp>
        <p:nvSpPr>
          <p:cNvPr id="21" name="Text 16"/>
          <p:cNvSpPr txBox="1"/>
          <p:nvPr/>
        </p:nvSpPr>
        <p:spPr>
          <a:xfrm>
            <a:off x="5303520" y="2286000"/>
            <a:ext cx="2377440" cy="274320"/>
          </a:xfrm>
          <a:prstGeom prst="rect">
            <a:avLst/>
          </a:prstGeom>
          <a:noFill/>
          <a:ln/>
        </p:spPr>
        <p:txBody>
          <a:bodyPr wrap="square" lIns="0" tIns="0" rIns="0" bIns="0" rtlCol="0" anchor="t"/>
          <a:lstStyle/>
          <a:p>
            <a:pPr indent="0" marL="0">
              <a:buNone/>
            </a:pPr>
            <a:r>
              <a:rPr lang="en-US" sz="1100" dirty="0">
                <a:solidFill>
                  <a:srgbClr val="5C626D"/>
                </a:solidFill>
                <a:latin typeface="Meiryo" pitchFamily="34" charset="0"/>
                <a:ea typeface="Meiryo" pitchFamily="34" charset="-122"/>
                <a:cs typeface="Meiryo" pitchFamily="34" charset="-120"/>
              </a:rPr>
              <a:t>成果の軸：申込数</a:t>
            </a:r>
            <a:endParaRPr lang="en-US" sz="1100" dirty="0"/>
          </a:p>
        </p:txBody>
      </p:sp>
      <p:sp>
        <p:nvSpPr>
          <p:cNvPr id="22" name="Text 17"/>
          <p:cNvSpPr txBox="1"/>
          <p:nvPr/>
        </p:nvSpPr>
        <p:spPr>
          <a:xfrm>
            <a:off x="4480560" y="2743200"/>
            <a:ext cx="3154680" cy="731520"/>
          </a:xfrm>
          <a:prstGeom prst="rect">
            <a:avLst/>
          </a:prstGeom>
          <a:noFill/>
          <a:ln/>
        </p:spPr>
        <p:txBody>
          <a:bodyPr wrap="square" lIns="0" tIns="0" rIns="0" bIns="0" rtlCol="0" anchor="t"/>
          <a:lstStyle/>
          <a:p>
            <a:pPr indent="0" marL="0">
              <a:buNone/>
            </a:pPr>
            <a:r>
              <a:rPr lang="en-US" sz="1200" i="1" dirty="0">
                <a:solidFill>
                  <a:srgbClr val="20232A"/>
                </a:solidFill>
                <a:latin typeface="Meiryo" pitchFamily="34" charset="0"/>
                <a:ea typeface="Meiryo" pitchFamily="34" charset="-122"/>
                <a:cs typeface="Meiryo" pitchFamily="34" charset="-120"/>
              </a:rPr>
              <a:t>「オープンキャンパスの申込を増やしたい」</a:t>
            </a:r>
            <a:endParaRPr lang="en-US" sz="1200" dirty="0"/>
          </a:p>
        </p:txBody>
      </p:sp>
      <p:sp>
        <p:nvSpPr>
          <p:cNvPr id="23" name="Text 18"/>
          <p:cNvSpPr txBox="1"/>
          <p:nvPr/>
        </p:nvSpPr>
        <p:spPr>
          <a:xfrm>
            <a:off x="4526280" y="3566160"/>
            <a:ext cx="1188720" cy="274320"/>
          </a:xfrm>
          <a:prstGeom prst="roundRect">
            <a:avLst>
              <a:gd name="adj" fmla="val 50000"/>
            </a:avLst>
          </a:prstGeom>
          <a:solidFill>
            <a:srgbClr val="C9002B"/>
          </a:solidFill>
          <a:ln>
            <a:solidFill>
              <a:srgbClr val="C9002B"/>
            </a:solid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最初の提案</a:t>
            </a:r>
            <a:endParaRPr lang="en-US" sz="1000" dirty="0"/>
          </a:p>
        </p:txBody>
      </p:sp>
      <p:sp>
        <p:nvSpPr>
          <p:cNvPr id="24" name="Text 19"/>
          <p:cNvSpPr txBox="1"/>
          <p:nvPr/>
        </p:nvSpPr>
        <p:spPr>
          <a:xfrm>
            <a:off x="4526280" y="3913632"/>
            <a:ext cx="3063240" cy="594360"/>
          </a:xfrm>
          <a:prstGeom prst="rect">
            <a:avLst/>
          </a:prstGeom>
          <a:noFill/>
          <a:ln/>
        </p:spPr>
        <p:txBody>
          <a:bodyPr wrap="square" lIns="0" tIns="0" rIns="0" bIns="0" rtlCol="0" anchor="t"/>
          <a:lstStyle/>
          <a:p>
            <a:pPr indent="0" marL="0">
              <a:buNone/>
            </a:pPr>
            <a:r>
              <a:rPr lang="en-US" sz="1400" b="1" dirty="0">
                <a:solidFill>
                  <a:srgbClr val="20232A"/>
                </a:solidFill>
                <a:latin typeface="Meiryo" pitchFamily="34" charset="0"/>
                <a:ea typeface="Meiryo" pitchFamily="34" charset="-122"/>
                <a:cs typeface="Meiryo" pitchFamily="34" charset="-120"/>
              </a:rPr>
              <a:t>認知や参加の障壁を調査</a:t>
            </a:r>
            <a:endParaRPr lang="en-US" sz="1400" dirty="0"/>
          </a:p>
        </p:txBody>
      </p:sp>
      <p:pic>
        <p:nvPicPr>
          <p:cNvPr id="25" name="Image 3" descr="preencoded.png">    </p:cNvPr>
          <p:cNvPicPr>
            <a:picLocks noChangeAspect="1"/>
          </p:cNvPicPr>
          <p:nvPr/>
        </p:nvPicPr>
        <p:blipFill>
          <a:blip r:embed="rId4"/>
          <a:stretch>
            <a:fillRect/>
          </a:stretch>
        </p:blipFill>
        <p:spPr>
          <a:xfrm>
            <a:off x="5897880" y="4572000"/>
            <a:ext cx="237744" cy="237744"/>
          </a:xfrm>
          <a:prstGeom prst="rect">
            <a:avLst/>
          </a:prstGeom>
        </p:spPr>
      </p:pic>
      <p:sp>
        <p:nvSpPr>
          <p:cNvPr id="26" name="Text 20"/>
          <p:cNvSpPr txBox="1"/>
          <p:nvPr/>
        </p:nvSpPr>
        <p:spPr>
          <a:xfrm>
            <a:off x="4526280" y="4892040"/>
            <a:ext cx="1188720" cy="274320"/>
          </a:xfrm>
          <a:prstGeom prst="roundRect">
            <a:avLst>
              <a:gd name="adj" fmla="val 50000"/>
            </a:avLst>
          </a:prstGeom>
          <a:solidFill>
            <a:srgbClr val="5C626D"/>
          </a:solidFill>
          <a:ln>
            <a:solidFill>
              <a:srgbClr val="5C626D"/>
            </a:solid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次につなげる</a:t>
            </a:r>
            <a:endParaRPr lang="en-US" sz="1000" dirty="0"/>
          </a:p>
        </p:txBody>
      </p:sp>
      <p:sp>
        <p:nvSpPr>
          <p:cNvPr id="27" name="Text 21"/>
          <p:cNvSpPr txBox="1"/>
          <p:nvPr/>
        </p:nvSpPr>
        <p:spPr>
          <a:xfrm>
            <a:off x="4526280" y="5230368"/>
            <a:ext cx="3063240" cy="594360"/>
          </a:xfrm>
          <a:prstGeom prst="rect">
            <a:avLst/>
          </a:prstGeom>
          <a:noFill/>
          <a:ln/>
        </p:spPr>
        <p:txBody>
          <a:bodyPr wrap="square" lIns="0" tIns="0" rIns="0" bIns="0" rtlCol="0" anchor="t"/>
          <a:lstStyle/>
          <a:p>
            <a:pPr indent="0" marL="0">
              <a:buNone/>
            </a:pPr>
            <a:r>
              <a:rPr lang="en-US" sz="1400" dirty="0">
                <a:solidFill>
                  <a:srgbClr val="20232A"/>
                </a:solidFill>
                <a:latin typeface="Meiryo" pitchFamily="34" charset="0"/>
                <a:ea typeface="Meiryo" pitchFamily="34" charset="-122"/>
                <a:cs typeface="Meiryo" pitchFamily="34" charset="-120"/>
              </a:rPr>
              <a:t>対象・訴求を絞って申込先へ広告誘導</a:t>
            </a:r>
            <a:endParaRPr lang="en-US" sz="1400" dirty="0"/>
          </a:p>
        </p:txBody>
      </p:sp>
      <p:sp>
        <p:nvSpPr>
          <p:cNvPr id="28" name="Shape 22"/>
          <p:cNvSpPr/>
          <p:nvPr/>
        </p:nvSpPr>
        <p:spPr>
          <a:xfrm>
            <a:off x="8046720" y="1737360"/>
            <a:ext cx="3474720" cy="4343400"/>
          </a:xfrm>
          <a:prstGeom prst="roundRect">
            <a:avLst>
              <a:gd name="adj" fmla="val 2105"/>
            </a:avLst>
          </a:prstGeom>
          <a:solidFill>
            <a:srgbClr val="FFFFFF"/>
          </a:solidFill>
          <a:ln w="12700">
            <a:solidFill>
              <a:srgbClr val="DADDE2"/>
            </a:solidFill>
            <a:prstDash val="solid"/>
          </a:ln>
        </p:spPr>
      </p:sp>
      <p:sp>
        <p:nvSpPr>
          <p:cNvPr id="29" name="Shape 23"/>
          <p:cNvSpPr/>
          <p:nvPr/>
        </p:nvSpPr>
        <p:spPr>
          <a:xfrm>
            <a:off x="8275320" y="1920240"/>
            <a:ext cx="640080" cy="640080"/>
          </a:xfrm>
          <a:prstGeom prst="ellipse">
            <a:avLst/>
          </a:prstGeom>
          <a:solidFill>
            <a:srgbClr val="20232A"/>
          </a:solidFill>
          <a:ln w="12700">
            <a:solidFill>
              <a:srgbClr val="20232A"/>
            </a:solidFill>
            <a:prstDash val="solid"/>
          </a:ln>
        </p:spPr>
      </p:sp>
      <p:pic>
        <p:nvPicPr>
          <p:cNvPr id="30" name="Image 4" descr="preencoded.png">    </p:cNvPr>
          <p:cNvPicPr>
            <a:picLocks noChangeAspect="1"/>
          </p:cNvPicPr>
          <p:nvPr/>
        </p:nvPicPr>
        <p:blipFill>
          <a:blip r:embed="rId5"/>
          <a:stretch>
            <a:fillRect/>
          </a:stretch>
        </p:blipFill>
        <p:spPr>
          <a:xfrm>
            <a:off x="8435340" y="2080260"/>
            <a:ext cx="320040" cy="320040"/>
          </a:xfrm>
          <a:prstGeom prst="rect">
            <a:avLst/>
          </a:prstGeom>
        </p:spPr>
      </p:pic>
      <p:sp>
        <p:nvSpPr>
          <p:cNvPr id="31" name="Text 24"/>
          <p:cNvSpPr txBox="1"/>
          <p:nvPr/>
        </p:nvSpPr>
        <p:spPr>
          <a:xfrm>
            <a:off x="9052560" y="1920240"/>
            <a:ext cx="2377440" cy="365760"/>
          </a:xfrm>
          <a:prstGeom prst="rect">
            <a:avLst/>
          </a:prstGeom>
          <a:noFill/>
          <a:ln/>
        </p:spPr>
        <p:txBody>
          <a:bodyPr wrap="square" lIns="0" tIns="0" rIns="0" bIns="0" rtlCol="0" anchor="ctr"/>
          <a:lstStyle/>
          <a:p>
            <a:pPr indent="0" marL="0">
              <a:buNone/>
            </a:pPr>
            <a:r>
              <a:rPr lang="en-US" sz="1800" b="1" dirty="0">
                <a:solidFill>
                  <a:srgbClr val="20232A"/>
                </a:solidFill>
                <a:latin typeface="Meiryo" pitchFamily="34" charset="0"/>
                <a:ea typeface="Meiryo" pitchFamily="34" charset="-122"/>
                <a:cs typeface="Meiryo" pitchFamily="34" charset="-120"/>
              </a:rPr>
              <a:t>スポーツチーム</a:t>
            </a:r>
            <a:endParaRPr lang="en-US" sz="1800" dirty="0"/>
          </a:p>
        </p:txBody>
      </p:sp>
      <p:sp>
        <p:nvSpPr>
          <p:cNvPr id="32" name="Text 25"/>
          <p:cNvSpPr txBox="1"/>
          <p:nvPr/>
        </p:nvSpPr>
        <p:spPr>
          <a:xfrm>
            <a:off x="9052560" y="2286000"/>
            <a:ext cx="2377440" cy="274320"/>
          </a:xfrm>
          <a:prstGeom prst="rect">
            <a:avLst/>
          </a:prstGeom>
          <a:noFill/>
          <a:ln/>
        </p:spPr>
        <p:txBody>
          <a:bodyPr wrap="square" lIns="0" tIns="0" rIns="0" bIns="0" rtlCol="0" anchor="t"/>
          <a:lstStyle/>
          <a:p>
            <a:pPr indent="0" marL="0">
              <a:buNone/>
            </a:pPr>
            <a:r>
              <a:rPr lang="en-US" sz="1100" dirty="0">
                <a:solidFill>
                  <a:srgbClr val="5C626D"/>
                </a:solidFill>
                <a:latin typeface="Meiryo" pitchFamily="34" charset="0"/>
                <a:ea typeface="Meiryo" pitchFamily="34" charset="-122"/>
                <a:cs typeface="Meiryo" pitchFamily="34" charset="-120"/>
              </a:rPr>
              <a:t>成果の軸：新規観戦者</a:t>
            </a:r>
            <a:endParaRPr lang="en-US" sz="1100" dirty="0"/>
          </a:p>
        </p:txBody>
      </p:sp>
      <p:sp>
        <p:nvSpPr>
          <p:cNvPr id="33" name="Text 26"/>
          <p:cNvSpPr txBox="1"/>
          <p:nvPr/>
        </p:nvSpPr>
        <p:spPr>
          <a:xfrm>
            <a:off x="8229600" y="2743200"/>
            <a:ext cx="3154680" cy="731520"/>
          </a:xfrm>
          <a:prstGeom prst="rect">
            <a:avLst/>
          </a:prstGeom>
          <a:noFill/>
          <a:ln/>
        </p:spPr>
        <p:txBody>
          <a:bodyPr wrap="square" lIns="0" tIns="0" rIns="0" bIns="0" rtlCol="0" anchor="t"/>
          <a:lstStyle/>
          <a:p>
            <a:pPr indent="0" marL="0">
              <a:buNone/>
            </a:pPr>
            <a:r>
              <a:rPr lang="en-US" sz="1200" i="1" dirty="0">
                <a:solidFill>
                  <a:srgbClr val="20232A"/>
                </a:solidFill>
                <a:latin typeface="Meiryo" pitchFamily="34" charset="0"/>
                <a:ea typeface="Meiryo" pitchFamily="34" charset="-122"/>
                <a:cs typeface="Meiryo" pitchFamily="34" charset="-120"/>
              </a:rPr>
              <a:t>「新規観戦者を増やし再来場につなげたい」</a:t>
            </a:r>
            <a:endParaRPr lang="en-US" sz="1200" dirty="0"/>
          </a:p>
        </p:txBody>
      </p:sp>
      <p:sp>
        <p:nvSpPr>
          <p:cNvPr id="34" name="Text 27"/>
          <p:cNvSpPr txBox="1"/>
          <p:nvPr/>
        </p:nvSpPr>
        <p:spPr>
          <a:xfrm>
            <a:off x="8275320" y="3566160"/>
            <a:ext cx="1188720" cy="274320"/>
          </a:xfrm>
          <a:prstGeom prst="roundRect">
            <a:avLst>
              <a:gd name="adj" fmla="val 50000"/>
            </a:avLst>
          </a:prstGeom>
          <a:solidFill>
            <a:srgbClr val="C9002B"/>
          </a:solidFill>
          <a:ln>
            <a:solidFill>
              <a:srgbClr val="C9002B"/>
            </a:solid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最初の提案</a:t>
            </a:r>
            <a:endParaRPr lang="en-US" sz="1000" dirty="0"/>
          </a:p>
        </p:txBody>
      </p:sp>
      <p:sp>
        <p:nvSpPr>
          <p:cNvPr id="35" name="Text 28"/>
          <p:cNvSpPr txBox="1"/>
          <p:nvPr/>
        </p:nvSpPr>
        <p:spPr>
          <a:xfrm>
            <a:off x="8275320" y="3913632"/>
            <a:ext cx="3063240" cy="594360"/>
          </a:xfrm>
          <a:prstGeom prst="rect">
            <a:avLst/>
          </a:prstGeom>
          <a:noFill/>
          <a:ln/>
        </p:spPr>
        <p:txBody>
          <a:bodyPr wrap="square" lIns="0" tIns="0" rIns="0" bIns="0" rtlCol="0" anchor="t"/>
          <a:lstStyle/>
          <a:p>
            <a:pPr indent="0" marL="0">
              <a:buNone/>
            </a:pPr>
            <a:r>
              <a:rPr lang="en-US" sz="1400" b="1" dirty="0">
                <a:solidFill>
                  <a:srgbClr val="20232A"/>
                </a:solidFill>
                <a:latin typeface="Meiryo" pitchFamily="34" charset="0"/>
                <a:ea typeface="Meiryo" pitchFamily="34" charset="-122"/>
                <a:cs typeface="Meiryo" pitchFamily="34" charset="-120"/>
              </a:rPr>
              <a:t>試合を告知しチケット申込を計測</a:t>
            </a:r>
            <a:endParaRPr lang="en-US" sz="1400" dirty="0"/>
          </a:p>
        </p:txBody>
      </p:sp>
      <p:pic>
        <p:nvPicPr>
          <p:cNvPr id="36" name="Image 5" descr="preencoded.png">    </p:cNvPr>
          <p:cNvPicPr>
            <a:picLocks noChangeAspect="1"/>
          </p:cNvPicPr>
          <p:nvPr/>
        </p:nvPicPr>
        <p:blipFill>
          <a:blip r:embed="rId6"/>
          <a:stretch>
            <a:fillRect/>
          </a:stretch>
        </p:blipFill>
        <p:spPr>
          <a:xfrm>
            <a:off x="9646920" y="4572000"/>
            <a:ext cx="237744" cy="237744"/>
          </a:xfrm>
          <a:prstGeom prst="rect">
            <a:avLst/>
          </a:prstGeom>
        </p:spPr>
      </p:pic>
      <p:sp>
        <p:nvSpPr>
          <p:cNvPr id="37" name="Text 29"/>
          <p:cNvSpPr txBox="1"/>
          <p:nvPr/>
        </p:nvSpPr>
        <p:spPr>
          <a:xfrm>
            <a:off x="8275320" y="4892040"/>
            <a:ext cx="1188720" cy="274320"/>
          </a:xfrm>
          <a:prstGeom prst="roundRect">
            <a:avLst>
              <a:gd name="adj" fmla="val 50000"/>
            </a:avLst>
          </a:prstGeom>
          <a:solidFill>
            <a:srgbClr val="5C626D"/>
          </a:solidFill>
          <a:ln>
            <a:solidFill>
              <a:srgbClr val="5C626D"/>
            </a:solidFill>
          </a:ln>
        </p:spPr>
        <p:txBody>
          <a:bodyPr wrap="square" lIns="0" tIns="0" rIns="0" bIns="0" rtlCol="0" anchor="ctr"/>
          <a:lstStyle/>
          <a:p>
            <a:pPr algn="ctr" indent="0" marL="0">
              <a:buNone/>
            </a:pPr>
            <a:r>
              <a:rPr lang="en-US" sz="1000" b="1" dirty="0">
                <a:solidFill>
                  <a:srgbClr val="FFFFFF"/>
                </a:solidFill>
                <a:latin typeface="Meiryo" pitchFamily="34" charset="0"/>
                <a:ea typeface="Meiryo" pitchFamily="34" charset="-122"/>
                <a:cs typeface="Meiryo" pitchFamily="34" charset="-120"/>
              </a:rPr>
              <a:t>次につなげる</a:t>
            </a:r>
            <a:endParaRPr lang="en-US" sz="1000" dirty="0"/>
          </a:p>
        </p:txBody>
      </p:sp>
      <p:sp>
        <p:nvSpPr>
          <p:cNvPr id="38" name="Text 30"/>
          <p:cNvSpPr txBox="1"/>
          <p:nvPr/>
        </p:nvSpPr>
        <p:spPr>
          <a:xfrm>
            <a:off x="8275320" y="5230368"/>
            <a:ext cx="3063240" cy="594360"/>
          </a:xfrm>
          <a:prstGeom prst="rect">
            <a:avLst/>
          </a:prstGeom>
          <a:noFill/>
          <a:ln/>
        </p:spPr>
        <p:txBody>
          <a:bodyPr wrap="square" lIns="0" tIns="0" rIns="0" bIns="0" rtlCol="0" anchor="t"/>
          <a:lstStyle/>
          <a:p>
            <a:pPr indent="0" marL="0">
              <a:buNone/>
            </a:pPr>
            <a:r>
              <a:rPr lang="en-US" sz="1400" dirty="0">
                <a:solidFill>
                  <a:srgbClr val="20232A"/>
                </a:solidFill>
                <a:latin typeface="Meiryo" pitchFamily="34" charset="0"/>
                <a:ea typeface="Meiryo" pitchFamily="34" charset="-122"/>
                <a:cs typeface="Meiryo" pitchFamily="34" charset="-120"/>
              </a:rPr>
              <a:t>未観戦理由と来訪圏を調べる</a:t>
            </a:r>
            <a:endParaRPr lang="en-US" sz="1400" dirty="0"/>
          </a:p>
        </p:txBody>
      </p:sp>
      <p:sp>
        <p:nvSpPr>
          <p:cNvPr id="39" name="Text 31"/>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C626D"/>
                </a:solidFill>
                <a:latin typeface="Meiryo" pitchFamily="34" charset="0"/>
                <a:ea typeface="Meiryo" pitchFamily="34" charset="-122"/>
                <a:cs typeface="Meiryo" pitchFamily="34" charset="-120"/>
              </a:rPr>
              <a:t>いずれも提案例。特定の団体の導入実績や、効果を示すものではない</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4864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02　提案の型</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20232A"/>
                </a:solidFill>
                <a:latin typeface="Meiryo" pitchFamily="34" charset="0"/>
                <a:ea typeface="Meiryo" pitchFamily="34" charset="-122"/>
                <a:cs typeface="Meiryo" pitchFamily="34" charset="-120"/>
              </a:rPr>
              <a:t>スポーツチーム向けの組み合わせ例</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C626D"/>
                </a:solidFill>
                <a:latin typeface="Meiryo" pitchFamily="34" charset="0"/>
                <a:ea typeface="Meiryo" pitchFamily="34" charset="-122"/>
                <a:cs typeface="Meiryo" pitchFamily="34" charset="-120"/>
              </a:rPr>
              <a:t>想定テーマ：ホームゲームの新規観戦者を増やす</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C626D"/>
                </a:solidFill>
                <a:latin typeface="Meiryo" pitchFamily="34" charset="0"/>
                <a:ea typeface="Meiryo" pitchFamily="34" charset="-122"/>
                <a:cs typeface="Meiryo" pitchFamily="34" charset="-120"/>
              </a:rPr>
              <a:t>09</a:t>
            </a:r>
            <a:endParaRPr lang="en-US" sz="1000" dirty="0"/>
          </a:p>
        </p:txBody>
      </p:sp>
      <p:sp>
        <p:nvSpPr>
          <p:cNvPr id="6" name="Shape 4"/>
          <p:cNvSpPr/>
          <p:nvPr/>
        </p:nvSpPr>
        <p:spPr>
          <a:xfrm>
            <a:off x="548640" y="1828800"/>
            <a:ext cx="3383280" cy="3566160"/>
          </a:xfrm>
          <a:prstGeom prst="roundRect">
            <a:avLst>
              <a:gd name="adj" fmla="val 2162"/>
            </a:avLst>
          </a:prstGeom>
          <a:solidFill>
            <a:srgbClr val="F4F5F7"/>
          </a:solidFill>
          <a:ln w="12700">
            <a:solidFill>
              <a:srgbClr val="F4F5F7"/>
            </a:solidFill>
            <a:prstDash val="solid"/>
          </a:ln>
        </p:spPr>
      </p:sp>
      <p:sp>
        <p:nvSpPr>
          <p:cNvPr id="7" name="Shape 5"/>
          <p:cNvSpPr/>
          <p:nvPr/>
        </p:nvSpPr>
        <p:spPr>
          <a:xfrm>
            <a:off x="822960" y="2103120"/>
            <a:ext cx="731520" cy="731520"/>
          </a:xfrm>
          <a:prstGeom prst="ellipse">
            <a:avLst/>
          </a:prstGeom>
          <a:solidFill>
            <a:srgbClr val="C9002B"/>
          </a:solidFill>
          <a:ln w="12700">
            <a:solidFill>
              <a:srgbClr val="C9002B"/>
            </a:solidFill>
            <a:prstDash val="solid"/>
          </a:ln>
        </p:spPr>
      </p:sp>
      <p:sp>
        <p:nvSpPr>
          <p:cNvPr id="8" name="Text 6"/>
          <p:cNvSpPr txBox="1"/>
          <p:nvPr/>
        </p:nvSpPr>
        <p:spPr>
          <a:xfrm>
            <a:off x="822960" y="210312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Meiryo" pitchFamily="34" charset="0"/>
                <a:ea typeface="Meiryo" pitchFamily="34" charset="-122"/>
                <a:cs typeface="Meiryo" pitchFamily="34" charset="-120"/>
              </a:rPr>
              <a:t>1</a:t>
            </a:r>
            <a:endParaRPr lang="en-US" sz="2600" dirty="0"/>
          </a:p>
        </p:txBody>
      </p:sp>
      <p:pic>
        <p:nvPicPr>
          <p:cNvPr id="9" name="Image 0" descr="preencoded.png">    </p:cNvPr>
          <p:cNvPicPr>
            <a:picLocks noChangeAspect="1"/>
          </p:cNvPicPr>
          <p:nvPr/>
        </p:nvPicPr>
        <p:blipFill>
          <a:blip r:embed="rId1"/>
          <a:stretch>
            <a:fillRect/>
          </a:stretch>
        </p:blipFill>
        <p:spPr>
          <a:xfrm>
            <a:off x="3200400" y="2240280"/>
            <a:ext cx="457200" cy="457200"/>
          </a:xfrm>
          <a:prstGeom prst="rect">
            <a:avLst/>
          </a:prstGeom>
        </p:spPr>
      </p:pic>
      <p:sp>
        <p:nvSpPr>
          <p:cNvPr id="10" name="Text 7"/>
          <p:cNvSpPr txBox="1"/>
          <p:nvPr/>
        </p:nvSpPr>
        <p:spPr>
          <a:xfrm>
            <a:off x="822960" y="3063240"/>
            <a:ext cx="2926080" cy="457200"/>
          </a:xfrm>
          <a:prstGeom prst="rect">
            <a:avLst/>
          </a:prstGeom>
          <a:noFill/>
          <a:ln/>
        </p:spPr>
        <p:txBody>
          <a:bodyPr wrap="square" lIns="0" tIns="0" rIns="0" bIns="0" rtlCol="0" anchor="t"/>
          <a:lstStyle/>
          <a:p>
            <a:pPr indent="0" marL="0">
              <a:buNone/>
            </a:pPr>
            <a:r>
              <a:rPr lang="en-US" sz="2000" b="1" dirty="0">
                <a:solidFill>
                  <a:srgbClr val="20232A"/>
                </a:solidFill>
                <a:latin typeface="Meiryo" pitchFamily="34" charset="0"/>
                <a:ea typeface="Meiryo" pitchFamily="34" charset="-122"/>
                <a:cs typeface="Meiryo" pitchFamily="34" charset="-120"/>
              </a:rPr>
              <a:t>告知地域を選ぶ</a:t>
            </a:r>
            <a:endParaRPr lang="en-US" sz="2000" dirty="0"/>
          </a:p>
        </p:txBody>
      </p:sp>
      <p:sp>
        <p:nvSpPr>
          <p:cNvPr id="11" name="Text 8"/>
          <p:cNvSpPr txBox="1"/>
          <p:nvPr/>
        </p:nvSpPr>
        <p:spPr>
          <a:xfrm>
            <a:off x="822960" y="3611880"/>
            <a:ext cx="2194560" cy="329184"/>
          </a:xfrm>
          <a:prstGeom prst="roundRect">
            <a:avLst>
              <a:gd name="adj" fmla="val 50000"/>
            </a:avLst>
          </a:prstGeom>
          <a:solidFill>
            <a:srgbClr val="20232A"/>
          </a:solidFill>
          <a:ln>
            <a:solidFill>
              <a:srgbClr val="20232A"/>
            </a:solid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モバイル空間統計</a:t>
            </a:r>
            <a:endParaRPr lang="en-US" sz="1100" dirty="0"/>
          </a:p>
        </p:txBody>
      </p:sp>
      <p:sp>
        <p:nvSpPr>
          <p:cNvPr id="12" name="Text 9"/>
          <p:cNvSpPr txBox="1"/>
          <p:nvPr/>
        </p:nvSpPr>
        <p:spPr>
          <a:xfrm>
            <a:off x="822960" y="4160520"/>
            <a:ext cx="2880360" cy="1097280"/>
          </a:xfrm>
          <a:prstGeom prst="rect">
            <a:avLst/>
          </a:prstGeom>
          <a:noFill/>
          <a:ln/>
        </p:spPr>
        <p:txBody>
          <a:bodyPr wrap="square" lIns="0" tIns="0" rIns="0" bIns="0" rtlCol="0" anchor="t"/>
          <a:lstStyle/>
          <a:p>
            <a:pPr indent="0" marL="0">
              <a:lnSpc>
                <a:spcPct val="120000"/>
              </a:lnSpc>
              <a:buNone/>
            </a:pPr>
            <a:r>
              <a:rPr lang="en-US" sz="1500" dirty="0">
                <a:solidFill>
                  <a:srgbClr val="20232A"/>
                </a:solidFill>
                <a:latin typeface="Meiryo" pitchFamily="34" charset="0"/>
                <a:ea typeface="Meiryo" pitchFamily="34" charset="-122"/>
                <a:cs typeface="Meiryo" pitchFamily="34" charset="-120"/>
              </a:rPr>
              <a:t>試合日と通常日の周辺人口を比較。来訪元から告知地域の仮説を置く。</a:t>
            </a:r>
            <a:endParaRPr lang="en-US" sz="1500" dirty="0"/>
          </a:p>
        </p:txBody>
      </p:sp>
      <p:pic>
        <p:nvPicPr>
          <p:cNvPr id="13" name="Image 1" descr="preencoded.png">    </p:cNvPr>
          <p:cNvPicPr>
            <a:picLocks noChangeAspect="1"/>
          </p:cNvPicPr>
          <p:nvPr/>
        </p:nvPicPr>
        <p:blipFill>
          <a:blip r:embed="rId2"/>
          <a:stretch>
            <a:fillRect/>
          </a:stretch>
        </p:blipFill>
        <p:spPr>
          <a:xfrm>
            <a:off x="4023360" y="3611880"/>
            <a:ext cx="274320" cy="274320"/>
          </a:xfrm>
          <a:prstGeom prst="rect">
            <a:avLst/>
          </a:prstGeom>
        </p:spPr>
      </p:pic>
      <p:sp>
        <p:nvSpPr>
          <p:cNvPr id="14" name="Shape 10"/>
          <p:cNvSpPr/>
          <p:nvPr/>
        </p:nvSpPr>
        <p:spPr>
          <a:xfrm>
            <a:off x="4389120" y="1828800"/>
            <a:ext cx="3383280" cy="3566160"/>
          </a:xfrm>
          <a:prstGeom prst="roundRect">
            <a:avLst>
              <a:gd name="adj" fmla="val 2162"/>
            </a:avLst>
          </a:prstGeom>
          <a:solidFill>
            <a:srgbClr val="F4F5F7"/>
          </a:solidFill>
          <a:ln w="12700">
            <a:solidFill>
              <a:srgbClr val="F4F5F7"/>
            </a:solidFill>
            <a:prstDash val="solid"/>
          </a:ln>
        </p:spPr>
      </p:sp>
      <p:sp>
        <p:nvSpPr>
          <p:cNvPr id="15" name="Shape 11"/>
          <p:cNvSpPr/>
          <p:nvPr/>
        </p:nvSpPr>
        <p:spPr>
          <a:xfrm>
            <a:off x="4663440" y="2103120"/>
            <a:ext cx="731520" cy="731520"/>
          </a:xfrm>
          <a:prstGeom prst="ellipse">
            <a:avLst/>
          </a:prstGeom>
          <a:solidFill>
            <a:srgbClr val="C9002B"/>
          </a:solidFill>
          <a:ln w="12700">
            <a:solidFill>
              <a:srgbClr val="C9002B"/>
            </a:solidFill>
            <a:prstDash val="solid"/>
          </a:ln>
        </p:spPr>
      </p:sp>
      <p:sp>
        <p:nvSpPr>
          <p:cNvPr id="16" name="Text 12"/>
          <p:cNvSpPr txBox="1"/>
          <p:nvPr/>
        </p:nvSpPr>
        <p:spPr>
          <a:xfrm>
            <a:off x="4663440" y="210312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Meiryo" pitchFamily="34" charset="0"/>
                <a:ea typeface="Meiryo" pitchFamily="34" charset="-122"/>
                <a:cs typeface="Meiryo" pitchFamily="34" charset="-120"/>
              </a:rPr>
              <a:t>2</a:t>
            </a:r>
            <a:endParaRPr lang="en-US" sz="2600" dirty="0"/>
          </a:p>
        </p:txBody>
      </p:sp>
      <p:pic>
        <p:nvPicPr>
          <p:cNvPr id="17" name="Image 2" descr="preencoded.png">    </p:cNvPr>
          <p:cNvPicPr>
            <a:picLocks noChangeAspect="1"/>
          </p:cNvPicPr>
          <p:nvPr/>
        </p:nvPicPr>
        <p:blipFill>
          <a:blip r:embed="rId3"/>
          <a:stretch>
            <a:fillRect/>
          </a:stretch>
        </p:blipFill>
        <p:spPr>
          <a:xfrm>
            <a:off x="7040880" y="2240280"/>
            <a:ext cx="457200" cy="457200"/>
          </a:xfrm>
          <a:prstGeom prst="rect">
            <a:avLst/>
          </a:prstGeom>
        </p:spPr>
      </p:pic>
      <p:sp>
        <p:nvSpPr>
          <p:cNvPr id="18" name="Text 13"/>
          <p:cNvSpPr txBox="1"/>
          <p:nvPr/>
        </p:nvSpPr>
        <p:spPr>
          <a:xfrm>
            <a:off x="4663440" y="3063240"/>
            <a:ext cx="2926080" cy="457200"/>
          </a:xfrm>
          <a:prstGeom prst="rect">
            <a:avLst/>
          </a:prstGeom>
          <a:noFill/>
          <a:ln/>
        </p:spPr>
        <p:txBody>
          <a:bodyPr wrap="square" lIns="0" tIns="0" rIns="0" bIns="0" rtlCol="0" anchor="t"/>
          <a:lstStyle/>
          <a:p>
            <a:pPr indent="0" marL="0">
              <a:buNone/>
            </a:pPr>
            <a:r>
              <a:rPr lang="en-US" sz="2000" b="1" dirty="0">
                <a:solidFill>
                  <a:srgbClr val="20232A"/>
                </a:solidFill>
                <a:latin typeface="Meiryo" pitchFamily="34" charset="0"/>
                <a:ea typeface="Meiryo" pitchFamily="34" charset="-122"/>
                <a:cs typeface="Meiryo" pitchFamily="34" charset="-120"/>
              </a:rPr>
              <a:t>訴求を決める</a:t>
            </a:r>
            <a:endParaRPr lang="en-US" sz="2000" dirty="0"/>
          </a:p>
        </p:txBody>
      </p:sp>
      <p:sp>
        <p:nvSpPr>
          <p:cNvPr id="19" name="Text 14"/>
          <p:cNvSpPr txBox="1"/>
          <p:nvPr/>
        </p:nvSpPr>
        <p:spPr>
          <a:xfrm>
            <a:off x="4663440" y="3611880"/>
            <a:ext cx="2194560" cy="329184"/>
          </a:xfrm>
          <a:prstGeom prst="roundRect">
            <a:avLst>
              <a:gd name="adj" fmla="val 50000"/>
            </a:avLst>
          </a:prstGeom>
          <a:solidFill>
            <a:srgbClr val="20232A"/>
          </a:solidFill>
          <a:ln>
            <a:solidFill>
              <a:srgbClr val="20232A"/>
            </a:solid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プレミアパネル</a:t>
            </a:r>
            <a:endParaRPr lang="en-US" sz="1100" dirty="0"/>
          </a:p>
        </p:txBody>
      </p:sp>
      <p:sp>
        <p:nvSpPr>
          <p:cNvPr id="20" name="Text 15"/>
          <p:cNvSpPr txBox="1"/>
          <p:nvPr/>
        </p:nvSpPr>
        <p:spPr>
          <a:xfrm>
            <a:off x="4663440" y="4160520"/>
            <a:ext cx="2880360" cy="1097280"/>
          </a:xfrm>
          <a:prstGeom prst="rect">
            <a:avLst/>
          </a:prstGeom>
          <a:noFill/>
          <a:ln/>
        </p:spPr>
        <p:txBody>
          <a:bodyPr wrap="square" lIns="0" tIns="0" rIns="0" bIns="0" rtlCol="0" anchor="t"/>
          <a:lstStyle/>
          <a:p>
            <a:pPr indent="0" marL="0">
              <a:lnSpc>
                <a:spcPct val="120000"/>
              </a:lnSpc>
              <a:buNone/>
            </a:pPr>
            <a:r>
              <a:rPr lang="en-US" sz="1500" dirty="0">
                <a:solidFill>
                  <a:srgbClr val="20232A"/>
                </a:solidFill>
                <a:latin typeface="Meiryo" pitchFamily="34" charset="0"/>
                <a:ea typeface="Meiryo" pitchFamily="34" charset="-122"/>
                <a:cs typeface="Meiryo" pitchFamily="34" charset="-120"/>
              </a:rPr>
              <a:t>未観戦の理由や参加条件を確認。交通・価格・楽しみ方の伝え方を選ぶ。</a:t>
            </a:r>
            <a:endParaRPr lang="en-US" sz="1500" dirty="0"/>
          </a:p>
        </p:txBody>
      </p:sp>
      <p:pic>
        <p:nvPicPr>
          <p:cNvPr id="21" name="Image 3" descr="preencoded.png">    </p:cNvPr>
          <p:cNvPicPr>
            <a:picLocks noChangeAspect="1"/>
          </p:cNvPicPr>
          <p:nvPr/>
        </p:nvPicPr>
        <p:blipFill>
          <a:blip r:embed="rId4"/>
          <a:stretch>
            <a:fillRect/>
          </a:stretch>
        </p:blipFill>
        <p:spPr>
          <a:xfrm>
            <a:off x="7863840" y="3611880"/>
            <a:ext cx="274320" cy="274320"/>
          </a:xfrm>
          <a:prstGeom prst="rect">
            <a:avLst/>
          </a:prstGeom>
        </p:spPr>
      </p:pic>
      <p:sp>
        <p:nvSpPr>
          <p:cNvPr id="22" name="Shape 16"/>
          <p:cNvSpPr/>
          <p:nvPr/>
        </p:nvSpPr>
        <p:spPr>
          <a:xfrm>
            <a:off x="8229600" y="1828800"/>
            <a:ext cx="3383280" cy="3566160"/>
          </a:xfrm>
          <a:prstGeom prst="roundRect">
            <a:avLst>
              <a:gd name="adj" fmla="val 2162"/>
            </a:avLst>
          </a:prstGeom>
          <a:solidFill>
            <a:srgbClr val="F4F5F7"/>
          </a:solidFill>
          <a:ln w="12700">
            <a:solidFill>
              <a:srgbClr val="F4F5F7"/>
            </a:solidFill>
            <a:prstDash val="solid"/>
          </a:ln>
        </p:spPr>
      </p:sp>
      <p:sp>
        <p:nvSpPr>
          <p:cNvPr id="23" name="Shape 17"/>
          <p:cNvSpPr/>
          <p:nvPr/>
        </p:nvSpPr>
        <p:spPr>
          <a:xfrm>
            <a:off x="8503920" y="2103120"/>
            <a:ext cx="731520" cy="731520"/>
          </a:xfrm>
          <a:prstGeom prst="ellipse">
            <a:avLst/>
          </a:prstGeom>
          <a:solidFill>
            <a:srgbClr val="C9002B"/>
          </a:solidFill>
          <a:ln w="12700">
            <a:solidFill>
              <a:srgbClr val="C9002B"/>
            </a:solidFill>
            <a:prstDash val="solid"/>
          </a:ln>
        </p:spPr>
      </p:sp>
      <p:sp>
        <p:nvSpPr>
          <p:cNvPr id="24" name="Text 18"/>
          <p:cNvSpPr txBox="1"/>
          <p:nvPr/>
        </p:nvSpPr>
        <p:spPr>
          <a:xfrm>
            <a:off x="8503920" y="210312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Meiryo" pitchFamily="34" charset="0"/>
                <a:ea typeface="Meiryo" pitchFamily="34" charset="-122"/>
                <a:cs typeface="Meiryo" pitchFamily="34" charset="-120"/>
              </a:rPr>
              <a:t>3</a:t>
            </a:r>
            <a:endParaRPr lang="en-US" sz="2600" dirty="0"/>
          </a:p>
        </p:txBody>
      </p:sp>
      <p:pic>
        <p:nvPicPr>
          <p:cNvPr id="25" name="Image 4" descr="preencoded.png">    </p:cNvPr>
          <p:cNvPicPr>
            <a:picLocks noChangeAspect="1"/>
          </p:cNvPicPr>
          <p:nvPr/>
        </p:nvPicPr>
        <p:blipFill>
          <a:blip r:embed="rId5"/>
          <a:stretch>
            <a:fillRect/>
          </a:stretch>
        </p:blipFill>
        <p:spPr>
          <a:xfrm>
            <a:off x="10881360" y="2240280"/>
            <a:ext cx="457200" cy="457200"/>
          </a:xfrm>
          <a:prstGeom prst="rect">
            <a:avLst/>
          </a:prstGeom>
        </p:spPr>
      </p:pic>
      <p:sp>
        <p:nvSpPr>
          <p:cNvPr id="26" name="Text 19"/>
          <p:cNvSpPr txBox="1"/>
          <p:nvPr/>
        </p:nvSpPr>
        <p:spPr>
          <a:xfrm>
            <a:off x="8503920" y="3063240"/>
            <a:ext cx="2926080" cy="457200"/>
          </a:xfrm>
          <a:prstGeom prst="rect">
            <a:avLst/>
          </a:prstGeom>
          <a:noFill/>
          <a:ln/>
        </p:spPr>
        <p:txBody>
          <a:bodyPr wrap="square" lIns="0" tIns="0" rIns="0" bIns="0" rtlCol="0" anchor="t"/>
          <a:lstStyle/>
          <a:p>
            <a:pPr indent="0" marL="0">
              <a:buNone/>
            </a:pPr>
            <a:r>
              <a:rPr lang="en-US" sz="2000" b="1" dirty="0">
                <a:solidFill>
                  <a:srgbClr val="20232A"/>
                </a:solidFill>
                <a:latin typeface="Meiryo" pitchFamily="34" charset="0"/>
                <a:ea typeface="Meiryo" pitchFamily="34" charset="-122"/>
                <a:cs typeface="Meiryo" pitchFamily="34" charset="-120"/>
              </a:rPr>
              <a:t>申込へ誘導する</a:t>
            </a:r>
            <a:endParaRPr lang="en-US" sz="2000" dirty="0"/>
          </a:p>
        </p:txBody>
      </p:sp>
      <p:sp>
        <p:nvSpPr>
          <p:cNvPr id="27" name="Text 20"/>
          <p:cNvSpPr txBox="1"/>
          <p:nvPr/>
        </p:nvSpPr>
        <p:spPr>
          <a:xfrm>
            <a:off x="8503920" y="3611880"/>
            <a:ext cx="2194560" cy="329184"/>
          </a:xfrm>
          <a:prstGeom prst="roundRect">
            <a:avLst>
              <a:gd name="adj" fmla="val 50000"/>
            </a:avLst>
          </a:prstGeom>
          <a:solidFill>
            <a:srgbClr val="20232A"/>
          </a:solidFill>
          <a:ln>
            <a:solidFill>
              <a:srgbClr val="20232A"/>
            </a:solidFill>
          </a:ln>
        </p:spPr>
        <p:txBody>
          <a:bodyPr wrap="square" lIns="0" tIns="0" rIns="0" bIns="0" rtlCol="0" anchor="ctr"/>
          <a:lstStyle/>
          <a:p>
            <a:pPr algn="ctr" indent="0" marL="0">
              <a:buNone/>
            </a:pPr>
            <a:r>
              <a:rPr lang="en-US" sz="1100" b="1" dirty="0">
                <a:solidFill>
                  <a:srgbClr val="FFFFFF"/>
                </a:solidFill>
                <a:latin typeface="Meiryo" pitchFamily="34" charset="0"/>
                <a:ea typeface="Meiryo" pitchFamily="34" charset="-122"/>
                <a:cs typeface="Meiryo" pitchFamily="34" charset="-120"/>
              </a:rPr>
              <a:t>docomo Ad Network</a:t>
            </a:r>
            <a:endParaRPr lang="en-US" sz="1100" dirty="0"/>
          </a:p>
        </p:txBody>
      </p:sp>
      <p:sp>
        <p:nvSpPr>
          <p:cNvPr id="28" name="Text 21"/>
          <p:cNvSpPr txBox="1"/>
          <p:nvPr/>
        </p:nvSpPr>
        <p:spPr>
          <a:xfrm>
            <a:off x="8503920" y="4160520"/>
            <a:ext cx="2880360" cy="1097280"/>
          </a:xfrm>
          <a:prstGeom prst="rect">
            <a:avLst/>
          </a:prstGeom>
          <a:noFill/>
          <a:ln/>
        </p:spPr>
        <p:txBody>
          <a:bodyPr wrap="square" lIns="0" tIns="0" rIns="0" bIns="0" rtlCol="0" anchor="t"/>
          <a:lstStyle/>
          <a:p>
            <a:pPr indent="0" marL="0">
              <a:lnSpc>
                <a:spcPct val="120000"/>
              </a:lnSpc>
              <a:buNone/>
            </a:pPr>
            <a:r>
              <a:rPr lang="en-US" sz="1500" dirty="0">
                <a:solidFill>
                  <a:srgbClr val="20232A"/>
                </a:solidFill>
                <a:latin typeface="Meiryo" pitchFamily="34" charset="0"/>
                <a:ea typeface="Meiryo" pitchFamily="34" charset="-122"/>
                <a:cs typeface="Meiryo" pitchFamily="34" charset="-120"/>
              </a:rPr>
              <a:t>利用可能な条件で広告を配信。チケットページの申込を計測する。</a:t>
            </a:r>
            <a:endParaRPr lang="en-US" sz="1500" dirty="0"/>
          </a:p>
        </p:txBody>
      </p:sp>
      <p:sp>
        <p:nvSpPr>
          <p:cNvPr id="29" name="Shape 22"/>
          <p:cNvSpPr/>
          <p:nvPr/>
        </p:nvSpPr>
        <p:spPr>
          <a:xfrm>
            <a:off x="548640" y="5623560"/>
            <a:ext cx="11064240" cy="457200"/>
          </a:xfrm>
          <a:prstGeom prst="roundRect">
            <a:avLst>
              <a:gd name="adj" fmla="val 16000"/>
            </a:avLst>
          </a:prstGeom>
          <a:solidFill>
            <a:srgbClr val="FBEAEE"/>
          </a:solidFill>
          <a:ln w="12700">
            <a:solidFill>
              <a:srgbClr val="FBEAEE"/>
            </a:solidFill>
            <a:prstDash val="solid"/>
          </a:ln>
        </p:spPr>
      </p:sp>
      <p:sp>
        <p:nvSpPr>
          <p:cNvPr id="30" name="Text 23"/>
          <p:cNvSpPr txBox="1"/>
          <p:nvPr/>
        </p:nvSpPr>
        <p:spPr>
          <a:xfrm>
            <a:off x="777240" y="5641848"/>
            <a:ext cx="10607040" cy="411480"/>
          </a:xfrm>
          <a:prstGeom prst="rect">
            <a:avLst/>
          </a:prstGeom>
          <a:noFill/>
          <a:ln/>
        </p:spPr>
        <p:txBody>
          <a:bodyPr wrap="square" lIns="0" tIns="0" rIns="0" bIns="0" rtlCol="0" anchor="ctr"/>
          <a:lstStyle/>
          <a:p>
            <a:pPr indent="0" marL="0">
              <a:buNone/>
            </a:pPr>
            <a:r>
              <a:rPr lang="en-US" sz="1200" b="1" dirty="0">
                <a:solidFill>
                  <a:srgbClr val="20232A"/>
                </a:solidFill>
                <a:latin typeface="Meiryo" pitchFamily="34" charset="0"/>
                <a:ea typeface="Meiryo" pitchFamily="34" charset="-122"/>
                <a:cs typeface="Meiryo" pitchFamily="34" charset="-120"/>
              </a:rPr>
              <a:t>地域人口の変化と実際のチケット購入は、別々に評価する</a:t>
            </a:r>
            <a:endParaRPr lang="en-US" sz="1200" dirty="0"/>
          </a:p>
        </p:txBody>
      </p:sp>
      <p:sp>
        <p:nvSpPr>
          <p:cNvPr id="31" name="Text 24"/>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C626D"/>
                </a:solidFill>
                <a:latin typeface="Meiryo" pitchFamily="34" charset="0"/>
                <a:ea typeface="Meiryo" pitchFamily="34" charset="-122"/>
                <a:cs typeface="Meiryo" pitchFamily="34" charset="-120"/>
              </a:rPr>
              <a:t>3商材の自動連携や、同じ個人への追跡・再配信を前提にしない。本資料の仮説に基づく提案例</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4864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03　プランと費用</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20232A"/>
                </a:solidFill>
                <a:latin typeface="Meiryo" pitchFamily="34" charset="0"/>
                <a:ea typeface="Meiryo" pitchFamily="34" charset="-122"/>
                <a:cs typeface="Meiryo" pitchFamily="34" charset="-120"/>
              </a:rPr>
              <a:t>1ヶ月・3ヶ月・1年プランの比較</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C626D"/>
                </a:solidFill>
                <a:latin typeface="Meiryo" pitchFamily="34" charset="0"/>
                <a:ea typeface="Meiryo" pitchFamily="34" charset="-122"/>
                <a:cs typeface="Meiryo" pitchFamily="34" charset="-120"/>
              </a:rPr>
              <a:t>期間は施策の実施期間。契約前の準備期間は別に確保する</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C626D"/>
                </a:solidFill>
                <a:latin typeface="Meiryo" pitchFamily="34" charset="0"/>
                <a:ea typeface="Meiryo" pitchFamily="34" charset="-122"/>
                <a:cs typeface="Meiryo" pitchFamily="34" charset="-120"/>
              </a:rPr>
              <a:t>10</a:t>
            </a:r>
            <a:endParaRPr lang="en-US" sz="1000" dirty="0"/>
          </a:p>
        </p:txBody>
      </p:sp>
      <p:sp>
        <p:nvSpPr>
          <p:cNvPr id="6" name="Text 4"/>
          <p:cNvSpPr txBox="1"/>
          <p:nvPr/>
        </p:nvSpPr>
        <p:spPr>
          <a:xfrm>
            <a:off x="548640" y="3017520"/>
            <a:ext cx="1463040" cy="731520"/>
          </a:xfrm>
          <a:prstGeom prst="rect">
            <a:avLst/>
          </a:prstGeom>
          <a:noFill/>
          <a:ln/>
        </p:spPr>
        <p:txBody>
          <a:bodyPr wrap="square" lIns="0" tIns="0" rIns="0" bIns="0" rtlCol="0" anchor="ctr"/>
          <a:lstStyle/>
          <a:p>
            <a:pPr indent="0" marL="0">
              <a:buNone/>
            </a:pPr>
            <a:r>
              <a:rPr lang="en-US" sz="1300" b="1" dirty="0">
                <a:solidFill>
                  <a:srgbClr val="5C626D"/>
                </a:solidFill>
                <a:latin typeface="Meiryo" pitchFamily="34" charset="0"/>
                <a:ea typeface="Meiryo" pitchFamily="34" charset="-122"/>
                <a:cs typeface="Meiryo" pitchFamily="34" charset="-120"/>
              </a:rPr>
              <a:t>人流分析</a:t>
            </a:r>
            <a:endParaRPr lang="en-US" sz="1300" dirty="0"/>
          </a:p>
        </p:txBody>
      </p:sp>
      <p:sp>
        <p:nvSpPr>
          <p:cNvPr id="7" name="Text 5"/>
          <p:cNvSpPr txBox="1"/>
          <p:nvPr/>
        </p:nvSpPr>
        <p:spPr>
          <a:xfrm>
            <a:off x="548640" y="3840480"/>
            <a:ext cx="1463040" cy="731520"/>
          </a:xfrm>
          <a:prstGeom prst="rect">
            <a:avLst/>
          </a:prstGeom>
          <a:noFill/>
          <a:ln/>
        </p:spPr>
        <p:txBody>
          <a:bodyPr wrap="square" lIns="0" tIns="0" rIns="0" bIns="0" rtlCol="0" anchor="ctr"/>
          <a:lstStyle/>
          <a:p>
            <a:pPr indent="0" marL="0">
              <a:buNone/>
            </a:pPr>
            <a:r>
              <a:rPr lang="en-US" sz="1300" b="1" dirty="0">
                <a:solidFill>
                  <a:srgbClr val="5C626D"/>
                </a:solidFill>
                <a:latin typeface="Meiryo" pitchFamily="34" charset="0"/>
                <a:ea typeface="Meiryo" pitchFamily="34" charset="-122"/>
                <a:cs typeface="Meiryo" pitchFamily="34" charset="-120"/>
              </a:rPr>
              <a:t>アンケート</a:t>
            </a:r>
            <a:endParaRPr lang="en-US" sz="1300" dirty="0"/>
          </a:p>
        </p:txBody>
      </p:sp>
      <p:sp>
        <p:nvSpPr>
          <p:cNvPr id="8" name="Text 6"/>
          <p:cNvSpPr txBox="1"/>
          <p:nvPr/>
        </p:nvSpPr>
        <p:spPr>
          <a:xfrm>
            <a:off x="548640" y="4663440"/>
            <a:ext cx="1463040" cy="594360"/>
          </a:xfrm>
          <a:prstGeom prst="rect">
            <a:avLst/>
          </a:prstGeom>
          <a:noFill/>
          <a:ln/>
        </p:spPr>
        <p:txBody>
          <a:bodyPr wrap="square" lIns="0" tIns="0" rIns="0" bIns="0" rtlCol="0" anchor="ctr"/>
          <a:lstStyle/>
          <a:p>
            <a:pPr indent="0" marL="0">
              <a:buNone/>
            </a:pPr>
            <a:r>
              <a:rPr lang="en-US" sz="1300" b="1" dirty="0">
                <a:solidFill>
                  <a:srgbClr val="5C626D"/>
                </a:solidFill>
                <a:latin typeface="Meiryo" pitchFamily="34" charset="0"/>
                <a:ea typeface="Meiryo" pitchFamily="34" charset="-122"/>
                <a:cs typeface="Meiryo" pitchFamily="34" charset="-120"/>
              </a:rPr>
              <a:t>広告配信</a:t>
            </a:r>
            <a:endParaRPr lang="en-US" sz="1300" dirty="0"/>
          </a:p>
        </p:txBody>
      </p:sp>
      <p:sp>
        <p:nvSpPr>
          <p:cNvPr id="9" name="Text 7"/>
          <p:cNvSpPr txBox="1"/>
          <p:nvPr/>
        </p:nvSpPr>
        <p:spPr>
          <a:xfrm>
            <a:off x="548640" y="5349240"/>
            <a:ext cx="1463040" cy="594360"/>
          </a:xfrm>
          <a:prstGeom prst="rect">
            <a:avLst/>
          </a:prstGeom>
          <a:noFill/>
          <a:ln/>
        </p:spPr>
        <p:txBody>
          <a:bodyPr wrap="square" lIns="0" tIns="0" rIns="0" bIns="0" rtlCol="0" anchor="ctr"/>
          <a:lstStyle/>
          <a:p>
            <a:pPr indent="0" marL="0">
              <a:buNone/>
            </a:pPr>
            <a:r>
              <a:rPr lang="en-US" sz="1300" b="1" dirty="0">
                <a:solidFill>
                  <a:srgbClr val="5C626D"/>
                </a:solidFill>
                <a:latin typeface="Meiryo" pitchFamily="34" charset="0"/>
                <a:ea typeface="Meiryo" pitchFamily="34" charset="-122"/>
                <a:cs typeface="Meiryo" pitchFamily="34" charset="-120"/>
              </a:rPr>
              <a:t>成果物</a:t>
            </a:r>
            <a:endParaRPr lang="en-US" sz="1300" dirty="0"/>
          </a:p>
        </p:txBody>
      </p:sp>
      <p:sp>
        <p:nvSpPr>
          <p:cNvPr id="10" name="Shape 8"/>
          <p:cNvSpPr/>
          <p:nvPr/>
        </p:nvSpPr>
        <p:spPr>
          <a:xfrm>
            <a:off x="2103120" y="1783080"/>
            <a:ext cx="3063240" cy="1097280"/>
          </a:xfrm>
          <a:prstGeom prst="roundRect">
            <a:avLst>
              <a:gd name="adj" fmla="val 6667"/>
            </a:avLst>
          </a:prstGeom>
          <a:solidFill>
            <a:srgbClr val="20232A"/>
          </a:solidFill>
          <a:ln w="12700">
            <a:solidFill>
              <a:srgbClr val="20232A"/>
            </a:solidFill>
            <a:prstDash val="solid"/>
          </a:ln>
        </p:spPr>
      </p:sp>
      <p:sp>
        <p:nvSpPr>
          <p:cNvPr id="11" name="Text 9"/>
          <p:cNvSpPr txBox="1"/>
          <p:nvPr/>
        </p:nvSpPr>
        <p:spPr>
          <a:xfrm>
            <a:off x="2331720" y="1856232"/>
            <a:ext cx="2560320" cy="548640"/>
          </a:xfrm>
          <a:prstGeom prst="rect">
            <a:avLst/>
          </a:prstGeom>
          <a:noFill/>
          <a:ln/>
        </p:spPr>
        <p:txBody>
          <a:bodyPr wrap="square" lIns="0" tIns="0" rIns="0" bIns="0" rtlCol="0" anchor="ctr"/>
          <a:lstStyle/>
          <a:p>
            <a:pPr indent="0" marL="0">
              <a:buNone/>
            </a:pPr>
            <a:r>
              <a:rPr lang="en-US" sz="2600" b="1" dirty="0">
                <a:solidFill>
                  <a:srgbClr val="FFFFFF"/>
                </a:solidFill>
                <a:latin typeface="Meiryo" pitchFamily="34" charset="0"/>
                <a:ea typeface="Meiryo" pitchFamily="34" charset="-122"/>
                <a:cs typeface="Meiryo" pitchFamily="34" charset="-120"/>
              </a:rPr>
              <a:t>1ヶ月</a:t>
            </a:r>
            <a:endParaRPr lang="en-US" sz="2600" dirty="0"/>
          </a:p>
        </p:txBody>
      </p:sp>
      <p:sp>
        <p:nvSpPr>
          <p:cNvPr id="12" name="Text 10"/>
          <p:cNvSpPr txBox="1"/>
          <p:nvPr/>
        </p:nvSpPr>
        <p:spPr>
          <a:xfrm>
            <a:off x="2331720" y="2423160"/>
            <a:ext cx="2743200" cy="347472"/>
          </a:xfrm>
          <a:prstGeom prst="rect">
            <a:avLst/>
          </a:prstGeom>
          <a:noFill/>
          <a:ln/>
        </p:spPr>
        <p:txBody>
          <a:bodyPr wrap="square" lIns="0" tIns="0" rIns="0" bIns="0" rtlCol="0" anchor="ctr"/>
          <a:lstStyle/>
          <a:p>
            <a:pPr indent="0" marL="0">
              <a:buNone/>
            </a:pPr>
            <a:r>
              <a:rPr lang="en-US" sz="1200" dirty="0">
                <a:solidFill>
                  <a:srgbClr val="E6E8EB"/>
                </a:solidFill>
                <a:latin typeface="Meiryo" pitchFamily="34" charset="0"/>
                <a:ea typeface="Meiryo" pitchFamily="34" charset="-122"/>
                <a:cs typeface="Meiryo" pitchFamily="34" charset="-120"/>
              </a:rPr>
              <a:t>目的：1つの課題を小さく検証</a:t>
            </a:r>
            <a:endParaRPr lang="en-US" sz="1200" dirty="0"/>
          </a:p>
        </p:txBody>
      </p:sp>
      <p:sp>
        <p:nvSpPr>
          <p:cNvPr id="13" name="Shape 11"/>
          <p:cNvSpPr/>
          <p:nvPr/>
        </p:nvSpPr>
        <p:spPr>
          <a:xfrm>
            <a:off x="2103120" y="3017520"/>
            <a:ext cx="3063240" cy="658368"/>
          </a:xfrm>
          <a:prstGeom prst="roundRect">
            <a:avLst>
              <a:gd name="adj" fmla="val 11111"/>
            </a:avLst>
          </a:prstGeom>
          <a:solidFill>
            <a:srgbClr val="F4F5F7"/>
          </a:solidFill>
          <a:ln w="12700">
            <a:solidFill>
              <a:srgbClr val="F4F5F7"/>
            </a:solidFill>
            <a:prstDash val="solid"/>
          </a:ln>
        </p:spPr>
      </p:sp>
      <p:sp>
        <p:nvSpPr>
          <p:cNvPr id="14" name="Text 12"/>
          <p:cNvSpPr txBox="1"/>
          <p:nvPr/>
        </p:nvSpPr>
        <p:spPr>
          <a:xfrm>
            <a:off x="2331720" y="3017520"/>
            <a:ext cx="2697480" cy="658368"/>
          </a:xfrm>
          <a:prstGeom prst="rect">
            <a:avLst/>
          </a:prstGeom>
          <a:noFill/>
          <a:ln/>
        </p:spPr>
        <p:txBody>
          <a:bodyPr wrap="square" lIns="0" tIns="0" rIns="0" bIns="0" rtlCol="0" anchor="ctr"/>
          <a:lstStyle/>
          <a:p>
            <a:pPr indent="0" marL="0">
              <a:buNone/>
            </a:pPr>
            <a:r>
              <a:rPr lang="en-US" sz="1300" dirty="0">
                <a:solidFill>
                  <a:srgbClr val="20232A"/>
                </a:solidFill>
                <a:latin typeface="Meiryo" pitchFamily="34" charset="0"/>
                <a:ea typeface="Meiryo" pitchFamily="34" charset="-122"/>
                <a:cs typeface="Meiryo" pitchFamily="34" charset="-120"/>
              </a:rPr>
              <a:t>限定した地域・日をスポットで分析</a:t>
            </a:r>
            <a:endParaRPr lang="en-US" sz="1300" dirty="0"/>
          </a:p>
        </p:txBody>
      </p:sp>
      <p:sp>
        <p:nvSpPr>
          <p:cNvPr id="15" name="Shape 13"/>
          <p:cNvSpPr/>
          <p:nvPr/>
        </p:nvSpPr>
        <p:spPr>
          <a:xfrm>
            <a:off x="2103120" y="3840480"/>
            <a:ext cx="3063240" cy="658368"/>
          </a:xfrm>
          <a:prstGeom prst="roundRect">
            <a:avLst>
              <a:gd name="adj" fmla="val 11111"/>
            </a:avLst>
          </a:prstGeom>
          <a:solidFill>
            <a:srgbClr val="F4F5F7"/>
          </a:solidFill>
          <a:ln w="12700">
            <a:solidFill>
              <a:srgbClr val="F4F5F7"/>
            </a:solidFill>
            <a:prstDash val="solid"/>
          </a:ln>
        </p:spPr>
      </p:sp>
      <p:sp>
        <p:nvSpPr>
          <p:cNvPr id="16" name="Shape 14"/>
          <p:cNvSpPr/>
          <p:nvPr/>
        </p:nvSpPr>
        <p:spPr>
          <a:xfrm>
            <a:off x="2331720" y="4069080"/>
            <a:ext cx="201168" cy="201168"/>
          </a:xfrm>
          <a:prstGeom prst="ellipse">
            <a:avLst/>
          </a:prstGeom>
          <a:solidFill>
            <a:srgbClr val="C9002B"/>
          </a:solidFill>
          <a:ln w="12700">
            <a:solidFill>
              <a:srgbClr val="C9002B"/>
            </a:solidFill>
            <a:prstDash val="solid"/>
          </a:ln>
        </p:spPr>
      </p:sp>
      <p:sp>
        <p:nvSpPr>
          <p:cNvPr id="17" name="Text 15"/>
          <p:cNvSpPr txBox="1"/>
          <p:nvPr/>
        </p:nvSpPr>
        <p:spPr>
          <a:xfrm>
            <a:off x="2715768" y="3840480"/>
            <a:ext cx="2103120" cy="658368"/>
          </a:xfrm>
          <a:prstGeom prst="rect">
            <a:avLst/>
          </a:prstGeom>
          <a:noFill/>
          <a:ln/>
        </p:spPr>
        <p:txBody>
          <a:bodyPr wrap="square" lIns="0" tIns="0" rIns="0" bIns="0" rtlCol="0" anchor="ctr"/>
          <a:lstStyle/>
          <a:p>
            <a:pPr indent="0" marL="0">
              <a:buNone/>
            </a:pPr>
            <a:r>
              <a:rPr lang="en-US" sz="1300" b="1" dirty="0">
                <a:solidFill>
                  <a:srgbClr val="20232A"/>
                </a:solidFill>
                <a:latin typeface="Meiryo" pitchFamily="34" charset="0"/>
                <a:ea typeface="Meiryo" pitchFamily="34" charset="-122"/>
                <a:cs typeface="Meiryo" pitchFamily="34" charset="-120"/>
              </a:rPr>
              <a:t>1回を想定</a:t>
            </a:r>
            <a:endParaRPr lang="en-US" sz="1300" dirty="0"/>
          </a:p>
        </p:txBody>
      </p:sp>
      <p:sp>
        <p:nvSpPr>
          <p:cNvPr id="18" name="Shape 16"/>
          <p:cNvSpPr/>
          <p:nvPr/>
        </p:nvSpPr>
        <p:spPr>
          <a:xfrm>
            <a:off x="2103120" y="4663440"/>
            <a:ext cx="3063240" cy="521208"/>
          </a:xfrm>
          <a:prstGeom prst="roundRect">
            <a:avLst>
              <a:gd name="adj" fmla="val 14035"/>
            </a:avLst>
          </a:prstGeom>
          <a:solidFill>
            <a:srgbClr val="F4F5F7"/>
          </a:solidFill>
          <a:ln w="12700">
            <a:solidFill>
              <a:srgbClr val="F4F5F7"/>
            </a:solidFill>
            <a:prstDash val="solid"/>
          </a:ln>
        </p:spPr>
      </p:sp>
      <p:sp>
        <p:nvSpPr>
          <p:cNvPr id="19" name="Text 17"/>
          <p:cNvSpPr txBox="1"/>
          <p:nvPr/>
        </p:nvSpPr>
        <p:spPr>
          <a:xfrm>
            <a:off x="2331720" y="4663440"/>
            <a:ext cx="2697480" cy="521208"/>
          </a:xfrm>
          <a:prstGeom prst="rect">
            <a:avLst/>
          </a:prstGeom>
          <a:noFill/>
          <a:ln/>
        </p:spPr>
        <p:txBody>
          <a:bodyPr wrap="square" lIns="0" tIns="0" rIns="0" bIns="0" rtlCol="0" anchor="ctr"/>
          <a:lstStyle/>
          <a:p>
            <a:pPr indent="0" marL="0">
              <a:buNone/>
            </a:pPr>
            <a:r>
              <a:rPr lang="en-US" sz="1300" dirty="0">
                <a:solidFill>
                  <a:srgbClr val="20232A"/>
                </a:solidFill>
                <a:latin typeface="Meiryo" pitchFamily="34" charset="0"/>
                <a:ea typeface="Meiryo" pitchFamily="34" charset="-122"/>
                <a:cs typeface="Meiryo" pitchFamily="34" charset="-120"/>
              </a:rPr>
              <a:t>1テーマに絞る</a:t>
            </a:r>
            <a:endParaRPr lang="en-US" sz="1300" dirty="0"/>
          </a:p>
        </p:txBody>
      </p:sp>
      <p:sp>
        <p:nvSpPr>
          <p:cNvPr id="20" name="Shape 18"/>
          <p:cNvSpPr/>
          <p:nvPr/>
        </p:nvSpPr>
        <p:spPr>
          <a:xfrm>
            <a:off x="2103120" y="5349240"/>
            <a:ext cx="3063240" cy="521208"/>
          </a:xfrm>
          <a:prstGeom prst="roundRect">
            <a:avLst>
              <a:gd name="adj" fmla="val 14035"/>
            </a:avLst>
          </a:prstGeom>
          <a:solidFill>
            <a:srgbClr val="F4F5F7"/>
          </a:solidFill>
          <a:ln w="12700">
            <a:solidFill>
              <a:srgbClr val="F4F5F7"/>
            </a:solidFill>
            <a:prstDash val="solid"/>
          </a:ln>
        </p:spPr>
      </p:sp>
      <p:sp>
        <p:nvSpPr>
          <p:cNvPr id="21" name="Text 19"/>
          <p:cNvSpPr txBox="1"/>
          <p:nvPr/>
        </p:nvSpPr>
        <p:spPr>
          <a:xfrm>
            <a:off x="2331720" y="5349240"/>
            <a:ext cx="2697480" cy="521208"/>
          </a:xfrm>
          <a:prstGeom prst="rect">
            <a:avLst/>
          </a:prstGeom>
          <a:noFill/>
          <a:ln/>
        </p:spPr>
        <p:txBody>
          <a:bodyPr wrap="square" lIns="0" tIns="0" rIns="0" bIns="0" rtlCol="0" anchor="ctr"/>
          <a:lstStyle/>
          <a:p>
            <a:pPr indent="0" marL="0">
              <a:buNone/>
            </a:pPr>
            <a:r>
              <a:rPr lang="en-US" sz="1300" b="1" dirty="0">
                <a:solidFill>
                  <a:srgbClr val="20232A"/>
                </a:solidFill>
                <a:latin typeface="Meiryo" pitchFamily="34" charset="0"/>
                <a:ea typeface="Meiryo" pitchFamily="34" charset="-122"/>
                <a:cs typeface="Meiryo" pitchFamily="34" charset="-120"/>
              </a:rPr>
              <a:t>次に試す条件</a:t>
            </a:r>
            <a:endParaRPr lang="en-US" sz="1300" dirty="0"/>
          </a:p>
        </p:txBody>
      </p:sp>
      <p:sp>
        <p:nvSpPr>
          <p:cNvPr id="22" name="Shape 20"/>
          <p:cNvSpPr/>
          <p:nvPr/>
        </p:nvSpPr>
        <p:spPr>
          <a:xfrm>
            <a:off x="5276088" y="1783080"/>
            <a:ext cx="3063240" cy="1097280"/>
          </a:xfrm>
          <a:prstGeom prst="roundRect">
            <a:avLst>
              <a:gd name="adj" fmla="val 6667"/>
            </a:avLst>
          </a:prstGeom>
          <a:solidFill>
            <a:srgbClr val="20232A"/>
          </a:solidFill>
          <a:ln w="12700">
            <a:solidFill>
              <a:srgbClr val="20232A"/>
            </a:solidFill>
            <a:prstDash val="solid"/>
          </a:ln>
        </p:spPr>
      </p:sp>
      <p:sp>
        <p:nvSpPr>
          <p:cNvPr id="23" name="Text 21"/>
          <p:cNvSpPr txBox="1"/>
          <p:nvPr/>
        </p:nvSpPr>
        <p:spPr>
          <a:xfrm>
            <a:off x="5504688" y="1856232"/>
            <a:ext cx="2560320" cy="548640"/>
          </a:xfrm>
          <a:prstGeom prst="rect">
            <a:avLst/>
          </a:prstGeom>
          <a:noFill/>
          <a:ln/>
        </p:spPr>
        <p:txBody>
          <a:bodyPr wrap="square" lIns="0" tIns="0" rIns="0" bIns="0" rtlCol="0" anchor="ctr"/>
          <a:lstStyle/>
          <a:p>
            <a:pPr indent="0" marL="0">
              <a:buNone/>
            </a:pPr>
            <a:r>
              <a:rPr lang="en-US" sz="2600" b="1" dirty="0">
                <a:solidFill>
                  <a:srgbClr val="FFFFFF"/>
                </a:solidFill>
                <a:latin typeface="Meiryo" pitchFamily="34" charset="0"/>
                <a:ea typeface="Meiryo" pitchFamily="34" charset="-122"/>
                <a:cs typeface="Meiryo" pitchFamily="34" charset="-120"/>
              </a:rPr>
              <a:t>3ヶ月</a:t>
            </a:r>
            <a:endParaRPr lang="en-US" sz="2600" dirty="0"/>
          </a:p>
        </p:txBody>
      </p:sp>
      <p:sp>
        <p:nvSpPr>
          <p:cNvPr id="24" name="Text 22"/>
          <p:cNvSpPr txBox="1"/>
          <p:nvPr/>
        </p:nvSpPr>
        <p:spPr>
          <a:xfrm>
            <a:off x="5504688" y="2423160"/>
            <a:ext cx="2743200" cy="347472"/>
          </a:xfrm>
          <a:prstGeom prst="rect">
            <a:avLst/>
          </a:prstGeom>
          <a:noFill/>
          <a:ln/>
        </p:spPr>
        <p:txBody>
          <a:bodyPr wrap="square" lIns="0" tIns="0" rIns="0" bIns="0" rtlCol="0" anchor="ctr"/>
          <a:lstStyle/>
          <a:p>
            <a:pPr indent="0" marL="0">
              <a:buNone/>
            </a:pPr>
            <a:r>
              <a:rPr lang="en-US" sz="1200" dirty="0">
                <a:solidFill>
                  <a:srgbClr val="E6E8EB"/>
                </a:solidFill>
                <a:latin typeface="Meiryo" pitchFamily="34" charset="0"/>
                <a:ea typeface="Meiryo" pitchFamily="34" charset="-122"/>
                <a:cs typeface="Meiryo" pitchFamily="34" charset="-120"/>
              </a:rPr>
              <a:t>目的：改善の方向と継続可否を判断</a:t>
            </a:r>
            <a:endParaRPr lang="en-US" sz="1200" dirty="0"/>
          </a:p>
        </p:txBody>
      </p:sp>
      <p:sp>
        <p:nvSpPr>
          <p:cNvPr id="25" name="Shape 23"/>
          <p:cNvSpPr/>
          <p:nvPr/>
        </p:nvSpPr>
        <p:spPr>
          <a:xfrm>
            <a:off x="5276088" y="3017520"/>
            <a:ext cx="3063240" cy="658368"/>
          </a:xfrm>
          <a:prstGeom prst="roundRect">
            <a:avLst>
              <a:gd name="adj" fmla="val 11111"/>
            </a:avLst>
          </a:prstGeom>
          <a:solidFill>
            <a:srgbClr val="F4F5F7"/>
          </a:solidFill>
          <a:ln w="12700">
            <a:solidFill>
              <a:srgbClr val="F4F5F7"/>
            </a:solidFill>
            <a:prstDash val="solid"/>
          </a:ln>
        </p:spPr>
      </p:sp>
      <p:sp>
        <p:nvSpPr>
          <p:cNvPr id="26" name="Text 24"/>
          <p:cNvSpPr txBox="1"/>
          <p:nvPr/>
        </p:nvSpPr>
        <p:spPr>
          <a:xfrm>
            <a:off x="5504688" y="3017520"/>
            <a:ext cx="2697480" cy="658368"/>
          </a:xfrm>
          <a:prstGeom prst="rect">
            <a:avLst/>
          </a:prstGeom>
          <a:noFill/>
          <a:ln/>
        </p:spPr>
        <p:txBody>
          <a:bodyPr wrap="square" lIns="0" tIns="0" rIns="0" bIns="0" rtlCol="0" anchor="ctr"/>
          <a:lstStyle/>
          <a:p>
            <a:pPr indent="0" marL="0">
              <a:buNone/>
            </a:pPr>
            <a:r>
              <a:rPr lang="en-US" sz="1300" dirty="0">
                <a:solidFill>
                  <a:srgbClr val="20232A"/>
                </a:solidFill>
                <a:latin typeface="Meiryo" pitchFamily="34" charset="0"/>
                <a:ea typeface="Meiryo" pitchFamily="34" charset="-122"/>
                <a:cs typeface="Meiryo" pitchFamily="34" charset="-120"/>
              </a:rPr>
              <a:t>基準時点と施策後を同条件で比較</a:t>
            </a:r>
            <a:endParaRPr lang="en-US" sz="1300" dirty="0"/>
          </a:p>
        </p:txBody>
      </p:sp>
      <p:sp>
        <p:nvSpPr>
          <p:cNvPr id="27" name="Shape 25"/>
          <p:cNvSpPr/>
          <p:nvPr/>
        </p:nvSpPr>
        <p:spPr>
          <a:xfrm>
            <a:off x="5276088" y="3840480"/>
            <a:ext cx="3063240" cy="658368"/>
          </a:xfrm>
          <a:prstGeom prst="roundRect">
            <a:avLst>
              <a:gd name="adj" fmla="val 11111"/>
            </a:avLst>
          </a:prstGeom>
          <a:solidFill>
            <a:srgbClr val="F4F5F7"/>
          </a:solidFill>
          <a:ln w="12700">
            <a:solidFill>
              <a:srgbClr val="F4F5F7"/>
            </a:solidFill>
            <a:prstDash val="solid"/>
          </a:ln>
        </p:spPr>
      </p:sp>
      <p:sp>
        <p:nvSpPr>
          <p:cNvPr id="28" name="Shape 26"/>
          <p:cNvSpPr/>
          <p:nvPr/>
        </p:nvSpPr>
        <p:spPr>
          <a:xfrm>
            <a:off x="5504688" y="4069080"/>
            <a:ext cx="201168" cy="201168"/>
          </a:xfrm>
          <a:prstGeom prst="ellipse">
            <a:avLst/>
          </a:prstGeom>
          <a:solidFill>
            <a:srgbClr val="C9002B"/>
          </a:solidFill>
          <a:ln w="12700">
            <a:solidFill>
              <a:srgbClr val="C9002B"/>
            </a:solidFill>
            <a:prstDash val="solid"/>
          </a:ln>
        </p:spPr>
      </p:sp>
      <p:sp>
        <p:nvSpPr>
          <p:cNvPr id="29" name="Shape 27"/>
          <p:cNvSpPr/>
          <p:nvPr/>
        </p:nvSpPr>
        <p:spPr>
          <a:xfrm>
            <a:off x="5797296" y="4069080"/>
            <a:ext cx="201168" cy="201168"/>
          </a:xfrm>
          <a:prstGeom prst="ellipse">
            <a:avLst/>
          </a:prstGeom>
          <a:solidFill>
            <a:srgbClr val="C9002B"/>
          </a:solidFill>
          <a:ln w="12700">
            <a:solidFill>
              <a:srgbClr val="C9002B"/>
            </a:solidFill>
            <a:prstDash val="solid"/>
          </a:ln>
        </p:spPr>
      </p:sp>
      <p:sp>
        <p:nvSpPr>
          <p:cNvPr id="30" name="Text 28"/>
          <p:cNvSpPr txBox="1"/>
          <p:nvPr/>
        </p:nvSpPr>
        <p:spPr>
          <a:xfrm>
            <a:off x="6181344" y="3840480"/>
            <a:ext cx="2103120" cy="658368"/>
          </a:xfrm>
          <a:prstGeom prst="rect">
            <a:avLst/>
          </a:prstGeom>
          <a:noFill/>
          <a:ln/>
        </p:spPr>
        <p:txBody>
          <a:bodyPr wrap="square" lIns="0" tIns="0" rIns="0" bIns="0" rtlCol="0" anchor="ctr"/>
          <a:lstStyle/>
          <a:p>
            <a:pPr indent="0" marL="0">
              <a:buNone/>
            </a:pPr>
            <a:r>
              <a:rPr lang="en-US" sz="1300" b="1" dirty="0">
                <a:solidFill>
                  <a:srgbClr val="20232A"/>
                </a:solidFill>
                <a:latin typeface="Meiryo" pitchFamily="34" charset="0"/>
                <a:ea typeface="Meiryo" pitchFamily="34" charset="-122"/>
                <a:cs typeface="Meiryo" pitchFamily="34" charset="-120"/>
              </a:rPr>
              <a:t>事前・事後の2回</a:t>
            </a:r>
            <a:endParaRPr lang="en-US" sz="1300" dirty="0"/>
          </a:p>
        </p:txBody>
      </p:sp>
      <p:sp>
        <p:nvSpPr>
          <p:cNvPr id="31" name="Shape 29"/>
          <p:cNvSpPr/>
          <p:nvPr/>
        </p:nvSpPr>
        <p:spPr>
          <a:xfrm>
            <a:off x="5276088" y="4663440"/>
            <a:ext cx="3063240" cy="521208"/>
          </a:xfrm>
          <a:prstGeom prst="roundRect">
            <a:avLst>
              <a:gd name="adj" fmla="val 14035"/>
            </a:avLst>
          </a:prstGeom>
          <a:solidFill>
            <a:srgbClr val="F4F5F7"/>
          </a:solidFill>
          <a:ln w="12700">
            <a:solidFill>
              <a:srgbClr val="F4F5F7"/>
            </a:solidFill>
            <a:prstDash val="solid"/>
          </a:ln>
        </p:spPr>
      </p:sp>
      <p:sp>
        <p:nvSpPr>
          <p:cNvPr id="32" name="Text 30"/>
          <p:cNvSpPr txBox="1"/>
          <p:nvPr/>
        </p:nvSpPr>
        <p:spPr>
          <a:xfrm>
            <a:off x="5504688" y="4663440"/>
            <a:ext cx="2697480" cy="521208"/>
          </a:xfrm>
          <a:prstGeom prst="rect">
            <a:avLst/>
          </a:prstGeom>
          <a:noFill/>
          <a:ln/>
        </p:spPr>
        <p:txBody>
          <a:bodyPr wrap="square" lIns="0" tIns="0" rIns="0" bIns="0" rtlCol="0" anchor="ctr"/>
          <a:lstStyle/>
          <a:p>
            <a:pPr indent="0" marL="0">
              <a:buNone/>
            </a:pPr>
            <a:r>
              <a:rPr lang="en-US" sz="1300" dirty="0">
                <a:solidFill>
                  <a:srgbClr val="20232A"/>
                </a:solidFill>
                <a:latin typeface="Meiryo" pitchFamily="34" charset="0"/>
                <a:ea typeface="Meiryo" pitchFamily="34" charset="-122"/>
                <a:cs typeface="Meiryo" pitchFamily="34" charset="-120"/>
              </a:rPr>
              <a:t>対象や訴求を見直す</a:t>
            </a:r>
            <a:endParaRPr lang="en-US" sz="1300" dirty="0"/>
          </a:p>
        </p:txBody>
      </p:sp>
      <p:sp>
        <p:nvSpPr>
          <p:cNvPr id="33" name="Shape 31"/>
          <p:cNvSpPr/>
          <p:nvPr/>
        </p:nvSpPr>
        <p:spPr>
          <a:xfrm>
            <a:off x="5276088" y="5349240"/>
            <a:ext cx="3063240" cy="521208"/>
          </a:xfrm>
          <a:prstGeom prst="roundRect">
            <a:avLst>
              <a:gd name="adj" fmla="val 14035"/>
            </a:avLst>
          </a:prstGeom>
          <a:solidFill>
            <a:srgbClr val="F4F5F7"/>
          </a:solidFill>
          <a:ln w="12700">
            <a:solidFill>
              <a:srgbClr val="F4F5F7"/>
            </a:solidFill>
            <a:prstDash val="solid"/>
          </a:ln>
        </p:spPr>
      </p:sp>
      <p:sp>
        <p:nvSpPr>
          <p:cNvPr id="34" name="Text 32"/>
          <p:cNvSpPr txBox="1"/>
          <p:nvPr/>
        </p:nvSpPr>
        <p:spPr>
          <a:xfrm>
            <a:off x="5504688" y="5349240"/>
            <a:ext cx="2697480" cy="521208"/>
          </a:xfrm>
          <a:prstGeom prst="rect">
            <a:avLst/>
          </a:prstGeom>
          <a:noFill/>
          <a:ln/>
        </p:spPr>
        <p:txBody>
          <a:bodyPr wrap="square" lIns="0" tIns="0" rIns="0" bIns="0" rtlCol="0" anchor="ctr"/>
          <a:lstStyle/>
          <a:p>
            <a:pPr indent="0" marL="0">
              <a:buNone/>
            </a:pPr>
            <a:r>
              <a:rPr lang="en-US" sz="1300" b="1" dirty="0">
                <a:solidFill>
                  <a:srgbClr val="20232A"/>
                </a:solidFill>
                <a:latin typeface="Meiryo" pitchFamily="34" charset="0"/>
                <a:ea typeface="Meiryo" pitchFamily="34" charset="-122"/>
                <a:cs typeface="Meiryo" pitchFamily="34" charset="-120"/>
              </a:rPr>
              <a:t>改善報告と継続判断</a:t>
            </a:r>
            <a:endParaRPr lang="en-US" sz="1300" dirty="0"/>
          </a:p>
        </p:txBody>
      </p:sp>
      <p:sp>
        <p:nvSpPr>
          <p:cNvPr id="35" name="Shape 33"/>
          <p:cNvSpPr/>
          <p:nvPr/>
        </p:nvSpPr>
        <p:spPr>
          <a:xfrm>
            <a:off x="8449056" y="1783080"/>
            <a:ext cx="3063240" cy="1097280"/>
          </a:xfrm>
          <a:prstGeom prst="roundRect">
            <a:avLst>
              <a:gd name="adj" fmla="val 6667"/>
            </a:avLst>
          </a:prstGeom>
          <a:solidFill>
            <a:srgbClr val="20232A"/>
          </a:solidFill>
          <a:ln w="12700">
            <a:solidFill>
              <a:srgbClr val="20232A"/>
            </a:solidFill>
            <a:prstDash val="solid"/>
          </a:ln>
        </p:spPr>
      </p:sp>
      <p:sp>
        <p:nvSpPr>
          <p:cNvPr id="36" name="Text 34"/>
          <p:cNvSpPr txBox="1"/>
          <p:nvPr/>
        </p:nvSpPr>
        <p:spPr>
          <a:xfrm>
            <a:off x="8677656" y="1856232"/>
            <a:ext cx="2560320" cy="548640"/>
          </a:xfrm>
          <a:prstGeom prst="rect">
            <a:avLst/>
          </a:prstGeom>
          <a:noFill/>
          <a:ln/>
        </p:spPr>
        <p:txBody>
          <a:bodyPr wrap="square" lIns="0" tIns="0" rIns="0" bIns="0" rtlCol="0" anchor="ctr"/>
          <a:lstStyle/>
          <a:p>
            <a:pPr indent="0" marL="0">
              <a:buNone/>
            </a:pPr>
            <a:r>
              <a:rPr lang="en-US" sz="2600" b="1" dirty="0">
                <a:solidFill>
                  <a:srgbClr val="FFFFFF"/>
                </a:solidFill>
                <a:latin typeface="Meiryo" pitchFamily="34" charset="0"/>
                <a:ea typeface="Meiryo" pitchFamily="34" charset="-122"/>
                <a:cs typeface="Meiryo" pitchFamily="34" charset="-120"/>
              </a:rPr>
              <a:t>1年</a:t>
            </a:r>
            <a:endParaRPr lang="en-US" sz="2600" dirty="0"/>
          </a:p>
        </p:txBody>
      </p:sp>
      <p:sp>
        <p:nvSpPr>
          <p:cNvPr id="37" name="Text 35"/>
          <p:cNvSpPr txBox="1"/>
          <p:nvPr/>
        </p:nvSpPr>
        <p:spPr>
          <a:xfrm>
            <a:off x="8677656" y="2423160"/>
            <a:ext cx="2743200" cy="347472"/>
          </a:xfrm>
          <a:prstGeom prst="rect">
            <a:avLst/>
          </a:prstGeom>
          <a:noFill/>
          <a:ln/>
        </p:spPr>
        <p:txBody>
          <a:bodyPr wrap="square" lIns="0" tIns="0" rIns="0" bIns="0" rtlCol="0" anchor="ctr"/>
          <a:lstStyle/>
          <a:p>
            <a:pPr indent="0" marL="0">
              <a:buNone/>
            </a:pPr>
            <a:r>
              <a:rPr lang="en-US" sz="1200" dirty="0">
                <a:solidFill>
                  <a:srgbClr val="E6E8EB"/>
                </a:solidFill>
                <a:latin typeface="Meiryo" pitchFamily="34" charset="0"/>
                <a:ea typeface="Meiryo" pitchFamily="34" charset="-122"/>
                <a:cs typeface="Meiryo" pitchFamily="34" charset="-120"/>
              </a:rPr>
              <a:t>目的：季節・開催時期に合わせて運用</a:t>
            </a:r>
            <a:endParaRPr lang="en-US" sz="1200" dirty="0"/>
          </a:p>
        </p:txBody>
      </p:sp>
      <p:sp>
        <p:nvSpPr>
          <p:cNvPr id="38" name="Shape 36"/>
          <p:cNvSpPr/>
          <p:nvPr/>
        </p:nvSpPr>
        <p:spPr>
          <a:xfrm>
            <a:off x="8449056" y="3017520"/>
            <a:ext cx="3063240" cy="658368"/>
          </a:xfrm>
          <a:prstGeom prst="roundRect">
            <a:avLst>
              <a:gd name="adj" fmla="val 11111"/>
            </a:avLst>
          </a:prstGeom>
          <a:solidFill>
            <a:srgbClr val="F4F5F7"/>
          </a:solidFill>
          <a:ln w="12700">
            <a:solidFill>
              <a:srgbClr val="F4F5F7"/>
            </a:solidFill>
            <a:prstDash val="solid"/>
          </a:ln>
        </p:spPr>
      </p:sp>
      <p:sp>
        <p:nvSpPr>
          <p:cNvPr id="39" name="Text 37"/>
          <p:cNvSpPr txBox="1"/>
          <p:nvPr/>
        </p:nvSpPr>
        <p:spPr>
          <a:xfrm>
            <a:off x="8677656" y="3017520"/>
            <a:ext cx="2697480" cy="658368"/>
          </a:xfrm>
          <a:prstGeom prst="rect">
            <a:avLst/>
          </a:prstGeom>
          <a:noFill/>
          <a:ln/>
        </p:spPr>
        <p:txBody>
          <a:bodyPr wrap="square" lIns="0" tIns="0" rIns="0" bIns="0" rtlCol="0" anchor="ctr"/>
          <a:lstStyle/>
          <a:p>
            <a:pPr indent="0" marL="0">
              <a:buNone/>
            </a:pPr>
            <a:r>
              <a:rPr lang="en-US" sz="1300" dirty="0">
                <a:solidFill>
                  <a:srgbClr val="20232A"/>
                </a:solidFill>
                <a:latin typeface="Meiryo" pitchFamily="34" charset="0"/>
                <a:ea typeface="Meiryo" pitchFamily="34" charset="-122"/>
                <a:cs typeface="Meiryo" pitchFamily="34" charset="-120"/>
              </a:rPr>
              <a:t>定点観測と季節・前年比較</a:t>
            </a:r>
            <a:endParaRPr lang="en-US" sz="1300" dirty="0"/>
          </a:p>
        </p:txBody>
      </p:sp>
      <p:sp>
        <p:nvSpPr>
          <p:cNvPr id="40" name="Shape 38"/>
          <p:cNvSpPr/>
          <p:nvPr/>
        </p:nvSpPr>
        <p:spPr>
          <a:xfrm>
            <a:off x="8449056" y="3840480"/>
            <a:ext cx="3063240" cy="658368"/>
          </a:xfrm>
          <a:prstGeom prst="roundRect">
            <a:avLst>
              <a:gd name="adj" fmla="val 11111"/>
            </a:avLst>
          </a:prstGeom>
          <a:solidFill>
            <a:srgbClr val="F4F5F7"/>
          </a:solidFill>
          <a:ln w="12700">
            <a:solidFill>
              <a:srgbClr val="F4F5F7"/>
            </a:solidFill>
            <a:prstDash val="solid"/>
          </a:ln>
        </p:spPr>
      </p:sp>
      <p:sp>
        <p:nvSpPr>
          <p:cNvPr id="41" name="Shape 39"/>
          <p:cNvSpPr/>
          <p:nvPr/>
        </p:nvSpPr>
        <p:spPr>
          <a:xfrm>
            <a:off x="8677656" y="4069080"/>
            <a:ext cx="201168" cy="201168"/>
          </a:xfrm>
          <a:prstGeom prst="ellipse">
            <a:avLst/>
          </a:prstGeom>
          <a:solidFill>
            <a:srgbClr val="C9002B"/>
          </a:solidFill>
          <a:ln w="12700">
            <a:solidFill>
              <a:srgbClr val="C9002B"/>
            </a:solidFill>
            <a:prstDash val="solid"/>
          </a:ln>
        </p:spPr>
      </p:sp>
      <p:sp>
        <p:nvSpPr>
          <p:cNvPr id="42" name="Shape 40"/>
          <p:cNvSpPr/>
          <p:nvPr/>
        </p:nvSpPr>
        <p:spPr>
          <a:xfrm>
            <a:off x="8970264" y="4069080"/>
            <a:ext cx="201168" cy="201168"/>
          </a:xfrm>
          <a:prstGeom prst="ellipse">
            <a:avLst/>
          </a:prstGeom>
          <a:solidFill>
            <a:srgbClr val="C9002B"/>
          </a:solidFill>
          <a:ln w="12700">
            <a:solidFill>
              <a:srgbClr val="C9002B"/>
            </a:solidFill>
            <a:prstDash val="solid"/>
          </a:ln>
        </p:spPr>
      </p:sp>
      <p:sp>
        <p:nvSpPr>
          <p:cNvPr id="43" name="Shape 41"/>
          <p:cNvSpPr/>
          <p:nvPr/>
        </p:nvSpPr>
        <p:spPr>
          <a:xfrm>
            <a:off x="9262872" y="4069080"/>
            <a:ext cx="201168" cy="201168"/>
          </a:xfrm>
          <a:prstGeom prst="ellipse">
            <a:avLst/>
          </a:prstGeom>
          <a:solidFill>
            <a:srgbClr val="C9002B"/>
          </a:solidFill>
          <a:ln w="12700">
            <a:solidFill>
              <a:srgbClr val="C9002B"/>
            </a:solidFill>
            <a:prstDash val="solid"/>
          </a:ln>
        </p:spPr>
      </p:sp>
      <p:sp>
        <p:nvSpPr>
          <p:cNvPr id="44" name="Shape 42"/>
          <p:cNvSpPr/>
          <p:nvPr/>
        </p:nvSpPr>
        <p:spPr>
          <a:xfrm>
            <a:off x="9555480" y="4069080"/>
            <a:ext cx="201168" cy="201168"/>
          </a:xfrm>
          <a:prstGeom prst="ellipse">
            <a:avLst/>
          </a:prstGeom>
          <a:solidFill>
            <a:srgbClr val="C9002B"/>
          </a:solidFill>
          <a:ln w="12700">
            <a:solidFill>
              <a:srgbClr val="C9002B"/>
            </a:solidFill>
            <a:prstDash val="solid"/>
          </a:ln>
        </p:spPr>
      </p:sp>
      <p:sp>
        <p:nvSpPr>
          <p:cNvPr id="45" name="Text 43"/>
          <p:cNvSpPr txBox="1"/>
          <p:nvPr/>
        </p:nvSpPr>
        <p:spPr>
          <a:xfrm>
            <a:off x="9939528" y="3840480"/>
            <a:ext cx="2103120" cy="658368"/>
          </a:xfrm>
          <a:prstGeom prst="rect">
            <a:avLst/>
          </a:prstGeom>
          <a:noFill/>
          <a:ln/>
        </p:spPr>
        <p:txBody>
          <a:bodyPr wrap="square" lIns="0" tIns="0" rIns="0" bIns="0" rtlCol="0" anchor="ctr"/>
          <a:lstStyle/>
          <a:p>
            <a:pPr indent="0" marL="0">
              <a:buNone/>
            </a:pPr>
            <a:r>
              <a:rPr lang="en-US" sz="1300" b="1" dirty="0">
                <a:solidFill>
                  <a:srgbClr val="20232A"/>
                </a:solidFill>
                <a:latin typeface="Meiryo" pitchFamily="34" charset="0"/>
                <a:ea typeface="Meiryo" pitchFamily="34" charset="-122"/>
                <a:cs typeface="Meiryo" pitchFamily="34" charset="-120"/>
              </a:rPr>
              <a:t>四半期ごとの4回</a:t>
            </a:r>
            <a:endParaRPr lang="en-US" sz="1300" dirty="0"/>
          </a:p>
        </p:txBody>
      </p:sp>
      <p:sp>
        <p:nvSpPr>
          <p:cNvPr id="46" name="Shape 44"/>
          <p:cNvSpPr/>
          <p:nvPr/>
        </p:nvSpPr>
        <p:spPr>
          <a:xfrm>
            <a:off x="8449056" y="4663440"/>
            <a:ext cx="3063240" cy="521208"/>
          </a:xfrm>
          <a:prstGeom prst="roundRect">
            <a:avLst>
              <a:gd name="adj" fmla="val 14035"/>
            </a:avLst>
          </a:prstGeom>
          <a:solidFill>
            <a:srgbClr val="F4F5F7"/>
          </a:solidFill>
          <a:ln w="12700">
            <a:solidFill>
              <a:srgbClr val="F4F5F7"/>
            </a:solidFill>
            <a:prstDash val="solid"/>
          </a:ln>
        </p:spPr>
      </p:sp>
      <p:sp>
        <p:nvSpPr>
          <p:cNvPr id="47" name="Text 45"/>
          <p:cNvSpPr txBox="1"/>
          <p:nvPr/>
        </p:nvSpPr>
        <p:spPr>
          <a:xfrm>
            <a:off x="8677656" y="4663440"/>
            <a:ext cx="2697480" cy="521208"/>
          </a:xfrm>
          <a:prstGeom prst="rect">
            <a:avLst/>
          </a:prstGeom>
          <a:noFill/>
          <a:ln/>
        </p:spPr>
        <p:txBody>
          <a:bodyPr wrap="square" lIns="0" tIns="0" rIns="0" bIns="0" rtlCol="0" anchor="ctr"/>
          <a:lstStyle/>
          <a:p>
            <a:pPr indent="0" marL="0">
              <a:buNone/>
            </a:pPr>
            <a:r>
              <a:rPr lang="en-US" sz="1300" dirty="0">
                <a:solidFill>
                  <a:srgbClr val="20232A"/>
                </a:solidFill>
                <a:latin typeface="Meiryo" pitchFamily="34" charset="0"/>
                <a:ea typeface="Meiryo" pitchFamily="34" charset="-122"/>
                <a:cs typeface="Meiryo" pitchFamily="34" charset="-120"/>
              </a:rPr>
              <a:t>年間計画に沿って配分</a:t>
            </a:r>
            <a:endParaRPr lang="en-US" sz="1300" dirty="0"/>
          </a:p>
        </p:txBody>
      </p:sp>
      <p:sp>
        <p:nvSpPr>
          <p:cNvPr id="48" name="Shape 46"/>
          <p:cNvSpPr/>
          <p:nvPr/>
        </p:nvSpPr>
        <p:spPr>
          <a:xfrm>
            <a:off x="8449056" y="5349240"/>
            <a:ext cx="3063240" cy="521208"/>
          </a:xfrm>
          <a:prstGeom prst="roundRect">
            <a:avLst>
              <a:gd name="adj" fmla="val 14035"/>
            </a:avLst>
          </a:prstGeom>
          <a:solidFill>
            <a:srgbClr val="F4F5F7"/>
          </a:solidFill>
          <a:ln w="12700">
            <a:solidFill>
              <a:srgbClr val="F4F5F7"/>
            </a:solidFill>
            <a:prstDash val="solid"/>
          </a:ln>
        </p:spPr>
      </p:sp>
      <p:sp>
        <p:nvSpPr>
          <p:cNvPr id="49" name="Text 47"/>
          <p:cNvSpPr txBox="1"/>
          <p:nvPr/>
        </p:nvSpPr>
        <p:spPr>
          <a:xfrm>
            <a:off x="8677656" y="5349240"/>
            <a:ext cx="2697480" cy="521208"/>
          </a:xfrm>
          <a:prstGeom prst="rect">
            <a:avLst/>
          </a:prstGeom>
          <a:noFill/>
          <a:ln/>
        </p:spPr>
        <p:txBody>
          <a:bodyPr wrap="square" lIns="0" tIns="0" rIns="0" bIns="0" rtlCol="0" anchor="ctr"/>
          <a:lstStyle/>
          <a:p>
            <a:pPr indent="0" marL="0">
              <a:buNone/>
            </a:pPr>
            <a:r>
              <a:rPr lang="en-US" sz="1300" b="1" dirty="0">
                <a:solidFill>
                  <a:srgbClr val="20232A"/>
                </a:solidFill>
                <a:latin typeface="Meiryo" pitchFamily="34" charset="0"/>
                <a:ea typeface="Meiryo" pitchFamily="34" charset="-122"/>
                <a:cs typeface="Meiryo" pitchFamily="34" charset="-120"/>
              </a:rPr>
              <a:t>年間評価と次年度計画</a:t>
            </a:r>
            <a:endParaRPr lang="en-US" sz="1300" dirty="0"/>
          </a:p>
        </p:txBody>
      </p:sp>
      <p:sp>
        <p:nvSpPr>
          <p:cNvPr id="50" name="Text 48"/>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C626D"/>
                </a:solidFill>
                <a:latin typeface="Meiryo" pitchFamily="34" charset="0"/>
                <a:ea typeface="Meiryo" pitchFamily="34" charset="-122"/>
                <a:cs typeface="Meiryo" pitchFamily="34" charset="-120"/>
              </a:rPr>
              <a:t>本資料の営業提案モデル。公式のセット商品・契約期間・料金プランではない</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4864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03　プランと費用</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20232A"/>
                </a:solidFill>
                <a:latin typeface="Meiryo" pitchFamily="34" charset="0"/>
                <a:ea typeface="Meiryo" pitchFamily="34" charset="-122"/>
                <a:cs typeface="Meiryo" pitchFamily="34" charset="-120"/>
              </a:rPr>
              <a:t>1ヶ月プランの実施イメージ</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C626D"/>
                </a:solidFill>
                <a:latin typeface="Meiryo" pitchFamily="34" charset="0"/>
                <a:ea typeface="Meiryo" pitchFamily="34" charset="-122"/>
                <a:cs typeface="Meiryo" pitchFamily="34" charset="-120"/>
              </a:rPr>
              <a:t>開始前に、見積・素材・対象条件・計測の準備を終える</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C626D"/>
                </a:solidFill>
                <a:latin typeface="Meiryo" pitchFamily="34" charset="0"/>
                <a:ea typeface="Meiryo" pitchFamily="34" charset="-122"/>
                <a:cs typeface="Meiryo" pitchFamily="34" charset="-120"/>
              </a:rPr>
              <a:t>11</a:t>
            </a:r>
            <a:endParaRPr lang="en-US" sz="1000" dirty="0"/>
          </a:p>
        </p:txBody>
      </p:sp>
      <p:sp>
        <p:nvSpPr>
          <p:cNvPr id="6" name="Shape 4"/>
          <p:cNvSpPr/>
          <p:nvPr/>
        </p:nvSpPr>
        <p:spPr>
          <a:xfrm>
            <a:off x="2194560" y="1783080"/>
            <a:ext cx="1828800" cy="411480"/>
          </a:xfrm>
          <a:prstGeom prst="rect">
            <a:avLst/>
          </a:prstGeom>
          <a:solidFill>
            <a:srgbClr val="5C626D"/>
          </a:solidFill>
          <a:ln w="12700">
            <a:solidFill>
              <a:srgbClr val="5C626D"/>
            </a:solidFill>
            <a:prstDash val="solid"/>
          </a:ln>
        </p:spPr>
      </p:sp>
      <p:sp>
        <p:nvSpPr>
          <p:cNvPr id="7" name="Text 5"/>
          <p:cNvSpPr txBox="1"/>
          <p:nvPr/>
        </p:nvSpPr>
        <p:spPr>
          <a:xfrm>
            <a:off x="2194560" y="1783080"/>
            <a:ext cx="182880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開始前</a:t>
            </a:r>
            <a:endParaRPr lang="en-US" sz="1300" dirty="0"/>
          </a:p>
        </p:txBody>
      </p:sp>
      <p:sp>
        <p:nvSpPr>
          <p:cNvPr id="8" name="Shape 6"/>
          <p:cNvSpPr/>
          <p:nvPr/>
        </p:nvSpPr>
        <p:spPr>
          <a:xfrm>
            <a:off x="4078224" y="1783080"/>
            <a:ext cx="1828800" cy="411480"/>
          </a:xfrm>
          <a:prstGeom prst="rect">
            <a:avLst/>
          </a:prstGeom>
          <a:solidFill>
            <a:srgbClr val="20232A"/>
          </a:solidFill>
          <a:ln w="12700">
            <a:solidFill>
              <a:srgbClr val="20232A"/>
            </a:solidFill>
            <a:prstDash val="solid"/>
          </a:ln>
        </p:spPr>
      </p:sp>
      <p:sp>
        <p:nvSpPr>
          <p:cNvPr id="9" name="Text 7"/>
          <p:cNvSpPr txBox="1"/>
          <p:nvPr/>
        </p:nvSpPr>
        <p:spPr>
          <a:xfrm>
            <a:off x="4078224" y="1783080"/>
            <a:ext cx="182880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第1週</a:t>
            </a:r>
            <a:endParaRPr lang="en-US" sz="1300" dirty="0"/>
          </a:p>
        </p:txBody>
      </p:sp>
      <p:sp>
        <p:nvSpPr>
          <p:cNvPr id="10" name="Shape 8"/>
          <p:cNvSpPr/>
          <p:nvPr/>
        </p:nvSpPr>
        <p:spPr>
          <a:xfrm>
            <a:off x="5961888" y="1783080"/>
            <a:ext cx="1828800" cy="411480"/>
          </a:xfrm>
          <a:prstGeom prst="rect">
            <a:avLst/>
          </a:prstGeom>
          <a:solidFill>
            <a:srgbClr val="20232A"/>
          </a:solidFill>
          <a:ln w="12700">
            <a:solidFill>
              <a:srgbClr val="20232A"/>
            </a:solidFill>
            <a:prstDash val="solid"/>
          </a:ln>
        </p:spPr>
      </p:sp>
      <p:sp>
        <p:nvSpPr>
          <p:cNvPr id="11" name="Text 9"/>
          <p:cNvSpPr txBox="1"/>
          <p:nvPr/>
        </p:nvSpPr>
        <p:spPr>
          <a:xfrm>
            <a:off x="5961888" y="1783080"/>
            <a:ext cx="182880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第2週</a:t>
            </a:r>
            <a:endParaRPr lang="en-US" sz="1300" dirty="0"/>
          </a:p>
        </p:txBody>
      </p:sp>
      <p:sp>
        <p:nvSpPr>
          <p:cNvPr id="12" name="Shape 10"/>
          <p:cNvSpPr/>
          <p:nvPr/>
        </p:nvSpPr>
        <p:spPr>
          <a:xfrm>
            <a:off x="7845552" y="1783080"/>
            <a:ext cx="1828800" cy="411480"/>
          </a:xfrm>
          <a:prstGeom prst="rect">
            <a:avLst/>
          </a:prstGeom>
          <a:solidFill>
            <a:srgbClr val="20232A"/>
          </a:solidFill>
          <a:ln w="12700">
            <a:solidFill>
              <a:srgbClr val="20232A"/>
            </a:solidFill>
            <a:prstDash val="solid"/>
          </a:ln>
        </p:spPr>
      </p:sp>
      <p:sp>
        <p:nvSpPr>
          <p:cNvPr id="13" name="Text 11"/>
          <p:cNvSpPr txBox="1"/>
          <p:nvPr/>
        </p:nvSpPr>
        <p:spPr>
          <a:xfrm>
            <a:off x="7845552" y="1783080"/>
            <a:ext cx="182880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第3週</a:t>
            </a:r>
            <a:endParaRPr lang="en-US" sz="1300" dirty="0"/>
          </a:p>
        </p:txBody>
      </p:sp>
      <p:sp>
        <p:nvSpPr>
          <p:cNvPr id="14" name="Shape 12"/>
          <p:cNvSpPr/>
          <p:nvPr/>
        </p:nvSpPr>
        <p:spPr>
          <a:xfrm>
            <a:off x="9729216" y="1783080"/>
            <a:ext cx="1828800" cy="411480"/>
          </a:xfrm>
          <a:prstGeom prst="rect">
            <a:avLst/>
          </a:prstGeom>
          <a:solidFill>
            <a:srgbClr val="20232A"/>
          </a:solidFill>
          <a:ln w="12700">
            <a:solidFill>
              <a:srgbClr val="20232A"/>
            </a:solidFill>
            <a:prstDash val="solid"/>
          </a:ln>
        </p:spPr>
      </p:sp>
      <p:sp>
        <p:nvSpPr>
          <p:cNvPr id="15" name="Text 13"/>
          <p:cNvSpPr txBox="1"/>
          <p:nvPr/>
        </p:nvSpPr>
        <p:spPr>
          <a:xfrm>
            <a:off x="9729216" y="1783080"/>
            <a:ext cx="182880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第4週</a:t>
            </a:r>
            <a:endParaRPr lang="en-US" sz="1300" dirty="0"/>
          </a:p>
        </p:txBody>
      </p:sp>
      <p:sp>
        <p:nvSpPr>
          <p:cNvPr id="16" name="Shape 14"/>
          <p:cNvSpPr/>
          <p:nvPr/>
        </p:nvSpPr>
        <p:spPr>
          <a:xfrm>
            <a:off x="4050792" y="2240280"/>
            <a:ext cx="0" cy="2514600"/>
          </a:xfrm>
          <a:prstGeom prst="line">
            <a:avLst/>
          </a:prstGeom>
          <a:noFill/>
          <a:ln w="12700">
            <a:solidFill>
              <a:srgbClr val="DADDE2"/>
            </a:solidFill>
            <a:prstDash val="dash"/>
          </a:ln>
        </p:spPr>
      </p:sp>
      <p:sp>
        <p:nvSpPr>
          <p:cNvPr id="17" name="Shape 15"/>
          <p:cNvSpPr/>
          <p:nvPr/>
        </p:nvSpPr>
        <p:spPr>
          <a:xfrm>
            <a:off x="5934456" y="2240280"/>
            <a:ext cx="0" cy="2514600"/>
          </a:xfrm>
          <a:prstGeom prst="line">
            <a:avLst/>
          </a:prstGeom>
          <a:noFill/>
          <a:ln w="12700">
            <a:solidFill>
              <a:srgbClr val="DADDE2"/>
            </a:solidFill>
            <a:prstDash val="dash"/>
          </a:ln>
        </p:spPr>
      </p:sp>
      <p:sp>
        <p:nvSpPr>
          <p:cNvPr id="18" name="Shape 16"/>
          <p:cNvSpPr/>
          <p:nvPr/>
        </p:nvSpPr>
        <p:spPr>
          <a:xfrm>
            <a:off x="7818120" y="2240280"/>
            <a:ext cx="0" cy="2514600"/>
          </a:xfrm>
          <a:prstGeom prst="line">
            <a:avLst/>
          </a:prstGeom>
          <a:noFill/>
          <a:ln w="12700">
            <a:solidFill>
              <a:srgbClr val="DADDE2"/>
            </a:solidFill>
            <a:prstDash val="dash"/>
          </a:ln>
        </p:spPr>
      </p:sp>
      <p:sp>
        <p:nvSpPr>
          <p:cNvPr id="19" name="Shape 17"/>
          <p:cNvSpPr/>
          <p:nvPr/>
        </p:nvSpPr>
        <p:spPr>
          <a:xfrm>
            <a:off x="9701784" y="2240280"/>
            <a:ext cx="0" cy="2514600"/>
          </a:xfrm>
          <a:prstGeom prst="line">
            <a:avLst/>
          </a:prstGeom>
          <a:noFill/>
          <a:ln w="12700">
            <a:solidFill>
              <a:srgbClr val="DADDE2"/>
            </a:solidFill>
            <a:prstDash val="dash"/>
          </a:ln>
        </p:spPr>
      </p:sp>
      <p:sp>
        <p:nvSpPr>
          <p:cNvPr id="20" name="Text 18"/>
          <p:cNvSpPr txBox="1"/>
          <p:nvPr/>
        </p:nvSpPr>
        <p:spPr>
          <a:xfrm>
            <a:off x="548640" y="2377440"/>
            <a:ext cx="1463040" cy="457200"/>
          </a:xfrm>
          <a:prstGeom prst="rect">
            <a:avLst/>
          </a:prstGeom>
          <a:noFill/>
          <a:ln/>
        </p:spPr>
        <p:txBody>
          <a:bodyPr wrap="square" lIns="0" tIns="0" rIns="0" bIns="0" rtlCol="0" anchor="ctr"/>
          <a:lstStyle/>
          <a:p>
            <a:pPr indent="0" marL="0">
              <a:buNone/>
            </a:pPr>
            <a:r>
              <a:rPr lang="en-US" sz="1300" b="1" dirty="0">
                <a:solidFill>
                  <a:srgbClr val="5C626D"/>
                </a:solidFill>
                <a:latin typeface="Meiryo" pitchFamily="34" charset="0"/>
                <a:ea typeface="Meiryo" pitchFamily="34" charset="-122"/>
                <a:cs typeface="Meiryo" pitchFamily="34" charset="-120"/>
              </a:rPr>
              <a:t>準備</a:t>
            </a:r>
            <a:endParaRPr lang="en-US" sz="1300" dirty="0"/>
          </a:p>
        </p:txBody>
      </p:sp>
      <p:sp>
        <p:nvSpPr>
          <p:cNvPr id="21" name="Text 19"/>
          <p:cNvSpPr txBox="1"/>
          <p:nvPr/>
        </p:nvSpPr>
        <p:spPr>
          <a:xfrm>
            <a:off x="2194560" y="2377440"/>
            <a:ext cx="1828800" cy="457200"/>
          </a:xfrm>
          <a:prstGeom prst="roundRect">
            <a:avLst>
              <a:gd name="adj" fmla="val 16000"/>
            </a:avLst>
          </a:prstGeom>
          <a:solidFill>
            <a:srgbClr val="5C626D"/>
          </a:solidFill>
          <a:ln>
            <a:solidFill>
              <a:srgbClr val="5C626D"/>
            </a:solidFill>
          </a:ln>
        </p:spPr>
        <p:txBody>
          <a:bodyPr wrap="square" lIns="0" tIns="76200" rIns="76200" bIns="0" rtlCol="0" anchor="ctr">
            <a:normAutofit/>
          </a:bodyPr>
          <a:lstStyle/>
          <a:p>
            <a:pPr indent="0" marL="0">
              <a:buNone/>
            </a:pPr>
            <a:r>
              <a:rPr lang="en-US" sz="1100" b="1" dirty="0">
                <a:solidFill>
                  <a:srgbClr val="FFFFFF"/>
                </a:solidFill>
                <a:latin typeface="Meiryo" pitchFamily="34" charset="0"/>
                <a:ea typeface="Meiryo" pitchFamily="34" charset="-122"/>
                <a:cs typeface="Meiryo" pitchFamily="34" charset="-120"/>
              </a:rPr>
              <a:t>目的・対象・予算を確定／契約、素材と計測を準備</a:t>
            </a:r>
            <a:endParaRPr lang="en-US" sz="1100" dirty="0"/>
          </a:p>
        </p:txBody>
      </p:sp>
      <p:sp>
        <p:nvSpPr>
          <p:cNvPr id="22" name="Text 20"/>
          <p:cNvSpPr txBox="1"/>
          <p:nvPr/>
        </p:nvSpPr>
        <p:spPr>
          <a:xfrm>
            <a:off x="548640" y="2980944"/>
            <a:ext cx="1463040" cy="457200"/>
          </a:xfrm>
          <a:prstGeom prst="rect">
            <a:avLst/>
          </a:prstGeom>
          <a:noFill/>
          <a:ln/>
        </p:spPr>
        <p:txBody>
          <a:bodyPr wrap="square" lIns="0" tIns="0" rIns="0" bIns="0" rtlCol="0" anchor="ctr"/>
          <a:lstStyle/>
          <a:p>
            <a:pPr indent="0" marL="0">
              <a:buNone/>
            </a:pPr>
            <a:r>
              <a:rPr lang="en-US" sz="1300" b="1" dirty="0">
                <a:solidFill>
                  <a:srgbClr val="5C626D"/>
                </a:solidFill>
                <a:latin typeface="Meiryo" pitchFamily="34" charset="0"/>
                <a:ea typeface="Meiryo" pitchFamily="34" charset="-122"/>
                <a:cs typeface="Meiryo" pitchFamily="34" charset="-120"/>
              </a:rPr>
              <a:t>確認</a:t>
            </a:r>
            <a:endParaRPr lang="en-US" sz="1300" dirty="0"/>
          </a:p>
        </p:txBody>
      </p:sp>
      <p:sp>
        <p:nvSpPr>
          <p:cNvPr id="23" name="Text 21"/>
          <p:cNvSpPr txBox="1"/>
          <p:nvPr/>
        </p:nvSpPr>
        <p:spPr>
          <a:xfrm>
            <a:off x="4078224" y="2980944"/>
            <a:ext cx="1828800" cy="457200"/>
          </a:xfrm>
          <a:prstGeom prst="roundRect">
            <a:avLst>
              <a:gd name="adj" fmla="val 16000"/>
            </a:avLst>
          </a:prstGeom>
          <a:solidFill>
            <a:srgbClr val="20232A"/>
          </a:solidFill>
          <a:ln>
            <a:solidFill>
              <a:srgbClr val="20232A"/>
            </a:solidFill>
          </a:ln>
        </p:spPr>
        <p:txBody>
          <a:bodyPr wrap="square" lIns="0" tIns="76200" rIns="76200" bIns="0" rtlCol="0" anchor="ctr">
            <a:normAutofit/>
          </a:bodyPr>
          <a:lstStyle/>
          <a:p>
            <a:pPr indent="0" marL="0">
              <a:buNone/>
            </a:pPr>
            <a:r>
              <a:rPr lang="en-US" sz="1100" b="1" dirty="0">
                <a:solidFill>
                  <a:srgbClr val="FFFFFF"/>
                </a:solidFill>
                <a:latin typeface="Meiryo" pitchFamily="34" charset="0"/>
                <a:ea typeface="Meiryo" pitchFamily="34" charset="-122"/>
                <a:cs typeface="Meiryo" pitchFamily="34" charset="-120"/>
              </a:rPr>
              <a:t>既存データ確認／調査票・配信条件を最終確認</a:t>
            </a:r>
            <a:endParaRPr lang="en-US" sz="1100" dirty="0"/>
          </a:p>
        </p:txBody>
      </p:sp>
      <p:sp>
        <p:nvSpPr>
          <p:cNvPr id="24" name="Text 22"/>
          <p:cNvSpPr txBox="1"/>
          <p:nvPr/>
        </p:nvSpPr>
        <p:spPr>
          <a:xfrm>
            <a:off x="548640" y="3584448"/>
            <a:ext cx="1463040" cy="457200"/>
          </a:xfrm>
          <a:prstGeom prst="rect">
            <a:avLst/>
          </a:prstGeom>
          <a:noFill/>
          <a:ln/>
        </p:spPr>
        <p:txBody>
          <a:bodyPr wrap="square" lIns="0" tIns="0" rIns="0" bIns="0" rtlCol="0" anchor="ctr"/>
          <a:lstStyle/>
          <a:p>
            <a:pPr indent="0" marL="0">
              <a:buNone/>
            </a:pPr>
            <a:r>
              <a:rPr lang="en-US" sz="1300" b="1" dirty="0">
                <a:solidFill>
                  <a:srgbClr val="5C626D"/>
                </a:solidFill>
                <a:latin typeface="Meiryo" pitchFamily="34" charset="0"/>
                <a:ea typeface="Meiryo" pitchFamily="34" charset="-122"/>
                <a:cs typeface="Meiryo" pitchFamily="34" charset="-120"/>
              </a:rPr>
              <a:t>実施</a:t>
            </a:r>
            <a:endParaRPr lang="en-US" sz="1300" dirty="0"/>
          </a:p>
        </p:txBody>
      </p:sp>
      <p:sp>
        <p:nvSpPr>
          <p:cNvPr id="25" name="Text 23"/>
          <p:cNvSpPr txBox="1"/>
          <p:nvPr/>
        </p:nvSpPr>
        <p:spPr>
          <a:xfrm>
            <a:off x="5961888" y="3584448"/>
            <a:ext cx="3712464" cy="457200"/>
          </a:xfrm>
          <a:prstGeom prst="roundRect">
            <a:avLst>
              <a:gd name="adj" fmla="val 16000"/>
            </a:avLst>
          </a:prstGeom>
          <a:solidFill>
            <a:srgbClr val="C9002B"/>
          </a:solidFill>
          <a:ln>
            <a:solidFill>
              <a:srgbClr val="C9002B"/>
            </a:solidFill>
          </a:ln>
        </p:spPr>
        <p:txBody>
          <a:bodyPr wrap="square" lIns="0" tIns="76200" rIns="76200" bIns="0" rtlCol="0" anchor="ctr">
            <a:normAutofit/>
          </a:bodyPr>
          <a:lstStyle/>
          <a:p>
            <a:pPr indent="0" marL="0">
              <a:buNone/>
            </a:pPr>
            <a:r>
              <a:rPr lang="en-US" sz="1100" b="1" dirty="0">
                <a:solidFill>
                  <a:srgbClr val="FFFFFF"/>
                </a:solidFill>
                <a:latin typeface="Meiryo" pitchFamily="34" charset="0"/>
                <a:ea typeface="Meiryo" pitchFamily="34" charset="-122"/>
                <a:cs typeface="Meiryo" pitchFamily="34" charset="-120"/>
              </a:rPr>
              <a:t>広告配信とアンケートを実施、途中で配信状況を確認</a:t>
            </a:r>
            <a:endParaRPr lang="en-US" sz="1100" dirty="0"/>
          </a:p>
        </p:txBody>
      </p:sp>
      <p:sp>
        <p:nvSpPr>
          <p:cNvPr id="26" name="Text 24"/>
          <p:cNvSpPr txBox="1"/>
          <p:nvPr/>
        </p:nvSpPr>
        <p:spPr>
          <a:xfrm>
            <a:off x="548640" y="4187952"/>
            <a:ext cx="1463040" cy="457200"/>
          </a:xfrm>
          <a:prstGeom prst="rect">
            <a:avLst/>
          </a:prstGeom>
          <a:noFill/>
          <a:ln/>
        </p:spPr>
        <p:txBody>
          <a:bodyPr wrap="square" lIns="0" tIns="0" rIns="0" bIns="0" rtlCol="0" anchor="ctr"/>
          <a:lstStyle/>
          <a:p>
            <a:pPr indent="0" marL="0">
              <a:buNone/>
            </a:pPr>
            <a:r>
              <a:rPr lang="en-US" sz="1300" b="1" dirty="0">
                <a:solidFill>
                  <a:srgbClr val="5C626D"/>
                </a:solidFill>
                <a:latin typeface="Meiryo" pitchFamily="34" charset="0"/>
                <a:ea typeface="Meiryo" pitchFamily="34" charset="-122"/>
                <a:cs typeface="Meiryo" pitchFamily="34" charset="-120"/>
              </a:rPr>
              <a:t>報告</a:t>
            </a:r>
            <a:endParaRPr lang="en-US" sz="1300" dirty="0"/>
          </a:p>
        </p:txBody>
      </p:sp>
      <p:sp>
        <p:nvSpPr>
          <p:cNvPr id="27" name="Text 25"/>
          <p:cNvSpPr txBox="1"/>
          <p:nvPr/>
        </p:nvSpPr>
        <p:spPr>
          <a:xfrm>
            <a:off x="9729216" y="4187952"/>
            <a:ext cx="1828800" cy="457200"/>
          </a:xfrm>
          <a:prstGeom prst="roundRect">
            <a:avLst>
              <a:gd name="adj" fmla="val 16000"/>
            </a:avLst>
          </a:prstGeom>
          <a:solidFill>
            <a:srgbClr val="20232A"/>
          </a:solidFill>
          <a:ln>
            <a:solidFill>
              <a:srgbClr val="20232A"/>
            </a:solidFill>
          </a:ln>
        </p:spPr>
        <p:txBody>
          <a:bodyPr wrap="square" lIns="0" tIns="76200" rIns="76200" bIns="0" rtlCol="0" anchor="ctr">
            <a:normAutofit/>
          </a:bodyPr>
          <a:lstStyle/>
          <a:p>
            <a:pPr indent="0" marL="0">
              <a:buNone/>
            </a:pPr>
            <a:r>
              <a:rPr lang="en-US" sz="1100" b="1" dirty="0">
                <a:solidFill>
                  <a:srgbClr val="FFFFFF"/>
                </a:solidFill>
                <a:latin typeface="Meiryo" pitchFamily="34" charset="0"/>
                <a:ea typeface="Meiryo" pitchFamily="34" charset="-122"/>
                <a:cs typeface="Meiryo" pitchFamily="34" charset="-120"/>
              </a:rPr>
              <a:t>結果をまとめて顧客へ報告</a:t>
            </a:r>
            <a:endParaRPr lang="en-US" sz="1100" dirty="0"/>
          </a:p>
        </p:txBody>
      </p:sp>
      <p:sp>
        <p:nvSpPr>
          <p:cNvPr id="28" name="Text 26"/>
          <p:cNvSpPr txBox="1"/>
          <p:nvPr/>
        </p:nvSpPr>
        <p:spPr>
          <a:xfrm>
            <a:off x="548640" y="4983480"/>
            <a:ext cx="1600200" cy="822960"/>
          </a:xfrm>
          <a:prstGeom prst="rect">
            <a:avLst/>
          </a:prstGeom>
          <a:noFill/>
          <a:ln/>
        </p:spPr>
        <p:txBody>
          <a:bodyPr wrap="square" lIns="0" tIns="0" rIns="0" bIns="0" rtlCol="0" anchor="ctr"/>
          <a:lstStyle/>
          <a:p>
            <a:pPr indent="0" marL="0">
              <a:buNone/>
            </a:pPr>
            <a:r>
              <a:rPr lang="en-US" sz="1300" b="1" dirty="0">
                <a:solidFill>
                  <a:srgbClr val="C9002B"/>
                </a:solidFill>
                <a:latin typeface="Meiryo" pitchFamily="34" charset="0"/>
                <a:ea typeface="Meiryo" pitchFamily="34" charset="-122"/>
                <a:cs typeface="Meiryo" pitchFamily="34" charset="-120"/>
              </a:rPr>
              <a:t>その時点で</a:t>
            </a:r>
            <a:endParaRPr lang="en-US" sz="1300" dirty="0"/>
          </a:p>
          <a:p>
            <a:pPr indent="0" marL="0">
              <a:buNone/>
            </a:pPr>
            <a:r>
              <a:rPr lang="en-US" sz="1300" b="1" dirty="0">
                <a:solidFill>
                  <a:srgbClr val="C9002B"/>
                </a:solidFill>
                <a:latin typeface="Meiryo" pitchFamily="34" charset="0"/>
                <a:ea typeface="Meiryo" pitchFamily="34" charset="-122"/>
                <a:cs typeface="Meiryo" pitchFamily="34" charset="-120"/>
              </a:rPr>
              <a:t>決めること</a:t>
            </a:r>
            <a:endParaRPr lang="en-US" sz="1300" dirty="0"/>
          </a:p>
        </p:txBody>
      </p:sp>
      <p:sp>
        <p:nvSpPr>
          <p:cNvPr id="29" name="Shape 27"/>
          <p:cNvSpPr/>
          <p:nvPr/>
        </p:nvSpPr>
        <p:spPr>
          <a:xfrm>
            <a:off x="2194560" y="4983480"/>
            <a:ext cx="1828800" cy="822960"/>
          </a:xfrm>
          <a:prstGeom prst="roundRect">
            <a:avLst>
              <a:gd name="adj" fmla="val 8889"/>
            </a:avLst>
          </a:prstGeom>
          <a:solidFill>
            <a:srgbClr val="FBEAEE"/>
          </a:solidFill>
          <a:ln w="12700">
            <a:solidFill>
              <a:srgbClr val="FBEAEE"/>
            </a:solidFill>
            <a:prstDash val="solid"/>
          </a:ln>
        </p:spPr>
      </p:sp>
      <p:sp>
        <p:nvSpPr>
          <p:cNvPr id="30" name="Text 28"/>
          <p:cNvSpPr txBox="1"/>
          <p:nvPr/>
        </p:nvSpPr>
        <p:spPr>
          <a:xfrm>
            <a:off x="2304288" y="4983480"/>
            <a:ext cx="1609344" cy="822960"/>
          </a:xfrm>
          <a:prstGeom prst="rect">
            <a:avLst/>
          </a:prstGeom>
          <a:noFill/>
          <a:ln/>
        </p:spPr>
        <p:txBody>
          <a:bodyPr wrap="square" lIns="0" tIns="0" rIns="0" bIns="0" rtlCol="0" anchor="ctr"/>
          <a:lstStyle/>
          <a:p>
            <a:pPr indent="0" marL="0">
              <a:buNone/>
            </a:pPr>
            <a:r>
              <a:rPr lang="en-US" sz="1200" b="1" dirty="0">
                <a:solidFill>
                  <a:srgbClr val="20232A"/>
                </a:solidFill>
                <a:latin typeface="Meiryo" pitchFamily="34" charset="0"/>
                <a:ea typeface="Meiryo" pitchFamily="34" charset="-122"/>
                <a:cs typeface="Meiryo" pitchFamily="34" charset="-120"/>
              </a:rPr>
              <a:t>データの受け取り日と成功の定義</a:t>
            </a:r>
            <a:endParaRPr lang="en-US" sz="1200" dirty="0"/>
          </a:p>
        </p:txBody>
      </p:sp>
      <p:sp>
        <p:nvSpPr>
          <p:cNvPr id="31" name="Shape 29"/>
          <p:cNvSpPr/>
          <p:nvPr/>
        </p:nvSpPr>
        <p:spPr>
          <a:xfrm>
            <a:off x="4078224" y="4983480"/>
            <a:ext cx="1828800" cy="822960"/>
          </a:xfrm>
          <a:prstGeom prst="roundRect">
            <a:avLst>
              <a:gd name="adj" fmla="val 8889"/>
            </a:avLst>
          </a:prstGeom>
          <a:solidFill>
            <a:srgbClr val="FBEAEE"/>
          </a:solidFill>
          <a:ln w="12700">
            <a:solidFill>
              <a:srgbClr val="FBEAEE"/>
            </a:solidFill>
            <a:prstDash val="solid"/>
          </a:ln>
        </p:spPr>
      </p:sp>
      <p:sp>
        <p:nvSpPr>
          <p:cNvPr id="32" name="Text 30"/>
          <p:cNvSpPr txBox="1"/>
          <p:nvPr/>
        </p:nvSpPr>
        <p:spPr>
          <a:xfrm>
            <a:off x="4187952" y="4983480"/>
            <a:ext cx="1609344" cy="822960"/>
          </a:xfrm>
          <a:prstGeom prst="rect">
            <a:avLst/>
          </a:prstGeom>
          <a:noFill/>
          <a:ln/>
        </p:spPr>
        <p:txBody>
          <a:bodyPr wrap="square" lIns="0" tIns="0" rIns="0" bIns="0" rtlCol="0" anchor="ctr"/>
          <a:lstStyle/>
          <a:p>
            <a:pPr indent="0" marL="0">
              <a:buNone/>
            </a:pPr>
            <a:r>
              <a:rPr lang="en-US" sz="1200" b="1" dirty="0">
                <a:solidFill>
                  <a:srgbClr val="20232A"/>
                </a:solidFill>
                <a:latin typeface="Meiryo" pitchFamily="34" charset="0"/>
                <a:ea typeface="Meiryo" pitchFamily="34" charset="-122"/>
                <a:cs typeface="Meiryo" pitchFamily="34" charset="-120"/>
              </a:rPr>
              <a:t>告知エリアと訴求の仮説</a:t>
            </a:r>
            <a:endParaRPr lang="en-US" sz="1200" dirty="0"/>
          </a:p>
        </p:txBody>
      </p:sp>
      <p:sp>
        <p:nvSpPr>
          <p:cNvPr id="33" name="Shape 31"/>
          <p:cNvSpPr/>
          <p:nvPr/>
        </p:nvSpPr>
        <p:spPr>
          <a:xfrm>
            <a:off x="5961888" y="4983480"/>
            <a:ext cx="3712464" cy="822960"/>
          </a:xfrm>
          <a:prstGeom prst="roundRect">
            <a:avLst>
              <a:gd name="adj" fmla="val 8889"/>
            </a:avLst>
          </a:prstGeom>
          <a:solidFill>
            <a:srgbClr val="FBEAEE"/>
          </a:solidFill>
          <a:ln w="12700">
            <a:solidFill>
              <a:srgbClr val="FBEAEE"/>
            </a:solidFill>
            <a:prstDash val="solid"/>
          </a:ln>
        </p:spPr>
      </p:sp>
      <p:sp>
        <p:nvSpPr>
          <p:cNvPr id="34" name="Text 32"/>
          <p:cNvSpPr txBox="1"/>
          <p:nvPr/>
        </p:nvSpPr>
        <p:spPr>
          <a:xfrm>
            <a:off x="6071616" y="4983480"/>
            <a:ext cx="3493008" cy="822960"/>
          </a:xfrm>
          <a:prstGeom prst="rect">
            <a:avLst/>
          </a:prstGeom>
          <a:noFill/>
          <a:ln/>
        </p:spPr>
        <p:txBody>
          <a:bodyPr wrap="square" lIns="0" tIns="0" rIns="0" bIns="0" rtlCol="0" anchor="ctr"/>
          <a:lstStyle/>
          <a:p>
            <a:pPr indent="0" marL="0">
              <a:buNone/>
            </a:pPr>
            <a:r>
              <a:rPr lang="en-US" sz="1200" b="1" dirty="0">
                <a:solidFill>
                  <a:srgbClr val="20232A"/>
                </a:solidFill>
                <a:latin typeface="Meiryo" pitchFamily="34" charset="0"/>
                <a:ea typeface="Meiryo" pitchFamily="34" charset="-122"/>
                <a:cs typeface="Meiryo" pitchFamily="34" charset="-120"/>
              </a:rPr>
              <a:t>配信量や素材の調整</a:t>
            </a:r>
            <a:endParaRPr lang="en-US" sz="1200" dirty="0"/>
          </a:p>
        </p:txBody>
      </p:sp>
      <p:sp>
        <p:nvSpPr>
          <p:cNvPr id="35" name="Shape 33"/>
          <p:cNvSpPr/>
          <p:nvPr/>
        </p:nvSpPr>
        <p:spPr>
          <a:xfrm>
            <a:off x="9729216" y="4983480"/>
            <a:ext cx="1828800" cy="822960"/>
          </a:xfrm>
          <a:prstGeom prst="roundRect">
            <a:avLst>
              <a:gd name="adj" fmla="val 8889"/>
            </a:avLst>
          </a:prstGeom>
          <a:solidFill>
            <a:srgbClr val="FBEAEE"/>
          </a:solidFill>
          <a:ln w="12700">
            <a:solidFill>
              <a:srgbClr val="FBEAEE"/>
            </a:solidFill>
            <a:prstDash val="solid"/>
          </a:ln>
        </p:spPr>
      </p:sp>
      <p:sp>
        <p:nvSpPr>
          <p:cNvPr id="36" name="Text 34"/>
          <p:cNvSpPr txBox="1"/>
          <p:nvPr/>
        </p:nvSpPr>
        <p:spPr>
          <a:xfrm>
            <a:off x="9838944" y="4983480"/>
            <a:ext cx="1609344" cy="822960"/>
          </a:xfrm>
          <a:prstGeom prst="rect">
            <a:avLst/>
          </a:prstGeom>
          <a:noFill/>
          <a:ln/>
        </p:spPr>
        <p:txBody>
          <a:bodyPr wrap="square" lIns="0" tIns="0" rIns="0" bIns="0" rtlCol="0" anchor="ctr"/>
          <a:lstStyle/>
          <a:p>
            <a:pPr indent="0" marL="0">
              <a:buNone/>
            </a:pPr>
            <a:r>
              <a:rPr lang="en-US" sz="1200" b="1" dirty="0">
                <a:solidFill>
                  <a:srgbClr val="20232A"/>
                </a:solidFill>
                <a:latin typeface="Meiryo" pitchFamily="34" charset="0"/>
                <a:ea typeface="Meiryo" pitchFamily="34" charset="-122"/>
                <a:cs typeface="Meiryo" pitchFamily="34" charset="-120"/>
              </a:rPr>
              <a:t>継続・修正・終了の判断</a:t>
            </a:r>
            <a:endParaRPr lang="en-US" sz="1200" dirty="0"/>
          </a:p>
        </p:txBody>
      </p:sp>
      <p:sp>
        <p:nvSpPr>
          <p:cNvPr id="37" name="Text 35"/>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C626D"/>
                </a:solidFill>
                <a:latin typeface="Meiryo" pitchFamily="34" charset="0"/>
                <a:ea typeface="Meiryo" pitchFamily="34" charset="-122"/>
                <a:cs typeface="Meiryo" pitchFamily="34" charset="-120"/>
              </a:rPr>
              <a:t>工程は想定。データの納品、調査回収、広告審査の日程に応じて調整する</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4864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03　プランと費用</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20232A"/>
                </a:solidFill>
                <a:latin typeface="Meiryo" pitchFamily="34" charset="0"/>
                <a:ea typeface="Meiryo" pitchFamily="34" charset="-122"/>
                <a:cs typeface="Meiryo" pitchFamily="34" charset="-120"/>
              </a:rPr>
              <a:t>公式サイトで確認できる料金</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C626D"/>
                </a:solidFill>
                <a:latin typeface="Meiryo" pitchFamily="34" charset="0"/>
                <a:ea typeface="Meiryo" pitchFamily="34" charset="-122"/>
                <a:cs typeface="Meiryo" pitchFamily="34" charset="-120"/>
              </a:rPr>
              <a:t>月額利用・調査1回・広告出稿は、料金の単位が異なる</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C626D"/>
                </a:solidFill>
                <a:latin typeface="Meiryo" pitchFamily="34" charset="0"/>
                <a:ea typeface="Meiryo" pitchFamily="34" charset="-122"/>
                <a:cs typeface="Meiryo" pitchFamily="34" charset="-120"/>
              </a:rPr>
              <a:t>12</a:t>
            </a:r>
            <a:endParaRPr lang="en-US" sz="1000" dirty="0"/>
          </a:p>
        </p:txBody>
      </p:sp>
      <p:sp>
        <p:nvSpPr>
          <p:cNvPr id="6" name="Shape 4"/>
          <p:cNvSpPr/>
          <p:nvPr/>
        </p:nvSpPr>
        <p:spPr>
          <a:xfrm>
            <a:off x="548640" y="1783080"/>
            <a:ext cx="3474720" cy="4206240"/>
          </a:xfrm>
          <a:prstGeom prst="roundRect">
            <a:avLst>
              <a:gd name="adj" fmla="val 2105"/>
            </a:avLst>
          </a:prstGeom>
          <a:solidFill>
            <a:srgbClr val="FFFFFF"/>
          </a:solidFill>
          <a:ln w="12700">
            <a:solidFill>
              <a:srgbClr val="DADDE2"/>
            </a:solidFill>
            <a:prstDash val="solid"/>
          </a:ln>
        </p:spPr>
      </p:sp>
      <p:pic>
        <p:nvPicPr>
          <p:cNvPr id="7" name="Image 0" descr="preencoded.png">    </p:cNvPr>
          <p:cNvPicPr>
            <a:picLocks noChangeAspect="1"/>
          </p:cNvPicPr>
          <p:nvPr/>
        </p:nvPicPr>
        <p:blipFill>
          <a:blip r:embed="rId1"/>
          <a:stretch>
            <a:fillRect/>
          </a:stretch>
        </p:blipFill>
        <p:spPr>
          <a:xfrm>
            <a:off x="822960" y="2011680"/>
            <a:ext cx="384048" cy="384048"/>
          </a:xfrm>
          <a:prstGeom prst="rect">
            <a:avLst/>
          </a:prstGeom>
        </p:spPr>
      </p:pic>
      <p:sp>
        <p:nvSpPr>
          <p:cNvPr id="8" name="Text 5"/>
          <p:cNvSpPr txBox="1"/>
          <p:nvPr/>
        </p:nvSpPr>
        <p:spPr>
          <a:xfrm>
            <a:off x="1325880" y="1965960"/>
            <a:ext cx="2560320" cy="274320"/>
          </a:xfrm>
          <a:prstGeom prst="rect">
            <a:avLst/>
          </a:prstGeom>
          <a:noFill/>
          <a:ln/>
        </p:spPr>
        <p:txBody>
          <a:bodyPr wrap="square" lIns="0" tIns="0" rIns="0" bIns="0" rtlCol="0" anchor="t"/>
          <a:lstStyle/>
          <a:p>
            <a:pPr indent="0" marL="0">
              <a:buNone/>
            </a:pPr>
            <a:r>
              <a:rPr lang="en-US" sz="1400" b="1" dirty="0">
                <a:solidFill>
                  <a:srgbClr val="20232A"/>
                </a:solidFill>
                <a:latin typeface="Meiryo" pitchFamily="34" charset="0"/>
                <a:ea typeface="Meiryo" pitchFamily="34" charset="-122"/>
                <a:cs typeface="Meiryo" pitchFamily="34" charset="-120"/>
              </a:rPr>
              <a:t>モバイル空間統計</a:t>
            </a:r>
            <a:endParaRPr lang="en-US" sz="1400" dirty="0"/>
          </a:p>
        </p:txBody>
      </p:sp>
      <p:sp>
        <p:nvSpPr>
          <p:cNvPr id="9" name="Text 6"/>
          <p:cNvSpPr txBox="1"/>
          <p:nvPr/>
        </p:nvSpPr>
        <p:spPr>
          <a:xfrm>
            <a:off x="1325880" y="2240280"/>
            <a:ext cx="2560320" cy="256032"/>
          </a:xfrm>
          <a:prstGeom prst="rect">
            <a:avLst/>
          </a:prstGeom>
          <a:noFill/>
          <a:ln/>
        </p:spPr>
        <p:txBody>
          <a:bodyPr wrap="square" lIns="0" tIns="0" rIns="0" bIns="0" rtlCol="0" anchor="t"/>
          <a:lstStyle/>
          <a:p>
            <a:pPr indent="0" marL="0">
              <a:buNone/>
            </a:pPr>
            <a:r>
              <a:rPr lang="en-US" sz="1100" dirty="0">
                <a:solidFill>
                  <a:srgbClr val="5C626D"/>
                </a:solidFill>
                <a:latin typeface="Meiryo" pitchFamily="34" charset="0"/>
                <a:ea typeface="Meiryo" pitchFamily="34" charset="-122"/>
                <a:cs typeface="Meiryo" pitchFamily="34" charset="-120"/>
              </a:rPr>
              <a:t>人口マップ</a:t>
            </a:r>
            <a:endParaRPr lang="en-US" sz="1100" dirty="0"/>
          </a:p>
        </p:txBody>
      </p:sp>
      <p:sp>
        <p:nvSpPr>
          <p:cNvPr id="10" name="Text 7"/>
          <p:cNvSpPr txBox="1"/>
          <p:nvPr/>
        </p:nvSpPr>
        <p:spPr>
          <a:xfrm>
            <a:off x="822960" y="2651760"/>
            <a:ext cx="3017520" cy="868680"/>
          </a:xfrm>
          <a:prstGeom prst="rect">
            <a:avLst/>
          </a:prstGeom>
          <a:noFill/>
          <a:ln/>
        </p:spPr>
        <p:txBody>
          <a:bodyPr wrap="square" lIns="0" tIns="0" rIns="0" bIns="0" rtlCol="0" anchor="b"/>
          <a:lstStyle/>
          <a:p>
            <a:pPr indent="0" marL="0">
              <a:buNone/>
            </a:pPr>
            <a:r>
              <a:rPr lang="en-US" sz="1800" b="1" dirty="0">
                <a:solidFill>
                  <a:srgbClr val="C9002B"/>
                </a:solidFill>
                <a:latin typeface="Meiryo" pitchFamily="34" charset="0"/>
                <a:ea typeface="Meiryo" pitchFamily="34" charset="-122"/>
                <a:cs typeface="Meiryo" pitchFamily="34" charset="-120"/>
              </a:rPr>
              <a:t>月額 </a:t>
            </a:r>
            <a:pPr indent="0" marL="0">
              <a:buNone/>
            </a:pPr>
            <a:r>
              <a:rPr lang="en-US" sz="4800" b="1" dirty="0">
                <a:solidFill>
                  <a:srgbClr val="C9002B"/>
                </a:solidFill>
                <a:latin typeface="Meiryo" pitchFamily="34" charset="0"/>
                <a:ea typeface="Meiryo" pitchFamily="34" charset="-122"/>
                <a:cs typeface="Meiryo" pitchFamily="34" charset="-120"/>
              </a:rPr>
              <a:t>9</a:t>
            </a:r>
            <a:pPr indent="0" marL="0">
              <a:buNone/>
            </a:pPr>
            <a:r>
              <a:rPr lang="en-US" sz="1800" b="1" dirty="0">
                <a:solidFill>
                  <a:srgbClr val="C9002B"/>
                </a:solidFill>
                <a:latin typeface="Meiryo" pitchFamily="34" charset="0"/>
                <a:ea typeface="Meiryo" pitchFamily="34" charset="-122"/>
                <a:cs typeface="Meiryo" pitchFamily="34" charset="-120"/>
              </a:rPr>
              <a:t>万円〜</a:t>
            </a:r>
            <a:endParaRPr lang="en-US" sz="1800" dirty="0"/>
          </a:p>
        </p:txBody>
      </p:sp>
      <p:sp>
        <p:nvSpPr>
          <p:cNvPr id="11" name="Text 8"/>
          <p:cNvSpPr txBox="1"/>
          <p:nvPr/>
        </p:nvSpPr>
        <p:spPr>
          <a:xfrm>
            <a:off x="822960" y="3566160"/>
            <a:ext cx="3017520" cy="274320"/>
          </a:xfrm>
          <a:prstGeom prst="rect">
            <a:avLst/>
          </a:prstGeom>
          <a:noFill/>
          <a:ln/>
        </p:spPr>
        <p:txBody>
          <a:bodyPr wrap="square" lIns="0" tIns="0" rIns="0" bIns="0" rtlCol="0" anchor="t"/>
          <a:lstStyle/>
          <a:p>
            <a:pPr indent="0" marL="0">
              <a:buNone/>
            </a:pPr>
            <a:endParaRPr lang="en-US" sz="1100" dirty="0"/>
          </a:p>
        </p:txBody>
      </p:sp>
      <p:sp>
        <p:nvSpPr>
          <p:cNvPr id="12" name="Shape 9"/>
          <p:cNvSpPr/>
          <p:nvPr/>
        </p:nvSpPr>
        <p:spPr>
          <a:xfrm>
            <a:off x="822960" y="4023360"/>
            <a:ext cx="2926080" cy="0"/>
          </a:xfrm>
          <a:prstGeom prst="line">
            <a:avLst/>
          </a:prstGeom>
          <a:noFill/>
          <a:ln w="12700">
            <a:solidFill>
              <a:srgbClr val="DADDE2"/>
            </a:solidFill>
            <a:prstDash val="solid"/>
          </a:ln>
        </p:spPr>
      </p:sp>
      <p:sp>
        <p:nvSpPr>
          <p:cNvPr id="13" name="Text 10"/>
          <p:cNvSpPr txBox="1"/>
          <p:nvPr/>
        </p:nvSpPr>
        <p:spPr>
          <a:xfrm>
            <a:off x="822960" y="4160520"/>
            <a:ext cx="2926080" cy="274320"/>
          </a:xfrm>
          <a:prstGeom prst="rect">
            <a:avLst/>
          </a:prstGeom>
          <a:noFill/>
          <a:ln/>
        </p:spPr>
        <p:txBody>
          <a:bodyPr wrap="square" lIns="0" tIns="0" rIns="0" bIns="0" rtlCol="0" anchor="t"/>
          <a:lstStyle/>
          <a:p>
            <a:pPr indent="0" marL="0">
              <a:buNone/>
            </a:pPr>
            <a:r>
              <a:rPr lang="en-US" sz="1100" b="1" dirty="0">
                <a:solidFill>
                  <a:srgbClr val="5C626D"/>
                </a:solidFill>
                <a:latin typeface="Meiryo" pitchFamily="34" charset="0"/>
                <a:ea typeface="Meiryo" pitchFamily="34" charset="-122"/>
                <a:cs typeface="Meiryo" pitchFamily="34" charset="-120"/>
              </a:rPr>
              <a:t>正式見積で確認すること</a:t>
            </a:r>
            <a:endParaRPr lang="en-US" sz="1100" dirty="0"/>
          </a:p>
        </p:txBody>
      </p:sp>
      <p:sp>
        <p:nvSpPr>
          <p:cNvPr id="14" name="Text 11"/>
          <p:cNvSpPr txBox="1"/>
          <p:nvPr/>
        </p:nvSpPr>
        <p:spPr>
          <a:xfrm>
            <a:off x="822960" y="4480560"/>
            <a:ext cx="3017520" cy="11887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20232A"/>
                </a:solidFill>
                <a:latin typeface="Meiryo" pitchFamily="34" charset="0"/>
                <a:ea typeface="Meiryo" pitchFamily="34" charset="-122"/>
                <a:cs typeface="Meiryo" pitchFamily="34" charset="-120"/>
              </a:rPr>
              <a:t>税区分・初期費用・最低期間</a:t>
            </a:r>
            <a:endParaRPr lang="en-US" sz="1300" dirty="0"/>
          </a:p>
          <a:p>
            <a:pPr marL="342900" indent="-342900">
              <a:spcAft>
                <a:spcPts val="600"/>
              </a:spcAft>
              <a:buSzPct val="100000"/>
              <a:buChar char="•"/>
            </a:pPr>
            <a:r>
              <a:rPr lang="en-US" sz="1300" dirty="0">
                <a:solidFill>
                  <a:srgbClr val="20232A"/>
                </a:solidFill>
                <a:latin typeface="Meiryo" pitchFamily="34" charset="0"/>
                <a:ea typeface="Meiryo" pitchFamily="34" charset="-122"/>
                <a:cs typeface="Meiryo" pitchFamily="34" charset="-120"/>
              </a:rPr>
              <a:t>地域・属性・閲覧機能</a:t>
            </a:r>
            <a:endParaRPr lang="en-US" sz="1300" dirty="0"/>
          </a:p>
        </p:txBody>
      </p:sp>
      <p:sp>
        <p:nvSpPr>
          <p:cNvPr id="15" name="Shape 12"/>
          <p:cNvSpPr/>
          <p:nvPr/>
        </p:nvSpPr>
        <p:spPr>
          <a:xfrm>
            <a:off x="4297680" y="1783080"/>
            <a:ext cx="3474720" cy="4206240"/>
          </a:xfrm>
          <a:prstGeom prst="roundRect">
            <a:avLst>
              <a:gd name="adj" fmla="val 2105"/>
            </a:avLst>
          </a:prstGeom>
          <a:solidFill>
            <a:srgbClr val="FFFFFF"/>
          </a:solidFill>
          <a:ln w="12700">
            <a:solidFill>
              <a:srgbClr val="DADDE2"/>
            </a:solidFill>
            <a:prstDash val="solid"/>
          </a:ln>
        </p:spPr>
      </p:sp>
      <p:pic>
        <p:nvPicPr>
          <p:cNvPr id="16" name="Image 1" descr="preencoded.png">    </p:cNvPr>
          <p:cNvPicPr>
            <a:picLocks noChangeAspect="1"/>
          </p:cNvPicPr>
          <p:nvPr/>
        </p:nvPicPr>
        <p:blipFill>
          <a:blip r:embed="rId2"/>
          <a:stretch>
            <a:fillRect/>
          </a:stretch>
        </p:blipFill>
        <p:spPr>
          <a:xfrm>
            <a:off x="4572000" y="2011680"/>
            <a:ext cx="384048" cy="384048"/>
          </a:xfrm>
          <a:prstGeom prst="rect">
            <a:avLst/>
          </a:prstGeom>
        </p:spPr>
      </p:pic>
      <p:sp>
        <p:nvSpPr>
          <p:cNvPr id="17" name="Text 13"/>
          <p:cNvSpPr txBox="1"/>
          <p:nvPr/>
        </p:nvSpPr>
        <p:spPr>
          <a:xfrm>
            <a:off x="5074920" y="1965960"/>
            <a:ext cx="2560320" cy="274320"/>
          </a:xfrm>
          <a:prstGeom prst="rect">
            <a:avLst/>
          </a:prstGeom>
          <a:noFill/>
          <a:ln/>
        </p:spPr>
        <p:txBody>
          <a:bodyPr wrap="square" lIns="0" tIns="0" rIns="0" bIns="0" rtlCol="0" anchor="t"/>
          <a:lstStyle/>
          <a:p>
            <a:pPr indent="0" marL="0">
              <a:buNone/>
            </a:pPr>
            <a:r>
              <a:rPr lang="en-US" sz="1400" b="1" dirty="0">
                <a:solidFill>
                  <a:srgbClr val="20232A"/>
                </a:solidFill>
                <a:latin typeface="Meiryo" pitchFamily="34" charset="0"/>
                <a:ea typeface="Meiryo" pitchFamily="34" charset="-122"/>
                <a:cs typeface="Meiryo" pitchFamily="34" charset="-120"/>
              </a:rPr>
              <a:t>プレミアパネル</a:t>
            </a:r>
            <a:endParaRPr lang="en-US" sz="1400" dirty="0"/>
          </a:p>
        </p:txBody>
      </p:sp>
      <p:sp>
        <p:nvSpPr>
          <p:cNvPr id="18" name="Text 14"/>
          <p:cNvSpPr txBox="1"/>
          <p:nvPr/>
        </p:nvSpPr>
        <p:spPr>
          <a:xfrm>
            <a:off x="5074920" y="2240280"/>
            <a:ext cx="2560320" cy="256032"/>
          </a:xfrm>
          <a:prstGeom prst="rect">
            <a:avLst/>
          </a:prstGeom>
          <a:noFill/>
          <a:ln/>
        </p:spPr>
        <p:txBody>
          <a:bodyPr wrap="square" lIns="0" tIns="0" rIns="0" bIns="0" rtlCol="0" anchor="t"/>
          <a:lstStyle/>
          <a:p>
            <a:pPr indent="0" marL="0">
              <a:buNone/>
            </a:pPr>
            <a:r>
              <a:rPr lang="en-US" sz="1100" dirty="0">
                <a:solidFill>
                  <a:srgbClr val="5C626D"/>
                </a:solidFill>
                <a:latin typeface="Meiryo" pitchFamily="34" charset="0"/>
                <a:ea typeface="Meiryo" pitchFamily="34" charset="-122"/>
                <a:cs typeface="Meiryo" pitchFamily="34" charset="-120"/>
              </a:rPr>
              <a:t>リサーチ</a:t>
            </a:r>
            <a:endParaRPr lang="en-US" sz="1100" dirty="0"/>
          </a:p>
        </p:txBody>
      </p:sp>
      <p:sp>
        <p:nvSpPr>
          <p:cNvPr id="19" name="Text 15"/>
          <p:cNvSpPr txBox="1"/>
          <p:nvPr/>
        </p:nvSpPr>
        <p:spPr>
          <a:xfrm>
            <a:off x="4572000" y="2651760"/>
            <a:ext cx="3017520" cy="868680"/>
          </a:xfrm>
          <a:prstGeom prst="rect">
            <a:avLst/>
          </a:prstGeom>
          <a:noFill/>
          <a:ln/>
        </p:spPr>
        <p:txBody>
          <a:bodyPr wrap="square" lIns="0" tIns="0" rIns="0" bIns="0" rtlCol="0" anchor="b"/>
          <a:lstStyle/>
          <a:p>
            <a:pPr indent="0" marL="0">
              <a:buNone/>
            </a:pPr>
            <a:r>
              <a:rPr lang="en-US" sz="1600" b="1" dirty="0">
                <a:solidFill>
                  <a:srgbClr val="C9002B"/>
                </a:solidFill>
                <a:latin typeface="Meiryo" pitchFamily="34" charset="0"/>
                <a:ea typeface="Meiryo" pitchFamily="34" charset="-122"/>
                <a:cs typeface="Meiryo" pitchFamily="34" charset="-120"/>
              </a:rPr>
              <a:t>最低 </a:t>
            </a:r>
            <a:pPr indent="0" marL="0">
              <a:buNone/>
            </a:pPr>
            <a:r>
              <a:rPr lang="en-US" sz="4000" b="1" dirty="0">
                <a:solidFill>
                  <a:srgbClr val="C9002B"/>
                </a:solidFill>
                <a:latin typeface="Meiryo" pitchFamily="34" charset="0"/>
                <a:ea typeface="Meiryo" pitchFamily="34" charset="-122"/>
                <a:cs typeface="Meiryo" pitchFamily="34" charset="-120"/>
              </a:rPr>
              <a:t>27.5</a:t>
            </a:r>
            <a:pPr indent="0" marL="0">
              <a:buNone/>
            </a:pPr>
            <a:r>
              <a:rPr lang="en-US" sz="1600" b="1" dirty="0">
                <a:solidFill>
                  <a:srgbClr val="C9002B"/>
                </a:solidFill>
                <a:latin typeface="Meiryo" pitchFamily="34" charset="0"/>
                <a:ea typeface="Meiryo" pitchFamily="34" charset="-122"/>
                <a:cs typeface="Meiryo" pitchFamily="34" charset="-120"/>
              </a:rPr>
              <a:t>万円/回</a:t>
            </a:r>
            <a:endParaRPr lang="en-US" sz="1600" dirty="0"/>
          </a:p>
        </p:txBody>
      </p:sp>
      <p:sp>
        <p:nvSpPr>
          <p:cNvPr id="20" name="Text 16"/>
          <p:cNvSpPr txBox="1"/>
          <p:nvPr/>
        </p:nvSpPr>
        <p:spPr>
          <a:xfrm>
            <a:off x="4572000" y="3566160"/>
            <a:ext cx="3017520" cy="274320"/>
          </a:xfrm>
          <a:prstGeom prst="rect">
            <a:avLst/>
          </a:prstGeom>
          <a:noFill/>
          <a:ln/>
        </p:spPr>
        <p:txBody>
          <a:bodyPr wrap="square" lIns="0" tIns="0" rIns="0" bIns="0" rtlCol="0" anchor="t"/>
          <a:lstStyle/>
          <a:p>
            <a:pPr indent="0" marL="0">
              <a:buNone/>
            </a:pPr>
            <a:r>
              <a:rPr lang="en-US" sz="1100" dirty="0">
                <a:solidFill>
                  <a:srgbClr val="5C626D"/>
                </a:solidFill>
                <a:latin typeface="Meiryo" pitchFamily="34" charset="0"/>
                <a:ea typeface="Meiryo" pitchFamily="34" charset="-122"/>
                <a:cs typeface="Meiryo" pitchFamily="34" charset="-120"/>
              </a:rPr>
              <a:t>税込</a:t>
            </a:r>
            <a:endParaRPr lang="en-US" sz="1100" dirty="0"/>
          </a:p>
        </p:txBody>
      </p:sp>
      <p:sp>
        <p:nvSpPr>
          <p:cNvPr id="21" name="Shape 17"/>
          <p:cNvSpPr/>
          <p:nvPr/>
        </p:nvSpPr>
        <p:spPr>
          <a:xfrm>
            <a:off x="4572000" y="4023360"/>
            <a:ext cx="2926080" cy="0"/>
          </a:xfrm>
          <a:prstGeom prst="line">
            <a:avLst/>
          </a:prstGeom>
          <a:noFill/>
          <a:ln w="12700">
            <a:solidFill>
              <a:srgbClr val="DADDE2"/>
            </a:solidFill>
            <a:prstDash val="solid"/>
          </a:ln>
        </p:spPr>
      </p:sp>
      <p:sp>
        <p:nvSpPr>
          <p:cNvPr id="22" name="Text 18"/>
          <p:cNvSpPr txBox="1"/>
          <p:nvPr/>
        </p:nvSpPr>
        <p:spPr>
          <a:xfrm>
            <a:off x="4572000" y="4160520"/>
            <a:ext cx="2926080" cy="274320"/>
          </a:xfrm>
          <a:prstGeom prst="rect">
            <a:avLst/>
          </a:prstGeom>
          <a:noFill/>
          <a:ln/>
        </p:spPr>
        <p:txBody>
          <a:bodyPr wrap="square" lIns="0" tIns="0" rIns="0" bIns="0" rtlCol="0" anchor="t"/>
          <a:lstStyle/>
          <a:p>
            <a:pPr indent="0" marL="0">
              <a:buNone/>
            </a:pPr>
            <a:r>
              <a:rPr lang="en-US" sz="1100" b="1" dirty="0">
                <a:solidFill>
                  <a:srgbClr val="5C626D"/>
                </a:solidFill>
                <a:latin typeface="Meiryo" pitchFamily="34" charset="0"/>
                <a:ea typeface="Meiryo" pitchFamily="34" charset="-122"/>
                <a:cs typeface="Meiryo" pitchFamily="34" charset="-120"/>
              </a:rPr>
              <a:t>正式見積で確認すること</a:t>
            </a:r>
            <a:endParaRPr lang="en-US" sz="1100" dirty="0"/>
          </a:p>
        </p:txBody>
      </p:sp>
      <p:sp>
        <p:nvSpPr>
          <p:cNvPr id="23" name="Text 19"/>
          <p:cNvSpPr txBox="1"/>
          <p:nvPr/>
        </p:nvSpPr>
        <p:spPr>
          <a:xfrm>
            <a:off x="4572000" y="4480560"/>
            <a:ext cx="3017520" cy="11887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20232A"/>
                </a:solidFill>
                <a:latin typeface="Meiryo" pitchFamily="34" charset="0"/>
                <a:ea typeface="Meiryo" pitchFamily="34" charset="-122"/>
                <a:cs typeface="Meiryo" pitchFamily="34" charset="-120"/>
              </a:rPr>
              <a:t>対象条件・設問・目標回収数</a:t>
            </a:r>
            <a:endParaRPr lang="en-US" sz="1300" dirty="0"/>
          </a:p>
          <a:p>
            <a:pPr marL="342900" indent="-342900">
              <a:spcAft>
                <a:spcPts val="600"/>
              </a:spcAft>
              <a:buSzPct val="100000"/>
              <a:buChar char="•"/>
            </a:pPr>
            <a:r>
              <a:rPr lang="en-US" sz="1300" dirty="0">
                <a:solidFill>
                  <a:srgbClr val="20232A"/>
                </a:solidFill>
                <a:latin typeface="Meiryo" pitchFamily="34" charset="0"/>
                <a:ea typeface="Meiryo" pitchFamily="34" charset="-122"/>
                <a:cs typeface="Meiryo" pitchFamily="34" charset="-120"/>
              </a:rPr>
              <a:t>設計・分析・レポートは別確認</a:t>
            </a:r>
            <a:endParaRPr lang="en-US" sz="1300" dirty="0"/>
          </a:p>
        </p:txBody>
      </p:sp>
      <p:sp>
        <p:nvSpPr>
          <p:cNvPr id="24" name="Shape 20"/>
          <p:cNvSpPr/>
          <p:nvPr/>
        </p:nvSpPr>
        <p:spPr>
          <a:xfrm>
            <a:off x="8046720" y="1783080"/>
            <a:ext cx="3474720" cy="4206240"/>
          </a:xfrm>
          <a:prstGeom prst="roundRect">
            <a:avLst>
              <a:gd name="adj" fmla="val 2105"/>
            </a:avLst>
          </a:prstGeom>
          <a:solidFill>
            <a:srgbClr val="FFFFFF"/>
          </a:solidFill>
          <a:ln w="12700">
            <a:solidFill>
              <a:srgbClr val="DADDE2"/>
            </a:solidFill>
            <a:prstDash val="solid"/>
          </a:ln>
        </p:spPr>
      </p:sp>
      <p:pic>
        <p:nvPicPr>
          <p:cNvPr id="25" name="Image 2" descr="preencoded.png">    </p:cNvPr>
          <p:cNvPicPr>
            <a:picLocks noChangeAspect="1"/>
          </p:cNvPicPr>
          <p:nvPr/>
        </p:nvPicPr>
        <p:blipFill>
          <a:blip r:embed="rId3"/>
          <a:stretch>
            <a:fillRect/>
          </a:stretch>
        </p:blipFill>
        <p:spPr>
          <a:xfrm>
            <a:off x="8321040" y="2011680"/>
            <a:ext cx="384048" cy="384048"/>
          </a:xfrm>
          <a:prstGeom prst="rect">
            <a:avLst/>
          </a:prstGeom>
        </p:spPr>
      </p:pic>
      <p:sp>
        <p:nvSpPr>
          <p:cNvPr id="26" name="Text 21"/>
          <p:cNvSpPr txBox="1"/>
          <p:nvPr/>
        </p:nvSpPr>
        <p:spPr>
          <a:xfrm>
            <a:off x="8823960" y="1965960"/>
            <a:ext cx="2560320" cy="274320"/>
          </a:xfrm>
          <a:prstGeom prst="rect">
            <a:avLst/>
          </a:prstGeom>
          <a:noFill/>
          <a:ln/>
        </p:spPr>
        <p:txBody>
          <a:bodyPr wrap="square" lIns="0" tIns="0" rIns="0" bIns="0" rtlCol="0" anchor="t"/>
          <a:lstStyle/>
          <a:p>
            <a:pPr indent="0" marL="0">
              <a:buNone/>
            </a:pPr>
            <a:r>
              <a:rPr lang="en-US" sz="1400" b="1" dirty="0">
                <a:solidFill>
                  <a:srgbClr val="20232A"/>
                </a:solidFill>
                <a:latin typeface="Meiryo" pitchFamily="34" charset="0"/>
                <a:ea typeface="Meiryo" pitchFamily="34" charset="-122"/>
                <a:cs typeface="Meiryo" pitchFamily="34" charset="-120"/>
              </a:rPr>
              <a:t>docomo Ad Network</a:t>
            </a:r>
            <a:endParaRPr lang="en-US" sz="1400" dirty="0"/>
          </a:p>
        </p:txBody>
      </p:sp>
      <p:sp>
        <p:nvSpPr>
          <p:cNvPr id="27" name="Text 22"/>
          <p:cNvSpPr txBox="1"/>
          <p:nvPr/>
        </p:nvSpPr>
        <p:spPr>
          <a:xfrm>
            <a:off x="8823960" y="2240280"/>
            <a:ext cx="2560320" cy="256032"/>
          </a:xfrm>
          <a:prstGeom prst="rect">
            <a:avLst/>
          </a:prstGeom>
          <a:noFill/>
          <a:ln/>
        </p:spPr>
        <p:txBody>
          <a:bodyPr wrap="square" lIns="0" tIns="0" rIns="0" bIns="0" rtlCol="0" anchor="t"/>
          <a:lstStyle/>
          <a:p>
            <a:pPr indent="0" marL="0">
              <a:buNone/>
            </a:pPr>
            <a:r>
              <a:rPr lang="en-US" sz="1100" dirty="0">
                <a:solidFill>
                  <a:srgbClr val="5C626D"/>
                </a:solidFill>
                <a:latin typeface="Meiryo" pitchFamily="34" charset="0"/>
                <a:ea typeface="Meiryo" pitchFamily="34" charset="-122"/>
                <a:cs typeface="Meiryo" pitchFamily="34" charset="-120"/>
              </a:rPr>
              <a:t>広告出稿</a:t>
            </a:r>
            <a:endParaRPr lang="en-US" sz="1100" dirty="0"/>
          </a:p>
        </p:txBody>
      </p:sp>
      <p:sp>
        <p:nvSpPr>
          <p:cNvPr id="28" name="Text 23"/>
          <p:cNvSpPr txBox="1"/>
          <p:nvPr/>
        </p:nvSpPr>
        <p:spPr>
          <a:xfrm>
            <a:off x="8321040" y="2651760"/>
            <a:ext cx="3017520" cy="868680"/>
          </a:xfrm>
          <a:prstGeom prst="rect">
            <a:avLst/>
          </a:prstGeom>
          <a:noFill/>
          <a:ln/>
        </p:spPr>
        <p:txBody>
          <a:bodyPr wrap="square" lIns="0" tIns="0" rIns="0" bIns="0" rtlCol="0" anchor="b"/>
          <a:lstStyle/>
          <a:p>
            <a:pPr indent="0" marL="0">
              <a:buNone/>
            </a:pPr>
            <a:r>
              <a:rPr lang="en-US" sz="3600" b="1" dirty="0">
                <a:solidFill>
                  <a:srgbClr val="C9002B"/>
                </a:solidFill>
                <a:latin typeface="Meiryo" pitchFamily="34" charset="0"/>
                <a:ea typeface="Meiryo" pitchFamily="34" charset="-122"/>
                <a:cs typeface="Meiryo" pitchFamily="34" charset="-120"/>
              </a:rPr>
              <a:t>要見積</a:t>
            </a:r>
            <a:endParaRPr lang="en-US" sz="3600" dirty="0"/>
          </a:p>
        </p:txBody>
      </p:sp>
      <p:sp>
        <p:nvSpPr>
          <p:cNvPr id="29" name="Text 24"/>
          <p:cNvSpPr txBox="1"/>
          <p:nvPr/>
        </p:nvSpPr>
        <p:spPr>
          <a:xfrm>
            <a:off x="8321040" y="3566160"/>
            <a:ext cx="3017520" cy="274320"/>
          </a:xfrm>
          <a:prstGeom prst="rect">
            <a:avLst/>
          </a:prstGeom>
          <a:noFill/>
          <a:ln/>
        </p:spPr>
        <p:txBody>
          <a:bodyPr wrap="square" lIns="0" tIns="0" rIns="0" bIns="0" rtlCol="0" anchor="t"/>
          <a:lstStyle/>
          <a:p>
            <a:pPr indent="0" marL="0">
              <a:buNone/>
            </a:pPr>
            <a:r>
              <a:rPr lang="en-US" sz="1100" dirty="0">
                <a:solidFill>
                  <a:srgbClr val="5C626D"/>
                </a:solidFill>
                <a:latin typeface="Meiryo" pitchFamily="34" charset="0"/>
                <a:ea typeface="Meiryo" pitchFamily="34" charset="-122"/>
                <a:cs typeface="Meiryo" pitchFamily="34" charset="-120"/>
              </a:rPr>
              <a:t>参照ページに最低出稿額の掲載なし</a:t>
            </a:r>
            <a:endParaRPr lang="en-US" sz="1100" dirty="0"/>
          </a:p>
        </p:txBody>
      </p:sp>
      <p:sp>
        <p:nvSpPr>
          <p:cNvPr id="30" name="Shape 25"/>
          <p:cNvSpPr/>
          <p:nvPr/>
        </p:nvSpPr>
        <p:spPr>
          <a:xfrm>
            <a:off x="8321040" y="4023360"/>
            <a:ext cx="2926080" cy="0"/>
          </a:xfrm>
          <a:prstGeom prst="line">
            <a:avLst/>
          </a:prstGeom>
          <a:noFill/>
          <a:ln w="12700">
            <a:solidFill>
              <a:srgbClr val="DADDE2"/>
            </a:solidFill>
            <a:prstDash val="solid"/>
          </a:ln>
        </p:spPr>
      </p:sp>
      <p:sp>
        <p:nvSpPr>
          <p:cNvPr id="31" name="Text 26"/>
          <p:cNvSpPr txBox="1"/>
          <p:nvPr/>
        </p:nvSpPr>
        <p:spPr>
          <a:xfrm>
            <a:off x="8321040" y="4160520"/>
            <a:ext cx="2926080" cy="274320"/>
          </a:xfrm>
          <a:prstGeom prst="rect">
            <a:avLst/>
          </a:prstGeom>
          <a:noFill/>
          <a:ln/>
        </p:spPr>
        <p:txBody>
          <a:bodyPr wrap="square" lIns="0" tIns="0" rIns="0" bIns="0" rtlCol="0" anchor="t"/>
          <a:lstStyle/>
          <a:p>
            <a:pPr indent="0" marL="0">
              <a:buNone/>
            </a:pPr>
            <a:r>
              <a:rPr lang="en-US" sz="1100" b="1" dirty="0">
                <a:solidFill>
                  <a:srgbClr val="5C626D"/>
                </a:solidFill>
                <a:latin typeface="Meiryo" pitchFamily="34" charset="0"/>
                <a:ea typeface="Meiryo" pitchFamily="34" charset="-122"/>
                <a:cs typeface="Meiryo" pitchFamily="34" charset="-120"/>
              </a:rPr>
              <a:t>正式見積で確認すること</a:t>
            </a:r>
            <a:endParaRPr lang="en-US" sz="1100" dirty="0"/>
          </a:p>
        </p:txBody>
      </p:sp>
      <p:sp>
        <p:nvSpPr>
          <p:cNvPr id="32" name="Text 27"/>
          <p:cNvSpPr txBox="1"/>
          <p:nvPr/>
        </p:nvSpPr>
        <p:spPr>
          <a:xfrm>
            <a:off x="8321040" y="4480560"/>
            <a:ext cx="3017520" cy="11887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20232A"/>
                </a:solidFill>
                <a:latin typeface="Meiryo" pitchFamily="34" charset="0"/>
                <a:ea typeface="Meiryo" pitchFamily="34" charset="-122"/>
                <a:cs typeface="Meiryo" pitchFamily="34" charset="-120"/>
              </a:rPr>
              <a:t>最低出稿額・課金方式</a:t>
            </a:r>
            <a:endParaRPr lang="en-US" sz="1300" dirty="0"/>
          </a:p>
          <a:p>
            <a:pPr marL="342900" indent="-342900">
              <a:spcAft>
                <a:spcPts val="600"/>
              </a:spcAft>
              <a:buSzPct val="100000"/>
              <a:buChar char="•"/>
            </a:pPr>
            <a:r>
              <a:rPr lang="en-US" sz="1300" dirty="0">
                <a:solidFill>
                  <a:srgbClr val="20232A"/>
                </a:solidFill>
                <a:latin typeface="Meiryo" pitchFamily="34" charset="0"/>
                <a:ea typeface="Meiryo" pitchFamily="34" charset="-122"/>
                <a:cs typeface="Meiryo" pitchFamily="34" charset="-120"/>
              </a:rPr>
              <a:t>広告費・運用費・制作費</a:t>
            </a:r>
            <a:endParaRPr lang="en-US" sz="1300" dirty="0"/>
          </a:p>
        </p:txBody>
      </p:sp>
      <p:sp>
        <p:nvSpPr>
          <p:cNvPr id="33" name="Text 28"/>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C626D"/>
                </a:solidFill>
                <a:latin typeface="Meiryo" pitchFamily="34" charset="0"/>
                <a:ea typeface="Meiryo" pitchFamily="34" charset="-122"/>
                <a:cs typeface="Meiryo" pitchFamily="34" charset="-120"/>
              </a:rPr>
              <a:t>公開情報：2026年9月25日確認。単純に足して3商材の最低総額とはしない。契約時は最新見積を優先する</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4864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03　プランと費用</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20232A"/>
                </a:solidFill>
                <a:latin typeface="Meiryo" pitchFamily="34" charset="0"/>
                <a:ea typeface="Meiryo" pitchFamily="34" charset="-122"/>
                <a:cs typeface="Meiryo" pitchFamily="34" charset="-120"/>
              </a:rPr>
              <a:t>期間別の予算構成</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C626D"/>
                </a:solidFill>
                <a:latin typeface="Meiryo" pitchFamily="34" charset="0"/>
                <a:ea typeface="Meiryo" pitchFamily="34" charset="-122"/>
                <a:cs typeface="Meiryo" pitchFamily="34" charset="-120"/>
              </a:rPr>
              <a:t>総予算は、人流費・調査費・広告費・必要な支援費を積み上げる</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C626D"/>
                </a:solidFill>
                <a:latin typeface="Meiryo" pitchFamily="34" charset="0"/>
                <a:ea typeface="Meiryo" pitchFamily="34" charset="-122"/>
                <a:cs typeface="Meiryo" pitchFamily="34" charset="-120"/>
              </a:rPr>
              <a:t>13</a:t>
            </a:r>
            <a:endParaRPr lang="en-US" sz="1000" dirty="0"/>
          </a:p>
        </p:txBody>
      </p:sp>
      <p:sp>
        <p:nvSpPr>
          <p:cNvPr id="6" name="Text 4"/>
          <p:cNvSpPr txBox="1"/>
          <p:nvPr/>
        </p:nvSpPr>
        <p:spPr>
          <a:xfrm>
            <a:off x="548640" y="1783080"/>
            <a:ext cx="5303520" cy="320040"/>
          </a:xfrm>
          <a:prstGeom prst="rect">
            <a:avLst/>
          </a:prstGeom>
          <a:noFill/>
          <a:ln/>
        </p:spPr>
        <p:txBody>
          <a:bodyPr wrap="square" lIns="0" tIns="0" rIns="0" bIns="0" rtlCol="0" anchor="t"/>
          <a:lstStyle/>
          <a:p>
            <a:pPr indent="0" marL="0">
              <a:buNone/>
            </a:pPr>
            <a:r>
              <a:rPr lang="en-US" sz="1400" b="1" dirty="0">
                <a:solidFill>
                  <a:srgbClr val="20232A"/>
                </a:solidFill>
                <a:latin typeface="Meiryo" pitchFamily="34" charset="0"/>
                <a:ea typeface="Meiryo" pitchFamily="34" charset="-122"/>
                <a:cs typeface="Meiryo" pitchFamily="34" charset="-120"/>
              </a:rPr>
              <a:t>調査基本料の参考計算（税込・万円）</a:t>
            </a:r>
            <a:endParaRPr lang="en-US" sz="1400" dirty="0"/>
          </a:p>
        </p:txBody>
      </p:sp>
      <p:graphicFrame>
        <p:nvGraphicFramePr>
          <p:cNvPr id="7" name="Chart 0" descr=""/>
          <p:cNvGraphicFramePr/>
          <p:nvPr/>
        </p:nvGraphicFramePr>
        <p:xfrm>
          <a:off x="548640" y="2148840"/>
          <a:ext cx="5303520" cy="356616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548640" y="5760720"/>
            <a:ext cx="5303520" cy="274320"/>
          </a:xfrm>
          <a:prstGeom prst="rect">
            <a:avLst/>
          </a:prstGeom>
          <a:noFill/>
          <a:ln/>
        </p:spPr>
        <p:txBody>
          <a:bodyPr wrap="square" lIns="0" tIns="0" rIns="0" bIns="0" rtlCol="0" anchor="t"/>
          <a:lstStyle/>
          <a:p>
            <a:pPr indent="0" marL="0">
              <a:buNone/>
            </a:pPr>
            <a:r>
              <a:rPr lang="en-US" sz="1100" dirty="0">
                <a:solidFill>
                  <a:srgbClr val="5C626D"/>
                </a:solidFill>
                <a:latin typeface="Meiryo" pitchFamily="34" charset="0"/>
                <a:ea typeface="Meiryo" pitchFamily="34" charset="-122"/>
                <a:cs typeface="Meiryo" pitchFamily="34" charset="-120"/>
              </a:rPr>
              <a:t>27.5万円 × 想定回数。3商材を含む合計ではない</a:t>
            </a:r>
            <a:endParaRPr lang="en-US" sz="1100" dirty="0"/>
          </a:p>
        </p:txBody>
      </p:sp>
      <p:sp>
        <p:nvSpPr>
          <p:cNvPr id="9" name="Shape 6"/>
          <p:cNvSpPr/>
          <p:nvPr/>
        </p:nvSpPr>
        <p:spPr>
          <a:xfrm>
            <a:off x="6309360" y="1783080"/>
            <a:ext cx="5303520" cy="914400"/>
          </a:xfrm>
          <a:prstGeom prst="roundRect">
            <a:avLst>
              <a:gd name="adj" fmla="val 8000"/>
            </a:avLst>
          </a:prstGeom>
          <a:solidFill>
            <a:srgbClr val="F4F5F7"/>
          </a:solidFill>
          <a:ln w="12700">
            <a:solidFill>
              <a:srgbClr val="F4F5F7"/>
            </a:solidFill>
            <a:prstDash val="solid"/>
          </a:ln>
        </p:spPr>
      </p:sp>
      <p:pic>
        <p:nvPicPr>
          <p:cNvPr id="10" name="Image 0" descr="preencoded.png">    </p:cNvPr>
          <p:cNvPicPr>
            <a:picLocks noChangeAspect="1"/>
          </p:cNvPicPr>
          <p:nvPr/>
        </p:nvPicPr>
        <p:blipFill>
          <a:blip r:embed="rId2"/>
          <a:stretch>
            <a:fillRect/>
          </a:stretch>
        </p:blipFill>
        <p:spPr>
          <a:xfrm>
            <a:off x="6537960" y="2048256"/>
            <a:ext cx="384048" cy="384048"/>
          </a:xfrm>
          <a:prstGeom prst="rect">
            <a:avLst/>
          </a:prstGeom>
        </p:spPr>
      </p:pic>
      <p:sp>
        <p:nvSpPr>
          <p:cNvPr id="11" name="Text 7"/>
          <p:cNvSpPr txBox="1"/>
          <p:nvPr/>
        </p:nvSpPr>
        <p:spPr>
          <a:xfrm>
            <a:off x="7132320" y="1874520"/>
            <a:ext cx="4297680" cy="320040"/>
          </a:xfrm>
          <a:prstGeom prst="rect">
            <a:avLst/>
          </a:prstGeom>
          <a:noFill/>
          <a:ln/>
        </p:spPr>
        <p:txBody>
          <a:bodyPr wrap="square" lIns="0" tIns="0" rIns="0" bIns="0" rtlCol="0" anchor="t"/>
          <a:lstStyle/>
          <a:p>
            <a:pPr indent="0" marL="0">
              <a:buNone/>
            </a:pPr>
            <a:r>
              <a:rPr lang="en-US" sz="1400" b="1" dirty="0">
                <a:solidFill>
                  <a:srgbClr val="20232A"/>
                </a:solidFill>
                <a:latin typeface="Meiryo" pitchFamily="34" charset="0"/>
                <a:ea typeface="Meiryo" pitchFamily="34" charset="-122"/>
                <a:cs typeface="Meiryo" pitchFamily="34" charset="-120"/>
              </a:rPr>
              <a:t>人流データ・分析</a:t>
            </a:r>
            <a:endParaRPr lang="en-US" sz="1400" dirty="0"/>
          </a:p>
        </p:txBody>
      </p:sp>
      <p:sp>
        <p:nvSpPr>
          <p:cNvPr id="12" name="Text 8"/>
          <p:cNvSpPr txBox="1"/>
          <p:nvPr/>
        </p:nvSpPr>
        <p:spPr>
          <a:xfrm>
            <a:off x="7132320" y="2194560"/>
            <a:ext cx="4343400" cy="457200"/>
          </a:xfrm>
          <a:prstGeom prst="rect">
            <a:avLst/>
          </a:prstGeom>
          <a:noFill/>
          <a:ln/>
        </p:spPr>
        <p:txBody>
          <a:bodyPr wrap="square" lIns="0" tIns="0" rIns="0" bIns="0" rtlCol="0" anchor="t"/>
          <a:lstStyle/>
          <a:p>
            <a:pPr indent="0" marL="0">
              <a:buNone/>
            </a:pPr>
            <a:r>
              <a:rPr lang="en-US" sz="1100" dirty="0">
                <a:solidFill>
                  <a:srgbClr val="5C626D"/>
                </a:solidFill>
                <a:latin typeface="Meiryo" pitchFamily="34" charset="0"/>
                <a:ea typeface="Meiryo" pitchFamily="34" charset="-122"/>
                <a:cs typeface="Meiryo" pitchFamily="34" charset="-120"/>
              </a:rPr>
              <a:t>1ヶ月はスポット分析、3ヶ月は比較する日・地域、1年は定点観測の仕様で個別見積</a:t>
            </a:r>
            <a:endParaRPr lang="en-US" sz="1100" dirty="0"/>
          </a:p>
        </p:txBody>
      </p:sp>
      <p:sp>
        <p:nvSpPr>
          <p:cNvPr id="13" name="Shape 9"/>
          <p:cNvSpPr/>
          <p:nvPr/>
        </p:nvSpPr>
        <p:spPr>
          <a:xfrm>
            <a:off x="6309360" y="2834640"/>
            <a:ext cx="5303520" cy="914400"/>
          </a:xfrm>
          <a:prstGeom prst="roundRect">
            <a:avLst>
              <a:gd name="adj" fmla="val 8000"/>
            </a:avLst>
          </a:prstGeom>
          <a:solidFill>
            <a:srgbClr val="F4F5F7"/>
          </a:solidFill>
          <a:ln w="12700">
            <a:solidFill>
              <a:srgbClr val="F4F5F7"/>
            </a:solidFill>
            <a:prstDash val="solid"/>
          </a:ln>
        </p:spPr>
      </p:sp>
      <p:pic>
        <p:nvPicPr>
          <p:cNvPr id="14" name="Image 1" descr="preencoded.png">    </p:cNvPr>
          <p:cNvPicPr>
            <a:picLocks noChangeAspect="1"/>
          </p:cNvPicPr>
          <p:nvPr/>
        </p:nvPicPr>
        <p:blipFill>
          <a:blip r:embed="rId3"/>
          <a:stretch>
            <a:fillRect/>
          </a:stretch>
        </p:blipFill>
        <p:spPr>
          <a:xfrm>
            <a:off x="6537960" y="3099816"/>
            <a:ext cx="384048" cy="384048"/>
          </a:xfrm>
          <a:prstGeom prst="rect">
            <a:avLst/>
          </a:prstGeom>
        </p:spPr>
      </p:pic>
      <p:sp>
        <p:nvSpPr>
          <p:cNvPr id="15" name="Text 10"/>
          <p:cNvSpPr txBox="1"/>
          <p:nvPr/>
        </p:nvSpPr>
        <p:spPr>
          <a:xfrm>
            <a:off x="7132320" y="2926080"/>
            <a:ext cx="4297680" cy="320040"/>
          </a:xfrm>
          <a:prstGeom prst="rect">
            <a:avLst/>
          </a:prstGeom>
          <a:noFill/>
          <a:ln/>
        </p:spPr>
        <p:txBody>
          <a:bodyPr wrap="square" lIns="0" tIns="0" rIns="0" bIns="0" rtlCol="0" anchor="t"/>
          <a:lstStyle/>
          <a:p>
            <a:pPr indent="0" marL="0">
              <a:buNone/>
            </a:pPr>
            <a:r>
              <a:rPr lang="en-US" sz="1400" b="1" dirty="0">
                <a:solidFill>
                  <a:srgbClr val="20232A"/>
                </a:solidFill>
                <a:latin typeface="Meiryo" pitchFamily="34" charset="0"/>
                <a:ea typeface="Meiryo" pitchFamily="34" charset="-122"/>
                <a:cs typeface="Meiryo" pitchFamily="34" charset="-120"/>
              </a:rPr>
              <a:t>調査基本料</a:t>
            </a:r>
            <a:endParaRPr lang="en-US" sz="1400" dirty="0"/>
          </a:p>
        </p:txBody>
      </p:sp>
      <p:sp>
        <p:nvSpPr>
          <p:cNvPr id="16" name="Text 11"/>
          <p:cNvSpPr txBox="1"/>
          <p:nvPr/>
        </p:nvSpPr>
        <p:spPr>
          <a:xfrm>
            <a:off x="7132320" y="3246120"/>
            <a:ext cx="4343400" cy="457200"/>
          </a:xfrm>
          <a:prstGeom prst="rect">
            <a:avLst/>
          </a:prstGeom>
          <a:noFill/>
          <a:ln/>
        </p:spPr>
        <p:txBody>
          <a:bodyPr wrap="square" lIns="0" tIns="0" rIns="0" bIns="0" rtlCol="0" anchor="t"/>
          <a:lstStyle/>
          <a:p>
            <a:pPr indent="0" marL="0">
              <a:buNone/>
            </a:pPr>
            <a:r>
              <a:rPr lang="en-US" sz="1100" dirty="0">
                <a:solidFill>
                  <a:srgbClr val="5C626D"/>
                </a:solidFill>
                <a:latin typeface="Meiryo" pitchFamily="34" charset="0"/>
                <a:ea typeface="Meiryo" pitchFamily="34" charset="-122"/>
                <a:cs typeface="Meiryo" pitchFamily="34" charset="-120"/>
              </a:rPr>
              <a:t>1回27.5万円〜。回数は1回／2回／4回を想定（左グラフ）</a:t>
            </a:r>
            <a:endParaRPr lang="en-US" sz="1100" dirty="0"/>
          </a:p>
        </p:txBody>
      </p:sp>
      <p:sp>
        <p:nvSpPr>
          <p:cNvPr id="17" name="Shape 12"/>
          <p:cNvSpPr/>
          <p:nvPr/>
        </p:nvSpPr>
        <p:spPr>
          <a:xfrm>
            <a:off x="6309360" y="3886200"/>
            <a:ext cx="5303520" cy="914400"/>
          </a:xfrm>
          <a:prstGeom prst="roundRect">
            <a:avLst>
              <a:gd name="adj" fmla="val 8000"/>
            </a:avLst>
          </a:prstGeom>
          <a:solidFill>
            <a:srgbClr val="F4F5F7"/>
          </a:solidFill>
          <a:ln w="12700">
            <a:solidFill>
              <a:srgbClr val="F4F5F7"/>
            </a:solidFill>
            <a:prstDash val="solid"/>
          </a:ln>
        </p:spPr>
      </p:sp>
      <p:pic>
        <p:nvPicPr>
          <p:cNvPr id="18" name="Image 2" descr="preencoded.png">    </p:cNvPr>
          <p:cNvPicPr>
            <a:picLocks noChangeAspect="1"/>
          </p:cNvPicPr>
          <p:nvPr/>
        </p:nvPicPr>
        <p:blipFill>
          <a:blip r:embed="rId4"/>
          <a:stretch>
            <a:fillRect/>
          </a:stretch>
        </p:blipFill>
        <p:spPr>
          <a:xfrm>
            <a:off x="6537960" y="4151376"/>
            <a:ext cx="384048" cy="384048"/>
          </a:xfrm>
          <a:prstGeom prst="rect">
            <a:avLst/>
          </a:prstGeom>
        </p:spPr>
      </p:pic>
      <p:sp>
        <p:nvSpPr>
          <p:cNvPr id="19" name="Text 13"/>
          <p:cNvSpPr txBox="1"/>
          <p:nvPr/>
        </p:nvSpPr>
        <p:spPr>
          <a:xfrm>
            <a:off x="7132320" y="3977640"/>
            <a:ext cx="4297680" cy="320040"/>
          </a:xfrm>
          <a:prstGeom prst="rect">
            <a:avLst/>
          </a:prstGeom>
          <a:noFill/>
          <a:ln/>
        </p:spPr>
        <p:txBody>
          <a:bodyPr wrap="square" lIns="0" tIns="0" rIns="0" bIns="0" rtlCol="0" anchor="t"/>
          <a:lstStyle/>
          <a:p>
            <a:pPr indent="0" marL="0">
              <a:buNone/>
            </a:pPr>
            <a:r>
              <a:rPr lang="en-US" sz="1400" b="1" dirty="0">
                <a:solidFill>
                  <a:srgbClr val="20232A"/>
                </a:solidFill>
                <a:latin typeface="Meiryo" pitchFamily="34" charset="0"/>
                <a:ea typeface="Meiryo" pitchFamily="34" charset="-122"/>
                <a:cs typeface="Meiryo" pitchFamily="34" charset="-120"/>
              </a:rPr>
              <a:t>広告費</a:t>
            </a:r>
            <a:endParaRPr lang="en-US" sz="1400" dirty="0"/>
          </a:p>
        </p:txBody>
      </p:sp>
      <p:sp>
        <p:nvSpPr>
          <p:cNvPr id="20" name="Text 14"/>
          <p:cNvSpPr txBox="1"/>
          <p:nvPr/>
        </p:nvSpPr>
        <p:spPr>
          <a:xfrm>
            <a:off x="7132320" y="4297680"/>
            <a:ext cx="4343400" cy="457200"/>
          </a:xfrm>
          <a:prstGeom prst="rect">
            <a:avLst/>
          </a:prstGeom>
          <a:noFill/>
          <a:ln/>
        </p:spPr>
        <p:txBody>
          <a:bodyPr wrap="square" lIns="0" tIns="0" rIns="0" bIns="0" rtlCol="0" anchor="t"/>
          <a:lstStyle/>
          <a:p>
            <a:pPr indent="0" marL="0">
              <a:buNone/>
            </a:pPr>
            <a:r>
              <a:rPr lang="en-US" sz="1100" dirty="0">
                <a:solidFill>
                  <a:srgbClr val="5C626D"/>
                </a:solidFill>
                <a:latin typeface="Meiryo" pitchFamily="34" charset="0"/>
                <a:ea typeface="Meiryo" pitchFamily="34" charset="-122"/>
                <a:cs typeface="Meiryo" pitchFamily="34" charset="-120"/>
              </a:rPr>
              <a:t>1テーマの配信、改善テスト、繁閑期の配分など、期間ごとに個別見積</a:t>
            </a:r>
            <a:endParaRPr lang="en-US" sz="1100" dirty="0"/>
          </a:p>
        </p:txBody>
      </p:sp>
      <p:sp>
        <p:nvSpPr>
          <p:cNvPr id="21" name="Shape 15"/>
          <p:cNvSpPr/>
          <p:nvPr/>
        </p:nvSpPr>
        <p:spPr>
          <a:xfrm>
            <a:off x="6309360" y="4937760"/>
            <a:ext cx="5303520" cy="914400"/>
          </a:xfrm>
          <a:prstGeom prst="roundRect">
            <a:avLst>
              <a:gd name="adj" fmla="val 8000"/>
            </a:avLst>
          </a:prstGeom>
          <a:solidFill>
            <a:srgbClr val="F4F5F7"/>
          </a:solidFill>
          <a:ln w="12700">
            <a:solidFill>
              <a:srgbClr val="F4F5F7"/>
            </a:solidFill>
            <a:prstDash val="solid"/>
          </a:ln>
        </p:spPr>
      </p:sp>
      <p:pic>
        <p:nvPicPr>
          <p:cNvPr id="22" name="Image 3" descr="preencoded.png">    </p:cNvPr>
          <p:cNvPicPr>
            <a:picLocks noChangeAspect="1"/>
          </p:cNvPicPr>
          <p:nvPr/>
        </p:nvPicPr>
        <p:blipFill>
          <a:blip r:embed="rId5"/>
          <a:stretch>
            <a:fillRect/>
          </a:stretch>
        </p:blipFill>
        <p:spPr>
          <a:xfrm>
            <a:off x="6537960" y="5202936"/>
            <a:ext cx="384048" cy="384048"/>
          </a:xfrm>
          <a:prstGeom prst="rect">
            <a:avLst/>
          </a:prstGeom>
        </p:spPr>
      </p:pic>
      <p:sp>
        <p:nvSpPr>
          <p:cNvPr id="23" name="Text 16"/>
          <p:cNvSpPr txBox="1"/>
          <p:nvPr/>
        </p:nvSpPr>
        <p:spPr>
          <a:xfrm>
            <a:off x="7132320" y="5029200"/>
            <a:ext cx="4297680" cy="320040"/>
          </a:xfrm>
          <a:prstGeom prst="rect">
            <a:avLst/>
          </a:prstGeom>
          <a:noFill/>
          <a:ln/>
        </p:spPr>
        <p:txBody>
          <a:bodyPr wrap="square" lIns="0" tIns="0" rIns="0" bIns="0" rtlCol="0" anchor="t"/>
          <a:lstStyle/>
          <a:p>
            <a:pPr indent="0" marL="0">
              <a:buNone/>
            </a:pPr>
            <a:r>
              <a:rPr lang="en-US" sz="1400" b="1" dirty="0">
                <a:solidFill>
                  <a:srgbClr val="20232A"/>
                </a:solidFill>
                <a:latin typeface="Meiryo" pitchFamily="34" charset="0"/>
                <a:ea typeface="Meiryo" pitchFamily="34" charset="-122"/>
                <a:cs typeface="Meiryo" pitchFamily="34" charset="-120"/>
              </a:rPr>
              <a:t>追加費用</a:t>
            </a:r>
            <a:endParaRPr lang="en-US" sz="1400" dirty="0"/>
          </a:p>
        </p:txBody>
      </p:sp>
      <p:sp>
        <p:nvSpPr>
          <p:cNvPr id="24" name="Text 17"/>
          <p:cNvSpPr txBox="1"/>
          <p:nvPr/>
        </p:nvSpPr>
        <p:spPr>
          <a:xfrm>
            <a:off x="7132320" y="5349240"/>
            <a:ext cx="4343400" cy="457200"/>
          </a:xfrm>
          <a:prstGeom prst="rect">
            <a:avLst/>
          </a:prstGeom>
          <a:noFill/>
          <a:ln/>
        </p:spPr>
        <p:txBody>
          <a:bodyPr wrap="square" lIns="0" tIns="0" rIns="0" bIns="0" rtlCol="0" anchor="t"/>
          <a:lstStyle/>
          <a:p>
            <a:pPr indent="0" marL="0">
              <a:buNone/>
            </a:pPr>
            <a:r>
              <a:rPr lang="en-US" sz="1100" dirty="0">
                <a:solidFill>
                  <a:srgbClr val="5C626D"/>
                </a:solidFill>
                <a:latin typeface="Meiryo" pitchFamily="34" charset="0"/>
                <a:ea typeface="Meiryo" pitchFamily="34" charset="-122"/>
                <a:cs typeface="Meiryo" pitchFamily="34" charset="-120"/>
              </a:rPr>
              <a:t>設計・制作・分析・運用など、依頼する範囲に応じて確認</a:t>
            </a:r>
            <a:endParaRPr lang="en-US" sz="1100" dirty="0"/>
          </a:p>
        </p:txBody>
      </p:sp>
      <p:sp>
        <p:nvSpPr>
          <p:cNvPr id="25" name="Text 18"/>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C626D"/>
                </a:solidFill>
                <a:latin typeface="Meiryo" pitchFamily="34" charset="0"/>
                <a:ea typeface="Meiryo" pitchFamily="34" charset="-122"/>
                <a:cs typeface="Meiryo" pitchFamily="34" charset="-120"/>
              </a:rPr>
              <a:t>割引や追加費用は含まない。費用を抑えるときは検証する課題と対象を絞る</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4864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03　プランと費用</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20232A"/>
                </a:solidFill>
                <a:latin typeface="Meiryo" pitchFamily="34" charset="0"/>
                <a:ea typeface="Meiryo" pitchFamily="34" charset="-122"/>
                <a:cs typeface="Meiryo" pitchFamily="34" charset="-120"/>
              </a:rPr>
              <a:t>導入前に必要な準備</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C626D"/>
                </a:solidFill>
                <a:latin typeface="Meiryo" pitchFamily="34" charset="0"/>
                <a:ea typeface="Meiryo" pitchFamily="34" charset="-122"/>
                <a:cs typeface="Meiryo" pitchFamily="34" charset="-120"/>
              </a:rPr>
              <a:t>開始希望日から逆算し、提供元と日程を確定する</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C626D"/>
                </a:solidFill>
                <a:latin typeface="Meiryo" pitchFamily="34" charset="0"/>
                <a:ea typeface="Meiryo" pitchFamily="34" charset="-122"/>
                <a:cs typeface="Meiryo" pitchFamily="34" charset="-120"/>
              </a:rPr>
              <a:t>14</a:t>
            </a:r>
            <a:endParaRPr lang="en-US" sz="1000" dirty="0"/>
          </a:p>
        </p:txBody>
      </p:sp>
      <p:sp>
        <p:nvSpPr>
          <p:cNvPr id="6" name="Shape 4"/>
          <p:cNvSpPr/>
          <p:nvPr/>
        </p:nvSpPr>
        <p:spPr>
          <a:xfrm>
            <a:off x="1097280" y="2057400"/>
            <a:ext cx="9966960" cy="0"/>
          </a:xfrm>
          <a:prstGeom prst="line">
            <a:avLst/>
          </a:prstGeom>
          <a:noFill/>
          <a:ln w="38100">
            <a:solidFill>
              <a:srgbClr val="DADDE2"/>
            </a:solidFill>
            <a:prstDash val="solid"/>
          </a:ln>
        </p:spPr>
      </p:sp>
      <p:sp>
        <p:nvSpPr>
          <p:cNvPr id="7" name="Shape 5"/>
          <p:cNvSpPr/>
          <p:nvPr/>
        </p:nvSpPr>
        <p:spPr>
          <a:xfrm>
            <a:off x="969264" y="1929384"/>
            <a:ext cx="256032" cy="256032"/>
          </a:xfrm>
          <a:prstGeom prst="ellipse">
            <a:avLst/>
          </a:prstGeom>
          <a:solidFill>
            <a:srgbClr val="20232A"/>
          </a:solidFill>
          <a:ln w="25400">
            <a:solidFill>
              <a:srgbClr val="FFFFFF"/>
            </a:solidFill>
            <a:prstDash val="solid"/>
          </a:ln>
        </p:spPr>
      </p:sp>
      <p:sp>
        <p:nvSpPr>
          <p:cNvPr id="8" name="Text 6"/>
          <p:cNvSpPr txBox="1"/>
          <p:nvPr/>
        </p:nvSpPr>
        <p:spPr>
          <a:xfrm>
            <a:off x="914400" y="2286000"/>
            <a:ext cx="2560320" cy="274320"/>
          </a:xfrm>
          <a:prstGeom prst="rect">
            <a:avLst/>
          </a:prstGeom>
          <a:noFill/>
          <a:ln/>
        </p:spPr>
        <p:txBody>
          <a:bodyPr wrap="square" lIns="0" tIns="0" rIns="0" bIns="0" rtlCol="0" anchor="t"/>
          <a:lstStyle/>
          <a:p>
            <a:pPr algn="l" indent="0" marL="0">
              <a:buNone/>
            </a:pPr>
            <a:r>
              <a:rPr lang="en-US" sz="1300" b="1" dirty="0">
                <a:solidFill>
                  <a:srgbClr val="20232A"/>
                </a:solidFill>
                <a:latin typeface="Meiryo" pitchFamily="34" charset="0"/>
                <a:ea typeface="Meiryo" pitchFamily="34" charset="-122"/>
                <a:cs typeface="Meiryo" pitchFamily="34" charset="-120"/>
              </a:rPr>
              <a:t>相談開始</a:t>
            </a:r>
            <a:endParaRPr lang="en-US" sz="1300" dirty="0"/>
          </a:p>
        </p:txBody>
      </p:sp>
      <p:sp>
        <p:nvSpPr>
          <p:cNvPr id="9" name="Text 7"/>
          <p:cNvSpPr txBox="1"/>
          <p:nvPr/>
        </p:nvSpPr>
        <p:spPr>
          <a:xfrm>
            <a:off x="914400" y="2560320"/>
            <a:ext cx="2560320" cy="256032"/>
          </a:xfrm>
          <a:prstGeom prst="rect">
            <a:avLst/>
          </a:prstGeom>
          <a:noFill/>
          <a:ln/>
        </p:spPr>
        <p:txBody>
          <a:bodyPr wrap="square" lIns="0" tIns="0" rIns="0" bIns="0" rtlCol="0" anchor="t"/>
          <a:lstStyle/>
          <a:p>
            <a:pPr algn="l" indent="0" marL="0">
              <a:buNone/>
            </a:pPr>
            <a:r>
              <a:rPr lang="en-US" sz="1100" dirty="0">
                <a:solidFill>
                  <a:srgbClr val="5C626D"/>
                </a:solidFill>
                <a:latin typeface="Meiryo" pitchFamily="34" charset="0"/>
                <a:ea typeface="Meiryo" pitchFamily="34" charset="-122"/>
                <a:cs typeface="Meiryo" pitchFamily="34" charset="-120"/>
              </a:rPr>
              <a:t>2〜4週間前（仮置き）</a:t>
            </a:r>
            <a:endParaRPr lang="en-US" sz="1100" dirty="0"/>
          </a:p>
        </p:txBody>
      </p:sp>
      <p:sp>
        <p:nvSpPr>
          <p:cNvPr id="10" name="Shape 8"/>
          <p:cNvSpPr/>
          <p:nvPr/>
        </p:nvSpPr>
        <p:spPr>
          <a:xfrm>
            <a:off x="4291584" y="1929384"/>
            <a:ext cx="256032" cy="256032"/>
          </a:xfrm>
          <a:prstGeom prst="ellipse">
            <a:avLst/>
          </a:prstGeom>
          <a:solidFill>
            <a:srgbClr val="20232A"/>
          </a:solidFill>
          <a:ln w="25400">
            <a:solidFill>
              <a:srgbClr val="FFFFFF"/>
            </a:solidFill>
            <a:prstDash val="solid"/>
          </a:ln>
        </p:spPr>
      </p:sp>
      <p:sp>
        <p:nvSpPr>
          <p:cNvPr id="11" name="Text 9"/>
          <p:cNvSpPr txBox="1"/>
          <p:nvPr/>
        </p:nvSpPr>
        <p:spPr>
          <a:xfrm>
            <a:off x="3139440" y="2286000"/>
            <a:ext cx="2560320" cy="274320"/>
          </a:xfrm>
          <a:prstGeom prst="rect">
            <a:avLst/>
          </a:prstGeom>
          <a:noFill/>
          <a:ln/>
        </p:spPr>
        <p:txBody>
          <a:bodyPr wrap="square" lIns="0" tIns="0" rIns="0" bIns="0" rtlCol="0" anchor="t"/>
          <a:lstStyle/>
          <a:p>
            <a:pPr algn="ctr" indent="0" marL="0">
              <a:buNone/>
            </a:pPr>
            <a:r>
              <a:rPr lang="en-US" sz="1300" b="1" dirty="0">
                <a:solidFill>
                  <a:srgbClr val="20232A"/>
                </a:solidFill>
                <a:latin typeface="Meiryo" pitchFamily="34" charset="0"/>
                <a:ea typeface="Meiryo" pitchFamily="34" charset="-122"/>
                <a:cs typeface="Meiryo" pitchFamily="34" charset="-120"/>
              </a:rPr>
              <a:t>仕様・見積確定</a:t>
            </a:r>
            <a:endParaRPr lang="en-US" sz="1300" dirty="0"/>
          </a:p>
        </p:txBody>
      </p:sp>
      <p:sp>
        <p:nvSpPr>
          <p:cNvPr id="12" name="Text 10"/>
          <p:cNvSpPr txBox="1"/>
          <p:nvPr/>
        </p:nvSpPr>
        <p:spPr>
          <a:xfrm>
            <a:off x="3139440" y="2560320"/>
            <a:ext cx="2560320" cy="256032"/>
          </a:xfrm>
          <a:prstGeom prst="rect">
            <a:avLst/>
          </a:prstGeom>
          <a:noFill/>
          <a:ln/>
        </p:spPr>
        <p:txBody>
          <a:bodyPr wrap="square" lIns="0" tIns="0" rIns="0" bIns="0" rtlCol="0" anchor="t"/>
          <a:lstStyle/>
          <a:p>
            <a:pPr algn="ctr" indent="0" marL="0">
              <a:buNone/>
            </a:pPr>
            <a:r>
              <a:rPr lang="en-US" sz="1100" dirty="0">
                <a:solidFill>
                  <a:srgbClr val="5C626D"/>
                </a:solidFill>
                <a:latin typeface="Meiryo" pitchFamily="34" charset="0"/>
                <a:ea typeface="Meiryo" pitchFamily="34" charset="-122"/>
                <a:cs typeface="Meiryo" pitchFamily="34" charset="-120"/>
              </a:rPr>
              <a:t>対象・設問・素材</a:t>
            </a:r>
            <a:endParaRPr lang="en-US" sz="1100" dirty="0"/>
          </a:p>
        </p:txBody>
      </p:sp>
      <p:sp>
        <p:nvSpPr>
          <p:cNvPr id="13" name="Shape 11"/>
          <p:cNvSpPr/>
          <p:nvPr/>
        </p:nvSpPr>
        <p:spPr>
          <a:xfrm>
            <a:off x="7613904" y="1929384"/>
            <a:ext cx="256032" cy="256032"/>
          </a:xfrm>
          <a:prstGeom prst="ellipse">
            <a:avLst/>
          </a:prstGeom>
          <a:solidFill>
            <a:srgbClr val="20232A"/>
          </a:solidFill>
          <a:ln w="25400">
            <a:solidFill>
              <a:srgbClr val="FFFFFF"/>
            </a:solidFill>
            <a:prstDash val="solid"/>
          </a:ln>
        </p:spPr>
      </p:sp>
      <p:sp>
        <p:nvSpPr>
          <p:cNvPr id="14" name="Text 12"/>
          <p:cNvSpPr txBox="1"/>
          <p:nvPr/>
        </p:nvSpPr>
        <p:spPr>
          <a:xfrm>
            <a:off x="6461760" y="2286000"/>
            <a:ext cx="2560320" cy="274320"/>
          </a:xfrm>
          <a:prstGeom prst="rect">
            <a:avLst/>
          </a:prstGeom>
          <a:noFill/>
          <a:ln/>
        </p:spPr>
        <p:txBody>
          <a:bodyPr wrap="square" lIns="0" tIns="0" rIns="0" bIns="0" rtlCol="0" anchor="t"/>
          <a:lstStyle/>
          <a:p>
            <a:pPr algn="ctr" indent="0" marL="0">
              <a:buNone/>
            </a:pPr>
            <a:r>
              <a:rPr lang="en-US" sz="1300" b="1" dirty="0">
                <a:solidFill>
                  <a:srgbClr val="20232A"/>
                </a:solidFill>
                <a:latin typeface="Meiryo" pitchFamily="34" charset="0"/>
                <a:ea typeface="Meiryo" pitchFamily="34" charset="-122"/>
                <a:cs typeface="Meiryo" pitchFamily="34" charset="-120"/>
              </a:rPr>
              <a:t>納品・回収・審査</a:t>
            </a:r>
            <a:endParaRPr lang="en-US" sz="1300" dirty="0"/>
          </a:p>
        </p:txBody>
      </p:sp>
      <p:sp>
        <p:nvSpPr>
          <p:cNvPr id="15" name="Text 13"/>
          <p:cNvSpPr txBox="1"/>
          <p:nvPr/>
        </p:nvSpPr>
        <p:spPr>
          <a:xfrm>
            <a:off x="6461760" y="2560320"/>
            <a:ext cx="2560320" cy="256032"/>
          </a:xfrm>
          <a:prstGeom prst="rect">
            <a:avLst/>
          </a:prstGeom>
          <a:noFill/>
          <a:ln/>
        </p:spPr>
        <p:txBody>
          <a:bodyPr wrap="square" lIns="0" tIns="0" rIns="0" bIns="0" rtlCol="0" anchor="t"/>
          <a:lstStyle/>
          <a:p>
            <a:pPr algn="ctr" indent="0" marL="0">
              <a:buNone/>
            </a:pPr>
            <a:r>
              <a:rPr lang="en-US" sz="1100" dirty="0">
                <a:solidFill>
                  <a:srgbClr val="5C626D"/>
                </a:solidFill>
                <a:latin typeface="Meiryo" pitchFamily="34" charset="0"/>
                <a:ea typeface="Meiryo" pitchFamily="34" charset="-122"/>
                <a:cs typeface="Meiryo" pitchFamily="34" charset="-120"/>
              </a:rPr>
              <a:t>提供元の工程</a:t>
            </a:r>
            <a:endParaRPr lang="en-US" sz="1100" dirty="0"/>
          </a:p>
        </p:txBody>
      </p:sp>
      <p:sp>
        <p:nvSpPr>
          <p:cNvPr id="16" name="Shape 14"/>
          <p:cNvSpPr/>
          <p:nvPr/>
        </p:nvSpPr>
        <p:spPr>
          <a:xfrm>
            <a:off x="10936224" y="1929384"/>
            <a:ext cx="256032" cy="256032"/>
          </a:xfrm>
          <a:prstGeom prst="ellipse">
            <a:avLst/>
          </a:prstGeom>
          <a:solidFill>
            <a:srgbClr val="C9002B"/>
          </a:solidFill>
          <a:ln w="25400">
            <a:solidFill>
              <a:srgbClr val="FFFFFF"/>
            </a:solidFill>
            <a:prstDash val="solid"/>
          </a:ln>
        </p:spPr>
      </p:sp>
      <p:sp>
        <p:nvSpPr>
          <p:cNvPr id="17" name="Text 15"/>
          <p:cNvSpPr txBox="1"/>
          <p:nvPr/>
        </p:nvSpPr>
        <p:spPr>
          <a:xfrm>
            <a:off x="8686800" y="2286000"/>
            <a:ext cx="2560320" cy="274320"/>
          </a:xfrm>
          <a:prstGeom prst="rect">
            <a:avLst/>
          </a:prstGeom>
          <a:noFill/>
          <a:ln/>
        </p:spPr>
        <p:txBody>
          <a:bodyPr wrap="square" lIns="0" tIns="0" rIns="0" bIns="0" rtlCol="0" anchor="t"/>
          <a:lstStyle/>
          <a:p>
            <a:pPr algn="r" indent="0" marL="0">
              <a:buNone/>
            </a:pPr>
            <a:r>
              <a:rPr lang="en-US" sz="1300" b="1" dirty="0">
                <a:solidFill>
                  <a:srgbClr val="C9002B"/>
                </a:solidFill>
                <a:latin typeface="Meiryo" pitchFamily="34" charset="0"/>
                <a:ea typeface="Meiryo" pitchFamily="34" charset="-122"/>
                <a:cs typeface="Meiryo" pitchFamily="34" charset="-120"/>
              </a:rPr>
              <a:t>施策開始</a:t>
            </a:r>
            <a:endParaRPr lang="en-US" sz="1300" dirty="0"/>
          </a:p>
        </p:txBody>
      </p:sp>
      <p:sp>
        <p:nvSpPr>
          <p:cNvPr id="18" name="Text 16"/>
          <p:cNvSpPr txBox="1"/>
          <p:nvPr/>
        </p:nvSpPr>
        <p:spPr>
          <a:xfrm>
            <a:off x="8686800" y="2560320"/>
            <a:ext cx="2560320" cy="256032"/>
          </a:xfrm>
          <a:prstGeom prst="rect">
            <a:avLst/>
          </a:prstGeom>
          <a:noFill/>
          <a:ln/>
        </p:spPr>
        <p:txBody>
          <a:bodyPr wrap="square" lIns="0" tIns="0" rIns="0" bIns="0" rtlCol="0" anchor="t"/>
          <a:lstStyle/>
          <a:p>
            <a:pPr algn="r" indent="0" marL="0">
              <a:buNone/>
            </a:pPr>
            <a:r>
              <a:rPr lang="en-US" sz="1100" dirty="0">
                <a:solidFill>
                  <a:srgbClr val="5C626D"/>
                </a:solidFill>
                <a:latin typeface="Meiryo" pitchFamily="34" charset="0"/>
                <a:ea typeface="Meiryo" pitchFamily="34" charset="-122"/>
                <a:cs typeface="Meiryo" pitchFamily="34" charset="-120"/>
              </a:rPr>
              <a:t>実施期間スタート</a:t>
            </a:r>
            <a:endParaRPr lang="en-US" sz="1100" dirty="0"/>
          </a:p>
        </p:txBody>
      </p:sp>
      <p:sp>
        <p:nvSpPr>
          <p:cNvPr id="19" name="Text 17"/>
          <p:cNvSpPr txBox="1"/>
          <p:nvPr/>
        </p:nvSpPr>
        <p:spPr>
          <a:xfrm>
            <a:off x="2926080" y="3063240"/>
            <a:ext cx="4572000" cy="274320"/>
          </a:xfrm>
          <a:prstGeom prst="rect">
            <a:avLst/>
          </a:prstGeom>
          <a:noFill/>
          <a:ln/>
        </p:spPr>
        <p:txBody>
          <a:bodyPr wrap="square" lIns="0" tIns="0" rIns="0" bIns="0" rtlCol="0" anchor="t"/>
          <a:lstStyle/>
          <a:p>
            <a:pPr indent="0" marL="0">
              <a:buNone/>
            </a:pPr>
            <a:r>
              <a:rPr lang="en-US" sz="1200" b="1" dirty="0">
                <a:solidFill>
                  <a:srgbClr val="5C626D"/>
                </a:solidFill>
                <a:latin typeface="Meiryo" pitchFamily="34" charset="0"/>
                <a:ea typeface="Meiryo" pitchFamily="34" charset="-122"/>
                <a:cs typeface="Meiryo" pitchFamily="34" charset="-120"/>
              </a:rPr>
              <a:t>決める内容</a:t>
            </a:r>
            <a:endParaRPr lang="en-US" sz="1200" dirty="0"/>
          </a:p>
        </p:txBody>
      </p:sp>
      <p:sp>
        <p:nvSpPr>
          <p:cNvPr id="20" name="Text 18"/>
          <p:cNvSpPr txBox="1"/>
          <p:nvPr/>
        </p:nvSpPr>
        <p:spPr>
          <a:xfrm>
            <a:off x="7772400" y="3063240"/>
            <a:ext cx="3657600" cy="274320"/>
          </a:xfrm>
          <a:prstGeom prst="rect">
            <a:avLst/>
          </a:prstGeom>
          <a:noFill/>
          <a:ln/>
        </p:spPr>
        <p:txBody>
          <a:bodyPr wrap="square" lIns="0" tIns="0" rIns="0" bIns="0" rtlCol="0" anchor="t"/>
          <a:lstStyle/>
          <a:p>
            <a:pPr indent="0" marL="0">
              <a:buNone/>
            </a:pPr>
            <a:r>
              <a:rPr lang="en-US" sz="1200" b="1" dirty="0">
                <a:solidFill>
                  <a:srgbClr val="5C626D"/>
                </a:solidFill>
                <a:latin typeface="Meiryo" pitchFamily="34" charset="0"/>
                <a:ea typeface="Meiryo" pitchFamily="34" charset="-122"/>
                <a:cs typeface="Meiryo" pitchFamily="34" charset="-120"/>
              </a:rPr>
              <a:t>日程の確認</a:t>
            </a:r>
            <a:endParaRPr lang="en-US" sz="1200" dirty="0"/>
          </a:p>
        </p:txBody>
      </p:sp>
      <p:sp>
        <p:nvSpPr>
          <p:cNvPr id="21" name="Shape 19"/>
          <p:cNvSpPr/>
          <p:nvPr/>
        </p:nvSpPr>
        <p:spPr>
          <a:xfrm>
            <a:off x="548640" y="3401568"/>
            <a:ext cx="2240280" cy="731520"/>
          </a:xfrm>
          <a:prstGeom prst="roundRect">
            <a:avLst>
              <a:gd name="adj" fmla="val 10000"/>
            </a:avLst>
          </a:prstGeom>
          <a:solidFill>
            <a:srgbClr val="20232A"/>
          </a:solidFill>
          <a:ln w="12700">
            <a:solidFill>
              <a:srgbClr val="20232A"/>
            </a:solidFill>
            <a:prstDash val="solid"/>
          </a:ln>
        </p:spPr>
      </p:sp>
      <p:sp>
        <p:nvSpPr>
          <p:cNvPr id="22" name="Shape 20"/>
          <p:cNvSpPr/>
          <p:nvPr/>
        </p:nvSpPr>
        <p:spPr>
          <a:xfrm>
            <a:off x="658368" y="3557016"/>
            <a:ext cx="420624" cy="420624"/>
          </a:xfrm>
          <a:prstGeom prst="ellipse">
            <a:avLst/>
          </a:prstGeom>
          <a:solidFill>
            <a:srgbClr val="C9002B"/>
          </a:solidFill>
          <a:ln w="12700">
            <a:solidFill>
              <a:srgbClr val="C9002B"/>
            </a:solidFill>
            <a:prstDash val="solid"/>
          </a:ln>
        </p:spPr>
      </p:sp>
      <p:pic>
        <p:nvPicPr>
          <p:cNvPr id="23" name="Image 0" descr="preencoded.png">    </p:cNvPr>
          <p:cNvPicPr>
            <a:picLocks noChangeAspect="1"/>
          </p:cNvPicPr>
          <p:nvPr/>
        </p:nvPicPr>
        <p:blipFill>
          <a:blip r:embed="rId1"/>
          <a:stretch>
            <a:fillRect/>
          </a:stretch>
        </p:blipFill>
        <p:spPr>
          <a:xfrm>
            <a:off x="763524" y="3662172"/>
            <a:ext cx="210312" cy="210312"/>
          </a:xfrm>
          <a:prstGeom prst="rect">
            <a:avLst/>
          </a:prstGeom>
        </p:spPr>
      </p:pic>
      <p:sp>
        <p:nvSpPr>
          <p:cNvPr id="24" name="Text 21"/>
          <p:cNvSpPr txBox="1"/>
          <p:nvPr/>
        </p:nvSpPr>
        <p:spPr>
          <a:xfrm>
            <a:off x="1161288" y="3401568"/>
            <a:ext cx="1600200" cy="731520"/>
          </a:xfrm>
          <a:prstGeom prst="rect">
            <a:avLst/>
          </a:prstGeom>
          <a:noFill/>
          <a:ln/>
        </p:spPr>
        <p:txBody>
          <a:bodyPr wrap="square" lIns="0" tIns="0" rIns="0" bIns="0" rtlCol="0" anchor="ctr"/>
          <a:lstStyle/>
          <a:p>
            <a:pPr indent="0" marL="0">
              <a:buNone/>
            </a:pPr>
            <a:r>
              <a:rPr lang="en-US" sz="1200" b="1" dirty="0">
                <a:solidFill>
                  <a:srgbClr val="FFFFFF"/>
                </a:solidFill>
                <a:latin typeface="Meiryo" pitchFamily="34" charset="0"/>
                <a:ea typeface="Meiryo" pitchFamily="34" charset="-122"/>
                <a:cs typeface="Meiryo" pitchFamily="34" charset="-120"/>
              </a:rPr>
              <a:t>モバイル空間統計</a:t>
            </a:r>
            <a:endParaRPr lang="en-US" sz="1200" dirty="0"/>
          </a:p>
        </p:txBody>
      </p:sp>
      <p:sp>
        <p:nvSpPr>
          <p:cNvPr id="25" name="Shape 22"/>
          <p:cNvSpPr/>
          <p:nvPr/>
        </p:nvSpPr>
        <p:spPr>
          <a:xfrm>
            <a:off x="2926080" y="3401568"/>
            <a:ext cx="4709160" cy="731520"/>
          </a:xfrm>
          <a:prstGeom prst="roundRect">
            <a:avLst>
              <a:gd name="adj" fmla="val 10000"/>
            </a:avLst>
          </a:prstGeom>
          <a:solidFill>
            <a:srgbClr val="F4F5F7"/>
          </a:solidFill>
          <a:ln w="12700">
            <a:solidFill>
              <a:srgbClr val="F4F5F7"/>
            </a:solidFill>
            <a:prstDash val="solid"/>
          </a:ln>
        </p:spPr>
      </p:sp>
      <p:sp>
        <p:nvSpPr>
          <p:cNvPr id="26" name="Text 23"/>
          <p:cNvSpPr txBox="1"/>
          <p:nvPr/>
        </p:nvSpPr>
        <p:spPr>
          <a:xfrm>
            <a:off x="3108960" y="3401568"/>
            <a:ext cx="4434840" cy="731520"/>
          </a:xfrm>
          <a:prstGeom prst="rect">
            <a:avLst/>
          </a:prstGeom>
          <a:noFill/>
          <a:ln/>
        </p:spPr>
        <p:txBody>
          <a:bodyPr wrap="square" lIns="0" tIns="0" rIns="0" bIns="0" rtlCol="0" anchor="ctr"/>
          <a:lstStyle/>
          <a:p>
            <a:pPr indent="0" marL="0">
              <a:buNone/>
            </a:pPr>
            <a:r>
              <a:rPr lang="en-US" sz="1250" dirty="0">
                <a:solidFill>
                  <a:srgbClr val="20232A"/>
                </a:solidFill>
                <a:latin typeface="Meiryo" pitchFamily="34" charset="0"/>
                <a:ea typeface="Meiryo" pitchFamily="34" charset="-122"/>
                <a:cs typeface="Meiryo" pitchFamily="34" charset="-120"/>
              </a:rPr>
              <a:t>分析地域・対象日・比較日・属性／納品形式と利用範囲</a:t>
            </a:r>
            <a:endParaRPr lang="en-US" sz="1250" dirty="0"/>
          </a:p>
        </p:txBody>
      </p:sp>
      <p:sp>
        <p:nvSpPr>
          <p:cNvPr id="27" name="Shape 24"/>
          <p:cNvSpPr/>
          <p:nvPr/>
        </p:nvSpPr>
        <p:spPr>
          <a:xfrm>
            <a:off x="7772400" y="3401568"/>
            <a:ext cx="3840480" cy="731520"/>
          </a:xfrm>
          <a:prstGeom prst="roundRect">
            <a:avLst>
              <a:gd name="adj" fmla="val 10000"/>
            </a:avLst>
          </a:prstGeom>
          <a:solidFill>
            <a:srgbClr val="FBEAEE"/>
          </a:solidFill>
          <a:ln w="12700">
            <a:solidFill>
              <a:srgbClr val="FBEAEE"/>
            </a:solidFill>
            <a:prstDash val="solid"/>
          </a:ln>
        </p:spPr>
      </p:sp>
      <p:sp>
        <p:nvSpPr>
          <p:cNvPr id="28" name="Text 25"/>
          <p:cNvSpPr txBox="1"/>
          <p:nvPr/>
        </p:nvSpPr>
        <p:spPr>
          <a:xfrm>
            <a:off x="7955280" y="3401568"/>
            <a:ext cx="3566160" cy="731520"/>
          </a:xfrm>
          <a:prstGeom prst="rect">
            <a:avLst/>
          </a:prstGeom>
          <a:noFill/>
          <a:ln/>
        </p:spPr>
        <p:txBody>
          <a:bodyPr wrap="square" lIns="0" tIns="0" rIns="0" bIns="0" rtlCol="0" anchor="ctr"/>
          <a:lstStyle/>
          <a:p>
            <a:pPr indent="0" marL="0">
              <a:buNone/>
            </a:pPr>
            <a:r>
              <a:rPr lang="en-US" sz="1250" b="1" dirty="0">
                <a:solidFill>
                  <a:srgbClr val="20232A"/>
                </a:solidFill>
                <a:latin typeface="Meiryo" pitchFamily="34" charset="0"/>
                <a:ea typeface="Meiryo" pitchFamily="34" charset="-122"/>
                <a:cs typeface="Meiryo" pitchFamily="34" charset="-120"/>
              </a:rPr>
              <a:t>公式FAQ：最短10営業日で納品（仕様で変動）</a:t>
            </a:r>
            <a:endParaRPr lang="en-US" sz="1250" dirty="0"/>
          </a:p>
        </p:txBody>
      </p:sp>
      <p:sp>
        <p:nvSpPr>
          <p:cNvPr id="29" name="Shape 26"/>
          <p:cNvSpPr/>
          <p:nvPr/>
        </p:nvSpPr>
        <p:spPr>
          <a:xfrm>
            <a:off x="548640" y="4270248"/>
            <a:ext cx="2240280" cy="731520"/>
          </a:xfrm>
          <a:prstGeom prst="roundRect">
            <a:avLst>
              <a:gd name="adj" fmla="val 10000"/>
            </a:avLst>
          </a:prstGeom>
          <a:solidFill>
            <a:srgbClr val="20232A"/>
          </a:solidFill>
          <a:ln w="12700">
            <a:solidFill>
              <a:srgbClr val="20232A"/>
            </a:solidFill>
            <a:prstDash val="solid"/>
          </a:ln>
        </p:spPr>
      </p:sp>
      <p:sp>
        <p:nvSpPr>
          <p:cNvPr id="30" name="Shape 27"/>
          <p:cNvSpPr/>
          <p:nvPr/>
        </p:nvSpPr>
        <p:spPr>
          <a:xfrm>
            <a:off x="658368" y="4425696"/>
            <a:ext cx="420624" cy="420624"/>
          </a:xfrm>
          <a:prstGeom prst="ellipse">
            <a:avLst/>
          </a:prstGeom>
          <a:solidFill>
            <a:srgbClr val="C9002B"/>
          </a:solidFill>
          <a:ln w="12700">
            <a:solidFill>
              <a:srgbClr val="C9002B"/>
            </a:solidFill>
            <a:prstDash val="solid"/>
          </a:ln>
        </p:spPr>
      </p:sp>
      <p:pic>
        <p:nvPicPr>
          <p:cNvPr id="31" name="Image 1" descr="preencoded.png">    </p:cNvPr>
          <p:cNvPicPr>
            <a:picLocks noChangeAspect="1"/>
          </p:cNvPicPr>
          <p:nvPr/>
        </p:nvPicPr>
        <p:blipFill>
          <a:blip r:embed="rId2"/>
          <a:stretch>
            <a:fillRect/>
          </a:stretch>
        </p:blipFill>
        <p:spPr>
          <a:xfrm>
            <a:off x="763524" y="4530852"/>
            <a:ext cx="210312" cy="210312"/>
          </a:xfrm>
          <a:prstGeom prst="rect">
            <a:avLst/>
          </a:prstGeom>
        </p:spPr>
      </p:pic>
      <p:sp>
        <p:nvSpPr>
          <p:cNvPr id="32" name="Text 28"/>
          <p:cNvSpPr txBox="1"/>
          <p:nvPr/>
        </p:nvSpPr>
        <p:spPr>
          <a:xfrm>
            <a:off x="1161288" y="4270248"/>
            <a:ext cx="1600200" cy="731520"/>
          </a:xfrm>
          <a:prstGeom prst="rect">
            <a:avLst/>
          </a:prstGeom>
          <a:noFill/>
          <a:ln/>
        </p:spPr>
        <p:txBody>
          <a:bodyPr wrap="square" lIns="0" tIns="0" rIns="0" bIns="0" rtlCol="0" anchor="ctr"/>
          <a:lstStyle/>
          <a:p>
            <a:pPr indent="0" marL="0">
              <a:buNone/>
            </a:pPr>
            <a:r>
              <a:rPr lang="en-US" sz="1200" b="1" dirty="0">
                <a:solidFill>
                  <a:srgbClr val="FFFFFF"/>
                </a:solidFill>
                <a:latin typeface="Meiryo" pitchFamily="34" charset="0"/>
                <a:ea typeface="Meiryo" pitchFamily="34" charset="-122"/>
                <a:cs typeface="Meiryo" pitchFamily="34" charset="-120"/>
              </a:rPr>
              <a:t>プレミアパネル</a:t>
            </a:r>
            <a:endParaRPr lang="en-US" sz="1200" dirty="0"/>
          </a:p>
        </p:txBody>
      </p:sp>
      <p:sp>
        <p:nvSpPr>
          <p:cNvPr id="33" name="Shape 29"/>
          <p:cNvSpPr/>
          <p:nvPr/>
        </p:nvSpPr>
        <p:spPr>
          <a:xfrm>
            <a:off x="2926080" y="4270248"/>
            <a:ext cx="4709160" cy="731520"/>
          </a:xfrm>
          <a:prstGeom prst="roundRect">
            <a:avLst>
              <a:gd name="adj" fmla="val 10000"/>
            </a:avLst>
          </a:prstGeom>
          <a:solidFill>
            <a:srgbClr val="F4F5F7"/>
          </a:solidFill>
          <a:ln w="12700">
            <a:solidFill>
              <a:srgbClr val="F4F5F7"/>
            </a:solidFill>
            <a:prstDash val="solid"/>
          </a:ln>
        </p:spPr>
      </p:sp>
      <p:sp>
        <p:nvSpPr>
          <p:cNvPr id="34" name="Text 30"/>
          <p:cNvSpPr txBox="1"/>
          <p:nvPr/>
        </p:nvSpPr>
        <p:spPr>
          <a:xfrm>
            <a:off x="3108960" y="4270248"/>
            <a:ext cx="4434840" cy="731520"/>
          </a:xfrm>
          <a:prstGeom prst="rect">
            <a:avLst/>
          </a:prstGeom>
          <a:noFill/>
          <a:ln/>
        </p:spPr>
        <p:txBody>
          <a:bodyPr wrap="square" lIns="0" tIns="0" rIns="0" bIns="0" rtlCol="0" anchor="ctr"/>
          <a:lstStyle/>
          <a:p>
            <a:pPr indent="0" marL="0">
              <a:buNone/>
            </a:pPr>
            <a:r>
              <a:rPr lang="en-US" sz="1250" dirty="0">
                <a:solidFill>
                  <a:srgbClr val="20232A"/>
                </a:solidFill>
                <a:latin typeface="Meiryo" pitchFamily="34" charset="0"/>
                <a:ea typeface="Meiryo" pitchFamily="34" charset="-122"/>
                <a:cs typeface="Meiryo" pitchFamily="34" charset="-120"/>
              </a:rPr>
              <a:t>対象者・設問・目標回収数／集計と報告の範囲</a:t>
            </a:r>
            <a:endParaRPr lang="en-US" sz="1250" dirty="0"/>
          </a:p>
        </p:txBody>
      </p:sp>
      <p:sp>
        <p:nvSpPr>
          <p:cNvPr id="35" name="Shape 31"/>
          <p:cNvSpPr/>
          <p:nvPr/>
        </p:nvSpPr>
        <p:spPr>
          <a:xfrm>
            <a:off x="7772400" y="4270248"/>
            <a:ext cx="3840480" cy="731520"/>
          </a:xfrm>
          <a:prstGeom prst="roundRect">
            <a:avLst>
              <a:gd name="adj" fmla="val 10000"/>
            </a:avLst>
          </a:prstGeom>
          <a:solidFill>
            <a:srgbClr val="F4F5F7"/>
          </a:solidFill>
          <a:ln w="12700">
            <a:solidFill>
              <a:srgbClr val="F4F5F7"/>
            </a:solidFill>
            <a:prstDash val="solid"/>
          </a:ln>
        </p:spPr>
      </p:sp>
      <p:sp>
        <p:nvSpPr>
          <p:cNvPr id="36" name="Text 32"/>
          <p:cNvSpPr txBox="1"/>
          <p:nvPr/>
        </p:nvSpPr>
        <p:spPr>
          <a:xfrm>
            <a:off x="7955280" y="4270248"/>
            <a:ext cx="3566160" cy="731520"/>
          </a:xfrm>
          <a:prstGeom prst="rect">
            <a:avLst/>
          </a:prstGeom>
          <a:noFill/>
          <a:ln/>
        </p:spPr>
        <p:txBody>
          <a:bodyPr wrap="square" lIns="0" tIns="0" rIns="0" bIns="0" rtlCol="0" anchor="ctr"/>
          <a:lstStyle/>
          <a:p>
            <a:pPr indent="0" marL="0">
              <a:buNone/>
            </a:pPr>
            <a:r>
              <a:rPr lang="en-US" sz="1250" dirty="0">
                <a:solidFill>
                  <a:srgbClr val="20232A"/>
                </a:solidFill>
                <a:latin typeface="Meiryo" pitchFamily="34" charset="0"/>
                <a:ea typeface="Meiryo" pitchFamily="34" charset="-122"/>
                <a:cs typeface="Meiryo" pitchFamily="34" charset="-120"/>
              </a:rPr>
              <a:t>設計・回収・納品の工程を案件ごとに確認</a:t>
            </a:r>
            <a:endParaRPr lang="en-US" sz="1250" dirty="0"/>
          </a:p>
        </p:txBody>
      </p:sp>
      <p:sp>
        <p:nvSpPr>
          <p:cNvPr id="37" name="Shape 33"/>
          <p:cNvSpPr/>
          <p:nvPr/>
        </p:nvSpPr>
        <p:spPr>
          <a:xfrm>
            <a:off x="548640" y="5138928"/>
            <a:ext cx="2240280" cy="731520"/>
          </a:xfrm>
          <a:prstGeom prst="roundRect">
            <a:avLst>
              <a:gd name="adj" fmla="val 10000"/>
            </a:avLst>
          </a:prstGeom>
          <a:solidFill>
            <a:srgbClr val="20232A"/>
          </a:solidFill>
          <a:ln w="12700">
            <a:solidFill>
              <a:srgbClr val="20232A"/>
            </a:solidFill>
            <a:prstDash val="solid"/>
          </a:ln>
        </p:spPr>
      </p:sp>
      <p:sp>
        <p:nvSpPr>
          <p:cNvPr id="38" name="Shape 34"/>
          <p:cNvSpPr/>
          <p:nvPr/>
        </p:nvSpPr>
        <p:spPr>
          <a:xfrm>
            <a:off x="658368" y="5294376"/>
            <a:ext cx="420624" cy="420624"/>
          </a:xfrm>
          <a:prstGeom prst="ellipse">
            <a:avLst/>
          </a:prstGeom>
          <a:solidFill>
            <a:srgbClr val="C9002B"/>
          </a:solidFill>
          <a:ln w="12700">
            <a:solidFill>
              <a:srgbClr val="C9002B"/>
            </a:solidFill>
            <a:prstDash val="solid"/>
          </a:ln>
        </p:spPr>
      </p:sp>
      <p:pic>
        <p:nvPicPr>
          <p:cNvPr id="39" name="Image 2" descr="preencoded.png">    </p:cNvPr>
          <p:cNvPicPr>
            <a:picLocks noChangeAspect="1"/>
          </p:cNvPicPr>
          <p:nvPr/>
        </p:nvPicPr>
        <p:blipFill>
          <a:blip r:embed="rId3"/>
          <a:stretch>
            <a:fillRect/>
          </a:stretch>
        </p:blipFill>
        <p:spPr>
          <a:xfrm>
            <a:off x="763524" y="5399532"/>
            <a:ext cx="210312" cy="210312"/>
          </a:xfrm>
          <a:prstGeom prst="rect">
            <a:avLst/>
          </a:prstGeom>
        </p:spPr>
      </p:pic>
      <p:sp>
        <p:nvSpPr>
          <p:cNvPr id="40" name="Text 35"/>
          <p:cNvSpPr txBox="1"/>
          <p:nvPr/>
        </p:nvSpPr>
        <p:spPr>
          <a:xfrm>
            <a:off x="1161288" y="5138928"/>
            <a:ext cx="1600200" cy="731520"/>
          </a:xfrm>
          <a:prstGeom prst="rect">
            <a:avLst/>
          </a:prstGeom>
          <a:noFill/>
          <a:ln/>
        </p:spPr>
        <p:txBody>
          <a:bodyPr wrap="square" lIns="0" tIns="0" rIns="0" bIns="0" rtlCol="0" anchor="ctr"/>
          <a:lstStyle/>
          <a:p>
            <a:pPr indent="0" marL="0">
              <a:buNone/>
            </a:pPr>
            <a:r>
              <a:rPr lang="en-US" sz="1200" b="1" dirty="0">
                <a:solidFill>
                  <a:srgbClr val="FFFFFF"/>
                </a:solidFill>
                <a:latin typeface="Meiryo" pitchFamily="34" charset="0"/>
                <a:ea typeface="Meiryo" pitchFamily="34" charset="-122"/>
                <a:cs typeface="Meiryo" pitchFamily="34" charset="-120"/>
              </a:rPr>
              <a:t>docomo Ad Network</a:t>
            </a:r>
            <a:endParaRPr lang="en-US" sz="1200" dirty="0"/>
          </a:p>
        </p:txBody>
      </p:sp>
      <p:sp>
        <p:nvSpPr>
          <p:cNvPr id="41" name="Shape 36"/>
          <p:cNvSpPr/>
          <p:nvPr/>
        </p:nvSpPr>
        <p:spPr>
          <a:xfrm>
            <a:off x="2926080" y="5138928"/>
            <a:ext cx="4709160" cy="731520"/>
          </a:xfrm>
          <a:prstGeom prst="roundRect">
            <a:avLst>
              <a:gd name="adj" fmla="val 10000"/>
            </a:avLst>
          </a:prstGeom>
          <a:solidFill>
            <a:srgbClr val="F4F5F7"/>
          </a:solidFill>
          <a:ln w="12700">
            <a:solidFill>
              <a:srgbClr val="F4F5F7"/>
            </a:solidFill>
            <a:prstDash val="solid"/>
          </a:ln>
        </p:spPr>
      </p:sp>
      <p:sp>
        <p:nvSpPr>
          <p:cNvPr id="42" name="Text 37"/>
          <p:cNvSpPr txBox="1"/>
          <p:nvPr/>
        </p:nvSpPr>
        <p:spPr>
          <a:xfrm>
            <a:off x="3108960" y="5138928"/>
            <a:ext cx="4434840" cy="731520"/>
          </a:xfrm>
          <a:prstGeom prst="rect">
            <a:avLst/>
          </a:prstGeom>
          <a:noFill/>
          <a:ln/>
        </p:spPr>
        <p:txBody>
          <a:bodyPr wrap="square" lIns="0" tIns="0" rIns="0" bIns="0" rtlCol="0" anchor="ctr"/>
          <a:lstStyle/>
          <a:p>
            <a:pPr indent="0" marL="0">
              <a:buNone/>
            </a:pPr>
            <a:r>
              <a:rPr lang="en-US" sz="1250" dirty="0">
                <a:solidFill>
                  <a:srgbClr val="20232A"/>
                </a:solidFill>
                <a:latin typeface="Meiryo" pitchFamily="34" charset="0"/>
                <a:ea typeface="Meiryo" pitchFamily="34" charset="-122"/>
                <a:cs typeface="Meiryo" pitchFamily="34" charset="-120"/>
              </a:rPr>
              <a:t>予算・対象・素材・申込先／申込の計測方法</a:t>
            </a:r>
            <a:endParaRPr lang="en-US" sz="1250" dirty="0"/>
          </a:p>
        </p:txBody>
      </p:sp>
      <p:sp>
        <p:nvSpPr>
          <p:cNvPr id="43" name="Shape 38"/>
          <p:cNvSpPr/>
          <p:nvPr/>
        </p:nvSpPr>
        <p:spPr>
          <a:xfrm>
            <a:off x="7772400" y="5138928"/>
            <a:ext cx="3840480" cy="731520"/>
          </a:xfrm>
          <a:prstGeom prst="roundRect">
            <a:avLst>
              <a:gd name="adj" fmla="val 10000"/>
            </a:avLst>
          </a:prstGeom>
          <a:solidFill>
            <a:srgbClr val="F4F5F7"/>
          </a:solidFill>
          <a:ln w="12700">
            <a:solidFill>
              <a:srgbClr val="F4F5F7"/>
            </a:solidFill>
            <a:prstDash val="solid"/>
          </a:ln>
        </p:spPr>
      </p:sp>
      <p:sp>
        <p:nvSpPr>
          <p:cNvPr id="44" name="Text 39"/>
          <p:cNvSpPr txBox="1"/>
          <p:nvPr/>
        </p:nvSpPr>
        <p:spPr>
          <a:xfrm>
            <a:off x="7955280" y="5138928"/>
            <a:ext cx="3566160" cy="731520"/>
          </a:xfrm>
          <a:prstGeom prst="rect">
            <a:avLst/>
          </a:prstGeom>
          <a:noFill/>
          <a:ln/>
        </p:spPr>
        <p:txBody>
          <a:bodyPr wrap="square" lIns="0" tIns="0" rIns="0" bIns="0" rtlCol="0" anchor="ctr"/>
          <a:lstStyle/>
          <a:p>
            <a:pPr indent="0" marL="0">
              <a:buNone/>
            </a:pPr>
            <a:r>
              <a:rPr lang="en-US" sz="1250" dirty="0">
                <a:solidFill>
                  <a:srgbClr val="20232A"/>
                </a:solidFill>
                <a:latin typeface="Meiryo" pitchFamily="34" charset="0"/>
                <a:ea typeface="Meiryo" pitchFamily="34" charset="-122"/>
                <a:cs typeface="Meiryo" pitchFamily="34" charset="-120"/>
              </a:rPr>
              <a:t>入稿締切・審査・配信開始日を現行窓口で確認</a:t>
            </a:r>
            <a:endParaRPr lang="en-US" sz="1250" dirty="0"/>
          </a:p>
        </p:txBody>
      </p:sp>
      <p:sp>
        <p:nvSpPr>
          <p:cNvPr id="45" name="Text 40"/>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C626D"/>
                </a:solidFill>
                <a:latin typeface="Meiryo" pitchFamily="34" charset="0"/>
                <a:ea typeface="Meiryo" pitchFamily="34" charset="-122"/>
                <a:cs typeface="Meiryo" pitchFamily="34" charset="-120"/>
              </a:rPr>
              <a:t>2〜4週間前の相談は営業上の仮置き。調達・契約・審査によってはさらに期間が必要</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4864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04　進め方</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20232A"/>
                </a:solidFill>
                <a:latin typeface="Meiryo" pitchFamily="34" charset="0"/>
                <a:ea typeface="Meiryo" pitchFamily="34" charset="-122"/>
                <a:cs typeface="Meiryo" pitchFamily="34" charset="-120"/>
              </a:rPr>
              <a:t>チームで売るための役割分担</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C626D"/>
                </a:solidFill>
                <a:latin typeface="Meiryo" pitchFamily="34" charset="0"/>
                <a:ea typeface="Meiryo" pitchFamily="34" charset="-122"/>
                <a:cs typeface="Meiryo" pitchFamily="34" charset="-120"/>
              </a:rPr>
              <a:t>藤田さんが案件をまとめる場合の体制案。少人数なら兼務する</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C626D"/>
                </a:solidFill>
                <a:latin typeface="Meiryo" pitchFamily="34" charset="0"/>
                <a:ea typeface="Meiryo" pitchFamily="34" charset="-122"/>
                <a:cs typeface="Meiryo" pitchFamily="34" charset="-120"/>
              </a:rPr>
              <a:t>15</a:t>
            </a:r>
            <a:endParaRPr lang="en-US" sz="1000" dirty="0"/>
          </a:p>
        </p:txBody>
      </p:sp>
      <p:sp>
        <p:nvSpPr>
          <p:cNvPr id="6" name="Shape 4"/>
          <p:cNvSpPr/>
          <p:nvPr/>
        </p:nvSpPr>
        <p:spPr>
          <a:xfrm>
            <a:off x="6095848" y="2926080"/>
            <a:ext cx="0" cy="228600"/>
          </a:xfrm>
          <a:prstGeom prst="line">
            <a:avLst/>
          </a:prstGeom>
          <a:noFill/>
          <a:ln w="19050">
            <a:solidFill>
              <a:srgbClr val="9AA0A8"/>
            </a:solidFill>
            <a:prstDash val="solid"/>
          </a:ln>
        </p:spPr>
      </p:sp>
      <p:sp>
        <p:nvSpPr>
          <p:cNvPr id="7" name="Shape 5"/>
          <p:cNvSpPr/>
          <p:nvPr/>
        </p:nvSpPr>
        <p:spPr>
          <a:xfrm>
            <a:off x="6095848" y="4343400"/>
            <a:ext cx="0" cy="228600"/>
          </a:xfrm>
          <a:prstGeom prst="line">
            <a:avLst/>
          </a:prstGeom>
          <a:noFill/>
          <a:ln w="19050">
            <a:solidFill>
              <a:srgbClr val="9AA0A8"/>
            </a:solidFill>
            <a:prstDash val="solid"/>
          </a:ln>
        </p:spPr>
      </p:sp>
      <p:sp>
        <p:nvSpPr>
          <p:cNvPr id="8" name="Shape 6"/>
          <p:cNvSpPr/>
          <p:nvPr/>
        </p:nvSpPr>
        <p:spPr>
          <a:xfrm>
            <a:off x="2788920" y="4572000"/>
            <a:ext cx="6611112" cy="0"/>
          </a:xfrm>
          <a:prstGeom prst="line">
            <a:avLst/>
          </a:prstGeom>
          <a:noFill/>
          <a:ln w="19050">
            <a:solidFill>
              <a:srgbClr val="9AA0A8"/>
            </a:solidFill>
            <a:prstDash val="solid"/>
          </a:ln>
        </p:spPr>
      </p:sp>
      <p:sp>
        <p:nvSpPr>
          <p:cNvPr id="9" name="Shape 7"/>
          <p:cNvSpPr/>
          <p:nvPr/>
        </p:nvSpPr>
        <p:spPr>
          <a:xfrm>
            <a:off x="2788920" y="4572000"/>
            <a:ext cx="0" cy="228600"/>
          </a:xfrm>
          <a:prstGeom prst="line">
            <a:avLst/>
          </a:prstGeom>
          <a:noFill/>
          <a:ln w="19050">
            <a:solidFill>
              <a:srgbClr val="9AA0A8"/>
            </a:solidFill>
            <a:prstDash val="solid"/>
          </a:ln>
        </p:spPr>
      </p:sp>
      <p:sp>
        <p:nvSpPr>
          <p:cNvPr id="10" name="Shape 8"/>
          <p:cNvSpPr/>
          <p:nvPr/>
        </p:nvSpPr>
        <p:spPr>
          <a:xfrm>
            <a:off x="9400032" y="4572000"/>
            <a:ext cx="0" cy="228600"/>
          </a:xfrm>
          <a:prstGeom prst="line">
            <a:avLst/>
          </a:prstGeom>
          <a:noFill/>
          <a:ln w="19050">
            <a:solidFill>
              <a:srgbClr val="9AA0A8"/>
            </a:solidFill>
            <a:prstDash val="solid"/>
          </a:ln>
        </p:spPr>
      </p:sp>
      <p:sp>
        <p:nvSpPr>
          <p:cNvPr id="11" name="Shape 9"/>
          <p:cNvSpPr/>
          <p:nvPr/>
        </p:nvSpPr>
        <p:spPr>
          <a:xfrm>
            <a:off x="3855568" y="1737360"/>
            <a:ext cx="4480560" cy="1188720"/>
          </a:xfrm>
          <a:prstGeom prst="roundRect">
            <a:avLst>
              <a:gd name="adj" fmla="val 6154"/>
            </a:avLst>
          </a:prstGeom>
          <a:solidFill>
            <a:srgbClr val="F4F5F7"/>
          </a:solidFill>
          <a:ln w="12700">
            <a:solidFill>
              <a:srgbClr val="F4F5F7"/>
            </a:solidFill>
            <a:prstDash val="solid"/>
          </a:ln>
        </p:spPr>
      </p:sp>
      <p:sp>
        <p:nvSpPr>
          <p:cNvPr id="12" name="Text 10"/>
          <p:cNvSpPr txBox="1"/>
          <p:nvPr/>
        </p:nvSpPr>
        <p:spPr>
          <a:xfrm>
            <a:off x="4084168" y="1847088"/>
            <a:ext cx="4023360" cy="329184"/>
          </a:xfrm>
          <a:prstGeom prst="rect">
            <a:avLst/>
          </a:prstGeom>
          <a:noFill/>
          <a:ln/>
        </p:spPr>
        <p:txBody>
          <a:bodyPr wrap="square" lIns="0" tIns="0" rIns="0" bIns="0" rtlCol="0" anchor="ctr"/>
          <a:lstStyle/>
          <a:p>
            <a:pPr indent="0" marL="0">
              <a:buNone/>
            </a:pPr>
            <a:r>
              <a:rPr lang="en-US" sz="1500" b="1" dirty="0">
                <a:solidFill>
                  <a:srgbClr val="C9002B"/>
                </a:solidFill>
                <a:latin typeface="Meiryo" pitchFamily="34" charset="0"/>
                <a:ea typeface="Meiryo" pitchFamily="34" charset="-122"/>
                <a:cs typeface="Meiryo" pitchFamily="34" charset="-120"/>
              </a:rPr>
              <a:t>リーダー</a:t>
            </a:r>
            <a:endParaRPr lang="en-US" sz="1500" dirty="0"/>
          </a:p>
        </p:txBody>
      </p:sp>
      <p:sp>
        <p:nvSpPr>
          <p:cNvPr id="13" name="Text 11"/>
          <p:cNvSpPr txBox="1"/>
          <p:nvPr/>
        </p:nvSpPr>
        <p:spPr>
          <a:xfrm>
            <a:off x="4084168" y="2194560"/>
            <a:ext cx="4069080" cy="347472"/>
          </a:xfrm>
          <a:prstGeom prst="rect">
            <a:avLst/>
          </a:prstGeom>
          <a:noFill/>
          <a:ln/>
        </p:spPr>
        <p:txBody>
          <a:bodyPr wrap="square" lIns="0" tIns="0" rIns="0" bIns="0" rtlCol="0" anchor="ctr"/>
          <a:lstStyle/>
          <a:p>
            <a:pPr indent="0" marL="0">
              <a:buNone/>
            </a:pPr>
            <a:r>
              <a:rPr lang="en-US" sz="1150" b="1" dirty="0">
                <a:solidFill>
                  <a:srgbClr val="5C626D"/>
                </a:solidFill>
                <a:latin typeface="Meiryo" pitchFamily="34" charset="0"/>
                <a:ea typeface="Meiryo" pitchFamily="34" charset="-122"/>
                <a:cs typeface="Meiryo" pitchFamily="34" charset="-120"/>
              </a:rPr>
              <a:t>責任　</a:t>
            </a:r>
            <a:pPr indent="0" marL="0">
              <a:buNone/>
            </a:pPr>
            <a:r>
              <a:rPr lang="en-US" sz="1150" dirty="0">
                <a:solidFill>
                  <a:srgbClr val="20232A"/>
                </a:solidFill>
                <a:latin typeface="Meiryo" pitchFamily="34" charset="0"/>
                <a:ea typeface="Meiryo" pitchFamily="34" charset="-122"/>
                <a:cs typeface="Meiryo" pitchFamily="34" charset="-120"/>
              </a:rPr>
              <a:t>提案内容と採算を確認、事例を別案件へ展開</a:t>
            </a:r>
            <a:endParaRPr lang="en-US" sz="1150" dirty="0"/>
          </a:p>
        </p:txBody>
      </p:sp>
      <p:sp>
        <p:nvSpPr>
          <p:cNvPr id="14" name="Text 12"/>
          <p:cNvSpPr txBox="1"/>
          <p:nvPr/>
        </p:nvSpPr>
        <p:spPr>
          <a:xfrm>
            <a:off x="4084168" y="2523744"/>
            <a:ext cx="4069080" cy="329184"/>
          </a:xfrm>
          <a:prstGeom prst="rect">
            <a:avLst/>
          </a:prstGeom>
          <a:noFill/>
          <a:ln/>
        </p:spPr>
        <p:txBody>
          <a:bodyPr wrap="square" lIns="0" tIns="0" rIns="0" bIns="0" rtlCol="0" anchor="ctr"/>
          <a:lstStyle/>
          <a:p>
            <a:pPr indent="0" marL="0">
              <a:buNone/>
            </a:pPr>
            <a:r>
              <a:rPr lang="en-US" sz="1150" b="1" dirty="0">
                <a:solidFill>
                  <a:srgbClr val="5C626D"/>
                </a:solidFill>
                <a:latin typeface="Meiryo" pitchFamily="34" charset="0"/>
                <a:ea typeface="Meiryo" pitchFamily="34" charset="-122"/>
                <a:cs typeface="Meiryo" pitchFamily="34" charset="-120"/>
              </a:rPr>
              <a:t>共有　</a:t>
            </a:r>
            <a:pPr indent="0" marL="0">
              <a:buNone/>
            </a:pPr>
            <a:r>
              <a:rPr lang="en-US" sz="1150" dirty="0">
                <a:solidFill>
                  <a:srgbClr val="20232A"/>
                </a:solidFill>
                <a:latin typeface="Meiryo" pitchFamily="34" charset="0"/>
                <a:ea typeface="Meiryo" pitchFamily="34" charset="-122"/>
                <a:cs typeface="Meiryo" pitchFamily="34" charset="-120"/>
              </a:rPr>
              <a:t>週次の案件一覧、継続判断と改善点</a:t>
            </a:r>
            <a:endParaRPr lang="en-US" sz="1150" dirty="0"/>
          </a:p>
        </p:txBody>
      </p:sp>
      <p:sp>
        <p:nvSpPr>
          <p:cNvPr id="15" name="Shape 13"/>
          <p:cNvSpPr/>
          <p:nvPr/>
        </p:nvSpPr>
        <p:spPr>
          <a:xfrm>
            <a:off x="3855568" y="3154680"/>
            <a:ext cx="4480560" cy="1188720"/>
          </a:xfrm>
          <a:prstGeom prst="roundRect">
            <a:avLst>
              <a:gd name="adj" fmla="val 6154"/>
            </a:avLst>
          </a:prstGeom>
          <a:solidFill>
            <a:srgbClr val="20232A"/>
          </a:solidFill>
          <a:ln w="12700">
            <a:solidFill>
              <a:srgbClr val="20232A"/>
            </a:solidFill>
            <a:prstDash val="solid"/>
          </a:ln>
        </p:spPr>
      </p:sp>
      <p:sp>
        <p:nvSpPr>
          <p:cNvPr id="16" name="Text 14"/>
          <p:cNvSpPr txBox="1"/>
          <p:nvPr/>
        </p:nvSpPr>
        <p:spPr>
          <a:xfrm>
            <a:off x="4084168" y="3264408"/>
            <a:ext cx="4023360" cy="329184"/>
          </a:xfrm>
          <a:prstGeom prst="rect">
            <a:avLst/>
          </a:prstGeom>
          <a:noFill/>
          <a:ln/>
        </p:spPr>
        <p:txBody>
          <a:bodyPr wrap="square" lIns="0" tIns="0" rIns="0" bIns="0" rtlCol="0" anchor="ctr"/>
          <a:lstStyle/>
          <a:p>
            <a:pPr indent="0" marL="0">
              <a:buNone/>
            </a:pPr>
            <a:r>
              <a:rPr lang="en-US" sz="1500" b="1" dirty="0">
                <a:solidFill>
                  <a:srgbClr val="FF8FA3"/>
                </a:solidFill>
                <a:latin typeface="Meiryo" pitchFamily="34" charset="0"/>
                <a:ea typeface="Meiryo" pitchFamily="34" charset="-122"/>
                <a:cs typeface="Meiryo" pitchFamily="34" charset="-120"/>
              </a:rPr>
              <a:t>案件窓口　藤田さん（案）</a:t>
            </a:r>
            <a:endParaRPr lang="en-US" sz="1500" dirty="0"/>
          </a:p>
        </p:txBody>
      </p:sp>
      <p:sp>
        <p:nvSpPr>
          <p:cNvPr id="17" name="Text 15"/>
          <p:cNvSpPr txBox="1"/>
          <p:nvPr/>
        </p:nvSpPr>
        <p:spPr>
          <a:xfrm>
            <a:off x="4084168" y="3611880"/>
            <a:ext cx="4069080" cy="347472"/>
          </a:xfrm>
          <a:prstGeom prst="rect">
            <a:avLst/>
          </a:prstGeom>
          <a:noFill/>
          <a:ln/>
        </p:spPr>
        <p:txBody>
          <a:bodyPr wrap="square" lIns="0" tIns="0" rIns="0" bIns="0" rtlCol="0" anchor="ctr"/>
          <a:lstStyle/>
          <a:p>
            <a:pPr indent="0" marL="0">
              <a:buNone/>
            </a:pPr>
            <a:r>
              <a:rPr lang="en-US" sz="1150" b="1" dirty="0">
                <a:solidFill>
                  <a:srgbClr val="D6D9DE"/>
                </a:solidFill>
                <a:latin typeface="Meiryo" pitchFamily="34" charset="0"/>
                <a:ea typeface="Meiryo" pitchFamily="34" charset="-122"/>
                <a:cs typeface="Meiryo" pitchFamily="34" charset="-120"/>
              </a:rPr>
              <a:t>責任　</a:t>
            </a:r>
            <a:pPr indent="0" marL="0">
              <a:buNone/>
            </a:pPr>
            <a:r>
              <a:rPr lang="en-US" sz="1150" dirty="0">
                <a:solidFill>
                  <a:srgbClr val="FFFFFF"/>
                </a:solidFill>
                <a:latin typeface="Meiryo" pitchFamily="34" charset="0"/>
                <a:ea typeface="Meiryo" pitchFamily="34" charset="-122"/>
                <a:cs typeface="Meiryo" pitchFamily="34" charset="-120"/>
              </a:rPr>
              <a:t>顧客の課題・予算・決裁日を確認、次回商談を管理</a:t>
            </a:r>
            <a:endParaRPr lang="en-US" sz="1150" dirty="0"/>
          </a:p>
        </p:txBody>
      </p:sp>
      <p:sp>
        <p:nvSpPr>
          <p:cNvPr id="18" name="Text 16"/>
          <p:cNvSpPr txBox="1"/>
          <p:nvPr/>
        </p:nvSpPr>
        <p:spPr>
          <a:xfrm>
            <a:off x="4084168" y="3941064"/>
            <a:ext cx="4069080" cy="329184"/>
          </a:xfrm>
          <a:prstGeom prst="rect">
            <a:avLst/>
          </a:prstGeom>
          <a:noFill/>
          <a:ln/>
        </p:spPr>
        <p:txBody>
          <a:bodyPr wrap="square" lIns="0" tIns="0" rIns="0" bIns="0" rtlCol="0" anchor="ctr"/>
          <a:lstStyle/>
          <a:p>
            <a:pPr indent="0" marL="0">
              <a:buNone/>
            </a:pPr>
            <a:r>
              <a:rPr lang="en-US" sz="1150" b="1" dirty="0">
                <a:solidFill>
                  <a:srgbClr val="D6D9DE"/>
                </a:solidFill>
                <a:latin typeface="Meiryo" pitchFamily="34" charset="0"/>
                <a:ea typeface="Meiryo" pitchFamily="34" charset="-122"/>
                <a:cs typeface="Meiryo" pitchFamily="34" charset="-120"/>
              </a:rPr>
              <a:t>共有　</a:t>
            </a:r>
            <a:pPr indent="0" marL="0">
              <a:buNone/>
            </a:pPr>
            <a:r>
              <a:rPr lang="en-US" sz="1150" dirty="0">
                <a:solidFill>
                  <a:srgbClr val="FFFFFF"/>
                </a:solidFill>
                <a:latin typeface="Meiryo" pitchFamily="34" charset="0"/>
                <a:ea typeface="Meiryo" pitchFamily="34" charset="-122"/>
                <a:cs typeface="Meiryo" pitchFamily="34" charset="-120"/>
              </a:rPr>
              <a:t>案件シート・提案書、次のアクションと期限</a:t>
            </a:r>
            <a:endParaRPr lang="en-US" sz="1150" dirty="0"/>
          </a:p>
        </p:txBody>
      </p:sp>
      <p:sp>
        <p:nvSpPr>
          <p:cNvPr id="19" name="Shape 17"/>
          <p:cNvSpPr/>
          <p:nvPr/>
        </p:nvSpPr>
        <p:spPr>
          <a:xfrm>
            <a:off x="548640" y="4800600"/>
            <a:ext cx="4480560" cy="1188720"/>
          </a:xfrm>
          <a:prstGeom prst="roundRect">
            <a:avLst>
              <a:gd name="adj" fmla="val 6154"/>
            </a:avLst>
          </a:prstGeom>
          <a:solidFill>
            <a:srgbClr val="F4F5F7"/>
          </a:solidFill>
          <a:ln w="12700">
            <a:solidFill>
              <a:srgbClr val="F4F5F7"/>
            </a:solidFill>
            <a:prstDash val="solid"/>
          </a:ln>
        </p:spPr>
      </p:sp>
      <p:sp>
        <p:nvSpPr>
          <p:cNvPr id="20" name="Text 18"/>
          <p:cNvSpPr txBox="1"/>
          <p:nvPr/>
        </p:nvSpPr>
        <p:spPr>
          <a:xfrm>
            <a:off x="777240" y="4910328"/>
            <a:ext cx="4023360" cy="329184"/>
          </a:xfrm>
          <a:prstGeom prst="rect">
            <a:avLst/>
          </a:prstGeom>
          <a:noFill/>
          <a:ln/>
        </p:spPr>
        <p:txBody>
          <a:bodyPr wrap="square" lIns="0" tIns="0" rIns="0" bIns="0" rtlCol="0" anchor="ctr"/>
          <a:lstStyle/>
          <a:p>
            <a:pPr indent="0" marL="0">
              <a:buNone/>
            </a:pPr>
            <a:r>
              <a:rPr lang="en-US" sz="1500" b="1" dirty="0">
                <a:solidFill>
                  <a:srgbClr val="C9002B"/>
                </a:solidFill>
                <a:latin typeface="Meiryo" pitchFamily="34" charset="0"/>
                <a:ea typeface="Meiryo" pitchFamily="34" charset="-122"/>
                <a:cs typeface="Meiryo" pitchFamily="34" charset="-120"/>
              </a:rPr>
              <a:t>分析・調査担当</a:t>
            </a:r>
            <a:endParaRPr lang="en-US" sz="1500" dirty="0"/>
          </a:p>
        </p:txBody>
      </p:sp>
      <p:sp>
        <p:nvSpPr>
          <p:cNvPr id="21" name="Text 19"/>
          <p:cNvSpPr txBox="1"/>
          <p:nvPr/>
        </p:nvSpPr>
        <p:spPr>
          <a:xfrm>
            <a:off x="777240" y="5257800"/>
            <a:ext cx="4069080" cy="347472"/>
          </a:xfrm>
          <a:prstGeom prst="rect">
            <a:avLst/>
          </a:prstGeom>
          <a:noFill/>
          <a:ln/>
        </p:spPr>
        <p:txBody>
          <a:bodyPr wrap="square" lIns="0" tIns="0" rIns="0" bIns="0" rtlCol="0" anchor="ctr"/>
          <a:lstStyle/>
          <a:p>
            <a:pPr indent="0" marL="0">
              <a:buNone/>
            </a:pPr>
            <a:r>
              <a:rPr lang="en-US" sz="1150" b="1" dirty="0">
                <a:solidFill>
                  <a:srgbClr val="5C626D"/>
                </a:solidFill>
                <a:latin typeface="Meiryo" pitchFamily="34" charset="0"/>
                <a:ea typeface="Meiryo" pitchFamily="34" charset="-122"/>
                <a:cs typeface="Meiryo" pitchFamily="34" charset="-120"/>
              </a:rPr>
              <a:t>責任　</a:t>
            </a:r>
            <a:pPr indent="0" marL="0">
              <a:buNone/>
            </a:pPr>
            <a:r>
              <a:rPr lang="en-US" sz="1150" dirty="0">
                <a:solidFill>
                  <a:srgbClr val="20232A"/>
                </a:solidFill>
                <a:latin typeface="Meiryo" pitchFamily="34" charset="0"/>
                <a:ea typeface="Meiryo" pitchFamily="34" charset="-122"/>
                <a:cs typeface="Meiryo" pitchFamily="34" charset="-120"/>
              </a:rPr>
              <a:t>人流の分析条件と調査票を設計、見積・回収を確認</a:t>
            </a:r>
            <a:endParaRPr lang="en-US" sz="1150" dirty="0"/>
          </a:p>
        </p:txBody>
      </p:sp>
      <p:sp>
        <p:nvSpPr>
          <p:cNvPr id="22" name="Text 20"/>
          <p:cNvSpPr txBox="1"/>
          <p:nvPr/>
        </p:nvSpPr>
        <p:spPr>
          <a:xfrm>
            <a:off x="777240" y="5586984"/>
            <a:ext cx="4069080" cy="329184"/>
          </a:xfrm>
          <a:prstGeom prst="rect">
            <a:avLst/>
          </a:prstGeom>
          <a:noFill/>
          <a:ln/>
        </p:spPr>
        <p:txBody>
          <a:bodyPr wrap="square" lIns="0" tIns="0" rIns="0" bIns="0" rtlCol="0" anchor="ctr"/>
          <a:lstStyle/>
          <a:p>
            <a:pPr indent="0" marL="0">
              <a:buNone/>
            </a:pPr>
            <a:r>
              <a:rPr lang="en-US" sz="1150" b="1" dirty="0">
                <a:solidFill>
                  <a:srgbClr val="5C626D"/>
                </a:solidFill>
                <a:latin typeface="Meiryo" pitchFamily="34" charset="0"/>
                <a:ea typeface="Meiryo" pitchFamily="34" charset="-122"/>
                <a:cs typeface="Meiryo" pitchFamily="34" charset="-120"/>
              </a:rPr>
              <a:t>共有　</a:t>
            </a:r>
            <a:pPr indent="0" marL="0">
              <a:buNone/>
            </a:pPr>
            <a:r>
              <a:rPr lang="en-US" sz="1150" dirty="0">
                <a:solidFill>
                  <a:srgbClr val="20232A"/>
                </a:solidFill>
                <a:latin typeface="Meiryo" pitchFamily="34" charset="0"/>
                <a:ea typeface="Meiryo" pitchFamily="34" charset="-122"/>
                <a:cs typeface="Meiryo" pitchFamily="34" charset="-120"/>
              </a:rPr>
              <a:t>分析仕様・調査票、見積と納品日</a:t>
            </a:r>
            <a:endParaRPr lang="en-US" sz="1150" dirty="0"/>
          </a:p>
        </p:txBody>
      </p:sp>
      <p:sp>
        <p:nvSpPr>
          <p:cNvPr id="23" name="Shape 21"/>
          <p:cNvSpPr/>
          <p:nvPr/>
        </p:nvSpPr>
        <p:spPr>
          <a:xfrm>
            <a:off x="7159752" y="4800600"/>
            <a:ext cx="4480560" cy="1188720"/>
          </a:xfrm>
          <a:prstGeom prst="roundRect">
            <a:avLst>
              <a:gd name="adj" fmla="val 6154"/>
            </a:avLst>
          </a:prstGeom>
          <a:solidFill>
            <a:srgbClr val="F4F5F7"/>
          </a:solidFill>
          <a:ln w="12700">
            <a:solidFill>
              <a:srgbClr val="F4F5F7"/>
            </a:solidFill>
            <a:prstDash val="solid"/>
          </a:ln>
        </p:spPr>
      </p:sp>
      <p:sp>
        <p:nvSpPr>
          <p:cNvPr id="24" name="Text 22"/>
          <p:cNvSpPr txBox="1"/>
          <p:nvPr/>
        </p:nvSpPr>
        <p:spPr>
          <a:xfrm>
            <a:off x="7388352" y="4910328"/>
            <a:ext cx="4023360" cy="329184"/>
          </a:xfrm>
          <a:prstGeom prst="rect">
            <a:avLst/>
          </a:prstGeom>
          <a:noFill/>
          <a:ln/>
        </p:spPr>
        <p:txBody>
          <a:bodyPr wrap="square" lIns="0" tIns="0" rIns="0" bIns="0" rtlCol="0" anchor="ctr"/>
          <a:lstStyle/>
          <a:p>
            <a:pPr indent="0" marL="0">
              <a:buNone/>
            </a:pPr>
            <a:r>
              <a:rPr lang="en-US" sz="1500" b="1" dirty="0">
                <a:solidFill>
                  <a:srgbClr val="C9002B"/>
                </a:solidFill>
                <a:latin typeface="Meiryo" pitchFamily="34" charset="0"/>
                <a:ea typeface="Meiryo" pitchFamily="34" charset="-122"/>
                <a:cs typeface="Meiryo" pitchFamily="34" charset="-120"/>
              </a:rPr>
              <a:t>広告担当</a:t>
            </a:r>
            <a:endParaRPr lang="en-US" sz="1500" dirty="0"/>
          </a:p>
        </p:txBody>
      </p:sp>
      <p:sp>
        <p:nvSpPr>
          <p:cNvPr id="25" name="Text 23"/>
          <p:cNvSpPr txBox="1"/>
          <p:nvPr/>
        </p:nvSpPr>
        <p:spPr>
          <a:xfrm>
            <a:off x="7388352" y="5257800"/>
            <a:ext cx="4069080" cy="347472"/>
          </a:xfrm>
          <a:prstGeom prst="rect">
            <a:avLst/>
          </a:prstGeom>
          <a:noFill/>
          <a:ln/>
        </p:spPr>
        <p:txBody>
          <a:bodyPr wrap="square" lIns="0" tIns="0" rIns="0" bIns="0" rtlCol="0" anchor="ctr"/>
          <a:lstStyle/>
          <a:p>
            <a:pPr indent="0" marL="0">
              <a:buNone/>
            </a:pPr>
            <a:r>
              <a:rPr lang="en-US" sz="1150" b="1" dirty="0">
                <a:solidFill>
                  <a:srgbClr val="5C626D"/>
                </a:solidFill>
                <a:latin typeface="Meiryo" pitchFamily="34" charset="0"/>
                <a:ea typeface="Meiryo" pitchFamily="34" charset="-122"/>
                <a:cs typeface="Meiryo" pitchFamily="34" charset="-120"/>
              </a:rPr>
              <a:t>責任　</a:t>
            </a:r>
            <a:pPr indent="0" marL="0">
              <a:buNone/>
            </a:pPr>
            <a:r>
              <a:rPr lang="en-US" sz="1150" dirty="0">
                <a:solidFill>
                  <a:srgbClr val="20232A"/>
                </a:solidFill>
                <a:latin typeface="Meiryo" pitchFamily="34" charset="0"/>
                <a:ea typeface="Meiryo" pitchFamily="34" charset="-122"/>
                <a:cs typeface="Meiryo" pitchFamily="34" charset="-120"/>
              </a:rPr>
              <a:t>対象条件・素材・申込先を準備、計測と配信を改善</a:t>
            </a:r>
            <a:endParaRPr lang="en-US" sz="1150" dirty="0"/>
          </a:p>
        </p:txBody>
      </p:sp>
      <p:sp>
        <p:nvSpPr>
          <p:cNvPr id="26" name="Text 24"/>
          <p:cNvSpPr txBox="1"/>
          <p:nvPr/>
        </p:nvSpPr>
        <p:spPr>
          <a:xfrm>
            <a:off x="7388352" y="5586984"/>
            <a:ext cx="4069080" cy="329184"/>
          </a:xfrm>
          <a:prstGeom prst="rect">
            <a:avLst/>
          </a:prstGeom>
          <a:noFill/>
          <a:ln/>
        </p:spPr>
        <p:txBody>
          <a:bodyPr wrap="square" lIns="0" tIns="0" rIns="0" bIns="0" rtlCol="0" anchor="ctr"/>
          <a:lstStyle/>
          <a:p>
            <a:pPr indent="0" marL="0">
              <a:buNone/>
            </a:pPr>
            <a:r>
              <a:rPr lang="en-US" sz="1150" b="1" dirty="0">
                <a:solidFill>
                  <a:srgbClr val="5C626D"/>
                </a:solidFill>
                <a:latin typeface="Meiryo" pitchFamily="34" charset="0"/>
                <a:ea typeface="Meiryo" pitchFamily="34" charset="-122"/>
                <a:cs typeface="Meiryo" pitchFamily="34" charset="-120"/>
              </a:rPr>
              <a:t>共有　</a:t>
            </a:r>
            <a:pPr indent="0" marL="0">
              <a:buNone/>
            </a:pPr>
            <a:r>
              <a:rPr lang="en-US" sz="1150" dirty="0">
                <a:solidFill>
                  <a:srgbClr val="20232A"/>
                </a:solidFill>
                <a:latin typeface="Meiryo" pitchFamily="34" charset="0"/>
                <a:ea typeface="Meiryo" pitchFamily="34" charset="-122"/>
                <a:cs typeface="Meiryo" pitchFamily="34" charset="-120"/>
              </a:rPr>
              <a:t>配信計画・素材一覧、実績レポート</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4864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04　進め方</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20232A"/>
                </a:solidFill>
                <a:latin typeface="Meiryo" pitchFamily="34" charset="0"/>
                <a:ea typeface="Meiryo" pitchFamily="34" charset="-122"/>
                <a:cs typeface="Meiryo" pitchFamily="34" charset="-120"/>
              </a:rPr>
              <a:t>初回商談で聞く4つのこと</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C626D"/>
                </a:solidFill>
                <a:latin typeface="Meiryo" pitchFamily="34" charset="0"/>
                <a:ea typeface="Meiryo" pitchFamily="34" charset="-122"/>
                <a:cs typeface="Meiryo" pitchFamily="34" charset="-120"/>
              </a:rPr>
              <a:t>商材の説明に入る前に、相手の成果と制約を確認する</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C626D"/>
                </a:solidFill>
                <a:latin typeface="Meiryo" pitchFamily="34" charset="0"/>
                <a:ea typeface="Meiryo" pitchFamily="34" charset="-122"/>
                <a:cs typeface="Meiryo" pitchFamily="34" charset="-120"/>
              </a:rPr>
              <a:t>16</a:t>
            </a:r>
            <a:endParaRPr lang="en-US" sz="1000" dirty="0"/>
          </a:p>
        </p:txBody>
      </p:sp>
      <p:sp>
        <p:nvSpPr>
          <p:cNvPr id="6" name="Shape 4"/>
          <p:cNvSpPr/>
          <p:nvPr/>
        </p:nvSpPr>
        <p:spPr>
          <a:xfrm>
            <a:off x="548640" y="1783080"/>
            <a:ext cx="5440680" cy="1417320"/>
          </a:xfrm>
          <a:prstGeom prst="roundRect">
            <a:avLst>
              <a:gd name="adj" fmla="val 5161"/>
            </a:avLst>
          </a:prstGeom>
          <a:solidFill>
            <a:srgbClr val="F4F5F7"/>
          </a:solidFill>
          <a:ln w="12700">
            <a:solidFill>
              <a:srgbClr val="F4F5F7"/>
            </a:solidFill>
            <a:prstDash val="solid"/>
          </a:ln>
        </p:spPr>
      </p:sp>
      <p:sp>
        <p:nvSpPr>
          <p:cNvPr id="7" name="Shape 5"/>
          <p:cNvSpPr/>
          <p:nvPr/>
        </p:nvSpPr>
        <p:spPr>
          <a:xfrm>
            <a:off x="822960" y="2103120"/>
            <a:ext cx="777240" cy="777240"/>
          </a:xfrm>
          <a:prstGeom prst="ellipse">
            <a:avLst/>
          </a:prstGeom>
          <a:solidFill>
            <a:srgbClr val="C9002B"/>
          </a:solidFill>
          <a:ln w="12700">
            <a:solidFill>
              <a:srgbClr val="C9002B"/>
            </a:solidFill>
            <a:prstDash val="solid"/>
          </a:ln>
        </p:spPr>
      </p:sp>
      <p:pic>
        <p:nvPicPr>
          <p:cNvPr id="8" name="Image 0" descr="preencoded.png">    </p:cNvPr>
          <p:cNvPicPr>
            <a:picLocks noChangeAspect="1"/>
          </p:cNvPicPr>
          <p:nvPr/>
        </p:nvPicPr>
        <p:blipFill>
          <a:blip r:embed="rId1"/>
          <a:stretch>
            <a:fillRect/>
          </a:stretch>
        </p:blipFill>
        <p:spPr>
          <a:xfrm>
            <a:off x="1017270" y="2297430"/>
            <a:ext cx="388620" cy="388620"/>
          </a:xfrm>
          <a:prstGeom prst="rect">
            <a:avLst/>
          </a:prstGeom>
        </p:spPr>
      </p:pic>
      <p:sp>
        <p:nvSpPr>
          <p:cNvPr id="9" name="Text 6"/>
          <p:cNvSpPr txBox="1"/>
          <p:nvPr/>
        </p:nvSpPr>
        <p:spPr>
          <a:xfrm>
            <a:off x="1828800" y="1965960"/>
            <a:ext cx="548640" cy="365760"/>
          </a:xfrm>
          <a:prstGeom prst="rect">
            <a:avLst/>
          </a:prstGeom>
          <a:noFill/>
          <a:ln/>
        </p:spPr>
        <p:txBody>
          <a:bodyPr wrap="square" lIns="0" tIns="0" rIns="0" bIns="0" rtlCol="0" anchor="ctr"/>
          <a:lstStyle/>
          <a:p>
            <a:pPr indent="0" marL="0">
              <a:buNone/>
            </a:pPr>
            <a:r>
              <a:rPr lang="en-US" sz="1400" b="1" dirty="0">
                <a:solidFill>
                  <a:srgbClr val="C9002B"/>
                </a:solidFill>
                <a:latin typeface="Meiryo" pitchFamily="34" charset="0"/>
                <a:ea typeface="Meiryo" pitchFamily="34" charset="-122"/>
                <a:cs typeface="Meiryo" pitchFamily="34" charset="-120"/>
              </a:rPr>
              <a:t>01</a:t>
            </a:r>
            <a:endParaRPr lang="en-US" sz="1400" dirty="0"/>
          </a:p>
        </p:txBody>
      </p:sp>
      <p:sp>
        <p:nvSpPr>
          <p:cNvPr id="10" name="Text 7"/>
          <p:cNvSpPr txBox="1"/>
          <p:nvPr/>
        </p:nvSpPr>
        <p:spPr>
          <a:xfrm>
            <a:off x="2331720" y="1965960"/>
            <a:ext cx="3474720" cy="365760"/>
          </a:xfrm>
          <a:prstGeom prst="rect">
            <a:avLst/>
          </a:prstGeom>
          <a:noFill/>
          <a:ln/>
        </p:spPr>
        <p:txBody>
          <a:bodyPr wrap="square" lIns="0" tIns="0" rIns="0" bIns="0" rtlCol="0" anchor="ctr"/>
          <a:lstStyle/>
          <a:p>
            <a:pPr indent="0" marL="0">
              <a:buNone/>
            </a:pPr>
            <a:r>
              <a:rPr lang="en-US" sz="1800" b="1" dirty="0">
                <a:solidFill>
                  <a:srgbClr val="20232A"/>
                </a:solidFill>
                <a:latin typeface="Meiryo" pitchFamily="34" charset="0"/>
                <a:ea typeface="Meiryo" pitchFamily="34" charset="-122"/>
                <a:cs typeface="Meiryo" pitchFamily="34" charset="-120"/>
              </a:rPr>
              <a:t>何を増やしたいか</a:t>
            </a:r>
            <a:endParaRPr lang="en-US" sz="1800" dirty="0"/>
          </a:p>
        </p:txBody>
      </p:sp>
      <p:sp>
        <p:nvSpPr>
          <p:cNvPr id="11" name="Text 8"/>
          <p:cNvSpPr txBox="1"/>
          <p:nvPr/>
        </p:nvSpPr>
        <p:spPr>
          <a:xfrm>
            <a:off x="1828800" y="2423160"/>
            <a:ext cx="3977640" cy="640080"/>
          </a:xfrm>
          <a:prstGeom prst="rect">
            <a:avLst/>
          </a:prstGeom>
          <a:noFill/>
          <a:ln/>
        </p:spPr>
        <p:txBody>
          <a:bodyPr wrap="square" lIns="0" tIns="0" rIns="0" bIns="0" rtlCol="0" anchor="t"/>
          <a:lstStyle/>
          <a:p>
            <a:pPr indent="0" marL="0">
              <a:buNone/>
            </a:pPr>
            <a:r>
              <a:rPr lang="en-US" sz="1300" dirty="0">
                <a:solidFill>
                  <a:srgbClr val="5C626D"/>
                </a:solidFill>
                <a:latin typeface="Meiryo" pitchFamily="34" charset="0"/>
                <a:ea typeface="Meiryo" pitchFamily="34" charset="-122"/>
                <a:cs typeface="Meiryo" pitchFamily="34" charset="-120"/>
              </a:rPr>
              <a:t>来場、申込、認知など、最優先の成果を1つ選ぶ。</a:t>
            </a:r>
            <a:endParaRPr lang="en-US" sz="1300" dirty="0"/>
          </a:p>
        </p:txBody>
      </p:sp>
      <p:sp>
        <p:nvSpPr>
          <p:cNvPr id="12" name="Shape 9"/>
          <p:cNvSpPr/>
          <p:nvPr/>
        </p:nvSpPr>
        <p:spPr>
          <a:xfrm>
            <a:off x="6172200" y="1783080"/>
            <a:ext cx="5440680" cy="1417320"/>
          </a:xfrm>
          <a:prstGeom prst="roundRect">
            <a:avLst>
              <a:gd name="adj" fmla="val 5161"/>
            </a:avLst>
          </a:prstGeom>
          <a:solidFill>
            <a:srgbClr val="F4F5F7"/>
          </a:solidFill>
          <a:ln w="12700">
            <a:solidFill>
              <a:srgbClr val="F4F5F7"/>
            </a:solidFill>
            <a:prstDash val="solid"/>
          </a:ln>
        </p:spPr>
      </p:sp>
      <p:sp>
        <p:nvSpPr>
          <p:cNvPr id="13" name="Shape 10"/>
          <p:cNvSpPr/>
          <p:nvPr/>
        </p:nvSpPr>
        <p:spPr>
          <a:xfrm>
            <a:off x="6446520" y="2103120"/>
            <a:ext cx="777240" cy="777240"/>
          </a:xfrm>
          <a:prstGeom prst="ellipse">
            <a:avLst/>
          </a:prstGeom>
          <a:solidFill>
            <a:srgbClr val="C9002B"/>
          </a:solidFill>
          <a:ln w="12700">
            <a:solidFill>
              <a:srgbClr val="C9002B"/>
            </a:solidFill>
            <a:prstDash val="solid"/>
          </a:ln>
        </p:spPr>
      </p:sp>
      <p:pic>
        <p:nvPicPr>
          <p:cNvPr id="14" name="Image 1" descr="preencoded.png">    </p:cNvPr>
          <p:cNvPicPr>
            <a:picLocks noChangeAspect="1"/>
          </p:cNvPicPr>
          <p:nvPr/>
        </p:nvPicPr>
        <p:blipFill>
          <a:blip r:embed="rId2"/>
          <a:stretch>
            <a:fillRect/>
          </a:stretch>
        </p:blipFill>
        <p:spPr>
          <a:xfrm>
            <a:off x="6640830" y="2297430"/>
            <a:ext cx="388620" cy="388620"/>
          </a:xfrm>
          <a:prstGeom prst="rect">
            <a:avLst/>
          </a:prstGeom>
        </p:spPr>
      </p:pic>
      <p:sp>
        <p:nvSpPr>
          <p:cNvPr id="15" name="Text 11"/>
          <p:cNvSpPr txBox="1"/>
          <p:nvPr/>
        </p:nvSpPr>
        <p:spPr>
          <a:xfrm>
            <a:off x="7452360" y="1965960"/>
            <a:ext cx="548640" cy="365760"/>
          </a:xfrm>
          <a:prstGeom prst="rect">
            <a:avLst/>
          </a:prstGeom>
          <a:noFill/>
          <a:ln/>
        </p:spPr>
        <p:txBody>
          <a:bodyPr wrap="square" lIns="0" tIns="0" rIns="0" bIns="0" rtlCol="0" anchor="ctr"/>
          <a:lstStyle/>
          <a:p>
            <a:pPr indent="0" marL="0">
              <a:buNone/>
            </a:pPr>
            <a:r>
              <a:rPr lang="en-US" sz="1400" b="1" dirty="0">
                <a:solidFill>
                  <a:srgbClr val="C9002B"/>
                </a:solidFill>
                <a:latin typeface="Meiryo" pitchFamily="34" charset="0"/>
                <a:ea typeface="Meiryo" pitchFamily="34" charset="-122"/>
                <a:cs typeface="Meiryo" pitchFamily="34" charset="-120"/>
              </a:rPr>
              <a:t>02</a:t>
            </a:r>
            <a:endParaRPr lang="en-US" sz="1400" dirty="0"/>
          </a:p>
        </p:txBody>
      </p:sp>
      <p:sp>
        <p:nvSpPr>
          <p:cNvPr id="16" name="Text 12"/>
          <p:cNvSpPr txBox="1"/>
          <p:nvPr/>
        </p:nvSpPr>
        <p:spPr>
          <a:xfrm>
            <a:off x="7955280" y="1965960"/>
            <a:ext cx="3474720" cy="365760"/>
          </a:xfrm>
          <a:prstGeom prst="rect">
            <a:avLst/>
          </a:prstGeom>
          <a:noFill/>
          <a:ln/>
        </p:spPr>
        <p:txBody>
          <a:bodyPr wrap="square" lIns="0" tIns="0" rIns="0" bIns="0" rtlCol="0" anchor="ctr"/>
          <a:lstStyle/>
          <a:p>
            <a:pPr indent="0" marL="0">
              <a:buNone/>
            </a:pPr>
            <a:r>
              <a:rPr lang="en-US" sz="1800" b="1" dirty="0">
                <a:solidFill>
                  <a:srgbClr val="20232A"/>
                </a:solidFill>
                <a:latin typeface="Meiryo" pitchFamily="34" charset="0"/>
                <a:ea typeface="Meiryo" pitchFamily="34" charset="-122"/>
                <a:cs typeface="Meiryo" pitchFamily="34" charset="-120"/>
              </a:rPr>
              <a:t>誰に来てほしいか</a:t>
            </a:r>
            <a:endParaRPr lang="en-US" sz="1800" dirty="0"/>
          </a:p>
        </p:txBody>
      </p:sp>
      <p:sp>
        <p:nvSpPr>
          <p:cNvPr id="17" name="Text 13"/>
          <p:cNvSpPr txBox="1"/>
          <p:nvPr/>
        </p:nvSpPr>
        <p:spPr>
          <a:xfrm>
            <a:off x="7452360" y="2423160"/>
            <a:ext cx="3977640" cy="640080"/>
          </a:xfrm>
          <a:prstGeom prst="rect">
            <a:avLst/>
          </a:prstGeom>
          <a:noFill/>
          <a:ln/>
        </p:spPr>
        <p:txBody>
          <a:bodyPr wrap="square" lIns="0" tIns="0" rIns="0" bIns="0" rtlCol="0" anchor="t"/>
          <a:lstStyle/>
          <a:p>
            <a:pPr indent="0" marL="0">
              <a:buNone/>
            </a:pPr>
            <a:r>
              <a:rPr lang="en-US" sz="1300" dirty="0">
                <a:solidFill>
                  <a:srgbClr val="5C626D"/>
                </a:solidFill>
                <a:latin typeface="Meiryo" pitchFamily="34" charset="0"/>
                <a:ea typeface="Meiryo" pitchFamily="34" charset="-122"/>
                <a:cs typeface="Meiryo" pitchFamily="34" charset="-120"/>
              </a:rPr>
              <a:t>地域、年代、新規・既存など、対象と現在の課題を聞く。</a:t>
            </a:r>
            <a:endParaRPr lang="en-US" sz="1300" dirty="0"/>
          </a:p>
        </p:txBody>
      </p:sp>
      <p:sp>
        <p:nvSpPr>
          <p:cNvPr id="18" name="Shape 14"/>
          <p:cNvSpPr/>
          <p:nvPr/>
        </p:nvSpPr>
        <p:spPr>
          <a:xfrm>
            <a:off x="548640" y="3383280"/>
            <a:ext cx="5440680" cy="1417320"/>
          </a:xfrm>
          <a:prstGeom prst="roundRect">
            <a:avLst>
              <a:gd name="adj" fmla="val 5161"/>
            </a:avLst>
          </a:prstGeom>
          <a:solidFill>
            <a:srgbClr val="F4F5F7"/>
          </a:solidFill>
          <a:ln w="12700">
            <a:solidFill>
              <a:srgbClr val="F4F5F7"/>
            </a:solidFill>
            <a:prstDash val="solid"/>
          </a:ln>
        </p:spPr>
      </p:sp>
      <p:sp>
        <p:nvSpPr>
          <p:cNvPr id="19" name="Shape 15"/>
          <p:cNvSpPr/>
          <p:nvPr/>
        </p:nvSpPr>
        <p:spPr>
          <a:xfrm>
            <a:off x="822960" y="3703320"/>
            <a:ext cx="777240" cy="777240"/>
          </a:xfrm>
          <a:prstGeom prst="ellipse">
            <a:avLst/>
          </a:prstGeom>
          <a:solidFill>
            <a:srgbClr val="C9002B"/>
          </a:solidFill>
          <a:ln w="12700">
            <a:solidFill>
              <a:srgbClr val="C9002B"/>
            </a:solidFill>
            <a:prstDash val="solid"/>
          </a:ln>
        </p:spPr>
      </p:sp>
      <p:pic>
        <p:nvPicPr>
          <p:cNvPr id="20" name="Image 2" descr="preencoded.png">    </p:cNvPr>
          <p:cNvPicPr>
            <a:picLocks noChangeAspect="1"/>
          </p:cNvPicPr>
          <p:nvPr/>
        </p:nvPicPr>
        <p:blipFill>
          <a:blip r:embed="rId3"/>
          <a:stretch>
            <a:fillRect/>
          </a:stretch>
        </p:blipFill>
        <p:spPr>
          <a:xfrm>
            <a:off x="1017270" y="3897630"/>
            <a:ext cx="388620" cy="388620"/>
          </a:xfrm>
          <a:prstGeom prst="rect">
            <a:avLst/>
          </a:prstGeom>
        </p:spPr>
      </p:pic>
      <p:sp>
        <p:nvSpPr>
          <p:cNvPr id="21" name="Text 16"/>
          <p:cNvSpPr txBox="1"/>
          <p:nvPr/>
        </p:nvSpPr>
        <p:spPr>
          <a:xfrm>
            <a:off x="1828800" y="3566160"/>
            <a:ext cx="548640" cy="365760"/>
          </a:xfrm>
          <a:prstGeom prst="rect">
            <a:avLst/>
          </a:prstGeom>
          <a:noFill/>
          <a:ln/>
        </p:spPr>
        <p:txBody>
          <a:bodyPr wrap="square" lIns="0" tIns="0" rIns="0" bIns="0" rtlCol="0" anchor="ctr"/>
          <a:lstStyle/>
          <a:p>
            <a:pPr indent="0" marL="0">
              <a:buNone/>
            </a:pPr>
            <a:r>
              <a:rPr lang="en-US" sz="1400" b="1" dirty="0">
                <a:solidFill>
                  <a:srgbClr val="C9002B"/>
                </a:solidFill>
                <a:latin typeface="Meiryo" pitchFamily="34" charset="0"/>
                <a:ea typeface="Meiryo" pitchFamily="34" charset="-122"/>
                <a:cs typeface="Meiryo" pitchFamily="34" charset="-120"/>
              </a:rPr>
              <a:t>03</a:t>
            </a:r>
            <a:endParaRPr lang="en-US" sz="1400" dirty="0"/>
          </a:p>
        </p:txBody>
      </p:sp>
      <p:sp>
        <p:nvSpPr>
          <p:cNvPr id="22" name="Text 17"/>
          <p:cNvSpPr txBox="1"/>
          <p:nvPr/>
        </p:nvSpPr>
        <p:spPr>
          <a:xfrm>
            <a:off x="2331720" y="3566160"/>
            <a:ext cx="3474720" cy="365760"/>
          </a:xfrm>
          <a:prstGeom prst="rect">
            <a:avLst/>
          </a:prstGeom>
          <a:noFill/>
          <a:ln/>
        </p:spPr>
        <p:txBody>
          <a:bodyPr wrap="square" lIns="0" tIns="0" rIns="0" bIns="0" rtlCol="0" anchor="ctr"/>
          <a:lstStyle/>
          <a:p>
            <a:pPr indent="0" marL="0">
              <a:buNone/>
            </a:pPr>
            <a:r>
              <a:rPr lang="en-US" sz="1800" b="1" dirty="0">
                <a:solidFill>
                  <a:srgbClr val="20232A"/>
                </a:solidFill>
                <a:latin typeface="Meiryo" pitchFamily="34" charset="0"/>
                <a:ea typeface="Meiryo" pitchFamily="34" charset="-122"/>
                <a:cs typeface="Meiryo" pitchFamily="34" charset="-120"/>
              </a:rPr>
              <a:t>いつ判断するか</a:t>
            </a:r>
            <a:endParaRPr lang="en-US" sz="1800" dirty="0"/>
          </a:p>
        </p:txBody>
      </p:sp>
      <p:sp>
        <p:nvSpPr>
          <p:cNvPr id="23" name="Text 18"/>
          <p:cNvSpPr txBox="1"/>
          <p:nvPr/>
        </p:nvSpPr>
        <p:spPr>
          <a:xfrm>
            <a:off x="1828800" y="4023360"/>
            <a:ext cx="3977640" cy="640080"/>
          </a:xfrm>
          <a:prstGeom prst="rect">
            <a:avLst/>
          </a:prstGeom>
          <a:noFill/>
          <a:ln/>
        </p:spPr>
        <p:txBody>
          <a:bodyPr wrap="square" lIns="0" tIns="0" rIns="0" bIns="0" rtlCol="0" anchor="t"/>
          <a:lstStyle/>
          <a:p>
            <a:pPr indent="0" marL="0">
              <a:buNone/>
            </a:pPr>
            <a:r>
              <a:rPr lang="en-US" sz="1300" dirty="0">
                <a:solidFill>
                  <a:srgbClr val="5C626D"/>
                </a:solidFill>
                <a:latin typeface="Meiryo" pitchFamily="34" charset="0"/>
                <a:ea typeface="Meiryo" pitchFamily="34" charset="-122"/>
                <a:cs typeface="Meiryo" pitchFamily="34" charset="-120"/>
              </a:rPr>
              <a:t>イベント日、予算確定日、次の商談・決裁日を確認する。</a:t>
            </a:r>
            <a:endParaRPr lang="en-US" sz="1300" dirty="0"/>
          </a:p>
        </p:txBody>
      </p:sp>
      <p:sp>
        <p:nvSpPr>
          <p:cNvPr id="24" name="Shape 19"/>
          <p:cNvSpPr/>
          <p:nvPr/>
        </p:nvSpPr>
        <p:spPr>
          <a:xfrm>
            <a:off x="6172200" y="3383280"/>
            <a:ext cx="5440680" cy="1417320"/>
          </a:xfrm>
          <a:prstGeom prst="roundRect">
            <a:avLst>
              <a:gd name="adj" fmla="val 5161"/>
            </a:avLst>
          </a:prstGeom>
          <a:solidFill>
            <a:srgbClr val="F4F5F7"/>
          </a:solidFill>
          <a:ln w="12700">
            <a:solidFill>
              <a:srgbClr val="F4F5F7"/>
            </a:solidFill>
            <a:prstDash val="solid"/>
          </a:ln>
        </p:spPr>
      </p:sp>
      <p:sp>
        <p:nvSpPr>
          <p:cNvPr id="25" name="Shape 20"/>
          <p:cNvSpPr/>
          <p:nvPr/>
        </p:nvSpPr>
        <p:spPr>
          <a:xfrm>
            <a:off x="6446520" y="3703320"/>
            <a:ext cx="777240" cy="777240"/>
          </a:xfrm>
          <a:prstGeom prst="ellipse">
            <a:avLst/>
          </a:prstGeom>
          <a:solidFill>
            <a:srgbClr val="C9002B"/>
          </a:solidFill>
          <a:ln w="12700">
            <a:solidFill>
              <a:srgbClr val="C9002B"/>
            </a:solidFill>
            <a:prstDash val="solid"/>
          </a:ln>
        </p:spPr>
      </p:sp>
      <p:pic>
        <p:nvPicPr>
          <p:cNvPr id="26" name="Image 3" descr="preencoded.png">    </p:cNvPr>
          <p:cNvPicPr>
            <a:picLocks noChangeAspect="1"/>
          </p:cNvPicPr>
          <p:nvPr/>
        </p:nvPicPr>
        <p:blipFill>
          <a:blip r:embed="rId4"/>
          <a:stretch>
            <a:fillRect/>
          </a:stretch>
        </p:blipFill>
        <p:spPr>
          <a:xfrm>
            <a:off x="6640830" y="3897630"/>
            <a:ext cx="388620" cy="388620"/>
          </a:xfrm>
          <a:prstGeom prst="rect">
            <a:avLst/>
          </a:prstGeom>
        </p:spPr>
      </p:pic>
      <p:sp>
        <p:nvSpPr>
          <p:cNvPr id="27" name="Text 21"/>
          <p:cNvSpPr txBox="1"/>
          <p:nvPr/>
        </p:nvSpPr>
        <p:spPr>
          <a:xfrm>
            <a:off x="7452360" y="3566160"/>
            <a:ext cx="548640" cy="365760"/>
          </a:xfrm>
          <a:prstGeom prst="rect">
            <a:avLst/>
          </a:prstGeom>
          <a:noFill/>
          <a:ln/>
        </p:spPr>
        <p:txBody>
          <a:bodyPr wrap="square" lIns="0" tIns="0" rIns="0" bIns="0" rtlCol="0" anchor="ctr"/>
          <a:lstStyle/>
          <a:p>
            <a:pPr indent="0" marL="0">
              <a:buNone/>
            </a:pPr>
            <a:r>
              <a:rPr lang="en-US" sz="1400" b="1" dirty="0">
                <a:solidFill>
                  <a:srgbClr val="C9002B"/>
                </a:solidFill>
                <a:latin typeface="Meiryo" pitchFamily="34" charset="0"/>
                <a:ea typeface="Meiryo" pitchFamily="34" charset="-122"/>
                <a:cs typeface="Meiryo" pitchFamily="34" charset="-120"/>
              </a:rPr>
              <a:t>04</a:t>
            </a:r>
            <a:endParaRPr lang="en-US" sz="1400" dirty="0"/>
          </a:p>
        </p:txBody>
      </p:sp>
      <p:sp>
        <p:nvSpPr>
          <p:cNvPr id="28" name="Text 22"/>
          <p:cNvSpPr txBox="1"/>
          <p:nvPr/>
        </p:nvSpPr>
        <p:spPr>
          <a:xfrm>
            <a:off x="7955280" y="3566160"/>
            <a:ext cx="3474720" cy="365760"/>
          </a:xfrm>
          <a:prstGeom prst="rect">
            <a:avLst/>
          </a:prstGeom>
          <a:noFill/>
          <a:ln/>
        </p:spPr>
        <p:txBody>
          <a:bodyPr wrap="square" lIns="0" tIns="0" rIns="0" bIns="0" rtlCol="0" anchor="ctr"/>
          <a:lstStyle/>
          <a:p>
            <a:pPr indent="0" marL="0">
              <a:buNone/>
            </a:pPr>
            <a:r>
              <a:rPr lang="en-US" sz="1800" b="1" dirty="0">
                <a:solidFill>
                  <a:srgbClr val="20232A"/>
                </a:solidFill>
                <a:latin typeface="Meiryo" pitchFamily="34" charset="0"/>
                <a:ea typeface="Meiryo" pitchFamily="34" charset="-122"/>
                <a:cs typeface="Meiryo" pitchFamily="34" charset="-120"/>
              </a:rPr>
              <a:t>何を測れるか</a:t>
            </a:r>
            <a:endParaRPr lang="en-US" sz="1800" dirty="0"/>
          </a:p>
        </p:txBody>
      </p:sp>
      <p:sp>
        <p:nvSpPr>
          <p:cNvPr id="29" name="Text 23"/>
          <p:cNvSpPr txBox="1"/>
          <p:nvPr/>
        </p:nvSpPr>
        <p:spPr>
          <a:xfrm>
            <a:off x="7452360" y="4023360"/>
            <a:ext cx="3977640" cy="640080"/>
          </a:xfrm>
          <a:prstGeom prst="rect">
            <a:avLst/>
          </a:prstGeom>
          <a:noFill/>
          <a:ln/>
        </p:spPr>
        <p:txBody>
          <a:bodyPr wrap="square" lIns="0" tIns="0" rIns="0" bIns="0" rtlCol="0" anchor="t"/>
          <a:lstStyle/>
          <a:p>
            <a:pPr indent="0" marL="0">
              <a:buNone/>
            </a:pPr>
            <a:r>
              <a:rPr lang="en-US" sz="1300" dirty="0">
                <a:solidFill>
                  <a:srgbClr val="5C626D"/>
                </a:solidFill>
                <a:latin typeface="Meiryo" pitchFamily="34" charset="0"/>
                <a:ea typeface="Meiryo" pitchFamily="34" charset="-122"/>
                <a:cs typeface="Meiryo" pitchFamily="34" charset="-120"/>
              </a:rPr>
              <a:t>来場実績、申込数、広告結果など、比較に使えるデータを確認する。</a:t>
            </a:r>
            <a:endParaRPr lang="en-US" sz="1300" dirty="0"/>
          </a:p>
        </p:txBody>
      </p:sp>
      <p:sp>
        <p:nvSpPr>
          <p:cNvPr id="30" name="Shape 24"/>
          <p:cNvSpPr/>
          <p:nvPr/>
        </p:nvSpPr>
        <p:spPr>
          <a:xfrm>
            <a:off x="548640" y="5074920"/>
            <a:ext cx="11064240" cy="1097280"/>
          </a:xfrm>
          <a:prstGeom prst="roundRect">
            <a:avLst>
              <a:gd name="adj" fmla="val 6667"/>
            </a:avLst>
          </a:prstGeom>
          <a:solidFill>
            <a:srgbClr val="FBEAEE"/>
          </a:solidFill>
          <a:ln w="12700">
            <a:solidFill>
              <a:srgbClr val="FBEAEE"/>
            </a:solidFill>
            <a:prstDash val="solid"/>
          </a:ln>
        </p:spPr>
      </p:sp>
      <p:pic>
        <p:nvPicPr>
          <p:cNvPr id="31" name="Image 4" descr="preencoded.png">    </p:cNvPr>
          <p:cNvPicPr>
            <a:picLocks noChangeAspect="1"/>
          </p:cNvPicPr>
          <p:nvPr/>
        </p:nvPicPr>
        <p:blipFill>
          <a:blip r:embed="rId5"/>
          <a:stretch>
            <a:fillRect/>
          </a:stretch>
        </p:blipFill>
        <p:spPr>
          <a:xfrm>
            <a:off x="777240" y="5257800"/>
            <a:ext cx="320040" cy="320040"/>
          </a:xfrm>
          <a:prstGeom prst="rect">
            <a:avLst/>
          </a:prstGeom>
        </p:spPr>
      </p:pic>
      <p:sp>
        <p:nvSpPr>
          <p:cNvPr id="32" name="Text 25"/>
          <p:cNvSpPr txBox="1"/>
          <p:nvPr/>
        </p:nvSpPr>
        <p:spPr>
          <a:xfrm>
            <a:off x="1280160" y="5138928"/>
            <a:ext cx="10149840" cy="960120"/>
          </a:xfrm>
          <a:prstGeom prst="rect">
            <a:avLst/>
          </a:prstGeom>
          <a:noFill/>
          <a:ln/>
        </p:spPr>
        <p:txBody>
          <a:bodyPr wrap="square" lIns="0" tIns="0" rIns="0" bIns="0" rtlCol="0" anchor="ctr"/>
          <a:lstStyle/>
          <a:p>
            <a:pPr indent="0" marL="0">
              <a:spcAft>
                <a:spcPts val="400"/>
              </a:spcAft>
              <a:buNone/>
            </a:pPr>
            <a:r>
              <a:rPr lang="en-US" sz="1300" b="1" dirty="0">
                <a:solidFill>
                  <a:srgbClr val="C9002B"/>
                </a:solidFill>
                <a:latin typeface="Meiryo" pitchFamily="34" charset="0"/>
                <a:ea typeface="Meiryo" pitchFamily="34" charset="-122"/>
                <a:cs typeface="Meiryo" pitchFamily="34" charset="-120"/>
              </a:rPr>
              <a:t>切り出し例　</a:t>
            </a:r>
            <a:pPr indent="0" marL="0">
              <a:spcAft>
                <a:spcPts val="400"/>
              </a:spcAft>
              <a:buNone/>
            </a:pPr>
            <a:r>
              <a:rPr lang="en-US" sz="1300" dirty="0">
                <a:solidFill>
                  <a:srgbClr val="20232A"/>
                </a:solidFill>
                <a:latin typeface="Meiryo" pitchFamily="34" charset="0"/>
                <a:ea typeface="Meiryo" pitchFamily="34" charset="-122"/>
                <a:cs typeface="Meiryo" pitchFamily="34" charset="-120"/>
              </a:rPr>
              <a:t>「今回、一番増やしたいのは来場者数でしょうか。それとも新しいお客様の申込でしょうか。」</a:t>
            </a:r>
            <a:endParaRPr lang="en-US" sz="1300" dirty="0"/>
          </a:p>
          <a:p>
            <a:pPr indent="0" marL="0">
              <a:spcAft>
                <a:spcPts val="400"/>
              </a:spcAft>
              <a:buNone/>
            </a:pPr>
            <a:r>
              <a:rPr lang="en-US" sz="1300" b="1" dirty="0">
                <a:solidFill>
                  <a:srgbClr val="C9002B"/>
                </a:solidFill>
                <a:latin typeface="Meiryo" pitchFamily="34" charset="0"/>
                <a:ea typeface="Meiryo" pitchFamily="34" charset="-122"/>
                <a:cs typeface="Meiryo" pitchFamily="34" charset="-120"/>
              </a:rPr>
              <a:t>締め方の例　</a:t>
            </a:r>
            <a:pPr indent="0" marL="0">
              <a:spcAft>
                <a:spcPts val="400"/>
              </a:spcAft>
              <a:buNone/>
            </a:pPr>
            <a:r>
              <a:rPr lang="en-US" sz="1300" dirty="0">
                <a:solidFill>
                  <a:srgbClr val="20232A"/>
                </a:solidFill>
                <a:latin typeface="Meiryo" pitchFamily="34" charset="0"/>
                <a:ea typeface="Meiryo" pitchFamily="34" charset="-122"/>
                <a:cs typeface="Meiryo" pitchFamily="34" charset="-120"/>
              </a:rPr>
              <a:t>「対象・日程・計測できる数字を整理して、必要な商材と実施期間を次回ご提案します。」</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4864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04　進め方</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20232A"/>
                </a:solidFill>
                <a:latin typeface="Meiryo" pitchFamily="34" charset="0"/>
                <a:ea typeface="Meiryo" pitchFamily="34" charset="-122"/>
                <a:cs typeface="Meiryo" pitchFamily="34" charset="-120"/>
              </a:rPr>
              <a:t>成果の見方と継続判断</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C626D"/>
                </a:solidFill>
                <a:latin typeface="Meiryo" pitchFamily="34" charset="0"/>
                <a:ea typeface="Meiryo" pitchFamily="34" charset="-122"/>
                <a:cs typeface="Meiryo" pitchFamily="34" charset="-120"/>
              </a:rPr>
              <a:t>契約前に、基準値・目標・判断日を顧客と合意する</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C626D"/>
                </a:solidFill>
                <a:latin typeface="Meiryo" pitchFamily="34" charset="0"/>
                <a:ea typeface="Meiryo" pitchFamily="34" charset="-122"/>
                <a:cs typeface="Meiryo" pitchFamily="34" charset="-120"/>
              </a:rPr>
              <a:t>17</a:t>
            </a:r>
            <a:endParaRPr lang="en-US" sz="1000" dirty="0"/>
          </a:p>
        </p:txBody>
      </p:sp>
      <p:sp>
        <p:nvSpPr>
          <p:cNvPr id="6" name="Shape 4"/>
          <p:cNvSpPr/>
          <p:nvPr/>
        </p:nvSpPr>
        <p:spPr>
          <a:xfrm>
            <a:off x="548640" y="1783080"/>
            <a:ext cx="3474720" cy="3063240"/>
          </a:xfrm>
          <a:prstGeom prst="roundRect">
            <a:avLst>
              <a:gd name="adj" fmla="val 2388"/>
            </a:avLst>
          </a:prstGeom>
          <a:solidFill>
            <a:srgbClr val="F4F5F7"/>
          </a:solidFill>
          <a:ln w="12700">
            <a:solidFill>
              <a:srgbClr val="F4F5F7"/>
            </a:solidFill>
            <a:prstDash val="solid"/>
          </a:ln>
        </p:spPr>
      </p:sp>
      <p:sp>
        <p:nvSpPr>
          <p:cNvPr id="7" name="Shape 5"/>
          <p:cNvSpPr/>
          <p:nvPr/>
        </p:nvSpPr>
        <p:spPr>
          <a:xfrm>
            <a:off x="777240" y="1965960"/>
            <a:ext cx="594360" cy="594360"/>
          </a:xfrm>
          <a:prstGeom prst="ellipse">
            <a:avLst/>
          </a:prstGeom>
          <a:solidFill>
            <a:srgbClr val="C9002B"/>
          </a:solidFill>
          <a:ln w="12700">
            <a:solidFill>
              <a:srgbClr val="C9002B"/>
            </a:solidFill>
            <a:prstDash val="solid"/>
          </a:ln>
        </p:spPr>
      </p:sp>
      <p:pic>
        <p:nvPicPr>
          <p:cNvPr id="8" name="Image 0" descr="preencoded.png">    </p:cNvPr>
          <p:cNvPicPr>
            <a:picLocks noChangeAspect="1"/>
          </p:cNvPicPr>
          <p:nvPr/>
        </p:nvPicPr>
        <p:blipFill>
          <a:blip r:embed="rId1"/>
          <a:stretch>
            <a:fillRect/>
          </a:stretch>
        </p:blipFill>
        <p:spPr>
          <a:xfrm>
            <a:off x="925830" y="2114550"/>
            <a:ext cx="297180" cy="297180"/>
          </a:xfrm>
          <a:prstGeom prst="rect">
            <a:avLst/>
          </a:prstGeom>
        </p:spPr>
      </p:pic>
      <p:sp>
        <p:nvSpPr>
          <p:cNvPr id="9" name="Text 6"/>
          <p:cNvSpPr txBox="1"/>
          <p:nvPr/>
        </p:nvSpPr>
        <p:spPr>
          <a:xfrm>
            <a:off x="1508760" y="1965960"/>
            <a:ext cx="2377440" cy="594360"/>
          </a:xfrm>
          <a:prstGeom prst="rect">
            <a:avLst/>
          </a:prstGeom>
          <a:noFill/>
          <a:ln/>
        </p:spPr>
        <p:txBody>
          <a:bodyPr wrap="square" lIns="0" tIns="0" rIns="0" bIns="0" rtlCol="0" anchor="ctr"/>
          <a:lstStyle/>
          <a:p>
            <a:pPr indent="0" marL="0">
              <a:buNone/>
            </a:pPr>
            <a:r>
              <a:rPr lang="en-US" sz="1800" b="1" dirty="0">
                <a:solidFill>
                  <a:srgbClr val="20232A"/>
                </a:solidFill>
                <a:latin typeface="Meiryo" pitchFamily="34" charset="0"/>
                <a:ea typeface="Meiryo" pitchFamily="34" charset="-122"/>
                <a:cs typeface="Meiryo" pitchFamily="34" charset="-120"/>
              </a:rPr>
              <a:t>地域の変化</a:t>
            </a:r>
            <a:endParaRPr lang="en-US" sz="1800" dirty="0"/>
          </a:p>
        </p:txBody>
      </p:sp>
      <p:sp>
        <p:nvSpPr>
          <p:cNvPr id="10" name="Text 7"/>
          <p:cNvSpPr txBox="1"/>
          <p:nvPr/>
        </p:nvSpPr>
        <p:spPr>
          <a:xfrm>
            <a:off x="777240" y="2743200"/>
            <a:ext cx="932688" cy="329184"/>
          </a:xfrm>
          <a:prstGeom prst="roundRect">
            <a:avLst>
              <a:gd name="adj" fmla="val 50000"/>
            </a:avLst>
          </a:prstGeom>
          <a:solidFill>
            <a:srgbClr val="FFFFFF"/>
          </a:solidFill>
          <a:ln>
            <a:solidFill>
              <a:srgbClr val="FFFFFF"/>
            </a:solidFill>
          </a:ln>
        </p:spPr>
        <p:txBody>
          <a:bodyPr wrap="square" lIns="0" tIns="0" rIns="0" bIns="0" rtlCol="0" anchor="ctr"/>
          <a:lstStyle/>
          <a:p>
            <a:pPr algn="ctr" indent="0" marL="0">
              <a:buNone/>
            </a:pPr>
            <a:r>
              <a:rPr lang="en-US" sz="1100" b="1" dirty="0">
                <a:solidFill>
                  <a:srgbClr val="20232A"/>
                </a:solidFill>
                <a:latin typeface="Meiryo" pitchFamily="34" charset="0"/>
                <a:ea typeface="Meiryo" pitchFamily="34" charset="-122"/>
                <a:cs typeface="Meiryo" pitchFamily="34" charset="-120"/>
              </a:rPr>
              <a:t>周辺人口</a:t>
            </a:r>
            <a:endParaRPr lang="en-US" sz="1100" dirty="0"/>
          </a:p>
        </p:txBody>
      </p:sp>
      <p:sp>
        <p:nvSpPr>
          <p:cNvPr id="11" name="Text 8"/>
          <p:cNvSpPr txBox="1"/>
          <p:nvPr/>
        </p:nvSpPr>
        <p:spPr>
          <a:xfrm>
            <a:off x="1801368" y="2743200"/>
            <a:ext cx="932688" cy="329184"/>
          </a:xfrm>
          <a:prstGeom prst="roundRect">
            <a:avLst>
              <a:gd name="adj" fmla="val 50000"/>
            </a:avLst>
          </a:prstGeom>
          <a:solidFill>
            <a:srgbClr val="FFFFFF"/>
          </a:solidFill>
          <a:ln>
            <a:solidFill>
              <a:srgbClr val="FFFFFF"/>
            </a:solidFill>
          </a:ln>
        </p:spPr>
        <p:txBody>
          <a:bodyPr wrap="square" lIns="0" tIns="0" rIns="0" bIns="0" rtlCol="0" anchor="ctr"/>
          <a:lstStyle/>
          <a:p>
            <a:pPr algn="ctr" indent="0" marL="0">
              <a:buNone/>
            </a:pPr>
            <a:r>
              <a:rPr lang="en-US" sz="1100" b="1" dirty="0">
                <a:solidFill>
                  <a:srgbClr val="20232A"/>
                </a:solidFill>
                <a:latin typeface="Meiryo" pitchFamily="34" charset="0"/>
                <a:ea typeface="Meiryo" pitchFamily="34" charset="-122"/>
                <a:cs typeface="Meiryo" pitchFamily="34" charset="-120"/>
              </a:rPr>
              <a:t>来訪元</a:t>
            </a:r>
            <a:endParaRPr lang="en-US" sz="1100" dirty="0"/>
          </a:p>
        </p:txBody>
      </p:sp>
      <p:sp>
        <p:nvSpPr>
          <p:cNvPr id="12" name="Text 9"/>
          <p:cNvSpPr txBox="1"/>
          <p:nvPr/>
        </p:nvSpPr>
        <p:spPr>
          <a:xfrm>
            <a:off x="2825496" y="2743200"/>
            <a:ext cx="932688" cy="329184"/>
          </a:xfrm>
          <a:prstGeom prst="roundRect">
            <a:avLst>
              <a:gd name="adj" fmla="val 50000"/>
            </a:avLst>
          </a:prstGeom>
          <a:solidFill>
            <a:srgbClr val="FFFFFF"/>
          </a:solidFill>
          <a:ln>
            <a:solidFill>
              <a:srgbClr val="FFFFFF"/>
            </a:solidFill>
          </a:ln>
        </p:spPr>
        <p:txBody>
          <a:bodyPr wrap="square" lIns="0" tIns="0" rIns="0" bIns="0" rtlCol="0" anchor="ctr"/>
          <a:lstStyle/>
          <a:p>
            <a:pPr algn="ctr" indent="0" marL="0">
              <a:buNone/>
            </a:pPr>
            <a:r>
              <a:rPr lang="en-US" sz="1100" b="1" dirty="0">
                <a:solidFill>
                  <a:srgbClr val="20232A"/>
                </a:solidFill>
                <a:latin typeface="Meiryo" pitchFamily="34" charset="0"/>
                <a:ea typeface="Meiryo" pitchFamily="34" charset="-122"/>
                <a:cs typeface="Meiryo" pitchFamily="34" charset="-120"/>
              </a:rPr>
              <a:t>時間帯</a:t>
            </a:r>
            <a:endParaRPr lang="en-US" sz="1100" dirty="0"/>
          </a:p>
        </p:txBody>
      </p:sp>
      <p:sp>
        <p:nvSpPr>
          <p:cNvPr id="13" name="Text 10"/>
          <p:cNvSpPr txBox="1"/>
          <p:nvPr/>
        </p:nvSpPr>
        <p:spPr>
          <a:xfrm>
            <a:off x="777240" y="3200400"/>
            <a:ext cx="3063240" cy="320040"/>
          </a:xfrm>
          <a:prstGeom prst="rect">
            <a:avLst/>
          </a:prstGeom>
          <a:noFill/>
          <a:ln/>
        </p:spPr>
        <p:txBody>
          <a:bodyPr wrap="square" lIns="0" tIns="0" rIns="0" bIns="0" rtlCol="0" anchor="t"/>
          <a:lstStyle/>
          <a:p>
            <a:pPr indent="0" marL="0">
              <a:buNone/>
            </a:pPr>
            <a:r>
              <a:rPr lang="en-US" sz="1150" dirty="0">
                <a:solidFill>
                  <a:srgbClr val="5C626D"/>
                </a:solidFill>
                <a:latin typeface="Meiryo" pitchFamily="34" charset="0"/>
                <a:ea typeface="Meiryo" pitchFamily="34" charset="-122"/>
                <a:cs typeface="Meiryo" pitchFamily="34" charset="-120"/>
              </a:rPr>
              <a:t>同条件の通常日・過去と比較</a:t>
            </a:r>
            <a:endParaRPr lang="en-US" sz="1150" dirty="0"/>
          </a:p>
        </p:txBody>
      </p:sp>
      <p:sp>
        <p:nvSpPr>
          <p:cNvPr id="14" name="Shape 11"/>
          <p:cNvSpPr/>
          <p:nvPr/>
        </p:nvSpPr>
        <p:spPr>
          <a:xfrm>
            <a:off x="777240" y="3639312"/>
            <a:ext cx="3017520" cy="0"/>
          </a:xfrm>
          <a:prstGeom prst="line">
            <a:avLst/>
          </a:prstGeom>
          <a:noFill/>
          <a:ln w="12700">
            <a:solidFill>
              <a:srgbClr val="DADDE2"/>
            </a:solidFill>
            <a:prstDash val="solid"/>
          </a:ln>
        </p:spPr>
      </p:sp>
      <p:sp>
        <p:nvSpPr>
          <p:cNvPr id="15" name="Text 12"/>
          <p:cNvSpPr txBox="1"/>
          <p:nvPr/>
        </p:nvSpPr>
        <p:spPr>
          <a:xfrm>
            <a:off x="777240" y="3730752"/>
            <a:ext cx="301752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次の提案への使い方</a:t>
            </a:r>
            <a:endParaRPr lang="en-US" sz="1100" dirty="0"/>
          </a:p>
        </p:txBody>
      </p:sp>
      <p:sp>
        <p:nvSpPr>
          <p:cNvPr id="16" name="Text 13"/>
          <p:cNvSpPr txBox="1"/>
          <p:nvPr/>
        </p:nvSpPr>
        <p:spPr>
          <a:xfrm>
            <a:off x="777240" y="4023360"/>
            <a:ext cx="3063240" cy="685800"/>
          </a:xfrm>
          <a:prstGeom prst="rect">
            <a:avLst/>
          </a:prstGeom>
          <a:noFill/>
          <a:ln/>
        </p:spPr>
        <p:txBody>
          <a:bodyPr wrap="square" lIns="0" tIns="0" rIns="0" bIns="0" rtlCol="0" anchor="t"/>
          <a:lstStyle/>
          <a:p>
            <a:pPr indent="0" marL="0">
              <a:buNone/>
            </a:pPr>
            <a:r>
              <a:rPr lang="en-US" sz="1300" b="1" dirty="0">
                <a:solidFill>
                  <a:srgbClr val="20232A"/>
                </a:solidFill>
                <a:latin typeface="Meiryo" pitchFamily="34" charset="0"/>
                <a:ea typeface="Meiryo" pitchFamily="34" charset="-122"/>
                <a:cs typeface="Meiryo" pitchFamily="34" charset="-120"/>
              </a:rPr>
              <a:t>告知地域や開催条件を見直す</a:t>
            </a:r>
            <a:endParaRPr lang="en-US" sz="1300" dirty="0"/>
          </a:p>
        </p:txBody>
      </p:sp>
      <p:sp>
        <p:nvSpPr>
          <p:cNvPr id="17" name="Shape 14"/>
          <p:cNvSpPr/>
          <p:nvPr/>
        </p:nvSpPr>
        <p:spPr>
          <a:xfrm>
            <a:off x="4297680" y="1783080"/>
            <a:ext cx="3474720" cy="3063240"/>
          </a:xfrm>
          <a:prstGeom prst="roundRect">
            <a:avLst>
              <a:gd name="adj" fmla="val 2388"/>
            </a:avLst>
          </a:prstGeom>
          <a:solidFill>
            <a:srgbClr val="F4F5F7"/>
          </a:solidFill>
          <a:ln w="12700">
            <a:solidFill>
              <a:srgbClr val="F4F5F7"/>
            </a:solidFill>
            <a:prstDash val="solid"/>
          </a:ln>
        </p:spPr>
      </p:sp>
      <p:sp>
        <p:nvSpPr>
          <p:cNvPr id="18" name="Shape 15"/>
          <p:cNvSpPr/>
          <p:nvPr/>
        </p:nvSpPr>
        <p:spPr>
          <a:xfrm>
            <a:off x="4526280" y="1965960"/>
            <a:ext cx="594360" cy="594360"/>
          </a:xfrm>
          <a:prstGeom prst="ellipse">
            <a:avLst/>
          </a:prstGeom>
          <a:solidFill>
            <a:srgbClr val="C9002B"/>
          </a:solidFill>
          <a:ln w="12700">
            <a:solidFill>
              <a:srgbClr val="C9002B"/>
            </a:solidFill>
            <a:prstDash val="solid"/>
          </a:ln>
        </p:spPr>
      </p:sp>
      <p:pic>
        <p:nvPicPr>
          <p:cNvPr id="19" name="Image 1" descr="preencoded.png">    </p:cNvPr>
          <p:cNvPicPr>
            <a:picLocks noChangeAspect="1"/>
          </p:cNvPicPr>
          <p:nvPr/>
        </p:nvPicPr>
        <p:blipFill>
          <a:blip r:embed="rId2"/>
          <a:stretch>
            <a:fillRect/>
          </a:stretch>
        </p:blipFill>
        <p:spPr>
          <a:xfrm>
            <a:off x="4674870" y="2114550"/>
            <a:ext cx="297180" cy="297180"/>
          </a:xfrm>
          <a:prstGeom prst="rect">
            <a:avLst/>
          </a:prstGeom>
        </p:spPr>
      </p:pic>
      <p:sp>
        <p:nvSpPr>
          <p:cNvPr id="20" name="Text 16"/>
          <p:cNvSpPr txBox="1"/>
          <p:nvPr/>
        </p:nvSpPr>
        <p:spPr>
          <a:xfrm>
            <a:off x="5257800" y="1965960"/>
            <a:ext cx="2377440" cy="594360"/>
          </a:xfrm>
          <a:prstGeom prst="rect">
            <a:avLst/>
          </a:prstGeom>
          <a:noFill/>
          <a:ln/>
        </p:spPr>
        <p:txBody>
          <a:bodyPr wrap="square" lIns="0" tIns="0" rIns="0" bIns="0" rtlCol="0" anchor="ctr"/>
          <a:lstStyle/>
          <a:p>
            <a:pPr indent="0" marL="0">
              <a:buNone/>
            </a:pPr>
            <a:r>
              <a:rPr lang="en-US" sz="1800" b="1" dirty="0">
                <a:solidFill>
                  <a:srgbClr val="20232A"/>
                </a:solidFill>
                <a:latin typeface="Meiryo" pitchFamily="34" charset="0"/>
                <a:ea typeface="Meiryo" pitchFamily="34" charset="-122"/>
                <a:cs typeface="Meiryo" pitchFamily="34" charset="-120"/>
              </a:rPr>
              <a:t>意識の変化</a:t>
            </a:r>
            <a:endParaRPr lang="en-US" sz="1800" dirty="0"/>
          </a:p>
        </p:txBody>
      </p:sp>
      <p:sp>
        <p:nvSpPr>
          <p:cNvPr id="21" name="Text 17"/>
          <p:cNvSpPr txBox="1"/>
          <p:nvPr/>
        </p:nvSpPr>
        <p:spPr>
          <a:xfrm>
            <a:off x="4526280" y="2743200"/>
            <a:ext cx="932688" cy="329184"/>
          </a:xfrm>
          <a:prstGeom prst="roundRect">
            <a:avLst>
              <a:gd name="adj" fmla="val 50000"/>
            </a:avLst>
          </a:prstGeom>
          <a:solidFill>
            <a:srgbClr val="FFFFFF"/>
          </a:solidFill>
          <a:ln>
            <a:solidFill>
              <a:srgbClr val="FFFFFF"/>
            </a:solidFill>
          </a:ln>
        </p:spPr>
        <p:txBody>
          <a:bodyPr wrap="square" lIns="0" tIns="0" rIns="0" bIns="0" rtlCol="0" anchor="ctr"/>
          <a:lstStyle/>
          <a:p>
            <a:pPr algn="ctr" indent="0" marL="0">
              <a:buNone/>
            </a:pPr>
            <a:r>
              <a:rPr lang="en-US" sz="1100" b="1" dirty="0">
                <a:solidFill>
                  <a:srgbClr val="20232A"/>
                </a:solidFill>
                <a:latin typeface="Meiryo" pitchFamily="34" charset="0"/>
                <a:ea typeface="Meiryo" pitchFamily="34" charset="-122"/>
                <a:cs typeface="Meiryo" pitchFamily="34" charset="-120"/>
              </a:rPr>
              <a:t>認知</a:t>
            </a:r>
            <a:endParaRPr lang="en-US" sz="1100" dirty="0"/>
          </a:p>
        </p:txBody>
      </p:sp>
      <p:sp>
        <p:nvSpPr>
          <p:cNvPr id="22" name="Text 18"/>
          <p:cNvSpPr txBox="1"/>
          <p:nvPr/>
        </p:nvSpPr>
        <p:spPr>
          <a:xfrm>
            <a:off x="5550408" y="2743200"/>
            <a:ext cx="932688" cy="329184"/>
          </a:xfrm>
          <a:prstGeom prst="roundRect">
            <a:avLst>
              <a:gd name="adj" fmla="val 50000"/>
            </a:avLst>
          </a:prstGeom>
          <a:solidFill>
            <a:srgbClr val="FFFFFF"/>
          </a:solidFill>
          <a:ln>
            <a:solidFill>
              <a:srgbClr val="FFFFFF"/>
            </a:solidFill>
          </a:ln>
        </p:spPr>
        <p:txBody>
          <a:bodyPr wrap="square" lIns="0" tIns="0" rIns="0" bIns="0" rtlCol="0" anchor="ctr"/>
          <a:lstStyle/>
          <a:p>
            <a:pPr algn="ctr" indent="0" marL="0">
              <a:buNone/>
            </a:pPr>
            <a:r>
              <a:rPr lang="en-US" sz="1100" b="1" dirty="0">
                <a:solidFill>
                  <a:srgbClr val="20232A"/>
                </a:solidFill>
                <a:latin typeface="Meiryo" pitchFamily="34" charset="0"/>
                <a:ea typeface="Meiryo" pitchFamily="34" charset="-122"/>
                <a:cs typeface="Meiryo" pitchFamily="34" charset="-120"/>
              </a:rPr>
              <a:t>参加意向</a:t>
            </a:r>
            <a:endParaRPr lang="en-US" sz="1100" dirty="0"/>
          </a:p>
        </p:txBody>
      </p:sp>
      <p:sp>
        <p:nvSpPr>
          <p:cNvPr id="23" name="Text 19"/>
          <p:cNvSpPr txBox="1"/>
          <p:nvPr/>
        </p:nvSpPr>
        <p:spPr>
          <a:xfrm>
            <a:off x="6574536" y="2743200"/>
            <a:ext cx="932688" cy="329184"/>
          </a:xfrm>
          <a:prstGeom prst="roundRect">
            <a:avLst>
              <a:gd name="adj" fmla="val 50000"/>
            </a:avLst>
          </a:prstGeom>
          <a:solidFill>
            <a:srgbClr val="FFFFFF"/>
          </a:solidFill>
          <a:ln>
            <a:solidFill>
              <a:srgbClr val="FFFFFF"/>
            </a:solidFill>
          </a:ln>
        </p:spPr>
        <p:txBody>
          <a:bodyPr wrap="square" lIns="0" tIns="0" rIns="0" bIns="0" rtlCol="0" anchor="ctr"/>
          <a:lstStyle/>
          <a:p>
            <a:pPr algn="ctr" indent="0" marL="0">
              <a:buNone/>
            </a:pPr>
            <a:r>
              <a:rPr lang="en-US" sz="1100" b="1" dirty="0">
                <a:solidFill>
                  <a:srgbClr val="20232A"/>
                </a:solidFill>
                <a:latin typeface="Meiryo" pitchFamily="34" charset="0"/>
                <a:ea typeface="Meiryo" pitchFamily="34" charset="-122"/>
                <a:cs typeface="Meiryo" pitchFamily="34" charset="-120"/>
              </a:rPr>
              <a:t>参加障壁</a:t>
            </a:r>
            <a:endParaRPr lang="en-US" sz="1100" dirty="0"/>
          </a:p>
        </p:txBody>
      </p:sp>
      <p:sp>
        <p:nvSpPr>
          <p:cNvPr id="24" name="Text 20"/>
          <p:cNvSpPr txBox="1"/>
          <p:nvPr/>
        </p:nvSpPr>
        <p:spPr>
          <a:xfrm>
            <a:off x="4526280" y="3200400"/>
            <a:ext cx="3063240" cy="320040"/>
          </a:xfrm>
          <a:prstGeom prst="rect">
            <a:avLst/>
          </a:prstGeom>
          <a:noFill/>
          <a:ln/>
        </p:spPr>
        <p:txBody>
          <a:bodyPr wrap="square" lIns="0" tIns="0" rIns="0" bIns="0" rtlCol="0" anchor="t"/>
          <a:lstStyle/>
          <a:p>
            <a:pPr indent="0" marL="0">
              <a:buNone/>
            </a:pPr>
            <a:r>
              <a:rPr lang="en-US" sz="1150" dirty="0">
                <a:solidFill>
                  <a:srgbClr val="5C626D"/>
                </a:solidFill>
                <a:latin typeface="Meiryo" pitchFamily="34" charset="0"/>
                <a:ea typeface="Meiryo" pitchFamily="34" charset="-122"/>
                <a:cs typeface="Meiryo" pitchFamily="34" charset="-120"/>
              </a:rPr>
              <a:t>対象・設問をそろえて比較</a:t>
            </a:r>
            <a:endParaRPr lang="en-US" sz="1150" dirty="0"/>
          </a:p>
        </p:txBody>
      </p:sp>
      <p:sp>
        <p:nvSpPr>
          <p:cNvPr id="25" name="Shape 21"/>
          <p:cNvSpPr/>
          <p:nvPr/>
        </p:nvSpPr>
        <p:spPr>
          <a:xfrm>
            <a:off x="4526280" y="3639312"/>
            <a:ext cx="3017520" cy="0"/>
          </a:xfrm>
          <a:prstGeom prst="line">
            <a:avLst/>
          </a:prstGeom>
          <a:noFill/>
          <a:ln w="12700">
            <a:solidFill>
              <a:srgbClr val="DADDE2"/>
            </a:solidFill>
            <a:prstDash val="solid"/>
          </a:ln>
        </p:spPr>
      </p:sp>
      <p:sp>
        <p:nvSpPr>
          <p:cNvPr id="26" name="Text 22"/>
          <p:cNvSpPr txBox="1"/>
          <p:nvPr/>
        </p:nvSpPr>
        <p:spPr>
          <a:xfrm>
            <a:off x="4526280" y="3730752"/>
            <a:ext cx="301752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次の提案への使い方</a:t>
            </a:r>
            <a:endParaRPr lang="en-US" sz="1100" dirty="0"/>
          </a:p>
        </p:txBody>
      </p:sp>
      <p:sp>
        <p:nvSpPr>
          <p:cNvPr id="27" name="Text 23"/>
          <p:cNvSpPr txBox="1"/>
          <p:nvPr/>
        </p:nvSpPr>
        <p:spPr>
          <a:xfrm>
            <a:off x="4526280" y="4023360"/>
            <a:ext cx="3063240" cy="685800"/>
          </a:xfrm>
          <a:prstGeom prst="rect">
            <a:avLst/>
          </a:prstGeom>
          <a:noFill/>
          <a:ln/>
        </p:spPr>
        <p:txBody>
          <a:bodyPr wrap="square" lIns="0" tIns="0" rIns="0" bIns="0" rtlCol="0" anchor="t"/>
          <a:lstStyle/>
          <a:p>
            <a:pPr indent="0" marL="0">
              <a:buNone/>
            </a:pPr>
            <a:r>
              <a:rPr lang="en-US" sz="1300" b="1" dirty="0">
                <a:solidFill>
                  <a:srgbClr val="20232A"/>
                </a:solidFill>
                <a:latin typeface="Meiryo" pitchFamily="34" charset="0"/>
                <a:ea typeface="Meiryo" pitchFamily="34" charset="-122"/>
                <a:cs typeface="Meiryo" pitchFamily="34" charset="-120"/>
              </a:rPr>
              <a:t>訴求や参加しやすい条件を見直す</a:t>
            </a:r>
            <a:endParaRPr lang="en-US" sz="1300" dirty="0"/>
          </a:p>
        </p:txBody>
      </p:sp>
      <p:sp>
        <p:nvSpPr>
          <p:cNvPr id="28" name="Shape 24"/>
          <p:cNvSpPr/>
          <p:nvPr/>
        </p:nvSpPr>
        <p:spPr>
          <a:xfrm>
            <a:off x="8046720" y="1783080"/>
            <a:ext cx="3474720" cy="3063240"/>
          </a:xfrm>
          <a:prstGeom prst="roundRect">
            <a:avLst>
              <a:gd name="adj" fmla="val 2388"/>
            </a:avLst>
          </a:prstGeom>
          <a:solidFill>
            <a:srgbClr val="F4F5F7"/>
          </a:solidFill>
          <a:ln w="12700">
            <a:solidFill>
              <a:srgbClr val="F4F5F7"/>
            </a:solidFill>
            <a:prstDash val="solid"/>
          </a:ln>
        </p:spPr>
      </p:sp>
      <p:sp>
        <p:nvSpPr>
          <p:cNvPr id="29" name="Shape 25"/>
          <p:cNvSpPr/>
          <p:nvPr/>
        </p:nvSpPr>
        <p:spPr>
          <a:xfrm>
            <a:off x="8275320" y="1965960"/>
            <a:ext cx="594360" cy="594360"/>
          </a:xfrm>
          <a:prstGeom prst="ellipse">
            <a:avLst/>
          </a:prstGeom>
          <a:solidFill>
            <a:srgbClr val="C9002B"/>
          </a:solidFill>
          <a:ln w="12700">
            <a:solidFill>
              <a:srgbClr val="C9002B"/>
            </a:solidFill>
            <a:prstDash val="solid"/>
          </a:ln>
        </p:spPr>
      </p:sp>
      <p:pic>
        <p:nvPicPr>
          <p:cNvPr id="30" name="Image 2" descr="preencoded.png">    </p:cNvPr>
          <p:cNvPicPr>
            <a:picLocks noChangeAspect="1"/>
          </p:cNvPicPr>
          <p:nvPr/>
        </p:nvPicPr>
        <p:blipFill>
          <a:blip r:embed="rId3"/>
          <a:stretch>
            <a:fillRect/>
          </a:stretch>
        </p:blipFill>
        <p:spPr>
          <a:xfrm>
            <a:off x="8423910" y="2114550"/>
            <a:ext cx="297180" cy="297180"/>
          </a:xfrm>
          <a:prstGeom prst="rect">
            <a:avLst/>
          </a:prstGeom>
        </p:spPr>
      </p:pic>
      <p:sp>
        <p:nvSpPr>
          <p:cNvPr id="31" name="Text 26"/>
          <p:cNvSpPr txBox="1"/>
          <p:nvPr/>
        </p:nvSpPr>
        <p:spPr>
          <a:xfrm>
            <a:off x="9006840" y="1965960"/>
            <a:ext cx="2377440" cy="594360"/>
          </a:xfrm>
          <a:prstGeom prst="rect">
            <a:avLst/>
          </a:prstGeom>
          <a:noFill/>
          <a:ln/>
        </p:spPr>
        <p:txBody>
          <a:bodyPr wrap="square" lIns="0" tIns="0" rIns="0" bIns="0" rtlCol="0" anchor="ctr"/>
          <a:lstStyle/>
          <a:p>
            <a:pPr indent="0" marL="0">
              <a:buNone/>
            </a:pPr>
            <a:r>
              <a:rPr lang="en-US" sz="1800" b="1" dirty="0">
                <a:solidFill>
                  <a:srgbClr val="20232A"/>
                </a:solidFill>
                <a:latin typeface="Meiryo" pitchFamily="34" charset="0"/>
                <a:ea typeface="Meiryo" pitchFamily="34" charset="-122"/>
                <a:cs typeface="Meiryo" pitchFamily="34" charset="-120"/>
              </a:rPr>
              <a:t>広告と申込</a:t>
            </a:r>
            <a:endParaRPr lang="en-US" sz="1800" dirty="0"/>
          </a:p>
        </p:txBody>
      </p:sp>
      <p:sp>
        <p:nvSpPr>
          <p:cNvPr id="32" name="Text 27"/>
          <p:cNvSpPr txBox="1"/>
          <p:nvPr/>
        </p:nvSpPr>
        <p:spPr>
          <a:xfrm>
            <a:off x="8275320" y="2743200"/>
            <a:ext cx="932688" cy="329184"/>
          </a:xfrm>
          <a:prstGeom prst="roundRect">
            <a:avLst>
              <a:gd name="adj" fmla="val 50000"/>
            </a:avLst>
          </a:prstGeom>
          <a:solidFill>
            <a:srgbClr val="FFFFFF"/>
          </a:solidFill>
          <a:ln>
            <a:solidFill>
              <a:srgbClr val="FFFFFF"/>
            </a:solidFill>
          </a:ln>
        </p:spPr>
        <p:txBody>
          <a:bodyPr wrap="square" lIns="0" tIns="0" rIns="0" bIns="0" rtlCol="0" anchor="ctr"/>
          <a:lstStyle/>
          <a:p>
            <a:pPr algn="ctr" indent="0" marL="0">
              <a:buNone/>
            </a:pPr>
            <a:r>
              <a:rPr lang="en-US" sz="1100" b="1" dirty="0">
                <a:solidFill>
                  <a:srgbClr val="20232A"/>
                </a:solidFill>
                <a:latin typeface="Meiryo" pitchFamily="34" charset="0"/>
                <a:ea typeface="Meiryo" pitchFamily="34" charset="-122"/>
                <a:cs typeface="Meiryo" pitchFamily="34" charset="-120"/>
              </a:rPr>
              <a:t>表示</a:t>
            </a:r>
            <a:endParaRPr lang="en-US" sz="1100" dirty="0"/>
          </a:p>
        </p:txBody>
      </p:sp>
      <p:sp>
        <p:nvSpPr>
          <p:cNvPr id="33" name="Text 28"/>
          <p:cNvSpPr txBox="1"/>
          <p:nvPr/>
        </p:nvSpPr>
        <p:spPr>
          <a:xfrm>
            <a:off x="9299448" y="2743200"/>
            <a:ext cx="932688" cy="329184"/>
          </a:xfrm>
          <a:prstGeom prst="roundRect">
            <a:avLst>
              <a:gd name="adj" fmla="val 50000"/>
            </a:avLst>
          </a:prstGeom>
          <a:solidFill>
            <a:srgbClr val="FFFFFF"/>
          </a:solidFill>
          <a:ln>
            <a:solidFill>
              <a:srgbClr val="FFFFFF"/>
            </a:solidFill>
          </a:ln>
        </p:spPr>
        <p:txBody>
          <a:bodyPr wrap="square" lIns="0" tIns="0" rIns="0" bIns="0" rtlCol="0" anchor="ctr"/>
          <a:lstStyle/>
          <a:p>
            <a:pPr algn="ctr" indent="0" marL="0">
              <a:buNone/>
            </a:pPr>
            <a:r>
              <a:rPr lang="en-US" sz="1100" b="1" dirty="0">
                <a:solidFill>
                  <a:srgbClr val="20232A"/>
                </a:solidFill>
                <a:latin typeface="Meiryo" pitchFamily="34" charset="0"/>
                <a:ea typeface="Meiryo" pitchFamily="34" charset="-122"/>
                <a:cs typeface="Meiryo" pitchFamily="34" charset="-120"/>
              </a:rPr>
              <a:t>クリック</a:t>
            </a:r>
            <a:endParaRPr lang="en-US" sz="1100" dirty="0"/>
          </a:p>
        </p:txBody>
      </p:sp>
      <p:sp>
        <p:nvSpPr>
          <p:cNvPr id="34" name="Text 29"/>
          <p:cNvSpPr txBox="1"/>
          <p:nvPr/>
        </p:nvSpPr>
        <p:spPr>
          <a:xfrm>
            <a:off x="10323576" y="2743200"/>
            <a:ext cx="932688" cy="329184"/>
          </a:xfrm>
          <a:prstGeom prst="roundRect">
            <a:avLst>
              <a:gd name="adj" fmla="val 50000"/>
            </a:avLst>
          </a:prstGeom>
          <a:solidFill>
            <a:srgbClr val="FFFFFF"/>
          </a:solidFill>
          <a:ln>
            <a:solidFill>
              <a:srgbClr val="FFFFFF"/>
            </a:solidFill>
          </a:ln>
        </p:spPr>
        <p:txBody>
          <a:bodyPr wrap="square" lIns="0" tIns="0" rIns="0" bIns="0" rtlCol="0" anchor="ctr"/>
          <a:lstStyle/>
          <a:p>
            <a:pPr algn="ctr" indent="0" marL="0">
              <a:buNone/>
            </a:pPr>
            <a:r>
              <a:rPr lang="en-US" sz="1100" b="1" dirty="0">
                <a:solidFill>
                  <a:srgbClr val="20232A"/>
                </a:solidFill>
                <a:latin typeface="Meiryo" pitchFamily="34" charset="0"/>
                <a:ea typeface="Meiryo" pitchFamily="34" charset="-122"/>
                <a:cs typeface="Meiryo" pitchFamily="34" charset="-120"/>
              </a:rPr>
              <a:t>申込数</a:t>
            </a:r>
            <a:endParaRPr lang="en-US" sz="1100" dirty="0"/>
          </a:p>
        </p:txBody>
      </p:sp>
      <p:sp>
        <p:nvSpPr>
          <p:cNvPr id="35" name="Text 30"/>
          <p:cNvSpPr txBox="1"/>
          <p:nvPr/>
        </p:nvSpPr>
        <p:spPr>
          <a:xfrm>
            <a:off x="8275320" y="3200400"/>
            <a:ext cx="3063240" cy="320040"/>
          </a:xfrm>
          <a:prstGeom prst="rect">
            <a:avLst/>
          </a:prstGeom>
          <a:noFill/>
          <a:ln/>
        </p:spPr>
        <p:txBody>
          <a:bodyPr wrap="square" lIns="0" tIns="0" rIns="0" bIns="0" rtlCol="0" anchor="t"/>
          <a:lstStyle/>
          <a:p>
            <a:pPr indent="0" marL="0">
              <a:buNone/>
            </a:pPr>
            <a:r>
              <a:rPr lang="en-US" sz="1150" dirty="0">
                <a:solidFill>
                  <a:srgbClr val="5C626D"/>
                </a:solidFill>
                <a:latin typeface="Meiryo" pitchFamily="34" charset="0"/>
                <a:ea typeface="Meiryo" pitchFamily="34" charset="-122"/>
                <a:cs typeface="Meiryo" pitchFamily="34" charset="-120"/>
              </a:rPr>
              <a:t>申込1件あたりの費用も確認</a:t>
            </a:r>
            <a:endParaRPr lang="en-US" sz="1150" dirty="0"/>
          </a:p>
        </p:txBody>
      </p:sp>
      <p:sp>
        <p:nvSpPr>
          <p:cNvPr id="36" name="Shape 31"/>
          <p:cNvSpPr/>
          <p:nvPr/>
        </p:nvSpPr>
        <p:spPr>
          <a:xfrm>
            <a:off x="8275320" y="3639312"/>
            <a:ext cx="3017520" cy="0"/>
          </a:xfrm>
          <a:prstGeom prst="line">
            <a:avLst/>
          </a:prstGeom>
          <a:noFill/>
          <a:ln w="12700">
            <a:solidFill>
              <a:srgbClr val="DADDE2"/>
            </a:solidFill>
            <a:prstDash val="solid"/>
          </a:ln>
        </p:spPr>
      </p:sp>
      <p:sp>
        <p:nvSpPr>
          <p:cNvPr id="37" name="Text 32"/>
          <p:cNvSpPr txBox="1"/>
          <p:nvPr/>
        </p:nvSpPr>
        <p:spPr>
          <a:xfrm>
            <a:off x="8275320" y="3730752"/>
            <a:ext cx="301752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次の提案への使い方</a:t>
            </a:r>
            <a:endParaRPr lang="en-US" sz="1100" dirty="0"/>
          </a:p>
        </p:txBody>
      </p:sp>
      <p:sp>
        <p:nvSpPr>
          <p:cNvPr id="38" name="Text 33"/>
          <p:cNvSpPr txBox="1"/>
          <p:nvPr/>
        </p:nvSpPr>
        <p:spPr>
          <a:xfrm>
            <a:off x="8275320" y="4023360"/>
            <a:ext cx="3063240" cy="685800"/>
          </a:xfrm>
          <a:prstGeom prst="rect">
            <a:avLst/>
          </a:prstGeom>
          <a:noFill/>
          <a:ln/>
        </p:spPr>
        <p:txBody>
          <a:bodyPr wrap="square" lIns="0" tIns="0" rIns="0" bIns="0" rtlCol="0" anchor="t"/>
          <a:lstStyle/>
          <a:p>
            <a:pPr indent="0" marL="0">
              <a:buNone/>
            </a:pPr>
            <a:r>
              <a:rPr lang="en-US" sz="1300" b="1" dirty="0">
                <a:solidFill>
                  <a:srgbClr val="20232A"/>
                </a:solidFill>
                <a:latin typeface="Meiryo" pitchFamily="34" charset="0"/>
                <a:ea typeface="Meiryo" pitchFamily="34" charset="-122"/>
                <a:cs typeface="Meiryo" pitchFamily="34" charset="-120"/>
              </a:rPr>
              <a:t>対象・素材・申込ページを改善する</a:t>
            </a:r>
            <a:endParaRPr lang="en-US" sz="1300" dirty="0"/>
          </a:p>
        </p:txBody>
      </p:sp>
      <p:sp>
        <p:nvSpPr>
          <p:cNvPr id="39" name="Text 34"/>
          <p:cNvSpPr txBox="1"/>
          <p:nvPr/>
        </p:nvSpPr>
        <p:spPr>
          <a:xfrm>
            <a:off x="548640" y="5029200"/>
            <a:ext cx="3657600" cy="274320"/>
          </a:xfrm>
          <a:prstGeom prst="rect">
            <a:avLst/>
          </a:prstGeom>
          <a:noFill/>
          <a:ln/>
        </p:spPr>
        <p:txBody>
          <a:bodyPr wrap="square" lIns="0" tIns="0" rIns="0" bIns="0" rtlCol="0" anchor="t"/>
          <a:lstStyle/>
          <a:p>
            <a:pPr indent="0" marL="0">
              <a:buNone/>
            </a:pPr>
            <a:r>
              <a:rPr lang="en-US" sz="1200" b="1" dirty="0">
                <a:solidFill>
                  <a:srgbClr val="5C626D"/>
                </a:solidFill>
                <a:latin typeface="Meiryo" pitchFamily="34" charset="0"/>
                <a:ea typeface="Meiryo" pitchFamily="34" charset="-122"/>
                <a:cs typeface="Meiryo" pitchFamily="34" charset="-120"/>
              </a:rPr>
              <a:t>期間ごとに決めること</a:t>
            </a:r>
            <a:endParaRPr lang="en-US" sz="1200" dirty="0"/>
          </a:p>
        </p:txBody>
      </p:sp>
      <p:sp>
        <p:nvSpPr>
          <p:cNvPr id="40" name="Text 35"/>
          <p:cNvSpPr txBox="1"/>
          <p:nvPr/>
        </p:nvSpPr>
        <p:spPr>
          <a:xfrm>
            <a:off x="548640" y="5349240"/>
            <a:ext cx="3566160" cy="548640"/>
          </a:xfrm>
          <a:prstGeom prst="chevron">
            <a:avLst/>
          </a:prstGeom>
          <a:solidFill>
            <a:srgbClr val="5C626D"/>
          </a:solidFill>
          <a:ln>
            <a:solidFill>
              <a:srgbClr val="5C626D"/>
            </a:solid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1ヶ月　</a:t>
            </a:r>
            <a:pPr algn="ctr" indent="0" marL="0">
              <a:buNone/>
            </a:pPr>
            <a:r>
              <a:rPr lang="en-US" sz="1400" dirty="0">
                <a:solidFill>
                  <a:srgbClr val="E6E8EB"/>
                </a:solidFill>
                <a:latin typeface="Meiryo" pitchFamily="34" charset="0"/>
                <a:ea typeface="Meiryo" pitchFamily="34" charset="-122"/>
                <a:cs typeface="Meiryo" pitchFamily="34" charset="-120"/>
              </a:rPr>
              <a:t>次の検証条件</a:t>
            </a:r>
            <a:endParaRPr lang="en-US" sz="1400" dirty="0"/>
          </a:p>
        </p:txBody>
      </p:sp>
      <p:sp>
        <p:nvSpPr>
          <p:cNvPr id="41" name="Text 36"/>
          <p:cNvSpPr txBox="1"/>
          <p:nvPr/>
        </p:nvSpPr>
        <p:spPr>
          <a:xfrm>
            <a:off x="4297680" y="5349240"/>
            <a:ext cx="3566160" cy="548640"/>
          </a:xfrm>
          <a:prstGeom prst="chevron">
            <a:avLst/>
          </a:prstGeom>
          <a:solidFill>
            <a:srgbClr val="20232A"/>
          </a:solidFill>
          <a:ln>
            <a:solidFill>
              <a:srgbClr val="20232A"/>
            </a:solid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3ヶ月　</a:t>
            </a:r>
            <a:pPr algn="ctr" indent="0" marL="0">
              <a:buNone/>
            </a:pPr>
            <a:r>
              <a:rPr lang="en-US" sz="1400" dirty="0">
                <a:solidFill>
                  <a:srgbClr val="E6E8EB"/>
                </a:solidFill>
                <a:latin typeface="Meiryo" pitchFamily="34" charset="0"/>
                <a:ea typeface="Meiryo" pitchFamily="34" charset="-122"/>
                <a:cs typeface="Meiryo" pitchFamily="34" charset="-120"/>
              </a:rPr>
              <a:t>継続可否</a:t>
            </a:r>
            <a:endParaRPr lang="en-US" sz="1400" dirty="0"/>
          </a:p>
        </p:txBody>
      </p:sp>
      <p:sp>
        <p:nvSpPr>
          <p:cNvPr id="42" name="Text 37"/>
          <p:cNvSpPr txBox="1"/>
          <p:nvPr/>
        </p:nvSpPr>
        <p:spPr>
          <a:xfrm>
            <a:off x="8046720" y="5349240"/>
            <a:ext cx="3566160" cy="548640"/>
          </a:xfrm>
          <a:prstGeom prst="chevron">
            <a:avLst/>
          </a:prstGeom>
          <a:solidFill>
            <a:srgbClr val="C9002B"/>
          </a:solidFill>
          <a:ln>
            <a:solidFill>
              <a:srgbClr val="C9002B"/>
            </a:solid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1年　</a:t>
            </a:r>
            <a:pPr algn="ctr" indent="0" marL="0">
              <a:buNone/>
            </a:pPr>
            <a:r>
              <a:rPr lang="en-US" sz="1400" dirty="0">
                <a:solidFill>
                  <a:srgbClr val="E6E8EB"/>
                </a:solidFill>
                <a:latin typeface="Meiryo" pitchFamily="34" charset="0"/>
                <a:ea typeface="Meiryo" pitchFamily="34" charset="-122"/>
                <a:cs typeface="Meiryo" pitchFamily="34" charset="-120"/>
              </a:rPr>
              <a:t>次年度の配分</a:t>
            </a:r>
            <a:endParaRPr lang="en-US" sz="1400" dirty="0"/>
          </a:p>
        </p:txBody>
      </p:sp>
      <p:sp>
        <p:nvSpPr>
          <p:cNvPr id="43" name="Text 38"/>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C626D"/>
                </a:solidFill>
                <a:latin typeface="Meiryo" pitchFamily="34" charset="0"/>
                <a:ea typeface="Meiryo" pitchFamily="34" charset="-122"/>
                <a:cs typeface="Meiryo" pitchFamily="34" charset="-120"/>
              </a:rPr>
              <a:t>目標は顧客の実績・予算から設定。天候・日程・対戦相手なども影響するため、広告だけが増減の原因とは断定しない</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4864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補足</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20232A"/>
                </a:solidFill>
                <a:latin typeface="Meiryo" pitchFamily="34" charset="0"/>
                <a:ea typeface="Meiryo" pitchFamily="34" charset="-122"/>
                <a:cs typeface="Meiryo" pitchFamily="34" charset="-120"/>
              </a:rPr>
              <a:t>補足：人流サービスの契約期間</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C626D"/>
                </a:solidFill>
                <a:latin typeface="Meiryo" pitchFamily="34" charset="0"/>
                <a:ea typeface="Meiryo" pitchFamily="34" charset="-122"/>
                <a:cs typeface="Meiryo" pitchFamily="34" charset="-120"/>
              </a:rPr>
              <a:t>人口マップと標準オンライン参照版は、別メニューとして比較する</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C626D"/>
                </a:solidFill>
                <a:latin typeface="Meiryo" pitchFamily="34" charset="0"/>
                <a:ea typeface="Meiryo" pitchFamily="34" charset="-122"/>
                <a:cs typeface="Meiryo" pitchFamily="34" charset="-120"/>
              </a:rPr>
              <a:t>18</a:t>
            </a:r>
            <a:endParaRPr lang="en-US" sz="1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2834640"/>
                <a:gridCol w="2743200"/>
                <a:gridCol w="2743200"/>
                <a:gridCol w="2743200"/>
              </a:tblGrid>
              <a:tr h="457200">
                <a:tc>
                  <a:txBody>
                    <a:bodyPr/>
                    <a:lstStyle/>
                    <a:p>
                      <a:pPr algn="ctr" indent="0" marL="0">
                        <a:buNone/>
                      </a:pPr>
                      <a:r>
                        <a:rPr lang="en-US" sz="1300" b="1" dirty="0">
                          <a:solidFill>
                            <a:srgbClr val="FFFFFF"/>
                          </a:solidFill>
                          <a:latin typeface="Meiryo" pitchFamily="34" charset="0"/>
                          <a:ea typeface="Meiryo" pitchFamily="34" charset="-122"/>
                          <a:cs typeface="Meiryo" pitchFamily="34" charset="-120"/>
                        </a:rPr>
                        <a:t>メニュー</a:t>
                      </a:r>
                      <a:endParaRPr lang="en-US" sz="1300" dirty="0">
                        <a:latin typeface="Meiryo" charset="0"/>
                        <a:ea typeface="Meiryo" charset="0"/>
                        <a:cs typeface="Meiryo" charset="0"/>
                      </a:endParaRPr>
                    </a:p>
                  </a:txBody>
                  <a:tcPr marL="127000" marR="127000" marT="50800" marB="50800" anchor="ctr">
                    <a:lnL w="12700" cap="flat" cmpd="sng" algn="ctr">
                      <a:solidFill>
                        <a:srgbClr val="DADDE2"/>
                      </a:solidFill>
                      <a:prstDash val="solid"/>
                      <a:round/>
                      <a:headEnd type="none" w="med" len="med"/>
                      <a:tailEnd type="none" w="med" len="med"/>
                    </a:lnL>
                    <a:lnR w="12700" cap="flat" cmpd="sng" algn="ctr">
                      <a:solidFill>
                        <a:srgbClr val="DADDE2"/>
                      </a:solidFill>
                      <a:prstDash val="solid"/>
                      <a:round/>
                      <a:headEnd type="none" w="med" len="med"/>
                      <a:tailEnd type="none" w="med" len="med"/>
                    </a:lnR>
                    <a:lnT w="12700" cap="flat" cmpd="sng" algn="ctr">
                      <a:solidFill>
                        <a:srgbClr val="DADDE2"/>
                      </a:solidFill>
                      <a:prstDash val="solid"/>
                      <a:round/>
                      <a:headEnd type="none" w="med" len="med"/>
                      <a:tailEnd type="none" w="med" len="med"/>
                    </a:lnT>
                    <a:lnB w="12700" cap="flat" cmpd="sng" algn="ctr">
                      <a:solidFill>
                        <a:srgbClr val="DADDE2"/>
                      </a:solidFill>
                      <a:prstDash val="solid"/>
                      <a:round/>
                      <a:headEnd type="none" w="med" len="med"/>
                      <a:tailEnd type="none" w="med" len="med"/>
                    </a:lnB>
                    <a:solidFill>
                      <a:srgbClr val="20232A"/>
                    </a:solidFill>
                  </a:tcPr>
                </a:tc>
                <a:tc>
                  <a:txBody>
                    <a:bodyPr/>
                    <a:lstStyle/>
                    <a:p>
                      <a:pPr algn="ctr" indent="0" marL="0">
                        <a:buNone/>
                      </a:pPr>
                      <a:r>
                        <a:rPr lang="en-US" sz="1300" b="1" dirty="0">
                          <a:solidFill>
                            <a:srgbClr val="FFFFFF"/>
                          </a:solidFill>
                          <a:latin typeface="Meiryo" pitchFamily="34" charset="0"/>
                          <a:ea typeface="Meiryo" pitchFamily="34" charset="-122"/>
                          <a:cs typeface="Meiryo" pitchFamily="34" charset="-120"/>
                        </a:rPr>
                        <a:t>1ヶ月</a:t>
                      </a:r>
                      <a:endParaRPr lang="en-US" sz="1300" dirty="0">
                        <a:latin typeface="Meiryo" charset="0"/>
                        <a:ea typeface="Meiryo" charset="0"/>
                        <a:cs typeface="Meiryo" charset="0"/>
                      </a:endParaRPr>
                    </a:p>
                  </a:txBody>
                  <a:tcPr marL="127000" marR="127000" marT="50800" marB="50800" anchor="ctr">
                    <a:lnL w="12700" cap="flat" cmpd="sng" algn="ctr">
                      <a:solidFill>
                        <a:srgbClr val="DADDE2"/>
                      </a:solidFill>
                      <a:prstDash val="solid"/>
                      <a:round/>
                      <a:headEnd type="none" w="med" len="med"/>
                      <a:tailEnd type="none" w="med" len="med"/>
                    </a:lnL>
                    <a:lnR w="12700" cap="flat" cmpd="sng" algn="ctr">
                      <a:solidFill>
                        <a:srgbClr val="DADDE2"/>
                      </a:solidFill>
                      <a:prstDash val="solid"/>
                      <a:round/>
                      <a:headEnd type="none" w="med" len="med"/>
                      <a:tailEnd type="none" w="med" len="med"/>
                    </a:lnR>
                    <a:lnT w="12700" cap="flat" cmpd="sng" algn="ctr">
                      <a:solidFill>
                        <a:srgbClr val="DADDE2"/>
                      </a:solidFill>
                      <a:prstDash val="solid"/>
                      <a:round/>
                      <a:headEnd type="none" w="med" len="med"/>
                      <a:tailEnd type="none" w="med" len="med"/>
                    </a:lnT>
                    <a:lnB w="12700" cap="flat" cmpd="sng" algn="ctr">
                      <a:solidFill>
                        <a:srgbClr val="DADDE2"/>
                      </a:solidFill>
                      <a:prstDash val="solid"/>
                      <a:round/>
                      <a:headEnd type="none" w="med" len="med"/>
                      <a:tailEnd type="none" w="med" len="med"/>
                    </a:lnB>
                    <a:solidFill>
                      <a:srgbClr val="20232A"/>
                    </a:solidFill>
                  </a:tcPr>
                </a:tc>
                <a:tc>
                  <a:txBody>
                    <a:bodyPr/>
                    <a:lstStyle/>
                    <a:p>
                      <a:pPr algn="ctr" indent="0" marL="0">
                        <a:buNone/>
                      </a:pPr>
                      <a:r>
                        <a:rPr lang="en-US" sz="1300" b="1" dirty="0">
                          <a:solidFill>
                            <a:srgbClr val="FFFFFF"/>
                          </a:solidFill>
                          <a:latin typeface="Meiryo" pitchFamily="34" charset="0"/>
                          <a:ea typeface="Meiryo" pitchFamily="34" charset="-122"/>
                          <a:cs typeface="Meiryo" pitchFamily="34" charset="-120"/>
                        </a:rPr>
                        <a:t>3ヶ月</a:t>
                      </a:r>
                      <a:endParaRPr lang="en-US" sz="1300" dirty="0">
                        <a:latin typeface="Meiryo" charset="0"/>
                        <a:ea typeface="Meiryo" charset="0"/>
                        <a:cs typeface="Meiryo" charset="0"/>
                      </a:endParaRPr>
                    </a:p>
                  </a:txBody>
                  <a:tcPr marL="127000" marR="127000" marT="50800" marB="50800" anchor="ctr">
                    <a:lnL w="12700" cap="flat" cmpd="sng" algn="ctr">
                      <a:solidFill>
                        <a:srgbClr val="DADDE2"/>
                      </a:solidFill>
                      <a:prstDash val="solid"/>
                      <a:round/>
                      <a:headEnd type="none" w="med" len="med"/>
                      <a:tailEnd type="none" w="med" len="med"/>
                    </a:lnL>
                    <a:lnR w="12700" cap="flat" cmpd="sng" algn="ctr">
                      <a:solidFill>
                        <a:srgbClr val="DADDE2"/>
                      </a:solidFill>
                      <a:prstDash val="solid"/>
                      <a:round/>
                      <a:headEnd type="none" w="med" len="med"/>
                      <a:tailEnd type="none" w="med" len="med"/>
                    </a:lnR>
                    <a:lnT w="12700" cap="flat" cmpd="sng" algn="ctr">
                      <a:solidFill>
                        <a:srgbClr val="DADDE2"/>
                      </a:solidFill>
                      <a:prstDash val="solid"/>
                      <a:round/>
                      <a:headEnd type="none" w="med" len="med"/>
                      <a:tailEnd type="none" w="med" len="med"/>
                    </a:lnT>
                    <a:lnB w="12700" cap="flat" cmpd="sng" algn="ctr">
                      <a:solidFill>
                        <a:srgbClr val="DADDE2"/>
                      </a:solidFill>
                      <a:prstDash val="solid"/>
                      <a:round/>
                      <a:headEnd type="none" w="med" len="med"/>
                      <a:tailEnd type="none" w="med" len="med"/>
                    </a:lnB>
                    <a:solidFill>
                      <a:srgbClr val="20232A"/>
                    </a:solidFill>
                  </a:tcPr>
                </a:tc>
                <a:tc>
                  <a:txBody>
                    <a:bodyPr/>
                    <a:lstStyle/>
                    <a:p>
                      <a:pPr algn="ctr" indent="0" marL="0">
                        <a:buNone/>
                      </a:pPr>
                      <a:r>
                        <a:rPr lang="en-US" sz="1300" b="1" dirty="0">
                          <a:solidFill>
                            <a:srgbClr val="FFFFFF"/>
                          </a:solidFill>
                          <a:latin typeface="Meiryo" pitchFamily="34" charset="0"/>
                          <a:ea typeface="Meiryo" pitchFamily="34" charset="-122"/>
                          <a:cs typeface="Meiryo" pitchFamily="34" charset="-120"/>
                        </a:rPr>
                        <a:t>1年</a:t>
                      </a:r>
                      <a:endParaRPr lang="en-US" sz="1300" dirty="0">
                        <a:latin typeface="Meiryo" charset="0"/>
                        <a:ea typeface="Meiryo" charset="0"/>
                        <a:cs typeface="Meiryo" charset="0"/>
                      </a:endParaRPr>
                    </a:p>
                  </a:txBody>
                  <a:tcPr marL="127000" marR="127000" marT="50800" marB="50800" anchor="ctr">
                    <a:lnL w="12700" cap="flat" cmpd="sng" algn="ctr">
                      <a:solidFill>
                        <a:srgbClr val="DADDE2"/>
                      </a:solidFill>
                      <a:prstDash val="solid"/>
                      <a:round/>
                      <a:headEnd type="none" w="med" len="med"/>
                      <a:tailEnd type="none" w="med" len="med"/>
                    </a:lnL>
                    <a:lnR w="12700" cap="flat" cmpd="sng" algn="ctr">
                      <a:solidFill>
                        <a:srgbClr val="DADDE2"/>
                      </a:solidFill>
                      <a:prstDash val="solid"/>
                      <a:round/>
                      <a:headEnd type="none" w="med" len="med"/>
                      <a:tailEnd type="none" w="med" len="med"/>
                    </a:lnR>
                    <a:lnT w="12700" cap="flat" cmpd="sng" algn="ctr">
                      <a:solidFill>
                        <a:srgbClr val="DADDE2"/>
                      </a:solidFill>
                      <a:prstDash val="solid"/>
                      <a:round/>
                      <a:headEnd type="none" w="med" len="med"/>
                      <a:tailEnd type="none" w="med" len="med"/>
                    </a:lnT>
                    <a:lnB w="12700" cap="flat" cmpd="sng" algn="ctr">
                      <a:solidFill>
                        <a:srgbClr val="DADDE2"/>
                      </a:solidFill>
                      <a:prstDash val="solid"/>
                      <a:round/>
                      <a:headEnd type="none" w="med" len="med"/>
                      <a:tailEnd type="none" w="med" len="med"/>
                    </a:lnB>
                    <a:solidFill>
                      <a:srgbClr val="20232A"/>
                    </a:solidFill>
                  </a:tcPr>
                </a:tc>
              </a:tr>
              <a:tr h="1143000">
                <a:tc>
                  <a:txBody>
                    <a:bodyPr/>
                    <a:lstStyle/>
                    <a:p>
                      <a:pPr indent="0" marL="0">
                        <a:buNone/>
                      </a:pPr>
                      <a:r>
                        <a:rPr lang="en-US" sz="1300" b="1" dirty="0">
                          <a:solidFill>
                            <a:srgbClr val="20232A"/>
                          </a:solidFill>
                          <a:latin typeface="Meiryo" pitchFamily="34" charset="0"/>
                          <a:ea typeface="Meiryo" pitchFamily="34" charset="-122"/>
                          <a:cs typeface="Meiryo" pitchFamily="34" charset="-120"/>
                        </a:rPr>
                        <a:t>標準版 国内①</a:t>
                      </a:r>
                      <a:endParaRPr lang="en-US" sz="1300" dirty="0">
                        <a:latin typeface="Meiryo" charset="0"/>
                        <a:ea typeface="Meiryo" charset="0"/>
                        <a:cs typeface="Meiryo" charset="0"/>
                      </a:endParaRPr>
                    </a:p>
                    <a:p>
                      <a:pPr indent="0" marL="0">
                        <a:buNone/>
                      </a:pPr>
                      <a:r>
                        <a:rPr lang="en-US" sz="1100" dirty="0">
                          <a:solidFill>
                            <a:srgbClr val="5C626D"/>
                          </a:solidFill>
                          <a:latin typeface="Meiryo" pitchFamily="34" charset="0"/>
                          <a:ea typeface="Meiryo" pitchFamily="34" charset="-122"/>
                          <a:cs typeface="Meiryo" pitchFamily="34" charset="-120"/>
                        </a:rPr>
                        <a:t>4都道府県・月平均</a:t>
                      </a:r>
                      <a:endParaRPr lang="en-US" sz="1300" dirty="0">
                        <a:latin typeface="Meiryo" charset="0"/>
                        <a:ea typeface="Meiryo" charset="0"/>
                        <a:cs typeface="Meiryo" charset="0"/>
                      </a:endParaRPr>
                    </a:p>
                  </a:txBody>
                  <a:tcPr marL="127000" marR="127000" marT="50800" marB="50800" anchor="ctr">
                    <a:lnL w="12700" cap="flat" cmpd="sng" algn="ctr">
                      <a:solidFill>
                        <a:srgbClr val="DADDE2"/>
                      </a:solidFill>
                      <a:prstDash val="solid"/>
                      <a:round/>
                      <a:headEnd type="none" w="med" len="med"/>
                      <a:tailEnd type="none" w="med" len="med"/>
                    </a:lnL>
                    <a:lnR w="12700" cap="flat" cmpd="sng" algn="ctr">
                      <a:solidFill>
                        <a:srgbClr val="DADDE2"/>
                      </a:solidFill>
                      <a:prstDash val="solid"/>
                      <a:round/>
                      <a:headEnd type="none" w="med" len="med"/>
                      <a:tailEnd type="none" w="med" len="med"/>
                    </a:lnR>
                    <a:lnT w="12700" cap="flat" cmpd="sng" algn="ctr">
                      <a:solidFill>
                        <a:srgbClr val="DADDE2"/>
                      </a:solidFill>
                      <a:prstDash val="solid"/>
                      <a:round/>
                      <a:headEnd type="none" w="med" len="med"/>
                      <a:tailEnd type="none" w="med" len="med"/>
                    </a:lnT>
                    <a:lnB w="12700" cap="flat" cmpd="sng" algn="ctr">
                      <a:solidFill>
                        <a:srgbClr val="DADDE2"/>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5C626D"/>
                          </a:solidFill>
                          <a:latin typeface="Meiryo" pitchFamily="34" charset="0"/>
                          <a:ea typeface="Meiryo" pitchFamily="34" charset="-122"/>
                          <a:cs typeface="Meiryo" pitchFamily="34" charset="-120"/>
                        </a:rPr>
                        <a:t>最低3ヶ月のため</a:t>
                      </a:r>
                      <a:endParaRPr lang="en-US" sz="1300" dirty="0">
                        <a:latin typeface="Meiryo" charset="0"/>
                        <a:ea typeface="Meiryo" charset="0"/>
                        <a:cs typeface="Meiryo" charset="0"/>
                      </a:endParaRPr>
                    </a:p>
                    <a:p>
                      <a:pPr algn="ctr" indent="0" marL="0">
                        <a:buNone/>
                      </a:pPr>
                      <a:r>
                        <a:rPr lang="en-US" sz="1300" dirty="0">
                          <a:solidFill>
                            <a:srgbClr val="5C626D"/>
                          </a:solidFill>
                          <a:latin typeface="Meiryo" pitchFamily="34" charset="0"/>
                          <a:ea typeface="Meiryo" pitchFamily="34" charset="-122"/>
                          <a:cs typeface="Meiryo" pitchFamily="34" charset="-120"/>
                        </a:rPr>
                        <a:t>1ヶ月契約は不可</a:t>
                      </a:r>
                      <a:endParaRPr lang="en-US" sz="1300" dirty="0">
                        <a:latin typeface="Meiryo" charset="0"/>
                        <a:ea typeface="Meiryo" charset="0"/>
                        <a:cs typeface="Meiryo" charset="0"/>
                      </a:endParaRPr>
                    </a:p>
                  </a:txBody>
                  <a:tcPr marL="127000" marR="127000" marT="50800" marB="50800" anchor="ctr">
                    <a:lnL w="12700" cap="flat" cmpd="sng" algn="ctr">
                      <a:solidFill>
                        <a:srgbClr val="DADDE2"/>
                      </a:solidFill>
                      <a:prstDash val="solid"/>
                      <a:round/>
                      <a:headEnd type="none" w="med" len="med"/>
                      <a:tailEnd type="none" w="med" len="med"/>
                    </a:lnL>
                    <a:lnR w="12700" cap="flat" cmpd="sng" algn="ctr">
                      <a:solidFill>
                        <a:srgbClr val="DADDE2"/>
                      </a:solidFill>
                      <a:prstDash val="solid"/>
                      <a:round/>
                      <a:headEnd type="none" w="med" len="med"/>
                      <a:tailEnd type="none" w="med" len="med"/>
                    </a:lnR>
                    <a:lnT w="12700" cap="flat" cmpd="sng" algn="ctr">
                      <a:solidFill>
                        <a:srgbClr val="DADDE2"/>
                      </a:solidFill>
                      <a:prstDash val="solid"/>
                      <a:round/>
                      <a:headEnd type="none" w="med" len="med"/>
                      <a:tailEnd type="none" w="med" len="med"/>
                    </a:lnT>
                    <a:lnB w="12700" cap="flat" cmpd="sng" algn="ctr">
                      <a:solidFill>
                        <a:srgbClr val="DADDE2"/>
                      </a:solidFill>
                      <a:prstDash val="solid"/>
                      <a:round/>
                      <a:headEnd type="none" w="med" len="med"/>
                      <a:tailEnd type="none" w="med" len="med"/>
                    </a:lnB>
                  </a:tcPr>
                </a:tc>
                <a:tc>
                  <a:txBody>
                    <a:bodyPr/>
                    <a:lstStyle/>
                    <a:p>
                      <a:pPr algn="ctr" indent="0" marL="0">
                        <a:buNone/>
                      </a:pPr>
                      <a:r>
                        <a:rPr lang="en-US" sz="2200" b="1" dirty="0">
                          <a:solidFill>
                            <a:srgbClr val="C9002B"/>
                          </a:solidFill>
                          <a:latin typeface="Meiryo" pitchFamily="34" charset="0"/>
                          <a:ea typeface="Meiryo" pitchFamily="34" charset="-122"/>
                          <a:cs typeface="Meiryo" pitchFamily="34" charset="-120"/>
                        </a:rPr>
                        <a:t>55万円</a:t>
                      </a:r>
                      <a:endParaRPr lang="en-US" sz="1300" dirty="0">
                        <a:latin typeface="Meiryo" charset="0"/>
                        <a:ea typeface="Meiryo" charset="0"/>
                        <a:cs typeface="Meiryo" charset="0"/>
                      </a:endParaRPr>
                    </a:p>
                    <a:p>
                      <a:pPr algn="ctr" indent="0" marL="0">
                        <a:buNone/>
                      </a:pPr>
                      <a:r>
                        <a:rPr lang="en-US" sz="1100" dirty="0">
                          <a:solidFill>
                            <a:srgbClr val="5C626D"/>
                          </a:solidFill>
                          <a:latin typeface="Meiryo" pitchFamily="34" charset="0"/>
                          <a:ea typeface="Meiryo" pitchFamily="34" charset="-122"/>
                          <a:cs typeface="Meiryo" pitchFamily="34" charset="-120"/>
                        </a:rPr>
                        <a:t>初期10万円 ＋ 15万円 × 3</a:t>
                      </a:r>
                      <a:endParaRPr lang="en-US" sz="1300" dirty="0">
                        <a:latin typeface="Meiryo" charset="0"/>
                        <a:ea typeface="Meiryo" charset="0"/>
                        <a:cs typeface="Meiryo" charset="0"/>
                      </a:endParaRPr>
                    </a:p>
                  </a:txBody>
                  <a:tcPr marL="127000" marR="127000" marT="50800" marB="50800" anchor="ctr">
                    <a:lnL w="12700" cap="flat" cmpd="sng" algn="ctr">
                      <a:solidFill>
                        <a:srgbClr val="DADDE2"/>
                      </a:solidFill>
                      <a:prstDash val="solid"/>
                      <a:round/>
                      <a:headEnd type="none" w="med" len="med"/>
                      <a:tailEnd type="none" w="med" len="med"/>
                    </a:lnL>
                    <a:lnR w="12700" cap="flat" cmpd="sng" algn="ctr">
                      <a:solidFill>
                        <a:srgbClr val="DADDE2"/>
                      </a:solidFill>
                      <a:prstDash val="solid"/>
                      <a:round/>
                      <a:headEnd type="none" w="med" len="med"/>
                      <a:tailEnd type="none" w="med" len="med"/>
                    </a:lnR>
                    <a:lnT w="12700" cap="flat" cmpd="sng" algn="ctr">
                      <a:solidFill>
                        <a:srgbClr val="DADDE2"/>
                      </a:solidFill>
                      <a:prstDash val="solid"/>
                      <a:round/>
                      <a:headEnd type="none" w="med" len="med"/>
                      <a:tailEnd type="none" w="med" len="med"/>
                    </a:lnT>
                    <a:lnB w="12700" cap="flat" cmpd="sng" algn="ctr">
                      <a:solidFill>
                        <a:srgbClr val="DADDE2"/>
                      </a:solidFill>
                      <a:prstDash val="solid"/>
                      <a:round/>
                      <a:headEnd type="none" w="med" len="med"/>
                      <a:tailEnd type="none" w="med" len="med"/>
                    </a:lnB>
                  </a:tcPr>
                </a:tc>
                <a:tc>
                  <a:txBody>
                    <a:bodyPr/>
                    <a:lstStyle/>
                    <a:p>
                      <a:pPr algn="ctr" indent="0" marL="0">
                        <a:buNone/>
                      </a:pPr>
                      <a:r>
                        <a:rPr lang="en-US" sz="2200" b="1" dirty="0">
                          <a:solidFill>
                            <a:srgbClr val="C9002B"/>
                          </a:solidFill>
                          <a:latin typeface="Meiryo" pitchFamily="34" charset="0"/>
                          <a:ea typeface="Meiryo" pitchFamily="34" charset="-122"/>
                          <a:cs typeface="Meiryo" pitchFamily="34" charset="-120"/>
                        </a:rPr>
                        <a:t>190万円</a:t>
                      </a:r>
                      <a:endParaRPr lang="en-US" sz="1300" dirty="0">
                        <a:latin typeface="Meiryo" charset="0"/>
                        <a:ea typeface="Meiryo" charset="0"/>
                        <a:cs typeface="Meiryo" charset="0"/>
                      </a:endParaRPr>
                    </a:p>
                    <a:p>
                      <a:pPr algn="ctr" indent="0" marL="0">
                        <a:buNone/>
                      </a:pPr>
                      <a:r>
                        <a:rPr lang="en-US" sz="1100" dirty="0">
                          <a:solidFill>
                            <a:srgbClr val="5C626D"/>
                          </a:solidFill>
                          <a:latin typeface="Meiryo" pitchFamily="34" charset="0"/>
                          <a:ea typeface="Meiryo" pitchFamily="34" charset="-122"/>
                          <a:cs typeface="Meiryo" pitchFamily="34" charset="-120"/>
                        </a:rPr>
                        <a:t>初期10万円 ＋ 15万円 × 12</a:t>
                      </a:r>
                      <a:endParaRPr lang="en-US" sz="1300" dirty="0">
                        <a:latin typeface="Meiryo" charset="0"/>
                        <a:ea typeface="Meiryo" charset="0"/>
                        <a:cs typeface="Meiryo" charset="0"/>
                      </a:endParaRPr>
                    </a:p>
                  </a:txBody>
                  <a:tcPr marL="127000" marR="127000" marT="50800" marB="50800" anchor="ctr">
                    <a:lnL w="12700" cap="flat" cmpd="sng" algn="ctr">
                      <a:solidFill>
                        <a:srgbClr val="DADDE2"/>
                      </a:solidFill>
                      <a:prstDash val="solid"/>
                      <a:round/>
                      <a:headEnd type="none" w="med" len="med"/>
                      <a:tailEnd type="none" w="med" len="med"/>
                    </a:lnL>
                    <a:lnR w="12700" cap="flat" cmpd="sng" algn="ctr">
                      <a:solidFill>
                        <a:srgbClr val="DADDE2"/>
                      </a:solidFill>
                      <a:prstDash val="solid"/>
                      <a:round/>
                      <a:headEnd type="none" w="med" len="med"/>
                      <a:tailEnd type="none" w="med" len="med"/>
                    </a:lnR>
                    <a:lnT w="12700" cap="flat" cmpd="sng" algn="ctr">
                      <a:solidFill>
                        <a:srgbClr val="DADDE2"/>
                      </a:solidFill>
                      <a:prstDash val="solid"/>
                      <a:round/>
                      <a:headEnd type="none" w="med" len="med"/>
                      <a:tailEnd type="none" w="med" len="med"/>
                    </a:lnT>
                    <a:lnB w="12700" cap="flat" cmpd="sng" algn="ctr">
                      <a:solidFill>
                        <a:srgbClr val="DADDE2"/>
                      </a:solidFill>
                      <a:prstDash val="solid"/>
                      <a:round/>
                      <a:headEnd type="none" w="med" len="med"/>
                      <a:tailEnd type="none" w="med" len="med"/>
                    </a:lnB>
                  </a:tcPr>
                </a:tc>
              </a:tr>
              <a:tr h="960120">
                <a:tc>
                  <a:txBody>
                    <a:bodyPr/>
                    <a:lstStyle/>
                    <a:p>
                      <a:pPr indent="0" marL="0">
                        <a:buNone/>
                      </a:pPr>
                      <a:r>
                        <a:rPr lang="en-US" sz="1300" b="1" dirty="0">
                          <a:solidFill>
                            <a:srgbClr val="20232A"/>
                          </a:solidFill>
                          <a:latin typeface="Meiryo" pitchFamily="34" charset="0"/>
                          <a:ea typeface="Meiryo" pitchFamily="34" charset="-122"/>
                          <a:cs typeface="Meiryo" pitchFamily="34" charset="-120"/>
                        </a:rPr>
                        <a:t>人口マップ</a:t>
                      </a:r>
                      <a:endParaRPr lang="en-US" sz="1300" dirty="0">
                        <a:latin typeface="Meiryo" charset="0"/>
                        <a:ea typeface="Meiryo" charset="0"/>
                        <a:cs typeface="Meiryo" charset="0"/>
                      </a:endParaRPr>
                    </a:p>
                  </a:txBody>
                  <a:tcPr marL="127000" marR="127000" marT="50800" marB="50800" anchor="ctr">
                    <a:lnL w="12700" cap="flat" cmpd="sng" algn="ctr">
                      <a:solidFill>
                        <a:srgbClr val="DADDE2"/>
                      </a:solidFill>
                      <a:prstDash val="solid"/>
                      <a:round/>
                      <a:headEnd type="none" w="med" len="med"/>
                      <a:tailEnd type="none" w="med" len="med"/>
                    </a:lnL>
                    <a:lnR w="12700" cap="flat" cmpd="sng" algn="ctr">
                      <a:solidFill>
                        <a:srgbClr val="DADDE2"/>
                      </a:solidFill>
                      <a:prstDash val="solid"/>
                      <a:round/>
                      <a:headEnd type="none" w="med" len="med"/>
                      <a:tailEnd type="none" w="med" len="med"/>
                    </a:lnR>
                    <a:lnT w="12700" cap="flat" cmpd="sng" algn="ctr">
                      <a:solidFill>
                        <a:srgbClr val="DADDE2"/>
                      </a:solidFill>
                      <a:prstDash val="solid"/>
                      <a:round/>
                      <a:headEnd type="none" w="med" len="med"/>
                      <a:tailEnd type="none" w="med" len="med"/>
                    </a:lnT>
                    <a:lnB w="12700" cap="flat" cmpd="sng" algn="ctr">
                      <a:solidFill>
                        <a:srgbClr val="DADDE2"/>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20232A"/>
                          </a:solidFill>
                          <a:latin typeface="Meiryo" pitchFamily="34" charset="0"/>
                          <a:ea typeface="Meiryo" pitchFamily="34" charset="-122"/>
                          <a:cs typeface="Meiryo" pitchFamily="34" charset="-120"/>
                        </a:rPr>
                        <a:t>月額9万円〜</a:t>
                      </a:r>
                      <a:endParaRPr lang="en-US" sz="1300" dirty="0">
                        <a:latin typeface="Meiryo" charset="0"/>
                        <a:ea typeface="Meiryo" charset="0"/>
                        <a:cs typeface="Meiryo" charset="0"/>
                      </a:endParaRPr>
                    </a:p>
                    <a:p>
                      <a:pPr algn="ctr" indent="0" marL="0">
                        <a:buNone/>
                      </a:pPr>
                      <a:r>
                        <a:rPr lang="en-US" sz="1300" dirty="0">
                          <a:solidFill>
                            <a:srgbClr val="20232A"/>
                          </a:solidFill>
                          <a:latin typeface="Meiryo" pitchFamily="34" charset="0"/>
                          <a:ea typeface="Meiryo" pitchFamily="34" charset="-122"/>
                          <a:cs typeface="Meiryo" pitchFamily="34" charset="-120"/>
                        </a:rPr>
                        <a:t>最低期間は要確認</a:t>
                      </a:r>
                      <a:endParaRPr lang="en-US" sz="1300" dirty="0">
                        <a:latin typeface="Meiryo" charset="0"/>
                        <a:ea typeface="Meiryo" charset="0"/>
                        <a:cs typeface="Meiryo" charset="0"/>
                      </a:endParaRPr>
                    </a:p>
                  </a:txBody>
                  <a:tcPr marL="127000" marR="127000" marT="50800" marB="50800" anchor="ctr">
                    <a:lnL w="12700" cap="flat" cmpd="sng" algn="ctr">
                      <a:solidFill>
                        <a:srgbClr val="DADDE2"/>
                      </a:solidFill>
                      <a:prstDash val="solid"/>
                      <a:round/>
                      <a:headEnd type="none" w="med" len="med"/>
                      <a:tailEnd type="none" w="med" len="med"/>
                    </a:lnL>
                    <a:lnR w="12700" cap="flat" cmpd="sng" algn="ctr">
                      <a:solidFill>
                        <a:srgbClr val="DADDE2"/>
                      </a:solidFill>
                      <a:prstDash val="solid"/>
                      <a:round/>
                      <a:headEnd type="none" w="med" len="med"/>
                      <a:tailEnd type="none" w="med" len="med"/>
                    </a:lnR>
                    <a:lnT w="12700" cap="flat" cmpd="sng" algn="ctr">
                      <a:solidFill>
                        <a:srgbClr val="DADDE2"/>
                      </a:solidFill>
                      <a:prstDash val="solid"/>
                      <a:round/>
                      <a:headEnd type="none" w="med" len="med"/>
                      <a:tailEnd type="none" w="med" len="med"/>
                    </a:lnT>
                    <a:lnB w="12700" cap="flat" cmpd="sng" algn="ctr">
                      <a:solidFill>
                        <a:srgbClr val="DADDE2"/>
                      </a:solidFill>
                      <a:prstDash val="solid"/>
                      <a:round/>
                      <a:headEnd type="none" w="med" len="med"/>
                      <a:tailEnd type="none" w="med" len="med"/>
                    </a:lnB>
                  </a:tcPr>
                </a:tc>
                <a:tc>
                  <a:txBody>
                    <a:bodyPr/>
                    <a:lstStyle/>
                    <a:p>
                      <a:pPr algn="ctr" indent="0" marL="0">
                        <a:buNone/>
                      </a:pPr>
                      <a:r>
                        <a:rPr lang="en-US" sz="1300" dirty="0">
                          <a:solidFill>
                            <a:srgbClr val="20232A"/>
                          </a:solidFill>
                          <a:latin typeface="Meiryo" pitchFamily="34" charset="0"/>
                          <a:ea typeface="Meiryo" pitchFamily="34" charset="-122"/>
                          <a:cs typeface="Meiryo" pitchFamily="34" charset="-120"/>
                        </a:rPr>
                        <a:t>機能と契約条件で</a:t>
                      </a:r>
                      <a:endParaRPr lang="en-US" sz="1300" dirty="0">
                        <a:latin typeface="Meiryo" charset="0"/>
                        <a:ea typeface="Meiryo" charset="0"/>
                        <a:cs typeface="Meiryo" charset="0"/>
                      </a:endParaRPr>
                    </a:p>
                    <a:p>
                      <a:pPr algn="ctr" indent="0" marL="0">
                        <a:buNone/>
                      </a:pPr>
                      <a:r>
                        <a:rPr lang="en-US" sz="1300" dirty="0">
                          <a:solidFill>
                            <a:srgbClr val="20232A"/>
                          </a:solidFill>
                          <a:latin typeface="Meiryo" pitchFamily="34" charset="0"/>
                          <a:ea typeface="Meiryo" pitchFamily="34" charset="-122"/>
                          <a:cs typeface="Meiryo" pitchFamily="34" charset="-120"/>
                        </a:rPr>
                        <a:t>見積を確認</a:t>
                      </a:r>
                      <a:endParaRPr lang="en-US" sz="1300" dirty="0">
                        <a:latin typeface="Meiryo" charset="0"/>
                        <a:ea typeface="Meiryo" charset="0"/>
                        <a:cs typeface="Meiryo" charset="0"/>
                      </a:endParaRPr>
                    </a:p>
                  </a:txBody>
                  <a:tcPr marL="127000" marR="127000" marT="50800" marB="50800" anchor="ctr">
                    <a:lnL w="12700" cap="flat" cmpd="sng" algn="ctr">
                      <a:solidFill>
                        <a:srgbClr val="DADDE2"/>
                      </a:solidFill>
                      <a:prstDash val="solid"/>
                      <a:round/>
                      <a:headEnd type="none" w="med" len="med"/>
                      <a:tailEnd type="none" w="med" len="med"/>
                    </a:lnL>
                    <a:lnR w="12700" cap="flat" cmpd="sng" algn="ctr">
                      <a:solidFill>
                        <a:srgbClr val="DADDE2"/>
                      </a:solidFill>
                      <a:prstDash val="solid"/>
                      <a:round/>
                      <a:headEnd type="none" w="med" len="med"/>
                      <a:tailEnd type="none" w="med" len="med"/>
                    </a:lnR>
                    <a:lnT w="12700" cap="flat" cmpd="sng" algn="ctr">
                      <a:solidFill>
                        <a:srgbClr val="DADDE2"/>
                      </a:solidFill>
                      <a:prstDash val="solid"/>
                      <a:round/>
                      <a:headEnd type="none" w="med" len="med"/>
                      <a:tailEnd type="none" w="med" len="med"/>
                    </a:lnT>
                    <a:lnB w="12700" cap="flat" cmpd="sng" algn="ctr">
                      <a:solidFill>
                        <a:srgbClr val="DADDE2"/>
                      </a:solidFill>
                      <a:prstDash val="solid"/>
                      <a:round/>
                      <a:headEnd type="none" w="med" len="med"/>
                      <a:tailEnd type="none" w="med" len="med"/>
                    </a:lnB>
                  </a:tcPr>
                </a:tc>
                <a:tc>
                  <a:txBody>
                    <a:bodyPr/>
                    <a:lstStyle/>
                    <a:p>
                      <a:pPr algn="ctr" indent="0" marL="0">
                        <a:buNone/>
                      </a:pPr>
                      <a:r>
                        <a:rPr lang="en-US" sz="1300" dirty="0">
                          <a:solidFill>
                            <a:srgbClr val="20232A"/>
                          </a:solidFill>
                          <a:latin typeface="Meiryo" pitchFamily="34" charset="0"/>
                          <a:ea typeface="Meiryo" pitchFamily="34" charset="-122"/>
                          <a:cs typeface="Meiryo" pitchFamily="34" charset="-120"/>
                        </a:rPr>
                        <a:t>年額契約条件を</a:t>
                      </a:r>
                      <a:endParaRPr lang="en-US" sz="1300" dirty="0">
                        <a:latin typeface="Meiryo" charset="0"/>
                        <a:ea typeface="Meiryo" charset="0"/>
                        <a:cs typeface="Meiryo" charset="0"/>
                      </a:endParaRPr>
                    </a:p>
                    <a:p>
                      <a:pPr algn="ctr" indent="0" marL="0">
                        <a:buNone/>
                      </a:pPr>
                      <a:r>
                        <a:rPr lang="en-US" sz="1300" dirty="0">
                          <a:solidFill>
                            <a:srgbClr val="20232A"/>
                          </a:solidFill>
                          <a:latin typeface="Meiryo" pitchFamily="34" charset="0"/>
                          <a:ea typeface="Meiryo" pitchFamily="34" charset="-122"/>
                          <a:cs typeface="Meiryo" pitchFamily="34" charset="-120"/>
                        </a:rPr>
                        <a:t>別途確認</a:t>
                      </a:r>
                      <a:endParaRPr lang="en-US" sz="1300" dirty="0">
                        <a:latin typeface="Meiryo" charset="0"/>
                        <a:ea typeface="Meiryo" charset="0"/>
                        <a:cs typeface="Meiryo" charset="0"/>
                      </a:endParaRPr>
                    </a:p>
                  </a:txBody>
                  <a:tcPr marL="127000" marR="127000" marT="50800" marB="50800" anchor="ctr">
                    <a:lnL w="12700" cap="flat" cmpd="sng" algn="ctr">
                      <a:solidFill>
                        <a:srgbClr val="DADDE2"/>
                      </a:solidFill>
                      <a:prstDash val="solid"/>
                      <a:round/>
                      <a:headEnd type="none" w="med" len="med"/>
                      <a:tailEnd type="none" w="med" len="med"/>
                    </a:lnL>
                    <a:lnR w="12700" cap="flat" cmpd="sng" algn="ctr">
                      <a:solidFill>
                        <a:srgbClr val="DADDE2"/>
                      </a:solidFill>
                      <a:prstDash val="solid"/>
                      <a:round/>
                      <a:headEnd type="none" w="med" len="med"/>
                      <a:tailEnd type="none" w="med" len="med"/>
                    </a:lnR>
                    <a:lnT w="12700" cap="flat" cmpd="sng" algn="ctr">
                      <a:solidFill>
                        <a:srgbClr val="DADDE2"/>
                      </a:solidFill>
                      <a:prstDash val="solid"/>
                      <a:round/>
                      <a:headEnd type="none" w="med" len="med"/>
                      <a:tailEnd type="none" w="med" len="med"/>
                    </a:lnT>
                    <a:lnB w="12700" cap="flat" cmpd="sng" algn="ctr">
                      <a:solidFill>
                        <a:srgbClr val="DADDE2"/>
                      </a:solidFill>
                      <a:prstDash val="solid"/>
                      <a:round/>
                      <a:headEnd type="none" w="med" len="med"/>
                      <a:tailEnd type="none" w="med" len="med"/>
                    </a:lnB>
                  </a:tcPr>
                </a:tc>
              </a:tr>
              <a:tr h="960120">
                <a:tc>
                  <a:txBody>
                    <a:bodyPr/>
                    <a:lstStyle/>
                    <a:p>
                      <a:pPr indent="0" marL="0">
                        <a:buNone/>
                      </a:pPr>
                      <a:r>
                        <a:rPr lang="en-US" sz="1300" b="1" dirty="0">
                          <a:solidFill>
                            <a:srgbClr val="20232A"/>
                          </a:solidFill>
                          <a:latin typeface="Meiryo" pitchFamily="34" charset="0"/>
                          <a:ea typeface="Meiryo" pitchFamily="34" charset="-122"/>
                          <a:cs typeface="Meiryo" pitchFamily="34" charset="-120"/>
                        </a:rPr>
                        <a:t>スポット分析</a:t>
                      </a:r>
                      <a:endParaRPr lang="en-US" sz="1300" dirty="0">
                        <a:latin typeface="Meiryo" charset="0"/>
                        <a:ea typeface="Meiryo" charset="0"/>
                        <a:cs typeface="Meiryo" charset="0"/>
                      </a:endParaRPr>
                    </a:p>
                  </a:txBody>
                  <a:tcPr marL="127000" marR="127000" marT="50800" marB="50800" anchor="ctr">
                    <a:lnL w="12700" cap="flat" cmpd="sng" algn="ctr">
                      <a:solidFill>
                        <a:srgbClr val="DADDE2"/>
                      </a:solidFill>
                      <a:prstDash val="solid"/>
                      <a:round/>
                      <a:headEnd type="none" w="med" len="med"/>
                      <a:tailEnd type="none" w="med" len="med"/>
                    </a:lnL>
                    <a:lnR w="12700" cap="flat" cmpd="sng" algn="ctr">
                      <a:solidFill>
                        <a:srgbClr val="DADDE2"/>
                      </a:solidFill>
                      <a:prstDash val="solid"/>
                      <a:round/>
                      <a:headEnd type="none" w="med" len="med"/>
                      <a:tailEnd type="none" w="med" len="med"/>
                    </a:lnR>
                    <a:lnT w="12700" cap="flat" cmpd="sng" algn="ctr">
                      <a:solidFill>
                        <a:srgbClr val="DADDE2"/>
                      </a:solidFill>
                      <a:prstDash val="solid"/>
                      <a:round/>
                      <a:headEnd type="none" w="med" len="med"/>
                      <a:tailEnd type="none" w="med" len="med"/>
                    </a:lnT>
                    <a:lnB w="12700" cap="flat" cmpd="sng" algn="ctr">
                      <a:solidFill>
                        <a:srgbClr val="DADDE2"/>
                      </a:solidFill>
                      <a:prstDash val="solid"/>
                      <a:round/>
                      <a:headEnd type="none" w="med" len="med"/>
                      <a:tailEnd type="none" w="med" len="med"/>
                    </a:lnB>
                    <a:solidFill>
                      <a:srgbClr val="F4F5F7"/>
                    </a:solidFill>
                  </a:tcPr>
                </a:tc>
                <a:tc>
                  <a:txBody>
                    <a:bodyPr/>
                    <a:lstStyle/>
                    <a:p>
                      <a:pPr algn="ctr" indent="0" marL="0">
                        <a:buNone/>
                      </a:pPr>
                      <a:r>
                        <a:rPr lang="en-US" sz="1300" dirty="0">
                          <a:solidFill>
                            <a:srgbClr val="20232A"/>
                          </a:solidFill>
                          <a:latin typeface="Meiryo" pitchFamily="34" charset="0"/>
                          <a:ea typeface="Meiryo" pitchFamily="34" charset="-122"/>
                          <a:cs typeface="Meiryo" pitchFamily="34" charset="-120"/>
                        </a:rPr>
                        <a:t>対象日・地域等で</a:t>
                      </a:r>
                      <a:endParaRPr lang="en-US" sz="1300" dirty="0">
                        <a:latin typeface="Meiryo" charset="0"/>
                        <a:ea typeface="Meiryo" charset="0"/>
                        <a:cs typeface="Meiryo" charset="0"/>
                      </a:endParaRPr>
                    </a:p>
                    <a:p>
                      <a:pPr algn="ctr" indent="0" marL="0">
                        <a:buNone/>
                      </a:pPr>
                      <a:r>
                        <a:rPr lang="en-US" sz="1300" dirty="0">
                          <a:solidFill>
                            <a:srgbClr val="20232A"/>
                          </a:solidFill>
                          <a:latin typeface="Meiryo" pitchFamily="34" charset="0"/>
                          <a:ea typeface="Meiryo" pitchFamily="34" charset="-122"/>
                          <a:cs typeface="Meiryo" pitchFamily="34" charset="-120"/>
                        </a:rPr>
                        <a:t>個別見積</a:t>
                      </a:r>
                      <a:endParaRPr lang="en-US" sz="1300" dirty="0">
                        <a:latin typeface="Meiryo" charset="0"/>
                        <a:ea typeface="Meiryo" charset="0"/>
                        <a:cs typeface="Meiryo" charset="0"/>
                      </a:endParaRPr>
                    </a:p>
                  </a:txBody>
                  <a:tcPr marL="127000" marR="127000" marT="50800" marB="50800" anchor="ctr">
                    <a:lnL w="12700" cap="flat" cmpd="sng" algn="ctr">
                      <a:solidFill>
                        <a:srgbClr val="DADDE2"/>
                      </a:solidFill>
                      <a:prstDash val="solid"/>
                      <a:round/>
                      <a:headEnd type="none" w="med" len="med"/>
                      <a:tailEnd type="none" w="med" len="med"/>
                    </a:lnL>
                    <a:lnR w="12700" cap="flat" cmpd="sng" algn="ctr">
                      <a:solidFill>
                        <a:srgbClr val="DADDE2"/>
                      </a:solidFill>
                      <a:prstDash val="solid"/>
                      <a:round/>
                      <a:headEnd type="none" w="med" len="med"/>
                      <a:tailEnd type="none" w="med" len="med"/>
                    </a:lnR>
                    <a:lnT w="12700" cap="flat" cmpd="sng" algn="ctr">
                      <a:solidFill>
                        <a:srgbClr val="DADDE2"/>
                      </a:solidFill>
                      <a:prstDash val="solid"/>
                      <a:round/>
                      <a:headEnd type="none" w="med" len="med"/>
                      <a:tailEnd type="none" w="med" len="med"/>
                    </a:lnT>
                    <a:lnB w="12700" cap="flat" cmpd="sng" algn="ctr">
                      <a:solidFill>
                        <a:srgbClr val="DADDE2"/>
                      </a:solidFill>
                      <a:prstDash val="solid"/>
                      <a:round/>
                      <a:headEnd type="none" w="med" len="med"/>
                      <a:tailEnd type="none" w="med" len="med"/>
                    </a:lnB>
                  </a:tcPr>
                </a:tc>
                <a:tc>
                  <a:txBody>
                    <a:bodyPr/>
                    <a:lstStyle/>
                    <a:p>
                      <a:pPr algn="ctr" indent="0" marL="0">
                        <a:buNone/>
                      </a:pPr>
                      <a:r>
                        <a:rPr lang="en-US" sz="1300" dirty="0">
                          <a:solidFill>
                            <a:srgbClr val="20232A"/>
                          </a:solidFill>
                          <a:latin typeface="Meiryo" pitchFamily="34" charset="0"/>
                          <a:ea typeface="Meiryo" pitchFamily="34" charset="-122"/>
                          <a:cs typeface="Meiryo" pitchFamily="34" charset="-120"/>
                        </a:rPr>
                        <a:t>比較する範囲で</a:t>
                      </a:r>
                      <a:endParaRPr lang="en-US" sz="1300" dirty="0">
                        <a:latin typeface="Meiryo" charset="0"/>
                        <a:ea typeface="Meiryo" charset="0"/>
                        <a:cs typeface="Meiryo" charset="0"/>
                      </a:endParaRPr>
                    </a:p>
                    <a:p>
                      <a:pPr algn="ctr" indent="0" marL="0">
                        <a:buNone/>
                      </a:pPr>
                      <a:r>
                        <a:rPr lang="en-US" sz="1300" dirty="0">
                          <a:solidFill>
                            <a:srgbClr val="20232A"/>
                          </a:solidFill>
                          <a:latin typeface="Meiryo" pitchFamily="34" charset="0"/>
                          <a:ea typeface="Meiryo" pitchFamily="34" charset="-122"/>
                          <a:cs typeface="Meiryo" pitchFamily="34" charset="-120"/>
                        </a:rPr>
                        <a:t>個別見積</a:t>
                      </a:r>
                      <a:endParaRPr lang="en-US" sz="1300" dirty="0">
                        <a:latin typeface="Meiryo" charset="0"/>
                        <a:ea typeface="Meiryo" charset="0"/>
                        <a:cs typeface="Meiryo" charset="0"/>
                      </a:endParaRPr>
                    </a:p>
                  </a:txBody>
                  <a:tcPr marL="127000" marR="127000" marT="50800" marB="50800" anchor="ctr">
                    <a:lnL w="12700" cap="flat" cmpd="sng" algn="ctr">
                      <a:solidFill>
                        <a:srgbClr val="DADDE2"/>
                      </a:solidFill>
                      <a:prstDash val="solid"/>
                      <a:round/>
                      <a:headEnd type="none" w="med" len="med"/>
                      <a:tailEnd type="none" w="med" len="med"/>
                    </a:lnL>
                    <a:lnR w="12700" cap="flat" cmpd="sng" algn="ctr">
                      <a:solidFill>
                        <a:srgbClr val="DADDE2"/>
                      </a:solidFill>
                      <a:prstDash val="solid"/>
                      <a:round/>
                      <a:headEnd type="none" w="med" len="med"/>
                      <a:tailEnd type="none" w="med" len="med"/>
                    </a:lnR>
                    <a:lnT w="12700" cap="flat" cmpd="sng" algn="ctr">
                      <a:solidFill>
                        <a:srgbClr val="DADDE2"/>
                      </a:solidFill>
                      <a:prstDash val="solid"/>
                      <a:round/>
                      <a:headEnd type="none" w="med" len="med"/>
                      <a:tailEnd type="none" w="med" len="med"/>
                    </a:lnT>
                    <a:lnB w="12700" cap="flat" cmpd="sng" algn="ctr">
                      <a:solidFill>
                        <a:srgbClr val="DADDE2"/>
                      </a:solidFill>
                      <a:prstDash val="solid"/>
                      <a:round/>
                      <a:headEnd type="none" w="med" len="med"/>
                      <a:tailEnd type="none" w="med" len="med"/>
                    </a:lnB>
                  </a:tcPr>
                </a:tc>
                <a:tc>
                  <a:txBody>
                    <a:bodyPr/>
                    <a:lstStyle/>
                    <a:p>
                      <a:pPr algn="ctr" indent="0" marL="0">
                        <a:buNone/>
                      </a:pPr>
                      <a:r>
                        <a:rPr lang="en-US" sz="1300" dirty="0">
                          <a:solidFill>
                            <a:srgbClr val="20232A"/>
                          </a:solidFill>
                          <a:latin typeface="Meiryo" pitchFamily="34" charset="0"/>
                          <a:ea typeface="Meiryo" pitchFamily="34" charset="-122"/>
                          <a:cs typeface="Meiryo" pitchFamily="34" charset="-120"/>
                        </a:rPr>
                        <a:t>定期分析の仕様で</a:t>
                      </a:r>
                      <a:endParaRPr lang="en-US" sz="1300" dirty="0">
                        <a:latin typeface="Meiryo" charset="0"/>
                        <a:ea typeface="Meiryo" charset="0"/>
                        <a:cs typeface="Meiryo" charset="0"/>
                      </a:endParaRPr>
                    </a:p>
                    <a:p>
                      <a:pPr algn="ctr" indent="0" marL="0">
                        <a:buNone/>
                      </a:pPr>
                      <a:r>
                        <a:rPr lang="en-US" sz="1300" dirty="0">
                          <a:solidFill>
                            <a:srgbClr val="20232A"/>
                          </a:solidFill>
                          <a:latin typeface="Meiryo" pitchFamily="34" charset="0"/>
                          <a:ea typeface="Meiryo" pitchFamily="34" charset="-122"/>
                          <a:cs typeface="Meiryo" pitchFamily="34" charset="-120"/>
                        </a:rPr>
                        <a:t>個別見積</a:t>
                      </a:r>
                      <a:endParaRPr lang="en-US" sz="1300" dirty="0">
                        <a:latin typeface="Meiryo" charset="0"/>
                        <a:ea typeface="Meiryo" charset="0"/>
                        <a:cs typeface="Meiryo" charset="0"/>
                      </a:endParaRPr>
                    </a:p>
                  </a:txBody>
                  <a:tcPr marL="127000" marR="127000" marT="50800" marB="50800" anchor="ctr">
                    <a:lnL w="12700" cap="flat" cmpd="sng" algn="ctr">
                      <a:solidFill>
                        <a:srgbClr val="DADDE2"/>
                      </a:solidFill>
                      <a:prstDash val="solid"/>
                      <a:round/>
                      <a:headEnd type="none" w="med" len="med"/>
                      <a:tailEnd type="none" w="med" len="med"/>
                    </a:lnL>
                    <a:lnR w="12700" cap="flat" cmpd="sng" algn="ctr">
                      <a:solidFill>
                        <a:srgbClr val="DADDE2"/>
                      </a:solidFill>
                      <a:prstDash val="solid"/>
                      <a:round/>
                      <a:headEnd type="none" w="med" len="med"/>
                      <a:tailEnd type="none" w="med" len="med"/>
                    </a:lnR>
                    <a:lnT w="12700" cap="flat" cmpd="sng" algn="ctr">
                      <a:solidFill>
                        <a:srgbClr val="DADDE2"/>
                      </a:solidFill>
                      <a:prstDash val="solid"/>
                      <a:round/>
                      <a:headEnd type="none" w="med" len="med"/>
                      <a:tailEnd type="none" w="med" len="med"/>
                    </a:lnT>
                    <a:lnB w="12700" cap="flat" cmpd="sng" algn="ctr">
                      <a:solidFill>
                        <a:srgbClr val="DADDE2"/>
                      </a:solidFill>
                      <a:prstDash val="solid"/>
                      <a:round/>
                      <a:headEnd type="none" w="med" len="med"/>
                      <a:tailEnd type="none" w="med" len="med"/>
                    </a:lnB>
                  </a:tcPr>
                </a:tc>
              </a:tr>
            </a:tbl>
          </a:graphicData>
        </a:graphic>
      </p:graphicFrame>
      <p:sp>
        <p:nvSpPr>
          <p:cNvPr id="7" name="Text 4"/>
          <p:cNvSpPr txBox="1"/>
          <p:nvPr/>
        </p:nvSpPr>
        <p:spPr>
          <a:xfrm>
            <a:off x="548640" y="6336792"/>
            <a:ext cx="10332720" cy="274320"/>
          </a:xfrm>
          <a:prstGeom prst="rect">
            <a:avLst/>
          </a:prstGeom>
          <a:noFill/>
          <a:ln/>
        </p:spPr>
        <p:txBody>
          <a:bodyPr wrap="square" lIns="0" tIns="0" rIns="0" bIns="0" rtlCol="0" anchor="ctr"/>
          <a:lstStyle/>
          <a:p>
            <a:pPr indent="0" marL="0">
              <a:buNone/>
            </a:pPr>
            <a:r>
              <a:rPr lang="en-US" sz="1000" dirty="0">
                <a:solidFill>
                  <a:srgbClr val="5C626D"/>
                </a:solidFill>
                <a:latin typeface="Meiryo" pitchFamily="34" charset="0"/>
                <a:ea typeface="Meiryo" pitchFamily="34" charset="-122"/>
                <a:cs typeface="Meiryo" pitchFamily="34" charset="-120"/>
              </a:rPr>
              <a:t>標準版の計算は公開参考価格による。月平均値で、個別イベント日の詳細分析とは同一仕様ではない。税区分・現行条件・追加費用は正式見積で確認</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20232A"/>
        </a:solidFill>
      </p:bgPr>
    </p:bg>
    <p:spTree>
      <p:nvGrpSpPr>
        <p:cNvPr id="1" name=""/>
        <p:cNvGrpSpPr/>
        <p:nvPr/>
      </p:nvGrpSpPr>
      <p:grpSpPr>
        <a:xfrm>
          <a:off x="0" y="0"/>
          <a:ext cx="0" cy="0"/>
          <a:chOff x="0" y="0"/>
          <a:chExt cx="0" cy="0"/>
        </a:xfrm>
      </p:grpSpPr>
      <p:sp>
        <p:nvSpPr>
          <p:cNvPr id="2" name="Text 0"/>
          <p:cNvSpPr txBox="1"/>
          <p:nvPr/>
        </p:nvSpPr>
        <p:spPr>
          <a:xfrm>
            <a:off x="731520" y="640080"/>
            <a:ext cx="10515600" cy="640080"/>
          </a:xfrm>
          <a:prstGeom prst="rect">
            <a:avLst/>
          </a:prstGeom>
          <a:noFill/>
          <a:ln/>
        </p:spPr>
        <p:txBody>
          <a:bodyPr wrap="square" lIns="0" tIns="0" rIns="0" bIns="0" rtlCol="0" anchor="ctr"/>
          <a:lstStyle/>
          <a:p>
            <a:pPr indent="0" marL="0">
              <a:buNone/>
            </a:pPr>
            <a:r>
              <a:rPr lang="en-US" sz="2800" b="1" dirty="0">
                <a:solidFill>
                  <a:srgbClr val="FFFFFF"/>
                </a:solidFill>
                <a:latin typeface="Meiryo" pitchFamily="34" charset="0"/>
                <a:ea typeface="Meiryo" pitchFamily="34" charset="-122"/>
                <a:cs typeface="Meiryo" pitchFamily="34" charset="-120"/>
              </a:rPr>
              <a:t>まとめ：提案で押さえる3つのこと</a:t>
            </a:r>
            <a:endParaRPr lang="en-US" sz="2800" dirty="0"/>
          </a:p>
        </p:txBody>
      </p:sp>
      <p:sp>
        <p:nvSpPr>
          <p:cNvPr id="3" name="Shape 1"/>
          <p:cNvSpPr/>
          <p:nvPr/>
        </p:nvSpPr>
        <p:spPr>
          <a:xfrm>
            <a:off x="731520" y="1737360"/>
            <a:ext cx="3383280" cy="3383280"/>
          </a:xfrm>
          <a:prstGeom prst="roundRect">
            <a:avLst>
              <a:gd name="adj" fmla="val 2703"/>
            </a:avLst>
          </a:prstGeom>
          <a:solidFill>
            <a:srgbClr val="2E323B"/>
          </a:solidFill>
          <a:ln w="12700">
            <a:solidFill>
              <a:srgbClr val="3A3F4A"/>
            </a:solidFill>
            <a:prstDash val="solid"/>
          </a:ln>
        </p:spPr>
      </p:sp>
      <p:sp>
        <p:nvSpPr>
          <p:cNvPr id="4" name="Shape 2"/>
          <p:cNvSpPr/>
          <p:nvPr/>
        </p:nvSpPr>
        <p:spPr>
          <a:xfrm>
            <a:off x="1005840" y="2011680"/>
            <a:ext cx="777240" cy="777240"/>
          </a:xfrm>
          <a:prstGeom prst="ellipse">
            <a:avLst/>
          </a:prstGeom>
          <a:solidFill>
            <a:srgbClr val="C9002B"/>
          </a:solidFill>
          <a:ln w="12700">
            <a:solidFill>
              <a:srgbClr val="C9002B"/>
            </a:solidFill>
            <a:prstDash val="solid"/>
          </a:ln>
        </p:spPr>
      </p:sp>
      <p:pic>
        <p:nvPicPr>
          <p:cNvPr id="5" name="Image 0" descr="preencoded.png">    </p:cNvPr>
          <p:cNvPicPr>
            <a:picLocks noChangeAspect="1"/>
          </p:cNvPicPr>
          <p:nvPr/>
        </p:nvPicPr>
        <p:blipFill>
          <a:blip r:embed="rId1"/>
          <a:stretch>
            <a:fillRect/>
          </a:stretch>
        </p:blipFill>
        <p:spPr>
          <a:xfrm>
            <a:off x="1200150" y="2205990"/>
            <a:ext cx="388620" cy="388620"/>
          </a:xfrm>
          <a:prstGeom prst="rect">
            <a:avLst/>
          </a:prstGeom>
        </p:spPr>
      </p:pic>
      <p:sp>
        <p:nvSpPr>
          <p:cNvPr id="6" name="Text 3"/>
          <p:cNvSpPr txBox="1"/>
          <p:nvPr/>
        </p:nvSpPr>
        <p:spPr>
          <a:xfrm>
            <a:off x="1005840" y="3017520"/>
            <a:ext cx="2926080" cy="731520"/>
          </a:xfrm>
          <a:prstGeom prst="rect">
            <a:avLst/>
          </a:prstGeom>
          <a:noFill/>
          <a:ln/>
        </p:spPr>
        <p:txBody>
          <a:bodyPr wrap="square" lIns="0" tIns="0" rIns="0" bIns="0" rtlCol="0" anchor="t"/>
          <a:lstStyle/>
          <a:p>
            <a:pPr indent="0" marL="0">
              <a:buNone/>
            </a:pPr>
            <a:r>
              <a:rPr lang="en-US" sz="1800" b="1" dirty="0">
                <a:solidFill>
                  <a:srgbClr val="FFFFFF"/>
                </a:solidFill>
                <a:latin typeface="Meiryo" pitchFamily="34" charset="0"/>
                <a:ea typeface="Meiryo" pitchFamily="34" charset="-122"/>
                <a:cs typeface="Meiryo" pitchFamily="34" charset="-120"/>
              </a:rPr>
              <a:t>課題から商材を選ぶ</a:t>
            </a:r>
            <a:endParaRPr lang="en-US" sz="1800" dirty="0"/>
          </a:p>
        </p:txBody>
      </p:sp>
      <p:sp>
        <p:nvSpPr>
          <p:cNvPr id="7" name="Text 4"/>
          <p:cNvSpPr txBox="1"/>
          <p:nvPr/>
        </p:nvSpPr>
        <p:spPr>
          <a:xfrm>
            <a:off x="1005840" y="3794760"/>
            <a:ext cx="2880360" cy="1188720"/>
          </a:xfrm>
          <a:prstGeom prst="rect">
            <a:avLst/>
          </a:prstGeom>
          <a:noFill/>
          <a:ln/>
        </p:spPr>
        <p:txBody>
          <a:bodyPr wrap="square" lIns="0" tIns="0" rIns="0" bIns="0" rtlCol="0" anchor="t"/>
          <a:lstStyle/>
          <a:p>
            <a:pPr indent="0" marL="0">
              <a:lnSpc>
                <a:spcPct val="120000"/>
              </a:lnSpc>
              <a:buNone/>
            </a:pPr>
            <a:r>
              <a:rPr lang="en-US" sz="1300" dirty="0">
                <a:solidFill>
                  <a:srgbClr val="D6D9DE"/>
                </a:solidFill>
                <a:latin typeface="Meiryo" pitchFamily="34" charset="0"/>
                <a:ea typeface="Meiryo" pitchFamily="34" charset="-122"/>
                <a:cs typeface="Meiryo" pitchFamily="34" charset="-120"/>
              </a:rPr>
              <a:t>来場・申込・説明責任など、相手が増やしたい成果を先に聞き、必要な商材から提案する。</a:t>
            </a:r>
            <a:endParaRPr lang="en-US" sz="1300" dirty="0"/>
          </a:p>
        </p:txBody>
      </p:sp>
      <p:sp>
        <p:nvSpPr>
          <p:cNvPr id="8" name="Shape 5"/>
          <p:cNvSpPr/>
          <p:nvPr/>
        </p:nvSpPr>
        <p:spPr>
          <a:xfrm>
            <a:off x="4389120" y="1737360"/>
            <a:ext cx="3383280" cy="3383280"/>
          </a:xfrm>
          <a:prstGeom prst="roundRect">
            <a:avLst>
              <a:gd name="adj" fmla="val 2703"/>
            </a:avLst>
          </a:prstGeom>
          <a:solidFill>
            <a:srgbClr val="2E323B"/>
          </a:solidFill>
          <a:ln w="12700">
            <a:solidFill>
              <a:srgbClr val="3A3F4A"/>
            </a:solidFill>
            <a:prstDash val="solid"/>
          </a:ln>
        </p:spPr>
      </p:sp>
      <p:sp>
        <p:nvSpPr>
          <p:cNvPr id="9" name="Shape 6"/>
          <p:cNvSpPr/>
          <p:nvPr/>
        </p:nvSpPr>
        <p:spPr>
          <a:xfrm>
            <a:off x="4663440" y="2011680"/>
            <a:ext cx="777240" cy="777240"/>
          </a:xfrm>
          <a:prstGeom prst="ellipse">
            <a:avLst/>
          </a:prstGeom>
          <a:solidFill>
            <a:srgbClr val="C9002B"/>
          </a:solidFill>
          <a:ln w="12700">
            <a:solidFill>
              <a:srgbClr val="C9002B"/>
            </a:solidFill>
            <a:prstDash val="solid"/>
          </a:ln>
        </p:spPr>
      </p:sp>
      <p:pic>
        <p:nvPicPr>
          <p:cNvPr id="10" name="Image 1" descr="preencoded.png">    </p:cNvPr>
          <p:cNvPicPr>
            <a:picLocks noChangeAspect="1"/>
          </p:cNvPicPr>
          <p:nvPr/>
        </p:nvPicPr>
        <p:blipFill>
          <a:blip r:embed="rId2"/>
          <a:stretch>
            <a:fillRect/>
          </a:stretch>
        </p:blipFill>
        <p:spPr>
          <a:xfrm>
            <a:off x="4857750" y="2205990"/>
            <a:ext cx="388620" cy="388620"/>
          </a:xfrm>
          <a:prstGeom prst="rect">
            <a:avLst/>
          </a:prstGeom>
        </p:spPr>
      </p:pic>
      <p:sp>
        <p:nvSpPr>
          <p:cNvPr id="11" name="Text 7"/>
          <p:cNvSpPr txBox="1"/>
          <p:nvPr/>
        </p:nvSpPr>
        <p:spPr>
          <a:xfrm>
            <a:off x="4663440" y="3017520"/>
            <a:ext cx="2926080" cy="731520"/>
          </a:xfrm>
          <a:prstGeom prst="rect">
            <a:avLst/>
          </a:prstGeom>
          <a:noFill/>
          <a:ln/>
        </p:spPr>
        <p:txBody>
          <a:bodyPr wrap="square" lIns="0" tIns="0" rIns="0" bIns="0" rtlCol="0" anchor="t"/>
          <a:lstStyle/>
          <a:p>
            <a:pPr indent="0" marL="0">
              <a:buNone/>
            </a:pPr>
            <a:r>
              <a:rPr lang="en-US" sz="1800" b="1" dirty="0">
                <a:solidFill>
                  <a:srgbClr val="FFFFFF"/>
                </a:solidFill>
                <a:latin typeface="Meiryo" pitchFamily="34" charset="0"/>
                <a:ea typeface="Meiryo" pitchFamily="34" charset="-122"/>
                <a:cs typeface="Meiryo" pitchFamily="34" charset="-120"/>
              </a:rPr>
              <a:t>限界を伝えて組み合わせる</a:t>
            </a:r>
            <a:endParaRPr lang="en-US" sz="1800" dirty="0"/>
          </a:p>
        </p:txBody>
      </p:sp>
      <p:sp>
        <p:nvSpPr>
          <p:cNvPr id="12" name="Text 8"/>
          <p:cNvSpPr txBox="1"/>
          <p:nvPr/>
        </p:nvSpPr>
        <p:spPr>
          <a:xfrm>
            <a:off x="4663440" y="3794760"/>
            <a:ext cx="2880360" cy="1188720"/>
          </a:xfrm>
          <a:prstGeom prst="rect">
            <a:avLst/>
          </a:prstGeom>
          <a:noFill/>
          <a:ln/>
        </p:spPr>
        <p:txBody>
          <a:bodyPr wrap="square" lIns="0" tIns="0" rIns="0" bIns="0" rtlCol="0" anchor="t"/>
          <a:lstStyle/>
          <a:p>
            <a:pPr indent="0" marL="0">
              <a:lnSpc>
                <a:spcPct val="120000"/>
              </a:lnSpc>
              <a:buNone/>
            </a:pPr>
            <a:r>
              <a:rPr lang="en-US" sz="1300" dirty="0">
                <a:solidFill>
                  <a:srgbClr val="D6D9DE"/>
                </a:solidFill>
                <a:latin typeface="Meiryo" pitchFamily="34" charset="0"/>
                <a:ea typeface="Meiryo" pitchFamily="34" charset="-122"/>
                <a:cs typeface="Meiryo" pitchFamily="34" charset="-120"/>
              </a:rPr>
              <a:t>人流は理由が分からず、調査は告知できない。補い合う理由を説明し、一括導入を前提にしない。</a:t>
            </a:r>
            <a:endParaRPr lang="en-US" sz="1300" dirty="0"/>
          </a:p>
        </p:txBody>
      </p:sp>
      <p:sp>
        <p:nvSpPr>
          <p:cNvPr id="13" name="Shape 9"/>
          <p:cNvSpPr/>
          <p:nvPr/>
        </p:nvSpPr>
        <p:spPr>
          <a:xfrm>
            <a:off x="8046720" y="1737360"/>
            <a:ext cx="3383280" cy="3383280"/>
          </a:xfrm>
          <a:prstGeom prst="roundRect">
            <a:avLst>
              <a:gd name="adj" fmla="val 2703"/>
            </a:avLst>
          </a:prstGeom>
          <a:solidFill>
            <a:srgbClr val="2E323B"/>
          </a:solidFill>
          <a:ln w="12700">
            <a:solidFill>
              <a:srgbClr val="3A3F4A"/>
            </a:solidFill>
            <a:prstDash val="solid"/>
          </a:ln>
        </p:spPr>
      </p:sp>
      <p:sp>
        <p:nvSpPr>
          <p:cNvPr id="14" name="Shape 10"/>
          <p:cNvSpPr/>
          <p:nvPr/>
        </p:nvSpPr>
        <p:spPr>
          <a:xfrm>
            <a:off x="8321040" y="2011680"/>
            <a:ext cx="777240" cy="777240"/>
          </a:xfrm>
          <a:prstGeom prst="ellipse">
            <a:avLst/>
          </a:prstGeom>
          <a:solidFill>
            <a:srgbClr val="C9002B"/>
          </a:solidFill>
          <a:ln w="12700">
            <a:solidFill>
              <a:srgbClr val="C9002B"/>
            </a:solidFill>
            <a:prstDash val="solid"/>
          </a:ln>
        </p:spPr>
      </p:sp>
      <p:pic>
        <p:nvPicPr>
          <p:cNvPr id="15" name="Image 2" descr="preencoded.png">    </p:cNvPr>
          <p:cNvPicPr>
            <a:picLocks noChangeAspect="1"/>
          </p:cNvPicPr>
          <p:nvPr/>
        </p:nvPicPr>
        <p:blipFill>
          <a:blip r:embed="rId3"/>
          <a:stretch>
            <a:fillRect/>
          </a:stretch>
        </p:blipFill>
        <p:spPr>
          <a:xfrm>
            <a:off x="8515350" y="2205990"/>
            <a:ext cx="388620" cy="388620"/>
          </a:xfrm>
          <a:prstGeom prst="rect">
            <a:avLst/>
          </a:prstGeom>
        </p:spPr>
      </p:pic>
      <p:sp>
        <p:nvSpPr>
          <p:cNvPr id="16" name="Text 11"/>
          <p:cNvSpPr txBox="1"/>
          <p:nvPr/>
        </p:nvSpPr>
        <p:spPr>
          <a:xfrm>
            <a:off x="8321040" y="3017520"/>
            <a:ext cx="2926080" cy="731520"/>
          </a:xfrm>
          <a:prstGeom prst="rect">
            <a:avLst/>
          </a:prstGeom>
          <a:noFill/>
          <a:ln/>
        </p:spPr>
        <p:txBody>
          <a:bodyPr wrap="square" lIns="0" tIns="0" rIns="0" bIns="0" rtlCol="0" anchor="t"/>
          <a:lstStyle/>
          <a:p>
            <a:pPr indent="0" marL="0">
              <a:buNone/>
            </a:pPr>
            <a:r>
              <a:rPr lang="en-US" sz="1800" b="1" dirty="0">
                <a:solidFill>
                  <a:srgbClr val="FFFFFF"/>
                </a:solidFill>
                <a:latin typeface="Meiryo" pitchFamily="34" charset="0"/>
                <a:ea typeface="Meiryo" pitchFamily="34" charset="-122"/>
                <a:cs typeface="Meiryo" pitchFamily="34" charset="-120"/>
              </a:rPr>
              <a:t>準備・費用・判断日を先に決める</a:t>
            </a:r>
            <a:endParaRPr lang="en-US" sz="1800" dirty="0"/>
          </a:p>
        </p:txBody>
      </p:sp>
      <p:sp>
        <p:nvSpPr>
          <p:cNvPr id="17" name="Text 12"/>
          <p:cNvSpPr txBox="1"/>
          <p:nvPr/>
        </p:nvSpPr>
        <p:spPr>
          <a:xfrm>
            <a:off x="8321040" y="3794760"/>
            <a:ext cx="2880360" cy="1188720"/>
          </a:xfrm>
          <a:prstGeom prst="rect">
            <a:avLst/>
          </a:prstGeom>
          <a:noFill/>
          <a:ln/>
        </p:spPr>
        <p:txBody>
          <a:bodyPr wrap="square" lIns="0" tIns="0" rIns="0" bIns="0" rtlCol="0" anchor="t"/>
          <a:lstStyle/>
          <a:p>
            <a:pPr indent="0" marL="0">
              <a:lnSpc>
                <a:spcPct val="120000"/>
              </a:lnSpc>
              <a:buNone/>
            </a:pPr>
            <a:r>
              <a:rPr lang="en-US" sz="1300" dirty="0">
                <a:solidFill>
                  <a:srgbClr val="D6D9DE"/>
                </a:solidFill>
                <a:latin typeface="Meiryo" pitchFamily="34" charset="0"/>
                <a:ea typeface="Meiryo" pitchFamily="34" charset="-122"/>
                <a:cs typeface="Meiryo" pitchFamily="34" charset="-120"/>
              </a:rPr>
              <a:t>開始日から逆算して工程を確認し、料金単位の違う見積をそろえ、継続判断の日と指標を合意する。</a:t>
            </a:r>
            <a:endParaRPr lang="en-US" sz="1300" dirty="0"/>
          </a:p>
        </p:txBody>
      </p:sp>
      <p:sp>
        <p:nvSpPr>
          <p:cNvPr id="18" name="Shape 13"/>
          <p:cNvSpPr/>
          <p:nvPr/>
        </p:nvSpPr>
        <p:spPr>
          <a:xfrm>
            <a:off x="731520" y="5440680"/>
            <a:ext cx="10698480" cy="685800"/>
          </a:xfrm>
          <a:prstGeom prst="roundRect">
            <a:avLst>
              <a:gd name="adj" fmla="val 10667"/>
            </a:avLst>
          </a:prstGeom>
          <a:solidFill>
            <a:srgbClr val="C9002B"/>
          </a:solidFill>
          <a:ln w="12700">
            <a:solidFill>
              <a:srgbClr val="C9002B"/>
            </a:solidFill>
            <a:prstDash val="solid"/>
          </a:ln>
        </p:spPr>
      </p:sp>
      <p:pic>
        <p:nvPicPr>
          <p:cNvPr id="19" name="Image 3" descr="preencoded.png">    </p:cNvPr>
          <p:cNvPicPr>
            <a:picLocks noChangeAspect="1"/>
          </p:cNvPicPr>
          <p:nvPr/>
        </p:nvPicPr>
        <p:blipFill>
          <a:blip r:embed="rId4"/>
          <a:stretch>
            <a:fillRect/>
          </a:stretch>
        </p:blipFill>
        <p:spPr>
          <a:xfrm>
            <a:off x="960120" y="5605272"/>
            <a:ext cx="365760" cy="365760"/>
          </a:xfrm>
          <a:prstGeom prst="rect">
            <a:avLst/>
          </a:prstGeom>
        </p:spPr>
      </p:pic>
      <p:sp>
        <p:nvSpPr>
          <p:cNvPr id="20" name="Text 14"/>
          <p:cNvSpPr txBox="1"/>
          <p:nvPr/>
        </p:nvSpPr>
        <p:spPr>
          <a:xfrm>
            <a:off x="1508760" y="5440680"/>
            <a:ext cx="9784080" cy="685800"/>
          </a:xfrm>
          <a:prstGeom prst="rect">
            <a:avLst/>
          </a:prstGeom>
          <a:noFill/>
          <a:ln/>
        </p:spPr>
        <p:txBody>
          <a:bodyPr wrap="square" lIns="0" tIns="0" rIns="0" bIns="0" rtlCol="0" anchor="ctr"/>
          <a:lstStyle/>
          <a:p>
            <a:pPr indent="0" marL="0">
              <a:buNone/>
            </a:pPr>
            <a:r>
              <a:rPr lang="en-US" sz="1400" b="1" dirty="0">
                <a:solidFill>
                  <a:srgbClr val="FFFFFF"/>
                </a:solidFill>
                <a:latin typeface="Meiryo" pitchFamily="34" charset="0"/>
                <a:ea typeface="Meiryo" pitchFamily="34" charset="-122"/>
                <a:cs typeface="Meiryo" pitchFamily="34" charset="-120"/>
              </a:rPr>
              <a:t>次のアクション：初回商談で4つの質問を確認し、提案先に合わせた商材と実施期間を次回提示する</a:t>
            </a:r>
            <a:endParaRPr lang="en-US" sz="1400" dirty="0"/>
          </a:p>
        </p:txBody>
      </p:sp>
      <p:sp>
        <p:nvSpPr>
          <p:cNvPr id="21" name="Text 15"/>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9AA0A8"/>
                </a:solidFill>
                <a:latin typeface="Meiryo" pitchFamily="34" charset="0"/>
                <a:ea typeface="Meiryo" pitchFamily="34" charset="-122"/>
                <a:cs typeface="Meiryo"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5486400" cy="274320"/>
          </a:xfrm>
          <a:prstGeom prst="rect">
            <a:avLst/>
          </a:prstGeom>
          <a:noFill/>
          <a:ln/>
        </p:spPr>
        <p:txBody>
          <a:bodyPr wrap="square" lIns="0" tIns="0" rIns="0" bIns="0" rtlCol="0" anchor="t"/>
          <a:lstStyle/>
          <a:p>
            <a:pPr indent="0" marL="0">
              <a:buNone/>
            </a:pPr>
            <a:r>
              <a:rPr lang="en-US" sz="1100" b="1" dirty="0">
                <a:solidFill>
                  <a:srgbClr val="C9002B"/>
                </a:solidFill>
                <a:latin typeface="Meiryo" pitchFamily="34" charset="0"/>
                <a:ea typeface="Meiryo" pitchFamily="34" charset="-122"/>
                <a:cs typeface="Meiryo" pitchFamily="34" charset="-120"/>
              </a:rPr>
              <a:t>補足</a:t>
            </a:r>
            <a:endParaRPr lang="en-US" sz="110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2600" b="1" dirty="0">
                <a:solidFill>
                  <a:srgbClr val="20232A"/>
                </a:solidFill>
                <a:latin typeface="Meiryo" pitchFamily="34" charset="0"/>
                <a:ea typeface="Meiryo" pitchFamily="34" charset="-122"/>
                <a:cs typeface="Meiryo" pitchFamily="34" charset="-120"/>
              </a:rPr>
              <a:t>参照した公式情報</a:t>
            </a:r>
            <a:endParaRPr lang="en-US" sz="2600" dirty="0"/>
          </a:p>
        </p:txBody>
      </p:sp>
      <p:sp>
        <p:nvSpPr>
          <p:cNvPr id="4" name="Text 2"/>
          <p:cNvSpPr txBox="1"/>
          <p:nvPr/>
        </p:nvSpPr>
        <p:spPr>
          <a:xfrm>
            <a:off x="548640" y="1188720"/>
            <a:ext cx="11064240" cy="329184"/>
          </a:xfrm>
          <a:prstGeom prst="rect">
            <a:avLst/>
          </a:prstGeom>
          <a:noFill/>
          <a:ln/>
        </p:spPr>
        <p:txBody>
          <a:bodyPr wrap="square" lIns="0" tIns="0" rIns="0" bIns="0" rtlCol="0" anchor="ctr"/>
          <a:lstStyle/>
          <a:p>
            <a:pPr indent="0" marL="0">
              <a:buNone/>
            </a:pPr>
            <a:r>
              <a:rPr lang="en-US" sz="1400" dirty="0">
                <a:solidFill>
                  <a:srgbClr val="5C626D"/>
                </a:solidFill>
                <a:latin typeface="Meiryo" pitchFamily="34" charset="0"/>
                <a:ea typeface="Meiryo" pitchFamily="34" charset="-122"/>
                <a:cs typeface="Meiryo" pitchFamily="34" charset="-120"/>
              </a:rPr>
              <a:t>2026年9月25日確認（※は9月27日に追加確認）。正式提案時は、条件を再確認する</a:t>
            </a:r>
            <a:endParaRPr lang="en-US" sz="1400" dirty="0"/>
          </a:p>
        </p:txBody>
      </p:sp>
      <p:sp>
        <p:nvSpPr>
          <p:cNvPr id="5" name="Text 3"/>
          <p:cNvSpPr txBox="1"/>
          <p:nvPr/>
        </p:nvSpPr>
        <p:spPr>
          <a:xfrm>
            <a:off x="11155680" y="6400800"/>
            <a:ext cx="502920" cy="228600"/>
          </a:xfrm>
          <a:prstGeom prst="rect">
            <a:avLst/>
          </a:prstGeom>
          <a:noFill/>
          <a:ln/>
        </p:spPr>
        <p:txBody>
          <a:bodyPr wrap="square" lIns="0" tIns="0" rIns="0" bIns="0" rtlCol="0" anchor="t"/>
          <a:lstStyle/>
          <a:p>
            <a:pPr algn="r" indent="0" marL="0">
              <a:buNone/>
            </a:pPr>
            <a:r>
              <a:rPr lang="en-US" sz="1000" dirty="0">
                <a:solidFill>
                  <a:srgbClr val="5C626D"/>
                </a:solidFill>
                <a:latin typeface="Meiryo" pitchFamily="34" charset="0"/>
                <a:ea typeface="Meiryo" pitchFamily="34" charset="-122"/>
                <a:cs typeface="Meiryo" pitchFamily="34" charset="-120"/>
              </a:rPr>
              <a:t>20</a:t>
            </a:r>
            <a:endParaRPr lang="en-US" sz="1000" dirty="0"/>
          </a:p>
        </p:txBody>
      </p:sp>
      <p:sp>
        <p:nvSpPr>
          <p:cNvPr id="6" name="Shape 4"/>
          <p:cNvSpPr/>
          <p:nvPr/>
        </p:nvSpPr>
        <p:spPr>
          <a:xfrm>
            <a:off x="548640" y="1783080"/>
            <a:ext cx="11064240" cy="1417320"/>
          </a:xfrm>
          <a:prstGeom prst="roundRect">
            <a:avLst>
              <a:gd name="adj" fmla="val 5161"/>
            </a:avLst>
          </a:prstGeom>
          <a:solidFill>
            <a:srgbClr val="F4F5F7"/>
          </a:solidFill>
          <a:ln w="12700">
            <a:solidFill>
              <a:srgbClr val="F4F5F7"/>
            </a:solidFill>
            <a:prstDash val="solid"/>
          </a:ln>
        </p:spPr>
      </p:sp>
      <p:sp>
        <p:nvSpPr>
          <p:cNvPr id="7" name="Shape 5"/>
          <p:cNvSpPr/>
          <p:nvPr/>
        </p:nvSpPr>
        <p:spPr>
          <a:xfrm>
            <a:off x="731520" y="1920240"/>
            <a:ext cx="411480" cy="411480"/>
          </a:xfrm>
          <a:prstGeom prst="ellipse">
            <a:avLst/>
          </a:prstGeom>
          <a:solidFill>
            <a:srgbClr val="C9002B"/>
          </a:solidFill>
          <a:ln w="12700">
            <a:solidFill>
              <a:srgbClr val="C9002B"/>
            </a:solidFill>
            <a:prstDash val="solid"/>
          </a:ln>
        </p:spPr>
      </p:sp>
      <p:pic>
        <p:nvPicPr>
          <p:cNvPr id="8" name="Image 0" descr="preencoded.png">    </p:cNvPr>
          <p:cNvPicPr>
            <a:picLocks noChangeAspect="1"/>
          </p:cNvPicPr>
          <p:nvPr/>
        </p:nvPicPr>
        <p:blipFill>
          <a:blip r:embed="rId1"/>
          <a:stretch>
            <a:fillRect/>
          </a:stretch>
        </p:blipFill>
        <p:spPr>
          <a:xfrm>
            <a:off x="834390" y="2023110"/>
            <a:ext cx="205740" cy="205740"/>
          </a:xfrm>
          <a:prstGeom prst="rect">
            <a:avLst/>
          </a:prstGeom>
        </p:spPr>
      </p:pic>
      <p:sp>
        <p:nvSpPr>
          <p:cNvPr id="9" name="Text 6"/>
          <p:cNvSpPr txBox="1"/>
          <p:nvPr/>
        </p:nvSpPr>
        <p:spPr>
          <a:xfrm>
            <a:off x="1280160" y="1920240"/>
            <a:ext cx="9144000" cy="411480"/>
          </a:xfrm>
          <a:prstGeom prst="rect">
            <a:avLst/>
          </a:prstGeom>
          <a:noFill/>
          <a:ln/>
        </p:spPr>
        <p:txBody>
          <a:bodyPr wrap="square" lIns="0" tIns="0" rIns="0" bIns="0" rtlCol="0" anchor="ctr"/>
          <a:lstStyle/>
          <a:p>
            <a:pPr indent="0" marL="0">
              <a:buNone/>
            </a:pPr>
            <a:r>
              <a:rPr lang="en-US" sz="1400" b="1" dirty="0">
                <a:solidFill>
                  <a:srgbClr val="20232A"/>
                </a:solidFill>
                <a:latin typeface="Meiryo" pitchFamily="34" charset="0"/>
                <a:ea typeface="Meiryo" pitchFamily="34" charset="-122"/>
                <a:cs typeface="Meiryo" pitchFamily="34" charset="-120"/>
              </a:rPr>
              <a:t>モバイル空間統計　</a:t>
            </a:r>
            <a:pPr indent="0" marL="0">
              <a:buNone/>
            </a:pPr>
            <a:r>
              <a:rPr lang="en-US" sz="1200" dirty="0">
                <a:solidFill>
                  <a:srgbClr val="5C626D"/>
                </a:solidFill>
                <a:latin typeface="Meiryo" pitchFamily="34" charset="0"/>
                <a:ea typeface="Meiryo" pitchFamily="34" charset="-122"/>
                <a:cs typeface="Meiryo" pitchFamily="34" charset="-120"/>
              </a:rPr>
              <a:t>機能・料金・納期</a:t>
            </a:r>
            <a:endParaRPr lang="en-US" sz="1400" dirty="0"/>
          </a:p>
        </p:txBody>
      </p:sp>
      <p:sp>
        <p:nvSpPr>
          <p:cNvPr id="10" name="Text 7"/>
          <p:cNvSpPr txBox="1"/>
          <p:nvPr/>
        </p:nvSpPr>
        <p:spPr>
          <a:xfrm>
            <a:off x="1280160" y="2331720"/>
            <a:ext cx="10149840" cy="822960"/>
          </a:xfrm>
          <a:prstGeom prst="rect">
            <a:avLst/>
          </a:prstGeom>
          <a:noFill/>
          <a:ln/>
        </p:spPr>
        <p:txBody>
          <a:bodyPr wrap="square" lIns="0" tIns="0" rIns="0" bIns="0" rtlCol="0" anchor="t"/>
          <a:lstStyle/>
          <a:p>
            <a:pPr indent="0" marL="0">
              <a:buNone/>
            </a:pPr>
            <a:r>
              <a:rPr lang="en-US" sz="1100" dirty="0">
                <a:solidFill>
                  <a:srgbClr val="5C626D"/>
                </a:solidFill>
                <a:latin typeface="Meiryo" pitchFamily="34" charset="0"/>
                <a:ea typeface="Meiryo" pitchFamily="34" charset="-122"/>
                <a:cs typeface="Meiryo" pitchFamily="34" charset="-120"/>
              </a:rPr>
              <a:t>https://mobaku.jp/</a:t>
            </a:r>
            <a:endParaRPr lang="en-US" sz="1100" dirty="0"/>
          </a:p>
          <a:p>
            <a:pPr indent="0" marL="0">
              <a:buNone/>
            </a:pPr>
            <a:r>
              <a:rPr lang="en-US" sz="1100" dirty="0">
                <a:solidFill>
                  <a:srgbClr val="5C626D"/>
                </a:solidFill>
                <a:latin typeface="Meiryo" pitchFamily="34" charset="0"/>
                <a:ea typeface="Meiryo" pitchFamily="34" charset="-122"/>
                <a:cs typeface="Meiryo" pitchFamily="34" charset="-120"/>
              </a:rPr>
              <a:t>https://mobaku.jp/price/jpn/</a:t>
            </a:r>
            <a:endParaRPr lang="en-US" sz="1100" dirty="0"/>
          </a:p>
          <a:p>
            <a:pPr indent="0" marL="0">
              <a:buNone/>
            </a:pPr>
            <a:r>
              <a:rPr lang="en-US" sz="1100" dirty="0">
                <a:solidFill>
                  <a:srgbClr val="5C626D"/>
                </a:solidFill>
                <a:latin typeface="Meiryo" pitchFamily="34" charset="0"/>
                <a:ea typeface="Meiryo" pitchFamily="34" charset="-122"/>
                <a:cs typeface="Meiryo" pitchFamily="34" charset="-120"/>
              </a:rPr>
              <a:t>https://mobaku.jp/faq/</a:t>
            </a:r>
            <a:endParaRPr lang="en-US" sz="1100" dirty="0"/>
          </a:p>
        </p:txBody>
      </p:sp>
      <p:sp>
        <p:nvSpPr>
          <p:cNvPr id="11" name="Shape 8"/>
          <p:cNvSpPr/>
          <p:nvPr/>
        </p:nvSpPr>
        <p:spPr>
          <a:xfrm>
            <a:off x="548640" y="3383280"/>
            <a:ext cx="11064240" cy="1143000"/>
          </a:xfrm>
          <a:prstGeom prst="roundRect">
            <a:avLst>
              <a:gd name="adj" fmla="val 6400"/>
            </a:avLst>
          </a:prstGeom>
          <a:solidFill>
            <a:srgbClr val="F4F5F7"/>
          </a:solidFill>
          <a:ln w="12700">
            <a:solidFill>
              <a:srgbClr val="F4F5F7"/>
            </a:solidFill>
            <a:prstDash val="solid"/>
          </a:ln>
        </p:spPr>
      </p:sp>
      <p:sp>
        <p:nvSpPr>
          <p:cNvPr id="12" name="Shape 9"/>
          <p:cNvSpPr/>
          <p:nvPr/>
        </p:nvSpPr>
        <p:spPr>
          <a:xfrm>
            <a:off x="731520" y="3520440"/>
            <a:ext cx="411480" cy="411480"/>
          </a:xfrm>
          <a:prstGeom prst="ellipse">
            <a:avLst/>
          </a:prstGeom>
          <a:solidFill>
            <a:srgbClr val="C9002B"/>
          </a:solidFill>
          <a:ln w="12700">
            <a:solidFill>
              <a:srgbClr val="C9002B"/>
            </a:solidFill>
            <a:prstDash val="solid"/>
          </a:ln>
        </p:spPr>
      </p:sp>
      <p:pic>
        <p:nvPicPr>
          <p:cNvPr id="13" name="Image 1" descr="preencoded.png">    </p:cNvPr>
          <p:cNvPicPr>
            <a:picLocks noChangeAspect="1"/>
          </p:cNvPicPr>
          <p:nvPr/>
        </p:nvPicPr>
        <p:blipFill>
          <a:blip r:embed="rId2"/>
          <a:stretch>
            <a:fillRect/>
          </a:stretch>
        </p:blipFill>
        <p:spPr>
          <a:xfrm>
            <a:off x="834390" y="3623310"/>
            <a:ext cx="205740" cy="205740"/>
          </a:xfrm>
          <a:prstGeom prst="rect">
            <a:avLst/>
          </a:prstGeom>
        </p:spPr>
      </p:pic>
      <p:sp>
        <p:nvSpPr>
          <p:cNvPr id="14" name="Text 10"/>
          <p:cNvSpPr txBox="1"/>
          <p:nvPr/>
        </p:nvSpPr>
        <p:spPr>
          <a:xfrm>
            <a:off x="1280160" y="3520440"/>
            <a:ext cx="9144000" cy="411480"/>
          </a:xfrm>
          <a:prstGeom prst="rect">
            <a:avLst/>
          </a:prstGeom>
          <a:noFill/>
          <a:ln/>
        </p:spPr>
        <p:txBody>
          <a:bodyPr wrap="square" lIns="0" tIns="0" rIns="0" bIns="0" rtlCol="0" anchor="ctr"/>
          <a:lstStyle/>
          <a:p>
            <a:pPr indent="0" marL="0">
              <a:buNone/>
            </a:pPr>
            <a:r>
              <a:rPr lang="en-US" sz="1400" b="1" dirty="0">
                <a:solidFill>
                  <a:srgbClr val="20232A"/>
                </a:solidFill>
                <a:latin typeface="Meiryo" pitchFamily="34" charset="0"/>
                <a:ea typeface="Meiryo" pitchFamily="34" charset="-122"/>
                <a:cs typeface="Meiryo" pitchFamily="34" charset="-120"/>
              </a:rPr>
              <a:t>プレミアパネル　</a:t>
            </a:r>
            <a:pPr indent="0" marL="0">
              <a:buNone/>
            </a:pPr>
            <a:r>
              <a:rPr lang="en-US" sz="1200" dirty="0">
                <a:solidFill>
                  <a:srgbClr val="5C626D"/>
                </a:solidFill>
                <a:latin typeface="Meiryo" pitchFamily="34" charset="0"/>
                <a:ea typeface="Meiryo" pitchFamily="34" charset="-122"/>
                <a:cs typeface="Meiryo" pitchFamily="34" charset="-120"/>
              </a:rPr>
              <a:t>サービス・基本料金</a:t>
            </a:r>
            <a:endParaRPr lang="en-US" sz="1400" dirty="0"/>
          </a:p>
        </p:txBody>
      </p:sp>
      <p:sp>
        <p:nvSpPr>
          <p:cNvPr id="15" name="Text 11"/>
          <p:cNvSpPr txBox="1"/>
          <p:nvPr/>
        </p:nvSpPr>
        <p:spPr>
          <a:xfrm>
            <a:off x="1280160" y="3931920"/>
            <a:ext cx="10149840" cy="548640"/>
          </a:xfrm>
          <a:prstGeom prst="rect">
            <a:avLst/>
          </a:prstGeom>
          <a:noFill/>
          <a:ln/>
        </p:spPr>
        <p:txBody>
          <a:bodyPr wrap="square" lIns="0" tIns="0" rIns="0" bIns="0" rtlCol="0" anchor="t"/>
          <a:lstStyle/>
          <a:p>
            <a:pPr indent="0" marL="0">
              <a:buNone/>
            </a:pPr>
            <a:r>
              <a:rPr lang="en-US" sz="1100" dirty="0">
                <a:solidFill>
                  <a:srgbClr val="5C626D"/>
                </a:solidFill>
                <a:latin typeface="Meiryo" pitchFamily="34" charset="0"/>
                <a:ea typeface="Meiryo" pitchFamily="34" charset="-122"/>
                <a:cs typeface="Meiryo" pitchFamily="34" charset="-120"/>
              </a:rPr>
              <a:t>https://ssw.web.docomo.ne.jp/marketing/products/premium-panel/</a:t>
            </a:r>
            <a:endParaRPr lang="en-US" sz="1100" dirty="0"/>
          </a:p>
          <a:p>
            <a:pPr indent="0" marL="0">
              <a:buNone/>
            </a:pPr>
            <a:r>
              <a:rPr lang="en-US" sz="1100" dirty="0">
                <a:solidFill>
                  <a:srgbClr val="5C626D"/>
                </a:solidFill>
                <a:latin typeface="Meiryo" pitchFamily="34" charset="0"/>
                <a:ea typeface="Meiryo" pitchFamily="34" charset="-122"/>
                <a:cs typeface="Meiryo" pitchFamily="34" charset="-120"/>
              </a:rPr>
              <a:t>https://www.ntt.com/business/services/premierepanel/research.html</a:t>
            </a:r>
            <a:endParaRPr lang="en-US" sz="1100" dirty="0"/>
          </a:p>
        </p:txBody>
      </p:sp>
      <p:sp>
        <p:nvSpPr>
          <p:cNvPr id="16" name="Shape 12"/>
          <p:cNvSpPr/>
          <p:nvPr/>
        </p:nvSpPr>
        <p:spPr>
          <a:xfrm>
            <a:off x="548640" y="4709160"/>
            <a:ext cx="11064240" cy="1691640"/>
          </a:xfrm>
          <a:prstGeom prst="roundRect">
            <a:avLst>
              <a:gd name="adj" fmla="val 4324"/>
            </a:avLst>
          </a:prstGeom>
          <a:solidFill>
            <a:srgbClr val="F4F5F7"/>
          </a:solidFill>
          <a:ln w="12700">
            <a:solidFill>
              <a:srgbClr val="F4F5F7"/>
            </a:solidFill>
            <a:prstDash val="solid"/>
          </a:ln>
        </p:spPr>
      </p:sp>
      <p:sp>
        <p:nvSpPr>
          <p:cNvPr id="17" name="Shape 13"/>
          <p:cNvSpPr/>
          <p:nvPr/>
        </p:nvSpPr>
        <p:spPr>
          <a:xfrm>
            <a:off x="731520" y="4846320"/>
            <a:ext cx="411480" cy="411480"/>
          </a:xfrm>
          <a:prstGeom prst="ellipse">
            <a:avLst/>
          </a:prstGeom>
          <a:solidFill>
            <a:srgbClr val="C9002B"/>
          </a:solidFill>
          <a:ln w="12700">
            <a:solidFill>
              <a:srgbClr val="C9002B"/>
            </a:solidFill>
            <a:prstDash val="solid"/>
          </a:ln>
        </p:spPr>
      </p:sp>
      <p:pic>
        <p:nvPicPr>
          <p:cNvPr id="18" name="Image 2" descr="preencoded.png">    </p:cNvPr>
          <p:cNvPicPr>
            <a:picLocks noChangeAspect="1"/>
          </p:cNvPicPr>
          <p:nvPr/>
        </p:nvPicPr>
        <p:blipFill>
          <a:blip r:embed="rId3"/>
          <a:stretch>
            <a:fillRect/>
          </a:stretch>
        </p:blipFill>
        <p:spPr>
          <a:xfrm>
            <a:off x="834390" y="4949190"/>
            <a:ext cx="205740" cy="205740"/>
          </a:xfrm>
          <a:prstGeom prst="rect">
            <a:avLst/>
          </a:prstGeom>
        </p:spPr>
      </p:pic>
      <p:sp>
        <p:nvSpPr>
          <p:cNvPr id="19" name="Text 14"/>
          <p:cNvSpPr txBox="1"/>
          <p:nvPr/>
        </p:nvSpPr>
        <p:spPr>
          <a:xfrm>
            <a:off x="1280160" y="4846320"/>
            <a:ext cx="9144000" cy="411480"/>
          </a:xfrm>
          <a:prstGeom prst="rect">
            <a:avLst/>
          </a:prstGeom>
          <a:noFill/>
          <a:ln/>
        </p:spPr>
        <p:txBody>
          <a:bodyPr wrap="square" lIns="0" tIns="0" rIns="0" bIns="0" rtlCol="0" anchor="ctr"/>
          <a:lstStyle/>
          <a:p>
            <a:pPr indent="0" marL="0">
              <a:buNone/>
            </a:pPr>
            <a:r>
              <a:rPr lang="en-US" sz="1400" b="1" dirty="0">
                <a:solidFill>
                  <a:srgbClr val="20232A"/>
                </a:solidFill>
                <a:latin typeface="Meiryo" pitchFamily="34" charset="0"/>
                <a:ea typeface="Meiryo" pitchFamily="34" charset="-122"/>
                <a:cs typeface="Meiryo" pitchFamily="34" charset="-120"/>
              </a:rPr>
              <a:t>docomo Ad Network　</a:t>
            </a:r>
            <a:pPr indent="0" marL="0">
              <a:buNone/>
            </a:pPr>
            <a:r>
              <a:rPr lang="en-US" sz="1200" dirty="0">
                <a:solidFill>
                  <a:srgbClr val="5C626D"/>
                </a:solidFill>
                <a:latin typeface="Meiryo" pitchFamily="34" charset="0"/>
                <a:ea typeface="Meiryo" pitchFamily="34" charset="-122"/>
                <a:cs typeface="Meiryo" pitchFamily="34" charset="-120"/>
              </a:rPr>
              <a:t>サービス・運営情報</a:t>
            </a:r>
            <a:endParaRPr lang="en-US" sz="1400" dirty="0"/>
          </a:p>
        </p:txBody>
      </p:sp>
      <p:sp>
        <p:nvSpPr>
          <p:cNvPr id="20" name="Text 15"/>
          <p:cNvSpPr txBox="1"/>
          <p:nvPr/>
        </p:nvSpPr>
        <p:spPr>
          <a:xfrm>
            <a:off x="1280160" y="5257800"/>
            <a:ext cx="10149840" cy="1097280"/>
          </a:xfrm>
          <a:prstGeom prst="rect">
            <a:avLst/>
          </a:prstGeom>
          <a:noFill/>
          <a:ln/>
        </p:spPr>
        <p:txBody>
          <a:bodyPr wrap="square" lIns="0" tIns="0" rIns="0" bIns="0" rtlCol="0" anchor="t"/>
          <a:lstStyle/>
          <a:p>
            <a:pPr indent="0" marL="0">
              <a:buNone/>
            </a:pPr>
            <a:r>
              <a:rPr lang="en-US" sz="1100" dirty="0">
                <a:solidFill>
                  <a:srgbClr val="5C626D"/>
                </a:solidFill>
                <a:latin typeface="Meiryo" pitchFamily="34" charset="0"/>
                <a:ea typeface="Meiryo" pitchFamily="34" charset="-122"/>
                <a:cs typeface="Meiryo" pitchFamily="34" charset="-120"/>
              </a:rPr>
              <a:t>https://ssw.web.docomo.ne.jp/marketing/products/ad-network/</a:t>
            </a:r>
            <a:endParaRPr lang="en-US" sz="1100" dirty="0"/>
          </a:p>
          <a:p>
            <a:pPr indent="0" marL="0">
              <a:buNone/>
            </a:pPr>
            <a:r>
              <a:rPr lang="en-US" sz="1100" dirty="0">
                <a:solidFill>
                  <a:srgbClr val="5C626D"/>
                </a:solidFill>
                <a:latin typeface="Meiryo" pitchFamily="34" charset="0"/>
                <a:ea typeface="Meiryo" pitchFamily="34" charset="-122"/>
                <a:cs typeface="Meiryo" pitchFamily="34" charset="-120"/>
              </a:rPr>
              <a:t>https://www.d2c.co.jp/solutions/docomo-media/docomo-ad-network/</a:t>
            </a:r>
            <a:endParaRPr lang="en-US" sz="1100" dirty="0"/>
          </a:p>
          <a:p>
            <a:pPr indent="0" marL="0">
              <a:buNone/>
            </a:pPr>
            <a:r>
              <a:rPr lang="en-US" sz="1100" dirty="0">
                <a:solidFill>
                  <a:srgbClr val="5C626D"/>
                </a:solidFill>
                <a:latin typeface="Meiryo" pitchFamily="34" charset="0"/>
                <a:ea typeface="Meiryo" pitchFamily="34" charset="-122"/>
                <a:cs typeface="Meiryo" pitchFamily="34" charset="-120"/>
              </a:rPr>
              <a:t>※ https://www.cartazero.co.jp/ja/news/20260701</a:t>
            </a:r>
            <a:endParaRPr lang="en-US" sz="1100" dirty="0"/>
          </a:p>
          <a:p>
            <a:pPr indent="0" marL="0">
              <a:buNone/>
            </a:pPr>
            <a:r>
              <a:rPr lang="en-US" sz="1100" dirty="0">
                <a:solidFill>
                  <a:srgbClr val="5C626D"/>
                </a:solidFill>
                <a:latin typeface="Meiryo" pitchFamily="34" charset="0"/>
                <a:ea typeface="Meiryo" pitchFamily="34" charset="-122"/>
                <a:cs typeface="Meiryo" pitchFamily="34" charset="-120"/>
              </a:rPr>
              <a:t>※ https://ssw.web.docomo.ne.jp/marketing/assets/pdf/20260701_release.pdf</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ドコモの3商材 営業提案資料</dc:title>
  <dc:subject>PptxGenJS Presentation</dc:subject>
  <dc:creator>PptxGenJS</dc:creator>
  <cp:lastModifiedBy>PptxGenJS</cp:lastModifiedBy>
  <cp:revision>1</cp:revision>
  <dcterms:created xsi:type="dcterms:W3CDTF">2026-09-27T13:25:31Z</dcterms:created>
  <dcterms:modified xsi:type="dcterms:W3CDTF">2026-09-27T13:25:31Z</dcterms:modified>
</cp:coreProperties>
</file>