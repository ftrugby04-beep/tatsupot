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調査基本料</c:v>
                </c:pt>
              </c:strCache>
            </c:strRef>
          </c:tx>
          <c:spPr>
            <a:solidFill>
              <a:srgbClr val="C900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B3D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1ヶ月（1回）</c:v>
                  </c:pt>
                  <c:pt idx="1">
                    <c:v>3ヶ月（2回）</c:v>
                  </c:pt>
                  <c:pt idx="2">
                    <c:v>1年（4回）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27.5</c:v>
                </c:pt>
                <c:pt idx="1">
                  <c:v>55</c:v>
                </c:pt>
                <c:pt idx="2">
                  <c:v>110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1B2B3D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75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目的はチーム全員が3商材の役割を説明し、顧客の課題に応じて提案できる状態をつくること。期間別プランは本資料の営業提案モデルであり、公式セット商品や各商品の契約期間ではない。
出典（2026年9月25日確認、※は9月27日追加確認）
本資料の営業提案モデル（外部出典なし）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説明例：まず3商材の役割と限界をそろえ、提案の型、期間と費用、チームでの進め方の順に確認します。公式情報と、本資料で作った営業モデルを分けて話すことを全員で徹底します。
出典（2026年9月25日確認、※は9月27日追加確認）
本資料の営業提案モデル（外部出典なし）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各サービスの公式機能をもとにした営業上の要約。人流の把握、意識の調査、広告の実行は、それぞれ異なる目的を担当する。
出典（2026年9月25日確認、※は9月27日追加確認）
https://mobaku.jp/about/
https://ssw.web.docomo.ne.jp/marketing/products/premium-panel/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携帯電話台数をもとに拡大推計した統計であり、個人を特定するサービスではない。少人数の秘匿がある。周辺の推計人口と会場の入場者実数は同じではない。用途例は営業提案。
※公式サイトでは国内約8,900万台・訪日外国人約1,200万台の運用データ、2013年10月以降のデータを保有と案内。
画像出典：https://mobaku.jp/about/img/img_aboutus_01.jpg
出典（2026年9月25日確認、※は9月27日追加確認）
https://mobaku.jp/about/
https://mobaku.jp/cases/ea/
https://mobaku.jp/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リサーチを中心に説明。公式の商品ページは回答対象者約600万人（2026年1月）、属性100種以上。別のNTTドコモビジネスページには700万人（2023年1月）が残るため新しい基準日の記載を採用。市区町村などの絞り込みや設計・レポートは有料オプションの確認が必要。
画像出典：https://ssw.web.docomo.ne.jp/marketing/assets/images/products_detail/premium-panel/kv.png
出典（2026年9月25日確認、※は9月27日追加確認）
https://ssw.web.docomo.ne.jp/marketing/products/premium-panel/
https://www.ntt.com/business/services/premierepanel.html
https://www.ntt.com/business/services/premierepanel/research.html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dメニュー、dポイントクラブ、メッセージSなどのドコモ媒体と一部外部媒体に配信可能。AIや実績データで配信を最適化する。約1億ユーザーは基盤の規模で、1案件の配信人数保証ではない。
※2026年7月1日：D2CからCARTA ZEROへ運営承継。同社の広告基盤PORTOと統合し「docomo data square Ads Platform」として販売。主要広告プラットフォームでドコモデータを活用する「docomo data square Ads Connect」も開始。提案書のメニュー名は見積時点の名称に合わせる。
画像出典：https://ssw.web.docomo.ne.jp/marketing/assets/images/products_detail/ad-network/introduction.png
出典（2026年9月25日確認、※は9月27日追加確認）
https://ssw.web.docomo.ne.jp/marketing/products/ad-network/
https://www.d2c.co.jp/solutions/docomo-media/docomo-ad-network/
※https://www.cartazero.co.jp/ja/news/20260701
※https://ssw.web.docomo.ne.jp/marketing/assets/pdf/20260701_release.pdf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強みは公式機能に基づく要約。限界と補完策は実務上の整理。広告接触と来場増の因果を単純比較のみで断定しない。
出典（2026年9月25日確認、※は9月27日追加確認）
https://mobaku.jp/about/
https://ssw.web.docomo.ne.jp/marketing/products/premium-panel/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業種別の営業仮説。大学では高校生本人・保護者のどちらを対象にするか、年齢等の対象条件と回収可否を確認。人流統計のみで受験生や観戦者を特定しない。自治体の調達・契約日程は別途確認。
出典（2026年9月25日確認、※は9月27日追加確認）
https://mobaku.jp/cases/ea/
https://ssw.web.docomo.ne.jp/marketing/products/premium-panel/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独自の組み合わせ提案。人流統計から個人を取り出し直接広告配信する説明はしない。各商材の知見を担当者が施策設計に反映する想定。個別ID連携や追加計測は対応メニュー・同意・契約範囲の確認が必要。
出典（2026年9月25日確認、※は9月27日追加確認）
https://mobaku.jp/about/
https://ssw.web.docomo.ne.jp/marketing/products/premium-panel/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頻度・成果物は提案上の想定。1ヶ月の人流分析はスポット仕様の実施可否・価格・納期確認が前提。標準オンライン参照版には最低3ヶ月の条件があり、その月額を1ヶ月プランにそのまま適用しない。
出典（2026年9月25日確認、※は9月27日追加確認）
https://mobaku.jp/faq/
https://mobaku.jp/price/jpn/
https://www.ntt.com/business/services/premierepanel/research.html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工程は提供元が保証する納期ではなく営業提案モデル。1ヶ月案の人流分析は開始前に基準データを用意する想定。施策後データの納品・評価が翌月になる場合を見込む。
出典（2026年9月25日確認、※は9月27日追加確認）
https://mobaku.jp/faq/
https://www.ntt.com/business/services/premierepanel/research.html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口マップの月額9万円〜はトップページ掲載。税区分・初期費用・最低期間は当該記載から断定しない。標準版とは別メニュー。プレミアパネルは最低275,000円税込、最大20問、回収数は目標。アンケート設計165,000円、簡易レポート165,000円〜等の追加費用。広告の最低出稿額は参照した公式ページに掲載なし。
※検索では「最低275,000円（税込）」がプロモーションサービス側の料金として表示された。リサーチの料金はサンプル数・設問数で決まる旨の案内もあるため、正式見積で確認する。広告は2026年7月以降CARTA ZEROが窓口。
出典（2026年9月25日確認、※は9月27日追加確認）
https://mobaku.jp/
https://www.ntt.com/business/services/premierepanel/research.html
https://ssw.web.docomo.ne.jp/marketing/products/ad-network/
※https://www.cartazero.co.jp/ja/news/20260701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調査1回・2回・4回は営業上の想定。各回が最低料金に収まる場合の計算で275000×1、×2、×4。対象者絞り込みや設計・報告の追加費は別途。全項目の税込・税抜をそろえて正式な合計を提示する。
出典（2026年9月25日確認、※は9月27日追加確認）
https://www.ntt.com/business/services/premierepanel/research.html
https://mobaku.jp/
https://mobaku.jp/price/jpn/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公式FAQの最短10営業日はデータ納品に関する記載で、初回相談からの全体期間の保証ではない。他2商材は参照ページから一律の納期を確認できず断定しない。
※広告は2026年7月以降CARTA ZEROが運営。入稿・審査の窓口を確認する。
出典（2026年9月25日確認、※は9月27日追加確認）
https://mobaku.jp/faq/
https://www.ntt.com/business/services/premierepanel/research.html
https://ssw.web.docomo.ne.jp/marketing/products/ad-network/
※https://www.cartazero.co.jp/ja/news/20260701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本資料の推奨運用。外部提供元と営業チームの役割境界、分析・運用の実施者、費用負担、納品責任を提案前にそろえる。
出典（2026年9月25日確認、※は9月27日追加確認）
本資料の営業提案モデル（外部出典なし）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営業トーク例：まず来場者を増やしたい地域を整理し、参加しない理由を調べます。その結果から広告の対象と内容を決め、申込実績を見ながら次の施策を判断するご提案です。今回は1回の検証と、3ヶ月で改善まで見る案のどちらが課題に合うか、一緒に整理させてください。予算・既存データを確認し、必要な商材から提案する。
出典（2026年9月25日確認、※は9月27日追加確認）
本資料の営業提案モデル（外部出典なし）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標と継続判断は営業提案。クリック率はクリック数÷表示数、申込単価は広告費÷計測した申込件数など分子・分母と範囲を事前に定義。人流統計はチケット購入者数ではない。天候、曜日、試合内容、他イベントの影響も確認する。
出典（2026年9月25日確認、※は9月27日追加確認）
https://mobaku.jp/about/
https://ssw.web.docomo.ne.jp/marketing/products/premium-panel/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標準版国内①は初期10万円、月額15万円、最低利用3ヶ月。55万円=10+15×3、190万円=10+15×12。選択4都道府県の月平均、過去15ヶ月、500mメッシュ、オンライン参照でダウンロード不可。イベント当日の詳細分析とは別仕様。最低3ヶ月を人口マップに自動適用しない。税区分は該当記載から断定しない。
出典（2026年9月25日確認、※は9月27日追加確認）
https://mobaku.jp/price/jpn/
https://mobaku.jp/
https://mobaku.jp/faq/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の説明例：3商材は、人の動き・選ぶ理由・広告接点の役割を分担します。相手の成果から入り、限界を説明した上で組み合わせ、公式情報と営業モデルを分けて伝えることをチームの共通ルールにします。
出典（2026年9月25日確認、※は9月27日追加確認）
本資料の営業提案モデル（外部出典なし）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期間別プラン、工程、営業体制、予算構成は本資料の営業提案モデル。公式パッケージではない。公式情報と営業仮説を混同しない。各ページの発表者ノートにも出典と条件を記載。
出典（2026年9月25日確認、※は9月27日追加確認）
https://mobaku.jp/about/
https://mobaku.jp/
https://mobaku.jp/price/jpn/
https://mobaku.jp/faq/
https://mobaku.jp/cases/ea/
https://ssw.web.docomo.ne.jp/marketing/products/premium-panel/
https://www.ntt.com/business/services/premierepanel.html
https://www.ntt.com/business/services/premierepanel/research.html
https://ssw.web.docomo.ne.jp/marketing/products/ad-network/
https://www.d2c.co.jp/solutions/docomo-media/docomo-ad-network/
https://www.cartazero.co.jp/ja/news/20260701
https://ssw.web.docomo.ne.jp/marketing/assets/pdf/20260701_release.pdf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チーム内共有用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ドコモの3商材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5A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チーム営業提案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商材理解と、1ヶ月・3ヶ月・1年の活用プラン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目的：チーム全員が3商材の役割を説明し、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顧客の課題に応じて提案できる状態をつくる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2026年9月25日作成／9月27日 公開情報を更新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16002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1783080"/>
            <a:ext cx="685800" cy="6858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8130" y="1954530"/>
            <a:ext cx="342900" cy="342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9536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人の動きを把握する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29260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26680" y="3108960"/>
            <a:ext cx="685800" cy="6858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130" y="3280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5953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8595360" y="3493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選ぶ理由を聞く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498080" y="42519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26680" y="4434840"/>
            <a:ext cx="685800" cy="6858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0629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9536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595360" y="4818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条件に合う層へ届ける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この資料の流れ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商材を理解する → 提案の型を持つ → 期間と費用を組む → チームで進める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商材を知る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3商材の役割・強み・限界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P.03–07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824" y="3154680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83280" y="187452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提案の型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業種別の入口と組み合わせ例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P.08–09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3154680"/>
            <a:ext cx="164592" cy="1645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87452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9224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プランと費用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期間別の進め方・料金・予算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P.10–14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3154680"/>
            <a:ext cx="164592" cy="16459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52560" y="187452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32688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4000" dirty="0"/>
          </a:p>
        </p:txBody>
      </p:sp>
      <p:sp>
        <p:nvSpPr>
          <p:cNvPr id="25" name="Text 20"/>
          <p:cNvSpPr txBox="1"/>
          <p:nvPr/>
        </p:nvSpPr>
        <p:spPr>
          <a:xfrm>
            <a:off x="932688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932688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体制・ヒアリング・成果の見方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932688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P.15–17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21808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371600" y="5120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公式情報と営業仮説を分ける　</a:t>
            </a:r>
            <a:pPr indent="0" marL="0">
              <a:buNone/>
            </a:pPr>
            <a:r>
              <a:rPr lang="en-US" sz="13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期間別プラン・工程・営業体制・予算構成は本資料の営業提案モデル。公式パッケージや導入実績を示すものではない。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商材を知る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3商材の役割：人の動き・選ぶ理由・広告接点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3つを分けて説明すると、組み合わせる理由が伝わる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5171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人の動き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何ができるか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015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地域別・時間帯別の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人口や移動を把握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22960" y="4526280"/>
            <a:ext cx="283464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顧客に渡す価値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956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集客エリアや開催条件の判断材料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70332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389120" y="178308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205740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225171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235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選ぶ理由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6235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466344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何ができるか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663440" y="34015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対象者を絞って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アンケートを実施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663440" y="4526280"/>
            <a:ext cx="283464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66344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顧客に渡す価値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663440" y="4956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認知・関心・参加しない理由の理解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703320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229600" y="178308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503920" y="205740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230" y="2251710"/>
            <a:ext cx="388620" cy="3886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46404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広告接点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4640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850392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何ができるか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8503920" y="34015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条件に合う層へ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広告を配信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8503920" y="4526280"/>
            <a:ext cx="283464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50392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顧客に渡す価値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8503920" y="4956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告知への接触と申込サイトへの誘導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商材を知る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携帯電話ネットワークをもとに、エリアの人口を推計する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約8,900万台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国内の運用データ規模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80360" y="178308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9202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63240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1時間ごと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の人口を把握できる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12080" y="178308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92024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個人特定なし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少人数は秘匿処理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何が分かるか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76732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人口の分布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2194560" y="376732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移動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840480" y="376732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性別・年代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0" y="376732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居住エリア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営業で伝える強み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754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現地で全員を数えなくても、地域や時間をそろえて比較できる。イベント日の周辺人口を通常日と比べ、次回の告知エリアや運営計画に使う。</a:t>
            </a:r>
            <a:endParaRPr lang="en-US" sz="13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45920"/>
            <a:ext cx="2971800" cy="395935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589520" y="566928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26680" y="56692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周辺の推計人口 ≠ 会場の入場者数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利用できる粒度・期間・属性は選択メニューによる。台数は公式サイト掲載値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商材を知る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dポイントクラブ会員に、対象条件を指定して質問する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アンケート回答対象者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約600</a:t>
            </a:r>
            <a:pPr indent="0" marL="0">
              <a:buNone/>
            </a:pPr>
            <a:r>
              <a:rPr lang="en-US" sz="24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万人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（2026年1月現在）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1363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100種以上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の属性項目で対象者を絞り込み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何が分かるか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240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認知度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240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参加意向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743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満足度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743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選ぶ理由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24612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参加しない理由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営業で伝える強み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42245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属性や関心で対象者を絞り、来場実績では分からない理由を補う。</a:t>
            </a:r>
            <a:endParaRPr lang="en-US" sz="13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783080"/>
            <a:ext cx="3108960" cy="28529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7608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325880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設問と対象者の条件が成果を左右する。市区町村などの地域の絞り込みや、設計・レポートは有料オプションを確認する。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約600万人は回答対象者の規模。必要サンプルの回収を保証する数ではない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商材を知る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ドコモのデータを使い、複数メディアへ広告を配信する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何ができるか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305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同意を得た属性やサービス利用情報を使い、届けたい層への配信を支援する。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営業で伝える強み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82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dメニュー・dポイントクラブ・メッセージSなどドコモ独自の接点に加え、一般メディアにも配信。配信実績をもとに運用を改善できる。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申込先まで設計する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459943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76072" y="491947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対象条件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74520" y="452628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459943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1952" y="491947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画像・文章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0" y="452628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45994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27832" y="491947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申込ページ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26280" y="452628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59943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553712" y="491947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計測方法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783080"/>
            <a:ext cx="5440680" cy="34290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172200" y="525780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配信先の例（公式サイト掲載図）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" y="5577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31520" y="575157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最新動向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1874520" y="55778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2026年7月1日から運営はCARTA ZEROへ承継。</a:t>
            </a:r>
            <a:pPr indent="0" marL="0">
              <a:buNone/>
            </a:pPr>
            <a:r>
              <a:rPr lang="en-US" sz="12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「docomo data square Ads Platform」に統合されたため、見積窓口と現行メニュー名を確認する。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約1億ユーザーは基盤の規模で、1案件の配信人数保証ではない。配信先・データ・課金方式はメニューごとに確認。成果保証はしない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商材を知る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強みと、提案時に補う点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得意分野と限界を説明すると、組み合わせる理由が伝わる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8105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401568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81051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限界・注意点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81051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17152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提案で補う方法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23317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72034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017520" y="23317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3200400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広い範囲の人の動きを比較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925312" y="23317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108192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来訪理由や個人は分からない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8833104" y="23317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015984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意識調査や顧客の実績と比較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48640" y="35204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0906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3444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3017520" y="35204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3200400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理由・意向を直接質問できる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5925312" y="35204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108192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回答者の偏りと回収数に注意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8833104" y="35204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015984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対象・設問を設計し集計条件を明記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548640" y="4709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5097780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34440" y="4709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3017520" y="47091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3200400" y="4709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対象を絞った配信と運用改善</a:t>
            </a:r>
            <a:endParaRPr lang="en-US" sz="1350" dirty="0"/>
          </a:p>
        </p:txBody>
      </p:sp>
      <p:sp>
        <p:nvSpPr>
          <p:cNvPr id="38" name="Shape 30"/>
          <p:cNvSpPr/>
          <p:nvPr/>
        </p:nvSpPr>
        <p:spPr>
          <a:xfrm>
            <a:off x="5925312" y="47091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6108192" y="4709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予算・素材・申込先で成果が変わる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8833104" y="47091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9015984" y="4709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計測を整えて配信結果を検証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強みは公式機能に基づく要約。限界と補い方は実務上の整理。広告接触と来場増の因果を単純比較だけで断定しない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　提案の型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自治体・大学・スポーツチームへの提案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最初の商材は、相手が今困っていることから選ぶ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802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「イベントや観光の効果を説明したい」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提案の入口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307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周辺人流の把握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455371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77240" y="4846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組み合わせた提案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51389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調査で理由を確認し、次回の集客広告を設計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297680" y="173736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26280" y="1920240"/>
            <a:ext cx="640080" cy="64008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0802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035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「オープンキャンパスの申込を増やしたい」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2628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提案の入口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526280" y="37307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認知・参加障壁の調査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55371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526280" y="4846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組み合わせた提案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526280" y="51389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関心層への広告、広域の来訪圏も検討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046720" y="173736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75320" y="1920240"/>
            <a:ext cx="640080" cy="64008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208026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525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スポーツチーム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「新規観戦者を増やし再来場につなげたい」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827532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提案の入口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8275320" y="37307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27532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試合の告知</a:t>
            </a:r>
            <a:endParaRPr lang="en-US" sz="14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455371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275320" y="4846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組み合わせた提案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8275320" y="51389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調査で観戦障壁を確認、人流で周辺効果を把握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本資料の提案例。導入実績を示すものではない。人流統計だけで受験生や観戦者を特定しない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　提案の型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3商材を組み合わせた提案例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スポーツチームの「新規観戦者を増やす」案件を想定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2402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地域を選ぶ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118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試合日の周辺人口と来訪元を比較し、告知エリアの仮説を置く。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38328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89120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63440" y="2103120"/>
            <a:ext cx="731520" cy="73152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634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402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634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理由を聞く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36118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66344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未観戦理由と参加条件を調査し、価格・交通・魅力の伝え方を選ぶ。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383280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229600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503920" y="2103120"/>
            <a:ext cx="731520" cy="73152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5039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2402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5039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広告を届ける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8503920" y="36118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850392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利用可能な条件で広告を配信し、チケットページの申込を計測する。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評価は3つに分ける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2743200" y="5504688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販売実績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4480560" y="5504688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広告結果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6217920" y="5504688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地域の変化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3商材の自動連携や、同一個人への追跡・配信を前提にしない。本資料独自の組み合わせ提案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プランと費用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1ヶ月・3ヶ月・1年プランの比較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期間は施策の実施期間。契約前の準備期間は別に確保する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人流分析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広告配信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03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主な成果物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783080"/>
            <a:ext cx="3063240" cy="1170432"/>
          </a:xfrm>
          <a:prstGeom prst="roundRect">
            <a:avLst>
              <a:gd name="adj" fmla="val 625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1856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</a:t>
            </a:r>
            <a:pPr indent="0" marL="0">
              <a:buNone/>
            </a:pPr>
            <a:r>
              <a:rPr lang="en-US" sz="13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小さく検証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1イベント・1課題の反応を確かめる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306324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04288" y="30632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限定した日・地域をスポットで分析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103120" y="384048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4288" y="4078224"/>
            <a:ext cx="182880" cy="1828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384048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1回：課題や反応を調査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03120" y="461772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04288" y="46177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1テーマに絞る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103120" y="530352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04288" y="5303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次に試す条件をまとめた報告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76088" y="1783080"/>
            <a:ext cx="3063240" cy="1170432"/>
          </a:xfrm>
          <a:prstGeom prst="roundRect">
            <a:avLst>
              <a:gd name="adj" fmla="val 625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04688" y="1856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</a:t>
            </a:r>
            <a:pPr indent="0" marL="0">
              <a:buNone/>
            </a:pPr>
            <a:r>
              <a:rPr lang="en-US" sz="13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改善を検証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504688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調査と広告を組み合わせ改善の方向を決める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76088" y="306324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77256" y="30632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基準時点と施策後を同じ条件で比較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276088" y="384048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7256" y="4078224"/>
            <a:ext cx="182880" cy="1828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33288" y="4078224"/>
            <a:ext cx="182880" cy="1828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80760" y="3840480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2回：開始前・実施後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76088" y="461772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77256" y="46177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対象や訴求を見直す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276088" y="530352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77256" y="5303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改善内容と継続判断の報告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49056" y="1783080"/>
            <a:ext cx="3063240" cy="1170432"/>
          </a:xfrm>
          <a:prstGeom prst="roundRect">
            <a:avLst>
              <a:gd name="adj" fmla="val 625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77656" y="1856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</a:t>
            </a:r>
            <a:pPr indent="0" marL="0">
              <a:buNone/>
            </a:pPr>
            <a:r>
              <a:rPr lang="en-US" sz="13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年間で運用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677656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季節や開催時期に応じて継続的に見直す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449056" y="306324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50224" y="30632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定点観測と季節・前年同期の比較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449056" y="384048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50224" y="4078224"/>
            <a:ext cx="182880" cy="1828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06256" y="4078224"/>
            <a:ext cx="182880" cy="1828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62288" y="4078224"/>
            <a:ext cx="182880" cy="1828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0" y="4078224"/>
            <a:ext cx="182880" cy="1828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65792" y="38404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4回：四半期ごと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449056" y="461772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650224" y="46177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年間計画に合わせ配分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449056" y="530352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650224" y="5303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年間評価と次年度の施策計画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期間別プランは営業提案モデル。公式のセット商品・料金プランではない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プランと費用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期間別の進め方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開始前に、見積・素材・対象条件・計測の準備を終える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78308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前半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273040" y="178308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42960" y="178308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240280"/>
            <a:ext cx="3151632" cy="914400"/>
          </a:xfrm>
          <a:prstGeom prst="homePlate">
            <a:avLst/>
          </a:prstGeom>
          <a:solidFill>
            <a:srgbClr val="7D93A8"/>
          </a:solidFill>
          <a:ln>
            <a:solidFill>
              <a:srgbClr val="7D93A8"/>
            </a:solidFill>
          </a:ln>
        </p:spPr>
        <p:txBody>
          <a:bodyPr wrap="square" lIns="0" tIns="381000" rIns="127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第1週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既存データで仮説確認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73040" y="2240280"/>
            <a:ext cx="3151632" cy="914400"/>
          </a:xfrm>
          <a:prstGeom prst="chevron">
            <a:avLst/>
          </a:prstGeom>
          <a:solidFill>
            <a:srgbClr val="3E5A76"/>
          </a:solidFill>
          <a:ln>
            <a:solidFill>
              <a:srgbClr val="3E5A76"/>
            </a:solidFill>
          </a:ln>
        </p:spPr>
        <p:txBody>
          <a:bodyPr wrap="square" lIns="0" tIns="381000" rIns="381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第2〜3週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広告配信・調査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442960" y="2240280"/>
            <a:ext cx="3151632" cy="914400"/>
          </a:xfrm>
          <a:prstGeom prst="chevron">
            <a:avLst/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381000" rIns="381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第4週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結果確認と次回判断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337560"/>
            <a:ext cx="3151632" cy="914400"/>
          </a:xfrm>
          <a:prstGeom prst="homePlate">
            <a:avLst/>
          </a:prstGeom>
          <a:solidFill>
            <a:srgbClr val="7D93A8"/>
          </a:solidFill>
          <a:ln>
            <a:solidFill>
              <a:srgbClr val="7D93A8"/>
            </a:solidFill>
          </a:ln>
        </p:spPr>
        <p:txBody>
          <a:bodyPr wrap="square" lIns="0" tIns="381000" rIns="127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1ヶ月目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人流分析・事前調査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3040" y="3337560"/>
            <a:ext cx="3151632" cy="914400"/>
          </a:xfrm>
          <a:prstGeom prst="chevron">
            <a:avLst/>
          </a:prstGeom>
          <a:solidFill>
            <a:srgbClr val="3E5A76"/>
          </a:solidFill>
          <a:ln>
            <a:solidFill>
              <a:srgbClr val="3E5A76"/>
            </a:solidFill>
          </a:ln>
        </p:spPr>
        <p:txBody>
          <a:bodyPr wrap="square" lIns="0" tIns="381000" rIns="381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2ヶ月目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配信と訴求の見直し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42960" y="3337560"/>
            <a:ext cx="3151632" cy="914400"/>
          </a:xfrm>
          <a:prstGeom prst="chevron">
            <a:avLst/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381000" rIns="381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3ヶ月目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事後調査・評価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34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434840"/>
            <a:ext cx="3151632" cy="914400"/>
          </a:xfrm>
          <a:prstGeom prst="homePlate">
            <a:avLst/>
          </a:prstGeom>
          <a:solidFill>
            <a:srgbClr val="7D93A8"/>
          </a:solidFill>
          <a:ln>
            <a:solidFill>
              <a:srgbClr val="7D93A8"/>
            </a:solidFill>
          </a:ln>
        </p:spPr>
        <p:txBody>
          <a:bodyPr wrap="square" lIns="0" tIns="381000" rIns="127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第1四半期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基準値と計画を設定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73040" y="4434840"/>
            <a:ext cx="3151632" cy="914400"/>
          </a:xfrm>
          <a:prstGeom prst="chevron">
            <a:avLst/>
          </a:prstGeom>
          <a:solidFill>
            <a:srgbClr val="3E5A76"/>
          </a:solidFill>
          <a:ln>
            <a:solidFill>
              <a:srgbClr val="3E5A76"/>
            </a:solidFill>
          </a:ln>
        </p:spPr>
        <p:txBody>
          <a:bodyPr wrap="square" lIns="0" tIns="381000" rIns="381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第2〜3四半期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配信・調査を反復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42960" y="4434840"/>
            <a:ext cx="3151632" cy="914400"/>
          </a:xfrm>
          <a:prstGeom prst="chevron">
            <a:avLst/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381000" rIns="3810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第4四半期</a:t>
            </a:r>
            <a:endParaRPr lang="en-US" sz="11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年間評価と次年度計画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96128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42432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34440" y="5596128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1ヶ月案では、詳細な事前・事後検証まで詰め込まない。</a:t>
            </a:r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施策後データの納品・評価が翌月になる場合も見込む。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工程は例。調査回収・データ納品・広告審査の状況に応じて調整する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プランと費用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公式サイトで確認できる料金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料金の単位が異なるため、3商材の「月額」を一律には比較しない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人口マップ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51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 </a:t>
            </a:r>
            <a:pPr indent="0" marL="0">
              <a:buNone/>
            </a:pPr>
            <a:r>
              <a:rPr lang="en-US" sz="48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pPr indent="0" marL="0">
              <a:buNone/>
            </a:pPr>
            <a:r>
              <a:rPr lang="en-US" sz="16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万円〜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標準版とは別メニュー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4023360"/>
            <a:ext cx="292608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見積時の確認事項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税区分・初期費用・最低期間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対象地域・属性・閲覧機能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97680" y="17830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7492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リサーチ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2651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最低 </a:t>
            </a:r>
            <a:pPr indent="0" marL="0">
              <a:buNone/>
            </a:pPr>
            <a:r>
              <a:rPr lang="en-US" sz="4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27.5</a:t>
            </a:r>
            <a:pPr indent="0" marL="0">
              <a:buNone/>
            </a:pPr>
            <a:r>
              <a:rPr lang="en-US" sz="16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万円/回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税込・最大20問・回収数は目標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0" y="4023360"/>
            <a:ext cx="292608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720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見積時の確認事項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設問数・対象条件・回収数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設計16.5万円、簡易レポート16.5万円〜（税込）など別料金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046720" y="17830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2396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882396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広告出稿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321040" y="2651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要見積</a:t>
            </a:r>
            <a:endParaRPr lang="en-US" sz="3600" dirty="0"/>
          </a:p>
        </p:txBody>
      </p:sp>
      <p:sp>
        <p:nvSpPr>
          <p:cNvPr id="29" name="Text 24"/>
          <p:cNvSpPr txBox="1"/>
          <p:nvPr/>
        </p:nvSpPr>
        <p:spPr>
          <a:xfrm>
            <a:off x="832104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参照ページに最低出稿額の掲載なし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321040" y="4023360"/>
            <a:ext cx="292608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32104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見積時の確認事項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832104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現行の最低出稿額・課金方式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広告費・運用費・制作費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公開情報の確認日：2026年9月25日。契約時は最新見積を優先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プランと費用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期間別の予算比較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アンケートは最低基本料を採用。その他は条件をそろえて見積もる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調査基本料の参考計算（税込・万円）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4884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78308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8470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人流データ・分析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086600" y="21488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スポット分析／3ヶ月・年間の利用仕様で個別見積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2624328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80720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86600" y="26883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調査基本料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7086600" y="299008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27.5万円 × 想定回数（1回／2回／4回）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309360" y="3465576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6484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86600" y="35295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7086600" y="383133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配信量・検証分・繁閑期の配分を指定して個別見積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09360" y="4306824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48970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86600" y="4370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追加費用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7086600" y="467258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設計・分析・制作・運用、定例報告などの必要分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39496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総予算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2377440" y="53492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2880360" y="539496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人流費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3492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5120640" y="539496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調査費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0" y="53492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7360920" y="539496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098280" y="53492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</a:t>
            </a:r>
            <a:endParaRPr lang="en-US" sz="2200" dirty="0"/>
          </a:p>
        </p:txBody>
      </p:sp>
      <p:sp>
        <p:nvSpPr>
          <p:cNvPr id="32" name="Text 25"/>
          <p:cNvSpPr txBox="1"/>
          <p:nvPr/>
        </p:nvSpPr>
        <p:spPr>
          <a:xfrm>
            <a:off x="9601200" y="539496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支援費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予算構成の例で、3商材の合計見積ではない。割引・追加費用は未反映。税込・税抜をそろえて正式な合計を提示する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プランと費用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導入までに確認する条件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開始希望日の2〜4週間前から相談する想定で、提供元と工程を確定する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9966960" cy="0"/>
          </a:xfrm>
          <a:prstGeom prst="line">
            <a:avLst/>
          </a:prstGeom>
          <a:noFill/>
          <a:ln w="3810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929384"/>
            <a:ext cx="256032" cy="256032"/>
          </a:xfrm>
          <a:prstGeom prst="ellipse">
            <a:avLst/>
          </a:prstGeom>
          <a:solidFill>
            <a:srgbClr val="1328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相談開始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2〜4週間前（仮置き）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1584" y="1929384"/>
            <a:ext cx="256032" cy="256032"/>
          </a:xfrm>
          <a:prstGeom prst="ellipse">
            <a:avLst/>
          </a:prstGeom>
          <a:solidFill>
            <a:srgbClr val="1328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394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仕様・見積確定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3944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対象・設問・素材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3904" y="1929384"/>
            <a:ext cx="256032" cy="256032"/>
          </a:xfrm>
          <a:prstGeom prst="ellipse">
            <a:avLst/>
          </a:prstGeom>
          <a:solidFill>
            <a:srgbClr val="1328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76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納品・回収・審査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6176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提供元の工程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36224" y="1929384"/>
            <a:ext cx="256032" cy="256032"/>
          </a:xfrm>
          <a:prstGeom prst="ellipse">
            <a:avLst/>
          </a:prstGeom>
          <a:solidFill>
            <a:srgbClr val="C900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施策開始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実施期間スタート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開始前に決めること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日程の扱い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01568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557016"/>
            <a:ext cx="420624" cy="420624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3662172"/>
            <a:ext cx="210312" cy="21031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61288" y="340156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926080" y="3401568"/>
            <a:ext cx="470916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08960" y="340156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分析地域・日付・比較日・属性／納品形式と利用範囲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772400" y="3401568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4015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公式FAQ：最短10営業日で納品（仕様で変動）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640" y="4270248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4425696"/>
            <a:ext cx="420624" cy="420624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4530852"/>
            <a:ext cx="210312" cy="21031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161288" y="42702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2926080" y="4270248"/>
            <a:ext cx="470916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108960" y="427024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対象者・設問・目標回収数／集計と報告の範囲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7772400" y="4270248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955280" y="42702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設計・回収・納品の工程を案件ごとに確認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548640" y="5138928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58368" y="5294376"/>
            <a:ext cx="420624" cy="420624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5399532"/>
            <a:ext cx="210312" cy="210312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1161288" y="513892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2926080" y="5138928"/>
            <a:ext cx="470916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108960" y="51389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予算・対象条件・広告素材／申込ページと計測方法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7772400" y="5138928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955280" y="51389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入稿締切・審査・配信開始日を現行窓口で確認</a:t>
            </a:r>
            <a:endParaRPr lang="en-US" sz="1250" dirty="0"/>
          </a:p>
        </p:txBody>
      </p:sp>
      <p:sp>
        <p:nvSpPr>
          <p:cNvPr id="45" name="Text 40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2〜4週間は営業上の仮置き。最短10営業日はデータ納品の記載で、初回相談からの全体期間の保証ではない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　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チームで売るための役割分担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案件の窓口を1人に決め、専門担当が見積と設計を支援する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5848" y="2926080"/>
            <a:ext cx="0" cy="22860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4343400"/>
            <a:ext cx="0" cy="22860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4572000"/>
            <a:ext cx="6611112" cy="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4572000"/>
            <a:ext cx="0" cy="22860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00032" y="4572000"/>
            <a:ext cx="0" cy="22860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5568" y="173736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84168" y="18470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チームリーダー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84168" y="21945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　</a:t>
            </a:r>
            <a:pPr indent="0" marL="0">
              <a:buNone/>
            </a:pPr>
            <a:r>
              <a:rPr lang="en-US" sz="11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提案の品質と採算を確認、事例を共有し横展開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84168" y="252374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　</a:t>
            </a:r>
            <a:pPr indent="0" marL="0">
              <a:buNone/>
            </a:pPr>
            <a:r>
              <a:rPr lang="en-US" sz="11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週次の案件一覧、改善点・次の提案先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55568" y="315468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84168" y="32644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案件責任者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84168" y="36118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顧客の課題・予算・決裁日を確認、次回商談を管理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084168" y="394106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案件シート、提案書・次の期限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10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分析・調査担当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2578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　</a:t>
            </a:r>
            <a:pPr indent="0" marL="0">
              <a:buNone/>
            </a:pPr>
            <a:r>
              <a:rPr lang="en-US" sz="11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人流の仕様とアンケートを設計、比較条件を確認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58698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　</a:t>
            </a:r>
            <a:pPr indent="0" marL="0">
              <a:buNone/>
            </a:pPr>
            <a:r>
              <a:rPr lang="en-US" sz="11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分析仕様・調査票、提供元への見積依頼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59752" y="480060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8352" y="4910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広告担当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52578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　</a:t>
            </a:r>
            <a:pPr indent="0" marL="0">
              <a:buNone/>
            </a:pPr>
            <a:r>
              <a:rPr lang="en-US" sz="11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配信条件・素材・申込先を整理、計測方法を確認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558698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　</a:t>
            </a:r>
            <a:pPr indent="0" marL="0">
              <a:buNone/>
            </a:pPr>
            <a:r>
              <a:rPr lang="en-US" sz="11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配信計画・素材一覧、見積とレポート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少人数のチームでは兼務可。案件の責任者と次の期限は必ず明確にする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　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初回商談のヒアリング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商材名の説明に入る前に、4点を確認する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5171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19476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1947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何を増やしたいか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3865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来場、申込、認知など、最優先の成果を1つ選ぶ。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205740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225171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52360" y="19476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1947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誰に来てほしいか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23865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地域、年代、新規・既存など、狙う対象と現在の課題を聞く。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26440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3538728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3733038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82880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233172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いつ判断するか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828800" y="38679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イベント日、予算確定日、次の提案・決裁日を確認する。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72200" y="326440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46520" y="3538728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3733038"/>
            <a:ext cx="388620" cy="3886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5236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95528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何を測れるか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52360" y="38679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既存の来場実績、申込数、広告結果などの有無を聞く。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292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8016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営業トーク例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280160" y="5257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ず来場者を増やしたい地域を整理し、参加しない理由を調べます。その結果から広告の対象と内容を決め、申込実績を見ながら次の施策を判断します。1回の検証と、3ヶ月で改善まで見る案のどちらが課題に合うか、一緒に整理させてください。」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　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成果の見方と継続判断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契約前に、基準値・目標・判断日を顧客と合意する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38528"/>
            <a:ext cx="594360" cy="59436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87118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9385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地域の変化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周辺人口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801368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来訪元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825496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時間帯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1363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同条件の通常日・過去と比較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3566160"/>
            <a:ext cx="301752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次の提案につなぐ判断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9502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告知する地域や開催条件を見直す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0" y="17830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1938528"/>
            <a:ext cx="594360" cy="59436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087118"/>
            <a:ext cx="297180" cy="2971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257800" y="19385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意識の変化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526280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認知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550408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参加意向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74536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障壁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26280" y="31363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対象・設問をそろえて比較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26280" y="3566160"/>
            <a:ext cx="301752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262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次の提案につなぐ判断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4526280" y="39502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訴求内容や参加しやすい条件を見直す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046720" y="17830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275320" y="1938528"/>
            <a:ext cx="594360" cy="59436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2087118"/>
            <a:ext cx="297180" cy="2971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19385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広告と申込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8275320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9299448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10323576" y="26974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275320" y="31363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1件獲得にかかった費用も確認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275320" y="3566160"/>
            <a:ext cx="301752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27532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次の提案につなぐ判断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275320" y="39502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対象・素材・申込ページを改善する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指標の定義を事前にそろえる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3749040" y="4846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クリック率 ＝ クリック数 ÷ 表示数　／　申込単価 ＝ 広告費 ÷ 計測した申込件数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548640" y="5303520"/>
            <a:ext cx="3566160" cy="548640"/>
          </a:xfrm>
          <a:prstGeom prst="chevron">
            <a:avLst/>
          </a:prstGeom>
          <a:solidFill>
            <a:srgbClr val="7D93A8"/>
          </a:solidFill>
          <a:ln>
            <a:solidFill>
              <a:srgbClr val="7D9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　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次の検証条件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4297680" y="5303520"/>
            <a:ext cx="3566160" cy="548640"/>
          </a:xfrm>
          <a:prstGeom prst="chevron">
            <a:avLst/>
          </a:prstGeom>
          <a:solidFill>
            <a:srgbClr val="3E5A76"/>
          </a:solidFill>
          <a:ln>
            <a:solidFill>
              <a:srgbClr val="3E5A7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　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継続・修正</a:t>
            </a:r>
            <a:endParaRPr lang="en-US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8046720" y="5303520"/>
            <a:ext cx="3566160" cy="548640"/>
          </a:xfrm>
          <a:prstGeom prst="chevron">
            <a:avLst/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　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次年度配分</a:t>
            </a:r>
            <a:endParaRPr lang="en-US" sz="140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目標は顧客の実績・予算から設定。人流統計はチケット購入者数ではなく、広告だけが増減の原因とは断定しない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補足：人流サービスの契約期間に注意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標準オンライン参照版の公開例と、人口マップを混同しない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メニュー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1ヶ月だけ利用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3ヶ月利用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1年利用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標準版 国内①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4都道府県・月平均・過去15ヶ月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500mメッシュ・オンライン参照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6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最低3ヶ月のため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6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1ヶ月契約は不可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900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55万円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初期10万円 ＋ 15万円 × 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900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190万円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初期10万円 ＋ 15万円 × 12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人口マップ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別メニュー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月額9万円〜の記載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最低期間は要確認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機能・利用条件と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料金を確認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年額契約条件を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別途確認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スポット分析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対象日・地域等で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個別見積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比較時点の範囲で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個別見積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定期分析の仕様で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個別見積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標準版はダウンロード不可の月平均値。イベント当日の詳細分析とは別仕様で、最低3ヶ月を人口マップに当てはめない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参考計算は値引き・追加分析費等を含まない。税区分と現行条件は見積で確認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まとめ：チームでそろえる3つのこと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01168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2059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課題から商材を選ぶ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794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来場・申込・説明責任など、相手が増やしたい成果を先に聞き、必要な商材から提案する。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201168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2059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限界を伝えて組み合わせる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94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人流は理由が分からず、調査は告知できない。補い合う理由を説明し、一括導入を前提にしない。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2011680"/>
            <a:ext cx="777240" cy="7772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220599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公式情報と提案を分ける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794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料金・納期は公式情報で確認し、期間別プランや工程は本資料の提案モデルとして伝える。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1520" y="544068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60527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54406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次のアクション：案件責任者を決め、初回商談で4点をヒアリングし、1ヶ月か3ヶ月の案を次回提示する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参照した公式情報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2026年9月25日確認（※は9月27日に追加確認）。顧客向けの正式提案前に、条件を再確認する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1362456"/>
          </a:xfrm>
          <a:prstGeom prst="roundRect">
            <a:avLst>
              <a:gd name="adj" fmla="val 536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023110"/>
            <a:ext cx="205740" cy="2057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920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　</a:t>
            </a:r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機能・価格・納期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331720"/>
            <a:ext cx="10149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https://mobaku.jp/about/　https://mobaku.jp/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https://mobaku.jp/price/jpn/　https://mobaku.jp/faq/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https://mobaku.jp/cases/ea/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11064240" cy="1362456"/>
          </a:xfrm>
          <a:prstGeom prst="roundRect">
            <a:avLst>
              <a:gd name="adj" fmla="val 536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3419856"/>
            <a:ext cx="411480" cy="4114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3522726"/>
            <a:ext cx="205740" cy="2057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80160" y="341985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　</a:t>
            </a:r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サービス・基本料金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280160" y="3831336"/>
            <a:ext cx="10149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https://ssw.web.docomo.ne.jp/marketing/products/premium-panel/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https://www.ntt.com/business/services/premierepanel.html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https://www.ntt.com/business/services/premierepanel/research.html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782312"/>
            <a:ext cx="11064240" cy="1618488"/>
          </a:xfrm>
          <a:prstGeom prst="roundRect">
            <a:avLst>
              <a:gd name="adj" fmla="val 452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4919472"/>
            <a:ext cx="411480" cy="41148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5022342"/>
            <a:ext cx="205740" cy="2057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49194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　</a:t>
            </a:r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サービス・現行窓口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280160" y="533095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https://ssw.web.docomo.ne.jp/marketing/products/ad-network/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https://www.d2c.co.jp/solutions/docomo-media/docomo-ad-network/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https://www.cartazero.co.jp/ja/news/20260701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https://ssw.web.docomo.ne.jp/marketing/assets/pdf/20260701_release.pdf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ドコモの3商材 チーム営業提案</dc:title>
  <dc:subject>PptxGenJS Presentation</dc:subject>
  <dc:creator>PptxGenJS</dc:creator>
  <cp:lastModifiedBy>PptxGenJS</cp:lastModifiedBy>
  <cp:revision>1</cp:revision>
  <dcterms:created xsi:type="dcterms:W3CDTF">2026-09-27T13:43:32Z</dcterms:created>
  <dcterms:modified xsi:type="dcterms:W3CDTF">2026-09-27T13:43:32Z</dcterms:modified>
</cp:coreProperties>
</file>