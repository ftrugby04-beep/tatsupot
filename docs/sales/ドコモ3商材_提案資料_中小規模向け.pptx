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理由</c:v>
                </c:pt>
              </c:strCache>
            </c:strRef>
          </c:tx>
          <c:spPr>
            <a:solidFill>
              <a:srgbClr val="C9002B"/>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9AA6B2"/>
              </a:solidFill>
              <a:effectLst/>
            </c:spPr>
          </c:dPt>
          <c:cat>
            <c:multiLvlStrRef>
              <c:f>Sheet1!$A$2:$A$5</c:f>
              <c:multiLvlStrCache>
                <c:ptCount val="4"/>
                <c:lvl>
                  <c:pt idx="0">
                    <c:v>開催を知らなかった</c:v>
                  </c:pt>
                  <c:pt idx="1">
                    <c:v>日程が合わなかった</c:v>
                  </c:pt>
                  <c:pt idx="2">
                    <c:v>交通・駐車場が不安</c:v>
                  </c:pt>
                  <c:pt idx="3">
                    <c:v>内容に興味がない</c:v>
                  </c:pt>
                </c:lvl>
              </c:multiLvlStrCache>
            </c:multiLvlStrRef>
          </c:cat>
          <c:val>
            <c:numRef>
              <c:f>Sheet1!$B$2:$B$5</c:f>
              <c:numCache>
                <c:formatCode>General</c:formatCode>
                <c:ptCount val="4"/>
                <c:pt idx="0">
                  <c:v>42</c:v>
                </c:pt>
                <c:pt idx="1">
                  <c:v>28</c:v>
                </c:pt>
                <c:pt idx="2">
                  <c:v>17</c:v>
                </c:pt>
                <c:pt idx="3">
                  <c:v>9</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【この資料の使い方】
・対象：プロスポーツ球団・クラブ（ファームや地方試合を含む）、中小企業、人口数万人規模までの自治体など、予算と担当者が限られるお客様。
・顧客提案：P.01〜16を使う。P.17〜20（社内用）は非表示にするか削除。ファイルで渡す場合はノートを削除するかPDFで渡す。〔 〕とP.09の架空の数値を差し替える。
・料金・仕様は2026年9月時点の公開情報。正式提案前に再確認。
冒頭トーク例：大きな予算をかけなくても、まず1回のイベントで「誰が来て、誰が来ていないか」をデータで確かめるご提案です。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中小規模のお客様は「いくらかかるか」「誰がやるのか」が最初の関心事。要旨で金額の目安と手間の少なさを先に出す。調査1回の最低料金はプレミアパネル（リサーチ）の公開料金。条件で変わるため見積で確認する。
出典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【差し替え】ヒアリング後は顧客の言葉に書き換える。球団なら「満員の試合」より「空席が出やすい試合」や「新規ファン」に焦点を当てると、データの価値が伝わりやすい。
トーク例：この4つのうち、一番近いお悩みはどれでしょうか。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最初の1つは、比較的金額が読みやすく、来なかった人の声という新しい情報が得られるプレミアパネルを推す。人流は会場周辺の人の動き、広告は告知。予算と目的に応じて入れ替える。
【社内メモ】人口マップ月額9万円〜は元資料の数字で、今回の検索では確認できていない。プレミアパネル最低27.5万円もリサーチの料金か見積で確認する。
出典
https://www.ntt.com/business/services/premierepanel/research.html
https://mobaku.jp/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小規模な会場では、周辺の住宅地や通行の人も含まれる。会場の大きさと周辺環境を確認し、比較する日（普段の同じ曜日など）を決めて使う。
画像出典：https://mobaku.jp/top/img/table/table1.jpg
出典
https://mobaku.jp/
https://bizzine.jp/article/detail/10718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サーチの公開料金は最低27.5万円/回（税込）。基本15問まで（1問追加ごとに22,000円・税込、最大20問）。小規模自治体では、対象地域を絞り過ぎると回収数が足りなくなるため、回収可能数を提供元に事前に確認する。
画像出典：https://ssw.web.docomo.ne.jp/marketing/assets/images/products_detail/premium-panel/kv.png
出典
https://ssw.web.docomo.ne.jp/marketing/products/premium-panel/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参照した公式ページに最低出稿額の掲載はない。小規模予算で出せるメニューがあるか、現行窓口（CARTA ZERO）で事前に確認してから提案する。
画像出典：https://ssw.web.docomo.ne.jp/marketing/assets/images/products_detail/ad-network/introduction.png
出典
https://ssw.web.docomo.ne.jp/marketing/products/ad-network/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中小規模のお客様は担当者が兼務で忙しい。「何をしなくていいか」を明確にすると決めやすい。支援範囲（設計・報告書作成など）を見積に含めるかは社内で確認すること。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ページ】事例分析では、選ばれた決め手は「どういったデータが取れるか明確にイメージできたこと」。中小規模のお客様は報告書を読み込む時間がないため、「数字3つ＋次にやること3つ」の1枚を見せると伝わる。可能なら顧客の過去イベントのサンプルに差し替える。
出典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琴平町は町の規模で、手作業の調査から2つのサービスの組み合わせに移った事例。本提案の「まず小さく」に最も近い。川崎フロンターレは位置情報と決済情報を組み合わせた実証で、標準メニューとは異なる。
出典
https://www.ntt.com/business/case-studies/kotohira_town.html
https://www.ntt.com/business/case-studies/mima.html
https://www.ntt.com/business/case-studies/tamana.html
https://www.ntt.com/business/services/spatial_statistics/case_miyaginresearch.html
https://www.intage.co.jp/news/6237/
https://www.docomobs.com/case/toyama/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球団の場合：ステップ1は空席が出やすい試合1つで来なかった理由を聞く→ステップ2で告知と当日の人の動きを足す→ステップ3でシーズンを通して比べる。自治体の場合：ステップ1を少額随意契約の範囲で今年度に行い、結果を次年度予算の根拠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【差し替え】〔お見積額〕は提供元の見積と当社の支援費をそろえて記入。お試しプランの27.5万円〜はプレミアパネル（リサーチ）の最低料金で、支援費・オプションは含まない。
【社内メモ】少額随意契約の基準額は令和7年の政令改正で見直され、市区町村の委託等は100万円以下（各自治体の規則で適用）。企業・球団は「稟議を通しやすい金額」を事前に聞いておく。
出典
https://www.ntt.com/business/services/premierepanel/research.html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自治体の予算は9〜10月に次年度の要求、12〜1月に査定、2〜3月に議会。年度の後半に小さく試し、結果を予算要求や査定の説明に使ってもらうのが現実的。
出典
https://mobaku.jp/faq/
https://journal.labid.jp/article/exL3ENJP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「長期契約を前提にしない」は当社の提案方針。各サービスに最低契約期間があるメニュー（例：モバイル空間統計の標準版は最低3ヶ月）もあるため、使うメニューで確認する。
出典
https://mobaku.jp/price/jpn/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切り出し例：次のイベントで、一番増やしたいのはどんなお客様でしょうか。
締め方の例：まず1回分の具体案と金額をお持ちします。そこで続けるかどうかをご判断ください。
※次のP.16（出典）までが顧客提示用。P.17以降は社内用。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顧客提示はここまで。競合の出典は社内用ページ（P.19）のノートに記載。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例分析の結論（顧客の判断から逆算し、判断に使えるアウトプットを契約前に見せる）は、規模が小さくても同じ。違うのは、金額・手間・決め方。栃木県は「どういったデータが取れるか明確にイメージできた」ことを決め手にした。
出典
https://biz.kddi.com/usecase/tochigi2/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野球球団のように規模が大きくても、担当部署の予算や決め方は中小企業に近い場合がある。満員の試合よりも、平日やファーム、地方開催など空席が出やすい試合を入口にすると価値が伝わりやすい。横浜DeNAベイスターズは他社（KDDI）の定額ツールで試合ごとの来場者比較をしているため、球団には「来なかった理由」「新規層への告知」で差をつける。
出典
https://k-locationanalyzer.com/case/baystars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読み：中小規模の顧客では、KDDIの年額定額（掲載例240万円/1ID・税別）は重く感じられやすい。ドコモ側は「1回単位」「来なかった理由が聞ける」「町の規模の事例（琴平町）」で入りやすさを訴求する。ただし人流のスポット分析の金額は見積次第のため、比較は見積をそろえてから。
出典
https://k-locationanalyzer.com/domestic
https://www.giken.co.jp/service/kla/fee/
https://agoop.co.jp/service/dynamic-population-data/
https://bizzine.jp/article/detail/10718
https://mobaku.jp/analysis/2017/1101_50.html
https://www.ntt.com/business/case-studies/tamana.html
https://www.ntt.com/business/case-studies/kotohira_town.html
https://www.lycbiz.com/jp/service/line-ads/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案件窓口は1人（藤田さん案）。少人数なら分析担当と兼務する。報告会で必ず「次の一手を1つ」提案し、ステップ2・次年度につなげる。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822960"/>
            <a:ext cx="6400800" cy="41148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〔お客様名〕 御中</a:t>
            </a:r>
            <a:endParaRPr lang="en-US" sz="1800" dirty="0"/>
          </a:p>
        </p:txBody>
      </p:sp>
      <p:sp>
        <p:nvSpPr>
          <p:cNvPr id="3" name="Text 1"/>
          <p:cNvSpPr txBox="1"/>
          <p:nvPr/>
        </p:nvSpPr>
        <p:spPr>
          <a:xfrm>
            <a:off x="731520" y="1783080"/>
            <a:ext cx="6766560" cy="731520"/>
          </a:xfrm>
          <a:prstGeom prst="rect">
            <a:avLst/>
          </a:prstGeom>
          <a:noFill/>
          <a:ln/>
        </p:spPr>
        <p:txBody>
          <a:bodyPr wrap="square" lIns="0" tIns="0" rIns="0" bIns="0" rtlCol="0" anchor="t"/>
          <a:lstStyle/>
          <a:p>
            <a:pPr indent="0" marL="0">
              <a:buNone/>
            </a:pPr>
            <a:r>
              <a:rPr lang="en-US" sz="3400" b="1" dirty="0">
                <a:solidFill>
                  <a:srgbClr val="FFFFFF"/>
                </a:solidFill>
                <a:latin typeface="Meiryo" pitchFamily="34" charset="0"/>
                <a:ea typeface="Meiryo" pitchFamily="34" charset="-122"/>
                <a:cs typeface="Meiryo" pitchFamily="34" charset="-120"/>
              </a:rPr>
              <a:t>限られた予算と人手でも、</a:t>
            </a:r>
            <a:endParaRPr lang="en-US" sz="3400" dirty="0"/>
          </a:p>
        </p:txBody>
      </p:sp>
      <p:sp>
        <p:nvSpPr>
          <p:cNvPr id="4" name="Text 2"/>
          <p:cNvSpPr txBox="1"/>
          <p:nvPr/>
        </p:nvSpPr>
        <p:spPr>
          <a:xfrm>
            <a:off x="731520" y="2514600"/>
            <a:ext cx="6766560" cy="731520"/>
          </a:xfrm>
          <a:prstGeom prst="rect">
            <a:avLst/>
          </a:prstGeom>
          <a:noFill/>
          <a:ln/>
        </p:spPr>
        <p:txBody>
          <a:bodyPr wrap="square" lIns="0" tIns="0" rIns="0" bIns="0" rtlCol="0" anchor="t"/>
          <a:lstStyle/>
          <a:p>
            <a:pPr indent="0" marL="0">
              <a:buNone/>
            </a:pPr>
            <a:r>
              <a:rPr lang="en-US" sz="3400" b="1" dirty="0">
                <a:solidFill>
                  <a:srgbClr val="FF5A78"/>
                </a:solidFill>
                <a:latin typeface="Meiryo" pitchFamily="34" charset="0"/>
                <a:ea typeface="Meiryo" pitchFamily="34" charset="-122"/>
                <a:cs typeface="Meiryo" pitchFamily="34" charset="-120"/>
              </a:rPr>
              <a:t>データで集客を一歩前へ</a:t>
            </a:r>
            <a:endParaRPr lang="en-US" sz="3400" dirty="0"/>
          </a:p>
        </p:txBody>
      </p:sp>
      <p:sp>
        <p:nvSpPr>
          <p:cNvPr id="5" name="Text 3"/>
          <p:cNvSpPr txBox="1"/>
          <p:nvPr/>
        </p:nvSpPr>
        <p:spPr>
          <a:xfrm>
            <a:off x="731520" y="3520440"/>
            <a:ext cx="6400800" cy="822960"/>
          </a:xfrm>
          <a:prstGeom prst="rect">
            <a:avLst/>
          </a:prstGeom>
          <a:noFill/>
          <a:ln/>
        </p:spPr>
        <p:txBody>
          <a:bodyPr wrap="square" lIns="0" tIns="0" rIns="0" bIns="0" rtlCol="0" anchor="t"/>
          <a:lstStyle/>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1つのサービス・1回のイベントから始める</a:t>
            </a:r>
            <a:endParaRPr lang="en-US" sz="1500" dirty="0"/>
          </a:p>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ドコモのデータ活用のご提案</a:t>
            </a:r>
            <a:endParaRPr lang="en-US" sz="1500" dirty="0"/>
          </a:p>
        </p:txBody>
      </p:sp>
      <p:sp>
        <p:nvSpPr>
          <p:cNvPr id="6" name="Text 4"/>
          <p:cNvSpPr txBox="1"/>
          <p:nvPr/>
        </p:nvSpPr>
        <p:spPr>
          <a:xfrm>
            <a:off x="731520" y="5852160"/>
            <a:ext cx="6400800" cy="320040"/>
          </a:xfrm>
          <a:prstGeom prst="rect">
            <a:avLst/>
          </a:prstGeom>
          <a:noFill/>
          <a:ln/>
        </p:spPr>
        <p:txBody>
          <a:bodyPr wrap="square" lIns="0" tIns="0" rIns="0" bIns="0" rtlCol="0" anchor="t"/>
          <a:lstStyle/>
          <a:p>
            <a:pPr indent="0" marL="0">
              <a:buNone/>
            </a:pPr>
            <a:r>
              <a:rPr lang="en-US" sz="1300" dirty="0">
                <a:solidFill>
                  <a:srgbClr val="BAC8D4"/>
                </a:solidFill>
                <a:latin typeface="Meiryo" pitchFamily="34" charset="0"/>
                <a:ea typeface="Meiryo" pitchFamily="34" charset="-122"/>
                <a:cs typeface="Meiryo" pitchFamily="34" charset="-120"/>
              </a:rPr>
              <a:t>2026年10月　〔貴社名〕</a:t>
            </a:r>
            <a:endParaRPr lang="en-US" sz="1300" dirty="0"/>
          </a:p>
        </p:txBody>
      </p:sp>
      <p:sp>
        <p:nvSpPr>
          <p:cNvPr id="7" name="Shape 5"/>
          <p:cNvSpPr/>
          <p:nvPr/>
        </p:nvSpPr>
        <p:spPr>
          <a:xfrm>
            <a:off x="7498080" y="1600200"/>
            <a:ext cx="4023360" cy="1051560"/>
          </a:xfrm>
          <a:prstGeom prst="roundRect">
            <a:avLst>
              <a:gd name="adj" fmla="val 8696"/>
            </a:avLst>
          </a:prstGeom>
          <a:solidFill>
            <a:srgbClr val="22394F"/>
          </a:solidFill>
          <a:ln w="12700">
            <a:solidFill>
              <a:srgbClr val="2F4A63"/>
            </a:solidFill>
            <a:prstDash val="solid"/>
          </a:ln>
        </p:spPr>
      </p:sp>
      <p:sp>
        <p:nvSpPr>
          <p:cNvPr id="8" name="Shape 6"/>
          <p:cNvSpPr/>
          <p:nvPr/>
        </p:nvSpPr>
        <p:spPr>
          <a:xfrm>
            <a:off x="7726680" y="1783080"/>
            <a:ext cx="685800" cy="68580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7898130" y="1954530"/>
            <a:ext cx="342900" cy="342900"/>
          </a:xfrm>
          <a:prstGeom prst="rect">
            <a:avLst/>
          </a:prstGeom>
        </p:spPr>
      </p:pic>
      <p:sp>
        <p:nvSpPr>
          <p:cNvPr id="10" name="Text 7"/>
          <p:cNvSpPr txBox="1"/>
          <p:nvPr/>
        </p:nvSpPr>
        <p:spPr>
          <a:xfrm>
            <a:off x="8595360" y="178308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小さく始められる</a:t>
            </a:r>
            <a:endParaRPr lang="en-US" sz="1600" dirty="0"/>
          </a:p>
        </p:txBody>
      </p:sp>
      <p:sp>
        <p:nvSpPr>
          <p:cNvPr id="11" name="Text 8"/>
          <p:cNvSpPr txBox="1"/>
          <p:nvPr/>
        </p:nvSpPr>
        <p:spPr>
          <a:xfrm>
            <a:off x="8595360" y="216712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調査1回から</a:t>
            </a:r>
            <a:endParaRPr lang="en-US" sz="1200" dirty="0"/>
          </a:p>
        </p:txBody>
      </p:sp>
      <p:sp>
        <p:nvSpPr>
          <p:cNvPr id="12" name="Shape 9"/>
          <p:cNvSpPr/>
          <p:nvPr/>
        </p:nvSpPr>
        <p:spPr>
          <a:xfrm>
            <a:off x="7498080" y="2926080"/>
            <a:ext cx="4023360" cy="1051560"/>
          </a:xfrm>
          <a:prstGeom prst="roundRect">
            <a:avLst>
              <a:gd name="adj" fmla="val 8696"/>
            </a:avLst>
          </a:prstGeom>
          <a:solidFill>
            <a:srgbClr val="22394F"/>
          </a:solidFill>
          <a:ln w="12700">
            <a:solidFill>
              <a:srgbClr val="2F4A63"/>
            </a:solidFill>
            <a:prstDash val="solid"/>
          </a:ln>
        </p:spPr>
      </p:sp>
      <p:sp>
        <p:nvSpPr>
          <p:cNvPr id="13" name="Shape 10"/>
          <p:cNvSpPr/>
          <p:nvPr/>
        </p:nvSpPr>
        <p:spPr>
          <a:xfrm>
            <a:off x="7726680" y="3108960"/>
            <a:ext cx="685800" cy="68580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7898130" y="3280410"/>
            <a:ext cx="342900" cy="342900"/>
          </a:xfrm>
          <a:prstGeom prst="rect">
            <a:avLst/>
          </a:prstGeom>
        </p:spPr>
      </p:pic>
      <p:sp>
        <p:nvSpPr>
          <p:cNvPr id="15" name="Text 11"/>
          <p:cNvSpPr txBox="1"/>
          <p:nvPr/>
        </p:nvSpPr>
        <p:spPr>
          <a:xfrm>
            <a:off x="8595360" y="310896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手間がかからない</a:t>
            </a:r>
            <a:endParaRPr lang="en-US" sz="1600" dirty="0"/>
          </a:p>
        </p:txBody>
      </p:sp>
      <p:sp>
        <p:nvSpPr>
          <p:cNvPr id="16" name="Text 12"/>
          <p:cNvSpPr txBox="1"/>
          <p:nvPr/>
        </p:nvSpPr>
        <p:spPr>
          <a:xfrm>
            <a:off x="8595360" y="349300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設計から報告まで当社が担当</a:t>
            </a:r>
            <a:endParaRPr lang="en-US" sz="1200" dirty="0"/>
          </a:p>
        </p:txBody>
      </p:sp>
      <p:sp>
        <p:nvSpPr>
          <p:cNvPr id="17" name="Shape 13"/>
          <p:cNvSpPr/>
          <p:nvPr/>
        </p:nvSpPr>
        <p:spPr>
          <a:xfrm>
            <a:off x="7498080" y="4251960"/>
            <a:ext cx="4023360" cy="1051560"/>
          </a:xfrm>
          <a:prstGeom prst="roundRect">
            <a:avLst>
              <a:gd name="adj" fmla="val 8696"/>
            </a:avLst>
          </a:prstGeom>
          <a:solidFill>
            <a:srgbClr val="22394F"/>
          </a:solidFill>
          <a:ln w="12700">
            <a:solidFill>
              <a:srgbClr val="2F4A63"/>
            </a:solidFill>
            <a:prstDash val="solid"/>
          </a:ln>
        </p:spPr>
      </p:sp>
      <p:sp>
        <p:nvSpPr>
          <p:cNvPr id="18" name="Shape 14"/>
          <p:cNvSpPr/>
          <p:nvPr/>
        </p:nvSpPr>
        <p:spPr>
          <a:xfrm>
            <a:off x="7726680" y="4434840"/>
            <a:ext cx="685800" cy="68580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7898130" y="4606290"/>
            <a:ext cx="342900" cy="342900"/>
          </a:xfrm>
          <a:prstGeom prst="rect">
            <a:avLst/>
          </a:prstGeom>
        </p:spPr>
      </p:pic>
      <p:sp>
        <p:nvSpPr>
          <p:cNvPr id="20" name="Text 15"/>
          <p:cNvSpPr txBox="1"/>
          <p:nvPr/>
        </p:nvSpPr>
        <p:spPr>
          <a:xfrm>
            <a:off x="8595360" y="443484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説明に使える</a:t>
            </a:r>
            <a:endParaRPr lang="en-US" sz="1600" dirty="0"/>
          </a:p>
        </p:txBody>
      </p:sp>
      <p:sp>
        <p:nvSpPr>
          <p:cNvPr id="21" name="Text 16"/>
          <p:cNvSpPr txBox="1"/>
          <p:nvPr/>
        </p:nvSpPr>
        <p:spPr>
          <a:xfrm>
            <a:off x="8595360" y="481888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議会・役員・スポンサー向けの1枚資料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はじめに</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ご提案の要旨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まず1回、小さく試して、効果が見えたら広げる。担当者の手間は増やしません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02</a:t>
            </a:r>
            <a:endParaRPr lang="en-US" sz="1000" dirty="0"/>
          </a:p>
        </p:txBody>
      </p:sp>
      <p:sp>
        <p:nvSpPr>
          <p:cNvPr id="6" name="Shape 4"/>
          <p:cNvSpPr/>
          <p:nvPr/>
        </p:nvSpPr>
        <p:spPr>
          <a:xfrm>
            <a:off x="548640" y="1783080"/>
            <a:ext cx="11064240" cy="941832"/>
          </a:xfrm>
          <a:prstGeom prst="roundRect">
            <a:avLst>
              <a:gd name="adj" fmla="val 7767"/>
            </a:avLst>
          </a:prstGeom>
          <a:solidFill>
            <a:srgbClr val="13283C"/>
          </a:solidFill>
          <a:ln w="12700">
            <a:solidFill>
              <a:srgbClr val="13283C"/>
            </a:solidFill>
            <a:prstDash val="solid"/>
          </a:ln>
        </p:spPr>
      </p:sp>
      <p:sp>
        <p:nvSpPr>
          <p:cNvPr id="7" name="Shape 5"/>
          <p:cNvSpPr/>
          <p:nvPr/>
        </p:nvSpPr>
        <p:spPr>
          <a:xfrm>
            <a:off x="777240" y="1956816"/>
            <a:ext cx="594360" cy="59436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25830" y="2105406"/>
            <a:ext cx="297180" cy="297180"/>
          </a:xfrm>
          <a:prstGeom prst="rect">
            <a:avLst/>
          </a:prstGeom>
        </p:spPr>
      </p:pic>
      <p:sp>
        <p:nvSpPr>
          <p:cNvPr id="9" name="Text 6"/>
          <p:cNvSpPr txBox="1"/>
          <p:nvPr/>
        </p:nvSpPr>
        <p:spPr>
          <a:xfrm>
            <a:off x="1600200" y="1783080"/>
            <a:ext cx="2926080" cy="941832"/>
          </a:xfrm>
          <a:prstGeom prst="rect">
            <a:avLst/>
          </a:prstGeom>
          <a:noFill/>
          <a:ln/>
        </p:spPr>
        <p:txBody>
          <a:bodyPr wrap="square" lIns="0" tIns="0" rIns="0" bIns="0" rtlCol="0" anchor="ctr"/>
          <a:lstStyle/>
          <a:p>
            <a:pPr indent="0" marL="0">
              <a:buNone/>
            </a:pPr>
            <a:r>
              <a:rPr lang="en-US" sz="1500" b="1" dirty="0">
                <a:solidFill>
                  <a:srgbClr val="FF8FA3"/>
                </a:solidFill>
                <a:latin typeface="Meiryo" pitchFamily="34" charset="0"/>
                <a:ea typeface="Meiryo" pitchFamily="34" charset="-122"/>
                <a:cs typeface="Meiryo" pitchFamily="34" charset="-120"/>
              </a:rPr>
              <a:t>ご判断いただきたいこと</a:t>
            </a:r>
            <a:endParaRPr lang="en-US" sz="1500" dirty="0"/>
          </a:p>
        </p:txBody>
      </p:sp>
      <p:sp>
        <p:nvSpPr>
          <p:cNvPr id="10" name="Text 7"/>
          <p:cNvSpPr txBox="1"/>
          <p:nvPr/>
        </p:nvSpPr>
        <p:spPr>
          <a:xfrm>
            <a:off x="4572000" y="1783080"/>
            <a:ext cx="6858000" cy="94183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次のイベントで、どこの・どんな人に向けて告知するか</a:t>
            </a:r>
            <a:endParaRPr lang="en-US" sz="1400" dirty="0"/>
          </a:p>
        </p:txBody>
      </p:sp>
      <p:sp>
        <p:nvSpPr>
          <p:cNvPr id="11" name="Shape 8"/>
          <p:cNvSpPr/>
          <p:nvPr/>
        </p:nvSpPr>
        <p:spPr>
          <a:xfrm>
            <a:off x="548640" y="2862072"/>
            <a:ext cx="11064240" cy="941832"/>
          </a:xfrm>
          <a:prstGeom prst="roundRect">
            <a:avLst>
              <a:gd name="adj" fmla="val 7767"/>
            </a:avLst>
          </a:prstGeom>
          <a:solidFill>
            <a:srgbClr val="F2F5F8"/>
          </a:solidFill>
          <a:ln w="12700">
            <a:solidFill>
              <a:srgbClr val="F2F5F8"/>
            </a:solidFill>
            <a:prstDash val="solid"/>
          </a:ln>
        </p:spPr>
      </p:sp>
      <p:sp>
        <p:nvSpPr>
          <p:cNvPr id="12" name="Shape 9"/>
          <p:cNvSpPr/>
          <p:nvPr/>
        </p:nvSpPr>
        <p:spPr>
          <a:xfrm>
            <a:off x="777240" y="3035808"/>
            <a:ext cx="594360" cy="594360"/>
          </a:xfrm>
          <a:prstGeom prst="ellipse">
            <a:avLst/>
          </a:prstGeom>
          <a:solidFill>
            <a:srgbClr val="C9002B"/>
          </a:solidFill>
          <a:ln w="12700">
            <a:solidFill>
              <a:srgbClr val="C9002B"/>
            </a:solidFill>
            <a:prstDash val="solid"/>
          </a:ln>
        </p:spPr>
      </p:sp>
      <p:pic>
        <p:nvPicPr>
          <p:cNvPr id="13" name="Image 1" descr="preencoded.png">    </p:cNvPr>
          <p:cNvPicPr>
            <a:picLocks noChangeAspect="1"/>
          </p:cNvPicPr>
          <p:nvPr/>
        </p:nvPicPr>
        <p:blipFill>
          <a:blip r:embed="rId2"/>
          <a:stretch>
            <a:fillRect/>
          </a:stretch>
        </p:blipFill>
        <p:spPr>
          <a:xfrm>
            <a:off x="925830" y="3184398"/>
            <a:ext cx="297180" cy="297180"/>
          </a:xfrm>
          <a:prstGeom prst="rect">
            <a:avLst/>
          </a:prstGeom>
        </p:spPr>
      </p:pic>
      <p:sp>
        <p:nvSpPr>
          <p:cNvPr id="14" name="Text 10"/>
          <p:cNvSpPr txBox="1"/>
          <p:nvPr/>
        </p:nvSpPr>
        <p:spPr>
          <a:xfrm>
            <a:off x="1600200" y="2862072"/>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最初にやること</a:t>
            </a:r>
            <a:endParaRPr lang="en-US" sz="1500" dirty="0"/>
          </a:p>
        </p:txBody>
      </p:sp>
      <p:sp>
        <p:nvSpPr>
          <p:cNvPr id="15" name="Text 11"/>
          <p:cNvSpPr txBox="1"/>
          <p:nvPr/>
        </p:nvSpPr>
        <p:spPr>
          <a:xfrm>
            <a:off x="4572000" y="2862072"/>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1つのサービスで、1回のイベントを調べる（例：来なかった人へのアンケート1回）</a:t>
            </a:r>
            <a:endParaRPr lang="en-US" sz="1400" dirty="0"/>
          </a:p>
        </p:txBody>
      </p:sp>
      <p:sp>
        <p:nvSpPr>
          <p:cNvPr id="16" name="Shape 12"/>
          <p:cNvSpPr/>
          <p:nvPr/>
        </p:nvSpPr>
        <p:spPr>
          <a:xfrm>
            <a:off x="548640" y="3941064"/>
            <a:ext cx="11064240" cy="941832"/>
          </a:xfrm>
          <a:prstGeom prst="roundRect">
            <a:avLst>
              <a:gd name="adj" fmla="val 7767"/>
            </a:avLst>
          </a:prstGeom>
          <a:solidFill>
            <a:srgbClr val="F2F5F8"/>
          </a:solidFill>
          <a:ln w="12700">
            <a:solidFill>
              <a:srgbClr val="F2F5F8"/>
            </a:solidFill>
            <a:prstDash val="solid"/>
          </a:ln>
        </p:spPr>
      </p:sp>
      <p:sp>
        <p:nvSpPr>
          <p:cNvPr id="17" name="Shape 13"/>
          <p:cNvSpPr/>
          <p:nvPr/>
        </p:nvSpPr>
        <p:spPr>
          <a:xfrm>
            <a:off x="777240" y="4114800"/>
            <a:ext cx="594360" cy="594360"/>
          </a:xfrm>
          <a:prstGeom prst="ellipse">
            <a:avLst/>
          </a:prstGeom>
          <a:solidFill>
            <a:srgbClr val="C9002B"/>
          </a:solidFill>
          <a:ln w="12700">
            <a:solidFill>
              <a:srgbClr val="C9002B"/>
            </a:solidFill>
            <a:prstDash val="solid"/>
          </a:ln>
        </p:spPr>
      </p:sp>
      <p:pic>
        <p:nvPicPr>
          <p:cNvPr id="18" name="Image 2" descr="preencoded.png">    </p:cNvPr>
          <p:cNvPicPr>
            <a:picLocks noChangeAspect="1"/>
          </p:cNvPicPr>
          <p:nvPr/>
        </p:nvPicPr>
        <p:blipFill>
          <a:blip r:embed="rId3"/>
          <a:stretch>
            <a:fillRect/>
          </a:stretch>
        </p:blipFill>
        <p:spPr>
          <a:xfrm>
            <a:off x="925830" y="4263390"/>
            <a:ext cx="297180" cy="297180"/>
          </a:xfrm>
          <a:prstGeom prst="rect">
            <a:avLst/>
          </a:prstGeom>
        </p:spPr>
      </p:pic>
      <p:sp>
        <p:nvSpPr>
          <p:cNvPr id="19" name="Text 14"/>
          <p:cNvSpPr txBox="1"/>
          <p:nvPr/>
        </p:nvSpPr>
        <p:spPr>
          <a:xfrm>
            <a:off x="1600200" y="3941064"/>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お渡しするもの</a:t>
            </a:r>
            <a:endParaRPr lang="en-US" sz="1500" dirty="0"/>
          </a:p>
        </p:txBody>
      </p:sp>
      <p:sp>
        <p:nvSpPr>
          <p:cNvPr id="20" name="Text 15"/>
          <p:cNvSpPr txBox="1"/>
          <p:nvPr/>
        </p:nvSpPr>
        <p:spPr>
          <a:xfrm>
            <a:off x="4572000" y="3941064"/>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報告書と、議会・役員・スポンサーにそのまま出せる「1枚まとめ」</a:t>
            </a:r>
            <a:endParaRPr lang="en-US" sz="1400" dirty="0"/>
          </a:p>
        </p:txBody>
      </p:sp>
      <p:sp>
        <p:nvSpPr>
          <p:cNvPr id="21" name="Shape 16"/>
          <p:cNvSpPr/>
          <p:nvPr/>
        </p:nvSpPr>
        <p:spPr>
          <a:xfrm>
            <a:off x="548640" y="5020056"/>
            <a:ext cx="11064240" cy="941832"/>
          </a:xfrm>
          <a:prstGeom prst="roundRect">
            <a:avLst>
              <a:gd name="adj" fmla="val 7767"/>
            </a:avLst>
          </a:prstGeom>
          <a:solidFill>
            <a:srgbClr val="F2F5F8"/>
          </a:solidFill>
          <a:ln w="12700">
            <a:solidFill>
              <a:srgbClr val="F2F5F8"/>
            </a:solidFill>
            <a:prstDash val="solid"/>
          </a:ln>
        </p:spPr>
      </p:sp>
      <p:sp>
        <p:nvSpPr>
          <p:cNvPr id="22" name="Shape 17"/>
          <p:cNvSpPr/>
          <p:nvPr/>
        </p:nvSpPr>
        <p:spPr>
          <a:xfrm>
            <a:off x="777240" y="5193792"/>
            <a:ext cx="594360" cy="594360"/>
          </a:xfrm>
          <a:prstGeom prst="ellipse">
            <a:avLst/>
          </a:prstGeom>
          <a:solidFill>
            <a:srgbClr val="C9002B"/>
          </a:solidFill>
          <a:ln w="12700">
            <a:solidFill>
              <a:srgbClr val="C9002B"/>
            </a:solidFill>
            <a:prstDash val="solid"/>
          </a:ln>
        </p:spPr>
      </p:sp>
      <p:pic>
        <p:nvPicPr>
          <p:cNvPr id="23" name="Image 3" descr="preencoded.png">    </p:cNvPr>
          <p:cNvPicPr>
            <a:picLocks noChangeAspect="1"/>
          </p:cNvPicPr>
          <p:nvPr/>
        </p:nvPicPr>
        <p:blipFill>
          <a:blip r:embed="rId4"/>
          <a:stretch>
            <a:fillRect/>
          </a:stretch>
        </p:blipFill>
        <p:spPr>
          <a:xfrm>
            <a:off x="925830" y="5342382"/>
            <a:ext cx="297180" cy="297180"/>
          </a:xfrm>
          <a:prstGeom prst="rect">
            <a:avLst/>
          </a:prstGeom>
        </p:spPr>
      </p:pic>
      <p:sp>
        <p:nvSpPr>
          <p:cNvPr id="24" name="Text 18"/>
          <p:cNvSpPr txBox="1"/>
          <p:nvPr/>
        </p:nvSpPr>
        <p:spPr>
          <a:xfrm>
            <a:off x="1600200" y="5020056"/>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費用の目安</a:t>
            </a:r>
            <a:endParaRPr lang="en-US" sz="1500" dirty="0"/>
          </a:p>
        </p:txBody>
      </p:sp>
      <p:sp>
        <p:nvSpPr>
          <p:cNvPr id="25" name="Text 19"/>
          <p:cNvSpPr txBox="1"/>
          <p:nvPr/>
        </p:nvSpPr>
        <p:spPr>
          <a:xfrm>
            <a:off x="4572000" y="5020056"/>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調査1回なら最低27.5万円（税込）から。少額で始め、効果を見て広げる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お悩み</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こんなお悩みはありませんか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規模が大きくないからこその悩みを、よく伺います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2651760" cy="2148840"/>
          </a:xfrm>
          <a:prstGeom prst="roundRect">
            <a:avLst>
              <a:gd name="adj" fmla="val 3404"/>
            </a:avLst>
          </a:prstGeom>
          <a:solidFill>
            <a:srgbClr val="F2F5F8"/>
          </a:solidFill>
          <a:ln w="12700">
            <a:solidFill>
              <a:srgbClr val="F2F5F8"/>
            </a:solidFill>
            <a:prstDash val="solid"/>
          </a:ln>
        </p:spPr>
      </p:sp>
      <p:sp>
        <p:nvSpPr>
          <p:cNvPr id="7" name="Shape 5"/>
          <p:cNvSpPr/>
          <p:nvPr/>
        </p:nvSpPr>
        <p:spPr>
          <a:xfrm>
            <a:off x="777240" y="1965960"/>
            <a:ext cx="594360" cy="59436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925830" y="2114550"/>
            <a:ext cx="297180" cy="297180"/>
          </a:xfrm>
          <a:prstGeom prst="rect">
            <a:avLst/>
          </a:prstGeom>
        </p:spPr>
      </p:pic>
      <p:sp>
        <p:nvSpPr>
          <p:cNvPr id="9" name="Text 6"/>
          <p:cNvSpPr txBox="1"/>
          <p:nvPr/>
        </p:nvSpPr>
        <p:spPr>
          <a:xfrm>
            <a:off x="777240" y="2697480"/>
            <a:ext cx="2286000" cy="41148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予算が限られている</a:t>
            </a:r>
            <a:endParaRPr lang="en-US" sz="1500" dirty="0"/>
          </a:p>
        </p:txBody>
      </p:sp>
      <p:sp>
        <p:nvSpPr>
          <p:cNvPr id="10" name="Text 7"/>
          <p:cNvSpPr txBox="1"/>
          <p:nvPr/>
        </p:nvSpPr>
        <p:spPr>
          <a:xfrm>
            <a:off x="777240"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大きな調査や広告にはお金をかけられない</a:t>
            </a:r>
            <a:endParaRPr lang="en-US" sz="1200" dirty="0"/>
          </a:p>
        </p:txBody>
      </p:sp>
      <p:sp>
        <p:nvSpPr>
          <p:cNvPr id="11" name="Shape 8"/>
          <p:cNvSpPr/>
          <p:nvPr/>
        </p:nvSpPr>
        <p:spPr>
          <a:xfrm>
            <a:off x="3355848" y="1783080"/>
            <a:ext cx="2651760" cy="2148840"/>
          </a:xfrm>
          <a:prstGeom prst="roundRect">
            <a:avLst>
              <a:gd name="adj" fmla="val 3404"/>
            </a:avLst>
          </a:prstGeom>
          <a:solidFill>
            <a:srgbClr val="F2F5F8"/>
          </a:solidFill>
          <a:ln w="12700">
            <a:solidFill>
              <a:srgbClr val="F2F5F8"/>
            </a:solidFill>
            <a:prstDash val="solid"/>
          </a:ln>
        </p:spPr>
      </p:sp>
      <p:sp>
        <p:nvSpPr>
          <p:cNvPr id="12" name="Shape 9"/>
          <p:cNvSpPr/>
          <p:nvPr/>
        </p:nvSpPr>
        <p:spPr>
          <a:xfrm>
            <a:off x="3584448" y="1965960"/>
            <a:ext cx="594360" cy="594360"/>
          </a:xfrm>
          <a:prstGeom prst="ellipse">
            <a:avLst/>
          </a:prstGeom>
          <a:solidFill>
            <a:srgbClr val="13283C"/>
          </a:solidFill>
          <a:ln w="12700">
            <a:solidFill>
              <a:srgbClr val="13283C"/>
            </a:solidFill>
            <a:prstDash val="solid"/>
          </a:ln>
        </p:spPr>
      </p:sp>
      <p:pic>
        <p:nvPicPr>
          <p:cNvPr id="13" name="Image 1" descr="preencoded.png">    </p:cNvPr>
          <p:cNvPicPr>
            <a:picLocks noChangeAspect="1"/>
          </p:cNvPicPr>
          <p:nvPr/>
        </p:nvPicPr>
        <p:blipFill>
          <a:blip r:embed="rId2"/>
          <a:stretch>
            <a:fillRect/>
          </a:stretch>
        </p:blipFill>
        <p:spPr>
          <a:xfrm>
            <a:off x="3733038" y="2114550"/>
            <a:ext cx="297180" cy="297180"/>
          </a:xfrm>
          <a:prstGeom prst="rect">
            <a:avLst/>
          </a:prstGeom>
        </p:spPr>
      </p:pic>
      <p:sp>
        <p:nvSpPr>
          <p:cNvPr id="14" name="Text 10"/>
          <p:cNvSpPr txBox="1"/>
          <p:nvPr/>
        </p:nvSpPr>
        <p:spPr>
          <a:xfrm>
            <a:off x="3584448" y="2697480"/>
            <a:ext cx="2286000" cy="41148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担当者が1〜2人</a:t>
            </a:r>
            <a:endParaRPr lang="en-US" sz="1500" dirty="0"/>
          </a:p>
        </p:txBody>
      </p:sp>
      <p:sp>
        <p:nvSpPr>
          <p:cNvPr id="15" name="Text 11"/>
          <p:cNvSpPr txBox="1"/>
          <p:nvPr/>
        </p:nvSpPr>
        <p:spPr>
          <a:xfrm>
            <a:off x="3584448"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調査の設計や分析まで手が回らない</a:t>
            </a:r>
            <a:endParaRPr lang="en-US" sz="1200" dirty="0"/>
          </a:p>
        </p:txBody>
      </p:sp>
      <p:sp>
        <p:nvSpPr>
          <p:cNvPr id="16" name="Shape 12"/>
          <p:cNvSpPr/>
          <p:nvPr/>
        </p:nvSpPr>
        <p:spPr>
          <a:xfrm>
            <a:off x="6163056" y="1783080"/>
            <a:ext cx="2651760" cy="2148840"/>
          </a:xfrm>
          <a:prstGeom prst="roundRect">
            <a:avLst>
              <a:gd name="adj" fmla="val 3404"/>
            </a:avLst>
          </a:prstGeom>
          <a:solidFill>
            <a:srgbClr val="F2F5F8"/>
          </a:solidFill>
          <a:ln w="12700">
            <a:solidFill>
              <a:srgbClr val="F2F5F8"/>
            </a:solidFill>
            <a:prstDash val="solid"/>
          </a:ln>
        </p:spPr>
      </p:sp>
      <p:sp>
        <p:nvSpPr>
          <p:cNvPr id="17" name="Shape 13"/>
          <p:cNvSpPr/>
          <p:nvPr/>
        </p:nvSpPr>
        <p:spPr>
          <a:xfrm>
            <a:off x="6391656" y="1965960"/>
            <a:ext cx="594360" cy="594360"/>
          </a:xfrm>
          <a:prstGeom prst="ellipse">
            <a:avLst/>
          </a:prstGeom>
          <a:solidFill>
            <a:srgbClr val="13283C"/>
          </a:solidFill>
          <a:ln w="12700">
            <a:solidFill>
              <a:srgbClr val="13283C"/>
            </a:solidFill>
            <a:prstDash val="solid"/>
          </a:ln>
        </p:spPr>
      </p:sp>
      <p:pic>
        <p:nvPicPr>
          <p:cNvPr id="18" name="Image 2" descr="preencoded.png">    </p:cNvPr>
          <p:cNvPicPr>
            <a:picLocks noChangeAspect="1"/>
          </p:cNvPicPr>
          <p:nvPr/>
        </p:nvPicPr>
        <p:blipFill>
          <a:blip r:embed="rId3"/>
          <a:stretch>
            <a:fillRect/>
          </a:stretch>
        </p:blipFill>
        <p:spPr>
          <a:xfrm>
            <a:off x="6540246" y="2114550"/>
            <a:ext cx="297180" cy="297180"/>
          </a:xfrm>
          <a:prstGeom prst="rect">
            <a:avLst/>
          </a:prstGeom>
        </p:spPr>
      </p:pic>
      <p:sp>
        <p:nvSpPr>
          <p:cNvPr id="19" name="Text 14"/>
          <p:cNvSpPr txBox="1"/>
          <p:nvPr/>
        </p:nvSpPr>
        <p:spPr>
          <a:xfrm>
            <a:off x="6391656" y="2697480"/>
            <a:ext cx="2286000" cy="41148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新しいお客様が増えない</a:t>
            </a:r>
            <a:endParaRPr lang="en-US" sz="1500" dirty="0"/>
          </a:p>
        </p:txBody>
      </p:sp>
      <p:sp>
        <p:nvSpPr>
          <p:cNvPr id="20" name="Text 15"/>
          <p:cNvSpPr txBox="1"/>
          <p:nvPr/>
        </p:nvSpPr>
        <p:spPr>
          <a:xfrm>
            <a:off x="6391656"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いつもの人は来るが、新しい層に届いていない</a:t>
            </a:r>
            <a:endParaRPr lang="en-US" sz="1200" dirty="0"/>
          </a:p>
        </p:txBody>
      </p:sp>
      <p:sp>
        <p:nvSpPr>
          <p:cNvPr id="21" name="Shape 16"/>
          <p:cNvSpPr/>
          <p:nvPr/>
        </p:nvSpPr>
        <p:spPr>
          <a:xfrm>
            <a:off x="8970264" y="1783080"/>
            <a:ext cx="2651760" cy="2148840"/>
          </a:xfrm>
          <a:prstGeom prst="roundRect">
            <a:avLst>
              <a:gd name="adj" fmla="val 3404"/>
            </a:avLst>
          </a:prstGeom>
          <a:solidFill>
            <a:srgbClr val="F2F5F8"/>
          </a:solidFill>
          <a:ln w="12700">
            <a:solidFill>
              <a:srgbClr val="F2F5F8"/>
            </a:solidFill>
            <a:prstDash val="solid"/>
          </a:ln>
        </p:spPr>
      </p:sp>
      <p:sp>
        <p:nvSpPr>
          <p:cNvPr id="22" name="Shape 17"/>
          <p:cNvSpPr/>
          <p:nvPr/>
        </p:nvSpPr>
        <p:spPr>
          <a:xfrm>
            <a:off x="9198864" y="1965960"/>
            <a:ext cx="594360" cy="594360"/>
          </a:xfrm>
          <a:prstGeom prst="ellipse">
            <a:avLst/>
          </a:prstGeom>
          <a:solidFill>
            <a:srgbClr val="13283C"/>
          </a:solidFill>
          <a:ln w="12700">
            <a:solidFill>
              <a:srgbClr val="13283C"/>
            </a:solidFill>
            <a:prstDash val="solid"/>
          </a:ln>
        </p:spPr>
      </p:sp>
      <p:pic>
        <p:nvPicPr>
          <p:cNvPr id="23" name="Image 3" descr="preencoded.png">    </p:cNvPr>
          <p:cNvPicPr>
            <a:picLocks noChangeAspect="1"/>
          </p:cNvPicPr>
          <p:nvPr/>
        </p:nvPicPr>
        <p:blipFill>
          <a:blip r:embed="rId4"/>
          <a:stretch>
            <a:fillRect/>
          </a:stretch>
        </p:blipFill>
        <p:spPr>
          <a:xfrm>
            <a:off x="9347454" y="2114550"/>
            <a:ext cx="297180" cy="297180"/>
          </a:xfrm>
          <a:prstGeom prst="rect">
            <a:avLst/>
          </a:prstGeom>
        </p:spPr>
      </p:pic>
      <p:sp>
        <p:nvSpPr>
          <p:cNvPr id="24" name="Text 18"/>
          <p:cNvSpPr txBox="1"/>
          <p:nvPr/>
        </p:nvSpPr>
        <p:spPr>
          <a:xfrm>
            <a:off x="9198864" y="2697480"/>
            <a:ext cx="2286000" cy="41148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説明の材料がない</a:t>
            </a:r>
            <a:endParaRPr lang="en-US" sz="1500" dirty="0"/>
          </a:p>
        </p:txBody>
      </p:sp>
      <p:sp>
        <p:nvSpPr>
          <p:cNvPr id="25" name="Text 19"/>
          <p:cNvSpPr txBox="1"/>
          <p:nvPr/>
        </p:nvSpPr>
        <p:spPr>
          <a:xfrm>
            <a:off x="9198864"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議会・役員・スポンサーに効果を数字で示せない</a:t>
            </a:r>
            <a:endParaRPr lang="en-US" sz="1200" dirty="0"/>
          </a:p>
        </p:txBody>
      </p:sp>
      <p:sp>
        <p:nvSpPr>
          <p:cNvPr id="26" name="Text 20"/>
          <p:cNvSpPr txBox="1"/>
          <p:nvPr/>
        </p:nvSpPr>
        <p:spPr>
          <a:xfrm>
            <a:off x="548640" y="416052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たとえば、こんな場面で</a:t>
            </a:r>
            <a:endParaRPr lang="en-US" sz="1300" dirty="0"/>
          </a:p>
        </p:txBody>
      </p:sp>
      <p:sp>
        <p:nvSpPr>
          <p:cNvPr id="27" name="Shape 21"/>
          <p:cNvSpPr/>
          <p:nvPr/>
        </p:nvSpPr>
        <p:spPr>
          <a:xfrm>
            <a:off x="548640" y="4526280"/>
            <a:ext cx="3566160" cy="1600200"/>
          </a:xfrm>
          <a:prstGeom prst="roundRect">
            <a:avLst>
              <a:gd name="adj" fmla="val 4571"/>
            </a:avLst>
          </a:prstGeom>
          <a:solidFill>
            <a:srgbClr val="FBEAEE"/>
          </a:solidFill>
          <a:ln w="12700">
            <a:solidFill>
              <a:srgbClr val="FBEAEE"/>
            </a:solidFill>
            <a:prstDash val="solid"/>
          </a:ln>
        </p:spPr>
      </p:sp>
      <p:sp>
        <p:nvSpPr>
          <p:cNvPr id="28" name="Shape 22"/>
          <p:cNvSpPr/>
          <p:nvPr/>
        </p:nvSpPr>
        <p:spPr>
          <a:xfrm>
            <a:off x="731520" y="4681728"/>
            <a:ext cx="502920" cy="502920"/>
          </a:xfrm>
          <a:prstGeom prst="ellipse">
            <a:avLst/>
          </a:prstGeom>
          <a:solidFill>
            <a:srgbClr val="C9002B"/>
          </a:solidFill>
          <a:ln w="12700">
            <a:solidFill>
              <a:srgbClr val="C9002B"/>
            </a:solidFill>
            <a:prstDash val="solid"/>
          </a:ln>
        </p:spPr>
      </p:sp>
      <p:pic>
        <p:nvPicPr>
          <p:cNvPr id="29" name="Image 4" descr="preencoded.png">    </p:cNvPr>
          <p:cNvPicPr>
            <a:picLocks noChangeAspect="1"/>
          </p:cNvPicPr>
          <p:nvPr/>
        </p:nvPicPr>
        <p:blipFill>
          <a:blip r:embed="rId5"/>
          <a:stretch>
            <a:fillRect/>
          </a:stretch>
        </p:blipFill>
        <p:spPr>
          <a:xfrm>
            <a:off x="857250" y="4807458"/>
            <a:ext cx="251460" cy="251460"/>
          </a:xfrm>
          <a:prstGeom prst="rect">
            <a:avLst/>
          </a:prstGeom>
        </p:spPr>
      </p:pic>
      <p:sp>
        <p:nvSpPr>
          <p:cNvPr id="30" name="Text 23"/>
          <p:cNvSpPr txBox="1"/>
          <p:nvPr/>
        </p:nvSpPr>
        <p:spPr>
          <a:xfrm>
            <a:off x="137160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プロスポーツの球団・クラブ</a:t>
            </a:r>
            <a:endParaRPr lang="en-US" sz="1350" dirty="0"/>
          </a:p>
        </p:txBody>
      </p:sp>
      <p:sp>
        <p:nvSpPr>
          <p:cNvPr id="31" name="Text 24"/>
          <p:cNvSpPr txBox="1"/>
          <p:nvPr/>
        </p:nvSpPr>
        <p:spPr>
          <a:xfrm>
            <a:off x="73152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平日の試合やファーム・地方開催の集客、若い世代の新規ファンづくり</a:t>
            </a:r>
            <a:endParaRPr lang="en-US" sz="1200" dirty="0"/>
          </a:p>
        </p:txBody>
      </p:sp>
      <p:sp>
        <p:nvSpPr>
          <p:cNvPr id="32" name="Shape 25"/>
          <p:cNvSpPr/>
          <p:nvPr/>
        </p:nvSpPr>
        <p:spPr>
          <a:xfrm>
            <a:off x="4297680" y="4526280"/>
            <a:ext cx="3566160" cy="1600200"/>
          </a:xfrm>
          <a:prstGeom prst="roundRect">
            <a:avLst>
              <a:gd name="adj" fmla="val 4571"/>
            </a:avLst>
          </a:prstGeom>
          <a:solidFill>
            <a:srgbClr val="FBEAEE"/>
          </a:solidFill>
          <a:ln w="12700">
            <a:solidFill>
              <a:srgbClr val="FBEAEE"/>
            </a:solidFill>
            <a:prstDash val="solid"/>
          </a:ln>
        </p:spPr>
      </p:sp>
      <p:sp>
        <p:nvSpPr>
          <p:cNvPr id="33" name="Shape 26"/>
          <p:cNvSpPr/>
          <p:nvPr/>
        </p:nvSpPr>
        <p:spPr>
          <a:xfrm>
            <a:off x="4480560" y="4681728"/>
            <a:ext cx="502920" cy="502920"/>
          </a:xfrm>
          <a:prstGeom prst="ellipse">
            <a:avLst/>
          </a:prstGeom>
          <a:solidFill>
            <a:srgbClr val="C9002B"/>
          </a:solidFill>
          <a:ln w="12700">
            <a:solidFill>
              <a:srgbClr val="C9002B"/>
            </a:solidFill>
            <a:prstDash val="solid"/>
          </a:ln>
        </p:spPr>
      </p:sp>
      <p:pic>
        <p:nvPicPr>
          <p:cNvPr id="34" name="Image 5" descr="preencoded.png">    </p:cNvPr>
          <p:cNvPicPr>
            <a:picLocks noChangeAspect="1"/>
          </p:cNvPicPr>
          <p:nvPr/>
        </p:nvPicPr>
        <p:blipFill>
          <a:blip r:embed="rId6"/>
          <a:stretch>
            <a:fillRect/>
          </a:stretch>
        </p:blipFill>
        <p:spPr>
          <a:xfrm>
            <a:off x="4606290" y="4807458"/>
            <a:ext cx="251460" cy="251460"/>
          </a:xfrm>
          <a:prstGeom prst="rect">
            <a:avLst/>
          </a:prstGeom>
        </p:spPr>
      </p:pic>
      <p:sp>
        <p:nvSpPr>
          <p:cNvPr id="35" name="Text 27"/>
          <p:cNvSpPr txBox="1"/>
          <p:nvPr/>
        </p:nvSpPr>
        <p:spPr>
          <a:xfrm>
            <a:off x="512064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中小企業・商業施設</a:t>
            </a:r>
            <a:endParaRPr lang="en-US" sz="1350" dirty="0"/>
          </a:p>
        </p:txBody>
      </p:sp>
      <p:sp>
        <p:nvSpPr>
          <p:cNvPr id="36" name="Text 28"/>
          <p:cNvSpPr txBox="1"/>
          <p:nvPr/>
        </p:nvSpPr>
        <p:spPr>
          <a:xfrm>
            <a:off x="448056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イベントやセールに、どの地域から人が来ているかを知りたい</a:t>
            </a:r>
            <a:endParaRPr lang="en-US" sz="1200" dirty="0"/>
          </a:p>
        </p:txBody>
      </p:sp>
      <p:sp>
        <p:nvSpPr>
          <p:cNvPr id="37" name="Shape 29"/>
          <p:cNvSpPr/>
          <p:nvPr/>
        </p:nvSpPr>
        <p:spPr>
          <a:xfrm>
            <a:off x="8046720" y="4526280"/>
            <a:ext cx="3566160" cy="1600200"/>
          </a:xfrm>
          <a:prstGeom prst="roundRect">
            <a:avLst>
              <a:gd name="adj" fmla="val 4571"/>
            </a:avLst>
          </a:prstGeom>
          <a:solidFill>
            <a:srgbClr val="FBEAEE"/>
          </a:solidFill>
          <a:ln w="12700">
            <a:solidFill>
              <a:srgbClr val="FBEAEE"/>
            </a:solidFill>
            <a:prstDash val="solid"/>
          </a:ln>
        </p:spPr>
      </p:sp>
      <p:sp>
        <p:nvSpPr>
          <p:cNvPr id="38" name="Shape 30"/>
          <p:cNvSpPr/>
          <p:nvPr/>
        </p:nvSpPr>
        <p:spPr>
          <a:xfrm>
            <a:off x="8229600" y="4681728"/>
            <a:ext cx="502920" cy="502920"/>
          </a:xfrm>
          <a:prstGeom prst="ellipse">
            <a:avLst/>
          </a:prstGeom>
          <a:solidFill>
            <a:srgbClr val="C9002B"/>
          </a:solidFill>
          <a:ln w="12700">
            <a:solidFill>
              <a:srgbClr val="C9002B"/>
            </a:solidFill>
            <a:prstDash val="solid"/>
          </a:ln>
        </p:spPr>
      </p:sp>
      <p:pic>
        <p:nvPicPr>
          <p:cNvPr id="39" name="Image 6" descr="preencoded.png">    </p:cNvPr>
          <p:cNvPicPr>
            <a:picLocks noChangeAspect="1"/>
          </p:cNvPicPr>
          <p:nvPr/>
        </p:nvPicPr>
        <p:blipFill>
          <a:blip r:embed="rId7"/>
          <a:stretch>
            <a:fillRect/>
          </a:stretch>
        </p:blipFill>
        <p:spPr>
          <a:xfrm>
            <a:off x="8355330" y="4807458"/>
            <a:ext cx="251460" cy="251460"/>
          </a:xfrm>
          <a:prstGeom prst="rect">
            <a:avLst/>
          </a:prstGeom>
        </p:spPr>
      </p:pic>
      <p:sp>
        <p:nvSpPr>
          <p:cNvPr id="40" name="Text 31"/>
          <p:cNvSpPr txBox="1"/>
          <p:nvPr/>
        </p:nvSpPr>
        <p:spPr>
          <a:xfrm>
            <a:off x="886968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人口数万人規模の自治体</a:t>
            </a:r>
            <a:endParaRPr lang="en-US" sz="1350" dirty="0"/>
          </a:p>
        </p:txBody>
      </p:sp>
      <p:sp>
        <p:nvSpPr>
          <p:cNvPr id="41" name="Text 32"/>
          <p:cNvSpPr txBox="1"/>
          <p:nvPr/>
        </p:nvSpPr>
        <p:spPr>
          <a:xfrm>
            <a:off x="822960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お祭り・観光の効果を、限られた予算で議会に説明したい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まずは1つのサービスから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お悩みに合う1つを選んで始められます。3つ全部をそろえる必要はありません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04</a:t>
            </a:r>
            <a:endParaRPr lang="en-US" sz="1000" dirty="0"/>
          </a:p>
        </p:txBody>
      </p:sp>
      <p:sp>
        <p:nvSpPr>
          <p:cNvPr id="6" name="Shape 4"/>
          <p:cNvSpPr/>
          <p:nvPr/>
        </p:nvSpPr>
        <p:spPr>
          <a:xfrm>
            <a:off x="548640" y="1783080"/>
            <a:ext cx="3566160" cy="4206240"/>
          </a:xfrm>
          <a:prstGeom prst="roundRect">
            <a:avLst>
              <a:gd name="adj" fmla="val 2051"/>
            </a:avLst>
          </a:prstGeom>
          <a:solidFill>
            <a:srgbClr val="FFFFFF"/>
          </a:solidFill>
          <a:ln w="12700">
            <a:solidFill>
              <a:srgbClr val="C9002B"/>
            </a:solidFill>
            <a:prstDash val="solid"/>
          </a:ln>
        </p:spPr>
      </p:sp>
      <p:sp>
        <p:nvSpPr>
          <p:cNvPr id="7" name="Text 5"/>
          <p:cNvSpPr txBox="1"/>
          <p:nvPr/>
        </p:nvSpPr>
        <p:spPr>
          <a:xfrm>
            <a:off x="77724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8" name="Text 6"/>
          <p:cNvSpPr txBox="1"/>
          <p:nvPr/>
        </p:nvSpPr>
        <p:spPr>
          <a:xfrm>
            <a:off x="77724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「来なかった理由を知りたい」</a:t>
            </a:r>
            <a:endParaRPr lang="en-US" sz="1500" dirty="0"/>
          </a:p>
        </p:txBody>
      </p:sp>
      <p:sp>
        <p:nvSpPr>
          <p:cNvPr id="9" name="Shape 7"/>
          <p:cNvSpPr/>
          <p:nvPr/>
        </p:nvSpPr>
        <p:spPr>
          <a:xfrm>
            <a:off x="777240" y="2926080"/>
            <a:ext cx="594360" cy="594360"/>
          </a:xfrm>
          <a:prstGeom prst="ellipse">
            <a:avLst/>
          </a:prstGeom>
          <a:solidFill>
            <a:srgbClr val="C9002B"/>
          </a:solidFill>
          <a:ln w="12700">
            <a:solidFill>
              <a:srgbClr val="C9002B"/>
            </a:solidFill>
            <a:prstDash val="solid"/>
          </a:ln>
        </p:spPr>
      </p:sp>
      <p:pic>
        <p:nvPicPr>
          <p:cNvPr id="10" name="Image 0" descr="preencoded.png">    </p:cNvPr>
          <p:cNvPicPr>
            <a:picLocks noChangeAspect="1"/>
          </p:cNvPicPr>
          <p:nvPr/>
        </p:nvPicPr>
        <p:blipFill>
          <a:blip r:embed="rId1"/>
          <a:stretch>
            <a:fillRect/>
          </a:stretch>
        </p:blipFill>
        <p:spPr>
          <a:xfrm>
            <a:off x="925830" y="3074670"/>
            <a:ext cx="297180" cy="297180"/>
          </a:xfrm>
          <a:prstGeom prst="rect">
            <a:avLst/>
          </a:prstGeom>
        </p:spPr>
      </p:pic>
      <p:sp>
        <p:nvSpPr>
          <p:cNvPr id="11" name="Text 8"/>
          <p:cNvSpPr txBox="1"/>
          <p:nvPr/>
        </p:nvSpPr>
        <p:spPr>
          <a:xfrm>
            <a:off x="150876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プレミアパネル</a:t>
            </a:r>
            <a:endParaRPr lang="en-US" sz="1500" dirty="0"/>
          </a:p>
        </p:txBody>
      </p:sp>
      <p:sp>
        <p:nvSpPr>
          <p:cNvPr id="12" name="Text 9"/>
          <p:cNvSpPr txBox="1"/>
          <p:nvPr/>
        </p:nvSpPr>
        <p:spPr>
          <a:xfrm>
            <a:off x="77724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近隣の人に、イベントを知っていたか・なぜ来なかったかを聞く</a:t>
            </a:r>
            <a:endParaRPr lang="en-US" sz="1250" dirty="0"/>
          </a:p>
        </p:txBody>
      </p:sp>
      <p:sp>
        <p:nvSpPr>
          <p:cNvPr id="13" name="Shape 10"/>
          <p:cNvSpPr/>
          <p:nvPr/>
        </p:nvSpPr>
        <p:spPr>
          <a:xfrm>
            <a:off x="777240" y="4526280"/>
            <a:ext cx="3108960" cy="0"/>
          </a:xfrm>
          <a:prstGeom prst="line">
            <a:avLst/>
          </a:prstGeom>
          <a:noFill/>
          <a:ln w="12700">
            <a:solidFill>
              <a:srgbClr val="D5DDE5"/>
            </a:solidFill>
            <a:prstDash val="solid"/>
          </a:ln>
        </p:spPr>
      </p:sp>
      <p:sp>
        <p:nvSpPr>
          <p:cNvPr id="14" name="Text 11"/>
          <p:cNvSpPr txBox="1"/>
          <p:nvPr/>
        </p:nvSpPr>
        <p:spPr>
          <a:xfrm>
            <a:off x="77724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最低 27.5万円／回（税込）</a:t>
            </a:r>
            <a:endParaRPr lang="en-US" sz="1300" dirty="0"/>
          </a:p>
        </p:txBody>
      </p:sp>
      <p:sp>
        <p:nvSpPr>
          <p:cNvPr id="15" name="Text 12"/>
          <p:cNvSpPr txBox="1"/>
          <p:nvPr/>
        </p:nvSpPr>
        <p:spPr>
          <a:xfrm>
            <a:off x="777240" y="5376672"/>
            <a:ext cx="201168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最初の1つにおすすめ</a:t>
            </a:r>
            <a:endParaRPr lang="en-US" sz="1100" dirty="0"/>
          </a:p>
        </p:txBody>
      </p:sp>
      <p:sp>
        <p:nvSpPr>
          <p:cNvPr id="16" name="Shape 13"/>
          <p:cNvSpPr/>
          <p:nvPr/>
        </p:nvSpPr>
        <p:spPr>
          <a:xfrm>
            <a:off x="4297680" y="1783080"/>
            <a:ext cx="3566160" cy="4206240"/>
          </a:xfrm>
          <a:prstGeom prst="roundRect">
            <a:avLst>
              <a:gd name="adj" fmla="val 2051"/>
            </a:avLst>
          </a:prstGeom>
          <a:solidFill>
            <a:srgbClr val="F2F5F8"/>
          </a:solidFill>
          <a:ln w="12700">
            <a:solidFill>
              <a:srgbClr val="F2F5F8"/>
            </a:solidFill>
            <a:prstDash val="solid"/>
          </a:ln>
        </p:spPr>
      </p:sp>
      <p:sp>
        <p:nvSpPr>
          <p:cNvPr id="17" name="Text 14"/>
          <p:cNvSpPr txBox="1"/>
          <p:nvPr/>
        </p:nvSpPr>
        <p:spPr>
          <a:xfrm>
            <a:off x="452628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18" name="Text 15"/>
          <p:cNvSpPr txBox="1"/>
          <p:nvPr/>
        </p:nvSpPr>
        <p:spPr>
          <a:xfrm>
            <a:off x="452628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「誰が・どこから来たか知りたい」</a:t>
            </a:r>
            <a:endParaRPr lang="en-US" sz="1500" dirty="0"/>
          </a:p>
        </p:txBody>
      </p:sp>
      <p:sp>
        <p:nvSpPr>
          <p:cNvPr id="19" name="Shape 16"/>
          <p:cNvSpPr/>
          <p:nvPr/>
        </p:nvSpPr>
        <p:spPr>
          <a:xfrm>
            <a:off x="4526280" y="2926080"/>
            <a:ext cx="594360" cy="594360"/>
          </a:xfrm>
          <a:prstGeom prst="ellipse">
            <a:avLst/>
          </a:prstGeom>
          <a:solidFill>
            <a:srgbClr val="C9002B"/>
          </a:solidFill>
          <a:ln w="12700">
            <a:solidFill>
              <a:srgbClr val="C9002B"/>
            </a:solidFill>
            <a:prstDash val="solid"/>
          </a:ln>
        </p:spPr>
      </p:sp>
      <p:pic>
        <p:nvPicPr>
          <p:cNvPr id="20" name="Image 1" descr="preencoded.png">    </p:cNvPr>
          <p:cNvPicPr>
            <a:picLocks noChangeAspect="1"/>
          </p:cNvPicPr>
          <p:nvPr/>
        </p:nvPicPr>
        <p:blipFill>
          <a:blip r:embed="rId2"/>
          <a:stretch>
            <a:fillRect/>
          </a:stretch>
        </p:blipFill>
        <p:spPr>
          <a:xfrm>
            <a:off x="4674870" y="3074670"/>
            <a:ext cx="297180" cy="297180"/>
          </a:xfrm>
          <a:prstGeom prst="rect">
            <a:avLst/>
          </a:prstGeom>
        </p:spPr>
      </p:pic>
      <p:sp>
        <p:nvSpPr>
          <p:cNvPr id="21" name="Text 17"/>
          <p:cNvSpPr txBox="1"/>
          <p:nvPr/>
        </p:nvSpPr>
        <p:spPr>
          <a:xfrm>
            <a:off x="525780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モバイル空間統計</a:t>
            </a:r>
            <a:endParaRPr lang="en-US" sz="1500" dirty="0"/>
          </a:p>
        </p:txBody>
      </p:sp>
      <p:sp>
        <p:nvSpPr>
          <p:cNvPr id="22" name="Text 18"/>
          <p:cNvSpPr txBox="1"/>
          <p:nvPr/>
        </p:nvSpPr>
        <p:spPr>
          <a:xfrm>
            <a:off x="452628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当日と普段の日の人の数、来訪元、年代を比べる</a:t>
            </a:r>
            <a:endParaRPr lang="en-US" sz="1250" dirty="0"/>
          </a:p>
        </p:txBody>
      </p:sp>
      <p:sp>
        <p:nvSpPr>
          <p:cNvPr id="23" name="Shape 19"/>
          <p:cNvSpPr/>
          <p:nvPr/>
        </p:nvSpPr>
        <p:spPr>
          <a:xfrm>
            <a:off x="4526280" y="4526280"/>
            <a:ext cx="3108960" cy="0"/>
          </a:xfrm>
          <a:prstGeom prst="line">
            <a:avLst/>
          </a:prstGeom>
          <a:noFill/>
          <a:ln w="12700">
            <a:solidFill>
              <a:srgbClr val="D5DDE5"/>
            </a:solidFill>
            <a:prstDash val="solid"/>
          </a:ln>
        </p:spPr>
      </p:sp>
      <p:sp>
        <p:nvSpPr>
          <p:cNvPr id="24" name="Text 20"/>
          <p:cNvSpPr txBox="1"/>
          <p:nvPr/>
        </p:nvSpPr>
        <p:spPr>
          <a:xfrm>
            <a:off x="452628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スポット分析は個別見積</a:t>
            </a:r>
            <a:endParaRPr lang="en-US" sz="1300" dirty="0"/>
          </a:p>
          <a:p>
            <a:pPr indent="0" marL="0">
              <a:buNone/>
            </a:pPr>
            <a:r>
              <a:rPr lang="en-US" sz="1300" b="1" dirty="0">
                <a:solidFill>
                  <a:srgbClr val="C9002B"/>
                </a:solidFill>
                <a:latin typeface="Meiryo" pitchFamily="34" charset="0"/>
                <a:ea typeface="Meiryo" pitchFamily="34" charset="-122"/>
                <a:cs typeface="Meiryo" pitchFamily="34" charset="-120"/>
              </a:rPr>
              <a:t>人口マップは月額9万円〜</a:t>
            </a:r>
            <a:endParaRPr lang="en-US" sz="1300" dirty="0"/>
          </a:p>
        </p:txBody>
      </p:sp>
      <p:sp>
        <p:nvSpPr>
          <p:cNvPr id="25" name="Shape 21"/>
          <p:cNvSpPr/>
          <p:nvPr/>
        </p:nvSpPr>
        <p:spPr>
          <a:xfrm>
            <a:off x="8046720" y="1783080"/>
            <a:ext cx="3566160" cy="4206240"/>
          </a:xfrm>
          <a:prstGeom prst="roundRect">
            <a:avLst>
              <a:gd name="adj" fmla="val 2051"/>
            </a:avLst>
          </a:prstGeom>
          <a:solidFill>
            <a:srgbClr val="F2F5F8"/>
          </a:solidFill>
          <a:ln w="12700">
            <a:solidFill>
              <a:srgbClr val="F2F5F8"/>
            </a:solidFill>
            <a:prstDash val="solid"/>
          </a:ln>
        </p:spPr>
      </p:sp>
      <p:sp>
        <p:nvSpPr>
          <p:cNvPr id="26" name="Text 22"/>
          <p:cNvSpPr txBox="1"/>
          <p:nvPr/>
        </p:nvSpPr>
        <p:spPr>
          <a:xfrm>
            <a:off x="827532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27" name="Text 23"/>
          <p:cNvSpPr txBox="1"/>
          <p:nvPr/>
        </p:nvSpPr>
        <p:spPr>
          <a:xfrm>
            <a:off x="827532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「新しい人に届けたい」</a:t>
            </a:r>
            <a:endParaRPr lang="en-US" sz="1500" dirty="0"/>
          </a:p>
        </p:txBody>
      </p:sp>
      <p:sp>
        <p:nvSpPr>
          <p:cNvPr id="28" name="Shape 24"/>
          <p:cNvSpPr/>
          <p:nvPr/>
        </p:nvSpPr>
        <p:spPr>
          <a:xfrm>
            <a:off x="8275320" y="2926080"/>
            <a:ext cx="594360" cy="594360"/>
          </a:xfrm>
          <a:prstGeom prst="ellipse">
            <a:avLst/>
          </a:prstGeom>
          <a:solidFill>
            <a:srgbClr val="C9002B"/>
          </a:solidFill>
          <a:ln w="12700">
            <a:solidFill>
              <a:srgbClr val="C9002B"/>
            </a:solidFill>
            <a:prstDash val="solid"/>
          </a:ln>
        </p:spPr>
      </p:sp>
      <p:pic>
        <p:nvPicPr>
          <p:cNvPr id="29" name="Image 2" descr="preencoded.png">    </p:cNvPr>
          <p:cNvPicPr>
            <a:picLocks noChangeAspect="1"/>
          </p:cNvPicPr>
          <p:nvPr/>
        </p:nvPicPr>
        <p:blipFill>
          <a:blip r:embed="rId3"/>
          <a:stretch>
            <a:fillRect/>
          </a:stretch>
        </p:blipFill>
        <p:spPr>
          <a:xfrm>
            <a:off x="8423910" y="3074670"/>
            <a:ext cx="297180" cy="297180"/>
          </a:xfrm>
          <a:prstGeom prst="rect">
            <a:avLst/>
          </a:prstGeom>
        </p:spPr>
      </p:pic>
      <p:sp>
        <p:nvSpPr>
          <p:cNvPr id="30" name="Text 25"/>
          <p:cNvSpPr txBox="1"/>
          <p:nvPr/>
        </p:nvSpPr>
        <p:spPr>
          <a:xfrm>
            <a:off x="900684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docomo Ad Network</a:t>
            </a:r>
            <a:endParaRPr lang="en-US" sz="1500" dirty="0"/>
          </a:p>
        </p:txBody>
      </p:sp>
      <p:sp>
        <p:nvSpPr>
          <p:cNvPr id="31" name="Text 26"/>
          <p:cNvSpPr txBox="1"/>
          <p:nvPr/>
        </p:nvSpPr>
        <p:spPr>
          <a:xfrm>
            <a:off x="827532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ドコモのデータで対象を絞り、イベントを告知する</a:t>
            </a:r>
            <a:endParaRPr lang="en-US" sz="1250" dirty="0"/>
          </a:p>
        </p:txBody>
      </p:sp>
      <p:sp>
        <p:nvSpPr>
          <p:cNvPr id="32" name="Shape 27"/>
          <p:cNvSpPr/>
          <p:nvPr/>
        </p:nvSpPr>
        <p:spPr>
          <a:xfrm>
            <a:off x="8275320" y="4526280"/>
            <a:ext cx="3108960" cy="0"/>
          </a:xfrm>
          <a:prstGeom prst="line">
            <a:avLst/>
          </a:prstGeom>
          <a:noFill/>
          <a:ln w="12700">
            <a:solidFill>
              <a:srgbClr val="D5DDE5"/>
            </a:solidFill>
            <a:prstDash val="solid"/>
          </a:ln>
        </p:spPr>
      </p:sp>
      <p:sp>
        <p:nvSpPr>
          <p:cNvPr id="33" name="Text 28"/>
          <p:cNvSpPr txBox="1"/>
          <p:nvPr/>
        </p:nvSpPr>
        <p:spPr>
          <a:xfrm>
            <a:off x="827532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予算に応じて個別見積</a:t>
            </a:r>
            <a:endParaRPr lang="en-US" sz="1300" dirty="0"/>
          </a:p>
        </p:txBody>
      </p:sp>
      <p:sp>
        <p:nvSpPr>
          <p:cNvPr id="34"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料金は2026年9月時点の公開情報の例。対象・設問・期間などの条件で変わるため、正式見積でお示しします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モバイル空間統計：誰が・どこから来たか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ドコモの携帯電話ネットワークの運用データから、地域の人の数を推計します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05</a:t>
            </a:r>
            <a:endParaRPr lang="en-US" sz="1000" dirty="0"/>
          </a:p>
        </p:txBody>
      </p:sp>
      <p:sp>
        <p:nvSpPr>
          <p:cNvPr id="6" name="Shape 4"/>
          <p:cNvSpPr/>
          <p:nvPr/>
        </p:nvSpPr>
        <p:spPr>
          <a:xfrm>
            <a:off x="548640" y="1783080"/>
            <a:ext cx="1828800" cy="1417320"/>
          </a:xfrm>
          <a:prstGeom prst="roundRect">
            <a:avLst>
              <a:gd name="adj" fmla="val 5161"/>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731520" y="1920240"/>
            <a:ext cx="310896" cy="310896"/>
          </a:xfrm>
          <a:prstGeom prst="rect">
            <a:avLst/>
          </a:prstGeom>
        </p:spPr>
      </p:pic>
      <p:sp>
        <p:nvSpPr>
          <p:cNvPr id="8" name="Text 5"/>
          <p:cNvSpPr txBox="1"/>
          <p:nvPr/>
        </p:nvSpPr>
        <p:spPr>
          <a:xfrm>
            <a:off x="73152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約8,900万台</a:t>
            </a:r>
            <a:endParaRPr lang="en-US" sz="1800" dirty="0"/>
          </a:p>
        </p:txBody>
      </p:sp>
      <p:sp>
        <p:nvSpPr>
          <p:cNvPr id="9" name="Text 6"/>
          <p:cNvSpPr txBox="1"/>
          <p:nvPr/>
        </p:nvSpPr>
        <p:spPr>
          <a:xfrm>
            <a:off x="73152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国内の運用データ規模</a:t>
            </a:r>
            <a:endParaRPr lang="en-US" sz="1100" dirty="0"/>
          </a:p>
        </p:txBody>
      </p:sp>
      <p:sp>
        <p:nvSpPr>
          <p:cNvPr id="10" name="Shape 7"/>
          <p:cNvSpPr/>
          <p:nvPr/>
        </p:nvSpPr>
        <p:spPr>
          <a:xfrm>
            <a:off x="2560320" y="1783080"/>
            <a:ext cx="1828800" cy="1417320"/>
          </a:xfrm>
          <a:prstGeom prst="roundRect">
            <a:avLst>
              <a:gd name="adj" fmla="val 5161"/>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2743200" y="1920240"/>
            <a:ext cx="310896" cy="310896"/>
          </a:xfrm>
          <a:prstGeom prst="rect">
            <a:avLst/>
          </a:prstGeom>
        </p:spPr>
      </p:pic>
      <p:sp>
        <p:nvSpPr>
          <p:cNvPr id="12" name="Text 8"/>
          <p:cNvSpPr txBox="1"/>
          <p:nvPr/>
        </p:nvSpPr>
        <p:spPr>
          <a:xfrm>
            <a:off x="274320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1時間ごと</a:t>
            </a:r>
            <a:endParaRPr lang="en-US" sz="1800" dirty="0"/>
          </a:p>
        </p:txBody>
      </p:sp>
      <p:sp>
        <p:nvSpPr>
          <p:cNvPr id="13" name="Text 9"/>
          <p:cNvSpPr txBox="1"/>
          <p:nvPr/>
        </p:nvSpPr>
        <p:spPr>
          <a:xfrm>
            <a:off x="274320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の人の数が分かる</a:t>
            </a:r>
            <a:endParaRPr lang="en-US" sz="1100" dirty="0"/>
          </a:p>
        </p:txBody>
      </p:sp>
      <p:sp>
        <p:nvSpPr>
          <p:cNvPr id="14" name="Shape 10"/>
          <p:cNvSpPr/>
          <p:nvPr/>
        </p:nvSpPr>
        <p:spPr>
          <a:xfrm>
            <a:off x="4572000" y="1783080"/>
            <a:ext cx="1828800" cy="1417320"/>
          </a:xfrm>
          <a:prstGeom prst="roundRect">
            <a:avLst>
              <a:gd name="adj" fmla="val 5161"/>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4754880" y="1920240"/>
            <a:ext cx="310896" cy="310896"/>
          </a:xfrm>
          <a:prstGeom prst="rect">
            <a:avLst/>
          </a:prstGeom>
        </p:spPr>
      </p:pic>
      <p:sp>
        <p:nvSpPr>
          <p:cNvPr id="16" name="Text 11"/>
          <p:cNvSpPr txBox="1"/>
          <p:nvPr/>
        </p:nvSpPr>
        <p:spPr>
          <a:xfrm>
            <a:off x="475488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個人特定なし</a:t>
            </a:r>
            <a:endParaRPr lang="en-US" sz="1800" dirty="0"/>
          </a:p>
        </p:txBody>
      </p:sp>
      <p:sp>
        <p:nvSpPr>
          <p:cNvPr id="17" name="Text 12"/>
          <p:cNvSpPr txBox="1"/>
          <p:nvPr/>
        </p:nvSpPr>
        <p:spPr>
          <a:xfrm>
            <a:off x="475488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集団の人数だけの統計</a:t>
            </a:r>
            <a:endParaRPr lang="en-US" sz="1100" dirty="0"/>
          </a:p>
        </p:txBody>
      </p:sp>
      <p:sp>
        <p:nvSpPr>
          <p:cNvPr id="18" name="Text 13"/>
          <p:cNvSpPr txBox="1"/>
          <p:nvPr/>
        </p:nvSpPr>
        <p:spPr>
          <a:xfrm>
            <a:off x="548640" y="3474720"/>
            <a:ext cx="5760720" cy="320040"/>
          </a:xfrm>
          <a:prstGeom prst="rect">
            <a:avLst/>
          </a:prstGeom>
          <a:noFill/>
          <a:ln/>
        </p:spPr>
        <p:txBody>
          <a:bodyPr wrap="square" lIns="0" tIns="0" rIns="0" bIns="0" rtlCol="0" anchor="t"/>
          <a:lstStyle/>
          <a:p>
            <a:pPr indent="0" marL="0">
              <a:buNone/>
            </a:pPr>
            <a:r>
              <a:rPr lang="en-US" sz="1400" b="1" dirty="0">
                <a:solidFill>
                  <a:srgbClr val="C9002B"/>
                </a:solidFill>
                <a:latin typeface="Meiryo" pitchFamily="34" charset="0"/>
                <a:ea typeface="Meiryo" pitchFamily="34" charset="-122"/>
                <a:cs typeface="Meiryo" pitchFamily="34" charset="-120"/>
              </a:rPr>
              <a:t>たとえば、こんなことが分かります</a:t>
            </a:r>
            <a:endParaRPr lang="en-US" sz="1400" dirty="0"/>
          </a:p>
        </p:txBody>
      </p:sp>
      <p:sp>
        <p:nvSpPr>
          <p:cNvPr id="19" name="Text 14"/>
          <p:cNvSpPr txBox="1"/>
          <p:nvPr/>
        </p:nvSpPr>
        <p:spPr>
          <a:xfrm>
            <a:off x="548640" y="3840480"/>
            <a:ext cx="5760720"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イベントの日は、普段の日より何人多かったか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市内・県内・県外の、どこから来ていたか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何時ごろが一番混んでいたか</a:t>
            </a:r>
            <a:endParaRPr lang="en-US" sz="1350" dirty="0"/>
          </a:p>
        </p:txBody>
      </p:sp>
      <p:pic>
        <p:nvPicPr>
          <p:cNvPr id="20" name="Image 3" descr="preencoded.png">    </p:cNvPr>
          <p:cNvPicPr>
            <a:picLocks noChangeAspect="1"/>
          </p:cNvPicPr>
          <p:nvPr/>
        </p:nvPicPr>
        <p:blipFill>
          <a:blip r:embed="rId4"/>
          <a:stretch>
            <a:fillRect/>
          </a:stretch>
        </p:blipFill>
        <p:spPr>
          <a:xfrm>
            <a:off x="6675120" y="1783080"/>
            <a:ext cx="4937760" cy="2752344"/>
          </a:xfrm>
          <a:prstGeom prst="rect">
            <a:avLst/>
          </a:prstGeom>
        </p:spPr>
      </p:pic>
      <p:sp>
        <p:nvSpPr>
          <p:cNvPr id="21" name="Shape 15"/>
          <p:cNvSpPr/>
          <p:nvPr/>
        </p:nvSpPr>
        <p:spPr>
          <a:xfrm>
            <a:off x="6675120" y="1783080"/>
            <a:ext cx="4937760" cy="2752344"/>
          </a:xfrm>
          <a:prstGeom prst="rect">
            <a:avLst/>
          </a:prstGeom>
          <a:ln w="12700">
            <a:solidFill>
              <a:srgbClr val="D5DDE5"/>
            </a:solidFill>
            <a:prstDash val="solid"/>
          </a:ln>
        </p:spPr>
      </p:sp>
      <p:sp>
        <p:nvSpPr>
          <p:cNvPr id="22" name="Text 16"/>
          <p:cNvSpPr txBox="1"/>
          <p:nvPr/>
        </p:nvSpPr>
        <p:spPr>
          <a:xfrm>
            <a:off x="6675120" y="4590288"/>
            <a:ext cx="493776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公式サイトの人口マップ掲載イメージ</a:t>
            </a:r>
            <a:endParaRPr lang="en-US" sz="1000" dirty="0"/>
          </a:p>
        </p:txBody>
      </p:sp>
      <p:sp>
        <p:nvSpPr>
          <p:cNvPr id="23" name="Shape 17"/>
          <p:cNvSpPr/>
          <p:nvPr/>
        </p:nvSpPr>
        <p:spPr>
          <a:xfrm>
            <a:off x="548640" y="5212080"/>
            <a:ext cx="11064240" cy="731520"/>
          </a:xfrm>
          <a:prstGeom prst="roundRect">
            <a:avLst>
              <a:gd name="adj" fmla="val 10000"/>
            </a:avLst>
          </a:prstGeom>
          <a:solidFill>
            <a:srgbClr val="FBEAEE"/>
          </a:solidFill>
          <a:ln w="12700">
            <a:solidFill>
              <a:srgbClr val="FBEAEE"/>
            </a:solidFill>
            <a:prstDash val="solid"/>
          </a:ln>
        </p:spPr>
      </p:sp>
      <p:sp>
        <p:nvSpPr>
          <p:cNvPr id="24" name="Text 18"/>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会場周辺の「推計の人の数」です。チケット販売数や入場者数とは分けて見ます</a:t>
            </a:r>
            <a:endParaRPr lang="en-US" sz="1300" dirty="0"/>
          </a:p>
        </p:txBody>
      </p:sp>
      <p:sp>
        <p:nvSpPr>
          <p:cNvPr id="25" name="Text 1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取得できる地域・期間・属性・細かさはメニューにより異なります（500mメッシュが基本、一部都市は250m・125m）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プレミアパネル：来なかった理由を聞く</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dポイントクラブ会員に、地域や年代を指定してアンケートできます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06</a:t>
            </a:r>
            <a:endParaRPr lang="en-US" sz="1000" dirty="0"/>
          </a:p>
        </p:txBody>
      </p:sp>
      <p:sp>
        <p:nvSpPr>
          <p:cNvPr id="6" name="Text 4"/>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アンケート回答対象者</a:t>
            </a:r>
            <a:endParaRPr lang="en-US" sz="1200" dirty="0"/>
          </a:p>
        </p:txBody>
      </p:sp>
      <p:sp>
        <p:nvSpPr>
          <p:cNvPr id="7" name="Text 5"/>
          <p:cNvSpPr txBox="1"/>
          <p:nvPr/>
        </p:nvSpPr>
        <p:spPr>
          <a:xfrm>
            <a:off x="548640" y="2103120"/>
            <a:ext cx="3840480" cy="1005840"/>
          </a:xfrm>
          <a:prstGeom prst="rect">
            <a:avLst/>
          </a:prstGeom>
          <a:noFill/>
          <a:ln/>
        </p:spPr>
        <p:txBody>
          <a:bodyPr wrap="square" lIns="0" tIns="0" rIns="0" bIns="0" rtlCol="0" anchor="b"/>
          <a:lstStyle/>
          <a:p>
            <a:pPr indent="0" marL="0">
              <a:buNone/>
            </a:pPr>
            <a:r>
              <a:rPr lang="en-US" sz="6000" b="1" dirty="0">
                <a:solidFill>
                  <a:srgbClr val="C9002B"/>
                </a:solidFill>
                <a:latin typeface="Meiryo" pitchFamily="34" charset="0"/>
                <a:ea typeface="Meiryo" pitchFamily="34" charset="-122"/>
                <a:cs typeface="Meiryo" pitchFamily="34" charset="-120"/>
              </a:rPr>
              <a:t>約600</a:t>
            </a:r>
            <a:pPr indent="0" marL="0">
              <a:buNone/>
            </a:pPr>
            <a:r>
              <a:rPr lang="en-US" sz="2400" b="1" dirty="0">
                <a:solidFill>
                  <a:srgbClr val="C9002B"/>
                </a:solidFill>
                <a:latin typeface="Meiryo" pitchFamily="34" charset="0"/>
                <a:ea typeface="Meiryo" pitchFamily="34" charset="-122"/>
                <a:cs typeface="Meiryo" pitchFamily="34" charset="-120"/>
              </a:rPr>
              <a:t>万人</a:t>
            </a:r>
            <a:endParaRPr lang="en-US" sz="6000" dirty="0"/>
          </a:p>
        </p:txBody>
      </p:sp>
      <p:sp>
        <p:nvSpPr>
          <p:cNvPr id="8" name="Text 6"/>
          <p:cNvSpPr txBox="1"/>
          <p:nvPr/>
        </p:nvSpPr>
        <p:spPr>
          <a:xfrm>
            <a:off x="548640" y="3154680"/>
            <a:ext cx="36576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（2026年1月時点）</a:t>
            </a:r>
            <a:endParaRPr lang="en-US" sz="1100" dirty="0"/>
          </a:p>
        </p:txBody>
      </p:sp>
      <p:sp>
        <p:nvSpPr>
          <p:cNvPr id="9" name="Shape 7"/>
          <p:cNvSpPr/>
          <p:nvPr/>
        </p:nvSpPr>
        <p:spPr>
          <a:xfrm>
            <a:off x="548640" y="3657600"/>
            <a:ext cx="3657600" cy="914400"/>
          </a:xfrm>
          <a:prstGeom prst="roundRect">
            <a:avLst>
              <a:gd name="adj" fmla="val 8000"/>
            </a:avLst>
          </a:prstGeom>
          <a:solidFill>
            <a:srgbClr val="F2F5F8"/>
          </a:solidFill>
          <a:ln w="12700">
            <a:solidFill>
              <a:srgbClr val="F2F5F8"/>
            </a:solidFill>
            <a:prstDash val="solid"/>
          </a:ln>
        </p:spPr>
      </p:sp>
      <p:pic>
        <p:nvPicPr>
          <p:cNvPr id="10" name="Image 0" descr="preencoded.png">    </p:cNvPr>
          <p:cNvPicPr>
            <a:picLocks noChangeAspect="1"/>
          </p:cNvPicPr>
          <p:nvPr/>
        </p:nvPicPr>
        <p:blipFill>
          <a:blip r:embed="rId1"/>
          <a:stretch>
            <a:fillRect/>
          </a:stretch>
        </p:blipFill>
        <p:spPr>
          <a:xfrm>
            <a:off x="777240" y="3913632"/>
            <a:ext cx="384048" cy="384048"/>
          </a:xfrm>
          <a:prstGeom prst="rect">
            <a:avLst/>
          </a:prstGeom>
        </p:spPr>
      </p:pic>
      <p:sp>
        <p:nvSpPr>
          <p:cNvPr id="11" name="Text 8"/>
          <p:cNvSpPr txBox="1"/>
          <p:nvPr/>
        </p:nvSpPr>
        <p:spPr>
          <a:xfrm>
            <a:off x="1325880" y="3749040"/>
            <a:ext cx="2743200" cy="73152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100種以上</a:t>
            </a:r>
            <a:pPr indent="0" marL="0">
              <a:buNone/>
            </a:pPr>
            <a:endParaRPr lang="en-US" sz="1800" dirty="0"/>
          </a:p>
          <a:p>
            <a:pPr indent="0" marL="0">
              <a:buNone/>
            </a:pPr>
            <a:r>
              <a:rPr lang="en-US" sz="1200" dirty="0">
                <a:solidFill>
                  <a:srgbClr val="1B2B3D"/>
                </a:solidFill>
                <a:latin typeface="Meiryo" pitchFamily="34" charset="0"/>
                <a:ea typeface="Meiryo" pitchFamily="34" charset="-122"/>
                <a:cs typeface="Meiryo" pitchFamily="34" charset="-120"/>
              </a:rPr>
              <a:t>の属性で回答者を絞り込み</a:t>
            </a:r>
            <a:endParaRPr lang="en-US" sz="1800" dirty="0"/>
          </a:p>
        </p:txBody>
      </p:sp>
      <p:sp>
        <p:nvSpPr>
          <p:cNvPr id="12" name="Text 9"/>
          <p:cNvSpPr txBox="1"/>
          <p:nvPr/>
        </p:nvSpPr>
        <p:spPr>
          <a:xfrm>
            <a:off x="4663440" y="1828800"/>
            <a:ext cx="347472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聞く内容の例</a:t>
            </a:r>
            <a:endParaRPr lang="en-US" sz="1500" dirty="0"/>
          </a:p>
        </p:txBody>
      </p:sp>
      <p:sp>
        <p:nvSpPr>
          <p:cNvPr id="13" name="Shape 10"/>
          <p:cNvSpPr/>
          <p:nvPr/>
        </p:nvSpPr>
        <p:spPr>
          <a:xfrm>
            <a:off x="4663440" y="2286000"/>
            <a:ext cx="3474720" cy="621792"/>
          </a:xfrm>
          <a:prstGeom prst="roundRect">
            <a:avLst>
              <a:gd name="adj" fmla="val 11765"/>
            </a:avLst>
          </a:prstGeom>
          <a:solidFill>
            <a:srgbClr val="F2F5F8"/>
          </a:solidFill>
          <a:ln w="12700">
            <a:solidFill>
              <a:srgbClr val="F2F5F8"/>
            </a:solidFill>
            <a:prstDash val="solid"/>
          </a:ln>
        </p:spPr>
      </p:sp>
      <p:sp>
        <p:nvSpPr>
          <p:cNvPr id="14" name="Text 11"/>
          <p:cNvSpPr txBox="1"/>
          <p:nvPr/>
        </p:nvSpPr>
        <p:spPr>
          <a:xfrm>
            <a:off x="4800600" y="243230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Q1</a:t>
            </a:r>
            <a:endParaRPr lang="en-US" sz="1100" dirty="0"/>
          </a:p>
        </p:txBody>
      </p:sp>
      <p:sp>
        <p:nvSpPr>
          <p:cNvPr id="15" name="Text 12"/>
          <p:cNvSpPr txBox="1"/>
          <p:nvPr/>
        </p:nvSpPr>
        <p:spPr>
          <a:xfrm>
            <a:off x="5486400" y="228600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イベントを知っていたか</a:t>
            </a:r>
            <a:endParaRPr lang="en-US" sz="1300" dirty="0"/>
          </a:p>
        </p:txBody>
      </p:sp>
      <p:sp>
        <p:nvSpPr>
          <p:cNvPr id="16" name="Shape 13"/>
          <p:cNvSpPr/>
          <p:nvPr/>
        </p:nvSpPr>
        <p:spPr>
          <a:xfrm>
            <a:off x="4663440" y="3063240"/>
            <a:ext cx="3474720" cy="621792"/>
          </a:xfrm>
          <a:prstGeom prst="roundRect">
            <a:avLst>
              <a:gd name="adj" fmla="val 11765"/>
            </a:avLst>
          </a:prstGeom>
          <a:solidFill>
            <a:srgbClr val="F2F5F8"/>
          </a:solidFill>
          <a:ln w="12700">
            <a:solidFill>
              <a:srgbClr val="F2F5F8"/>
            </a:solidFill>
            <a:prstDash val="solid"/>
          </a:ln>
        </p:spPr>
      </p:sp>
      <p:sp>
        <p:nvSpPr>
          <p:cNvPr id="17" name="Text 14"/>
          <p:cNvSpPr txBox="1"/>
          <p:nvPr/>
        </p:nvSpPr>
        <p:spPr>
          <a:xfrm>
            <a:off x="4800600" y="320954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Q2</a:t>
            </a:r>
            <a:endParaRPr lang="en-US" sz="1100" dirty="0"/>
          </a:p>
        </p:txBody>
      </p:sp>
      <p:sp>
        <p:nvSpPr>
          <p:cNvPr id="18" name="Text 15"/>
          <p:cNvSpPr txBox="1"/>
          <p:nvPr/>
        </p:nvSpPr>
        <p:spPr>
          <a:xfrm>
            <a:off x="5486400" y="306324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来なかった理由は何か</a:t>
            </a:r>
            <a:endParaRPr lang="en-US" sz="1300" dirty="0"/>
          </a:p>
        </p:txBody>
      </p:sp>
      <p:sp>
        <p:nvSpPr>
          <p:cNvPr id="19" name="Shape 16"/>
          <p:cNvSpPr/>
          <p:nvPr/>
        </p:nvSpPr>
        <p:spPr>
          <a:xfrm>
            <a:off x="4663440" y="3840480"/>
            <a:ext cx="3474720" cy="621792"/>
          </a:xfrm>
          <a:prstGeom prst="roundRect">
            <a:avLst>
              <a:gd name="adj" fmla="val 11765"/>
            </a:avLst>
          </a:prstGeom>
          <a:solidFill>
            <a:srgbClr val="F2F5F8"/>
          </a:solidFill>
          <a:ln w="12700">
            <a:solidFill>
              <a:srgbClr val="F2F5F8"/>
            </a:solidFill>
            <a:prstDash val="solid"/>
          </a:ln>
        </p:spPr>
      </p:sp>
      <p:sp>
        <p:nvSpPr>
          <p:cNvPr id="20" name="Text 17"/>
          <p:cNvSpPr txBox="1"/>
          <p:nvPr/>
        </p:nvSpPr>
        <p:spPr>
          <a:xfrm>
            <a:off x="4800600" y="398678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Q3</a:t>
            </a:r>
            <a:endParaRPr lang="en-US" sz="1100" dirty="0"/>
          </a:p>
        </p:txBody>
      </p:sp>
      <p:sp>
        <p:nvSpPr>
          <p:cNvPr id="21" name="Text 18"/>
          <p:cNvSpPr txBox="1"/>
          <p:nvPr/>
        </p:nvSpPr>
        <p:spPr>
          <a:xfrm>
            <a:off x="5486400" y="384048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どんな条件なら行きたいか</a:t>
            </a:r>
            <a:endParaRPr lang="en-US" sz="1300" dirty="0"/>
          </a:p>
        </p:txBody>
      </p:sp>
      <p:pic>
        <p:nvPicPr>
          <p:cNvPr id="22" name="Image 1" descr="preencoded.png">    </p:cNvPr>
          <p:cNvPicPr>
            <a:picLocks noChangeAspect="1"/>
          </p:cNvPicPr>
          <p:nvPr/>
        </p:nvPicPr>
        <p:blipFill>
          <a:blip r:embed="rId2"/>
          <a:stretch>
            <a:fillRect/>
          </a:stretch>
        </p:blipFill>
        <p:spPr>
          <a:xfrm>
            <a:off x="8503920" y="1783080"/>
            <a:ext cx="3108960" cy="2852928"/>
          </a:xfrm>
          <a:prstGeom prst="rect">
            <a:avLst/>
          </a:prstGeom>
        </p:spPr>
      </p:pic>
      <p:sp>
        <p:nvSpPr>
          <p:cNvPr id="23" name="Shape 19"/>
          <p:cNvSpPr/>
          <p:nvPr/>
        </p:nvSpPr>
        <p:spPr>
          <a:xfrm>
            <a:off x="548640" y="4892040"/>
            <a:ext cx="11064240" cy="914400"/>
          </a:xfrm>
          <a:prstGeom prst="roundRect">
            <a:avLst>
              <a:gd name="adj" fmla="val 8000"/>
            </a:avLst>
          </a:prstGeom>
          <a:solidFill>
            <a:srgbClr val="FBEAEE"/>
          </a:solidFill>
          <a:ln w="12700">
            <a:solidFill>
              <a:srgbClr val="FBEAEE"/>
            </a:solidFill>
            <a:prstDash val="solid"/>
          </a:ln>
        </p:spPr>
      </p:sp>
      <p:pic>
        <p:nvPicPr>
          <p:cNvPr id="24" name="Image 2" descr="preencoded.png">    </p:cNvPr>
          <p:cNvPicPr>
            <a:picLocks noChangeAspect="1"/>
          </p:cNvPicPr>
          <p:nvPr/>
        </p:nvPicPr>
        <p:blipFill>
          <a:blip r:embed="rId3"/>
          <a:stretch>
            <a:fillRect/>
          </a:stretch>
        </p:blipFill>
        <p:spPr>
          <a:xfrm>
            <a:off x="777240" y="5166360"/>
            <a:ext cx="365760" cy="365760"/>
          </a:xfrm>
          <a:prstGeom prst="rect">
            <a:avLst/>
          </a:prstGeom>
        </p:spPr>
      </p:pic>
      <p:sp>
        <p:nvSpPr>
          <p:cNvPr id="25" name="Text 20"/>
          <p:cNvSpPr txBox="1"/>
          <p:nvPr/>
        </p:nvSpPr>
        <p:spPr>
          <a:xfrm>
            <a:off x="1325880" y="4892040"/>
            <a:ext cx="10058400" cy="914400"/>
          </a:xfrm>
          <a:prstGeom prst="rect">
            <a:avLst/>
          </a:prstGeom>
          <a:noFill/>
          <a:ln/>
        </p:spPr>
        <p:txBody>
          <a:bodyPr wrap="square" lIns="0" tIns="0" rIns="0" bIns="0" rtlCol="0" anchor="ctr"/>
          <a:lstStyle/>
          <a:p>
            <a:pPr indent="0" marL="0">
              <a:buNone/>
            </a:pPr>
            <a:r>
              <a:rPr lang="en-US" sz="1300" dirty="0">
                <a:solidFill>
                  <a:srgbClr val="1B2B3D"/>
                </a:solidFill>
                <a:latin typeface="Meiryo" pitchFamily="34" charset="0"/>
                <a:ea typeface="Meiryo" pitchFamily="34" charset="-122"/>
                <a:cs typeface="Meiryo" pitchFamily="34" charset="-120"/>
              </a:rPr>
              <a:t>小さな町など対象を狭くし過ぎると、回答が集まりにくくなります。近隣の市町まで広げるなど、集まる範囲を一緒に決めます。</a:t>
            </a:r>
            <a:endParaRPr lang="en-US" sz="1300" dirty="0"/>
          </a:p>
        </p:txBody>
      </p:sp>
      <p:sp>
        <p:nvSpPr>
          <p:cNvPr id="26"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約600万人は回答対象者の規模で、必要な回答数を保証する数ではありません</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docomo Ad Network：新しい人に届ける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ドコモのデータで対象を絞り、ドコモの接点や一般メディアで告知します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07</a:t>
            </a:r>
            <a:endParaRPr lang="en-US" sz="1000" dirty="0"/>
          </a:p>
        </p:txBody>
      </p:sp>
      <p:sp>
        <p:nvSpPr>
          <p:cNvPr id="6" name="Text 4"/>
          <p:cNvSpPr txBox="1"/>
          <p:nvPr/>
        </p:nvSpPr>
        <p:spPr>
          <a:xfrm>
            <a:off x="548640" y="178308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できること</a:t>
            </a:r>
            <a:endParaRPr lang="en-US" sz="1500" dirty="0"/>
          </a:p>
        </p:txBody>
      </p:sp>
      <p:sp>
        <p:nvSpPr>
          <p:cNvPr id="7" name="Text 5"/>
          <p:cNvSpPr txBox="1"/>
          <p:nvPr/>
        </p:nvSpPr>
        <p:spPr>
          <a:xfrm>
            <a:off x="548640" y="2130552"/>
            <a:ext cx="5212080" cy="82296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地域・年代・関心などで対象を絞り、dメニュー・dポイントクラブ・メッセージSなどで告知する。</a:t>
            </a:r>
            <a:endParaRPr lang="en-US" sz="1350" dirty="0"/>
          </a:p>
        </p:txBody>
      </p:sp>
      <p:sp>
        <p:nvSpPr>
          <p:cNvPr id="8" name="Text 6"/>
          <p:cNvSpPr txBox="1"/>
          <p:nvPr/>
        </p:nvSpPr>
        <p:spPr>
          <a:xfrm>
            <a:off x="548640" y="306324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小さな予算で使うコツ</a:t>
            </a:r>
            <a:endParaRPr lang="en-US" sz="1500" dirty="0"/>
          </a:p>
        </p:txBody>
      </p:sp>
      <p:sp>
        <p:nvSpPr>
          <p:cNvPr id="9" name="Text 7"/>
          <p:cNvSpPr txBox="1"/>
          <p:nvPr/>
        </p:nvSpPr>
        <p:spPr>
          <a:xfrm>
            <a:off x="548640" y="3429000"/>
            <a:ext cx="521208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告知するイベントと地域を1つに絞る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申込ページと計測方法を先に決める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アンケートで分かった「来ない理由」に合わせた文章にする</a:t>
            </a:r>
            <a:endParaRPr lang="en-US" sz="1300" dirty="0"/>
          </a:p>
        </p:txBody>
      </p:sp>
      <p:pic>
        <p:nvPicPr>
          <p:cNvPr id="10" name="Image 0" descr="preencoded.png">    </p:cNvPr>
          <p:cNvPicPr>
            <a:picLocks noChangeAspect="1"/>
          </p:cNvPicPr>
          <p:nvPr/>
        </p:nvPicPr>
        <p:blipFill>
          <a:blip r:embed="rId1"/>
          <a:stretch>
            <a:fillRect/>
          </a:stretch>
        </p:blipFill>
        <p:spPr>
          <a:xfrm>
            <a:off x="6172200" y="1783080"/>
            <a:ext cx="5440680" cy="3429000"/>
          </a:xfrm>
          <a:prstGeom prst="rect">
            <a:avLst/>
          </a:prstGeom>
        </p:spPr>
      </p:pic>
      <p:sp>
        <p:nvSpPr>
          <p:cNvPr id="11" name="Text 8"/>
          <p:cNvSpPr txBox="1"/>
          <p:nvPr/>
        </p:nvSpPr>
        <p:spPr>
          <a:xfrm>
            <a:off x="6172200" y="5257800"/>
            <a:ext cx="544068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配信先の例（公式サイト掲載図）</a:t>
            </a:r>
            <a:endParaRPr lang="en-US" sz="1000" dirty="0"/>
          </a:p>
        </p:txBody>
      </p:sp>
      <p:sp>
        <p:nvSpPr>
          <p:cNvPr id="12" name="Shape 9"/>
          <p:cNvSpPr/>
          <p:nvPr/>
        </p:nvSpPr>
        <p:spPr>
          <a:xfrm>
            <a:off x="548640" y="5577840"/>
            <a:ext cx="11064240" cy="658368"/>
          </a:xfrm>
          <a:prstGeom prst="roundRect">
            <a:avLst>
              <a:gd name="adj" fmla="val 11111"/>
            </a:avLst>
          </a:prstGeom>
          <a:solidFill>
            <a:srgbClr val="FBEAEE"/>
          </a:solidFill>
          <a:ln w="12700">
            <a:solidFill>
              <a:srgbClr val="FBEAEE"/>
            </a:solidFill>
            <a:prstDash val="solid"/>
          </a:ln>
        </p:spPr>
      </p:sp>
      <p:sp>
        <p:nvSpPr>
          <p:cNvPr id="13" name="Text 10"/>
          <p:cNvSpPr txBox="1"/>
          <p:nvPr/>
        </p:nvSpPr>
        <p:spPr>
          <a:xfrm>
            <a:off x="731520" y="5751576"/>
            <a:ext cx="100584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最新動向</a:t>
            </a:r>
            <a:endParaRPr lang="en-US" sz="1100" dirty="0"/>
          </a:p>
        </p:txBody>
      </p:sp>
      <p:sp>
        <p:nvSpPr>
          <p:cNvPr id="14" name="Text 11"/>
          <p:cNvSpPr txBox="1"/>
          <p:nvPr/>
        </p:nvSpPr>
        <p:spPr>
          <a:xfrm>
            <a:off x="1874520" y="5577840"/>
            <a:ext cx="9601200"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2026年7月1日から運営はCARTA ZERO。</a:t>
            </a:r>
            <a:pPr indent="0" marL="0">
              <a:buNone/>
            </a:pPr>
            <a:r>
              <a:rPr lang="en-US" sz="1200" dirty="0">
                <a:solidFill>
                  <a:srgbClr val="1B2B3D"/>
                </a:solidFill>
                <a:latin typeface="Meiryo" pitchFamily="34" charset="0"/>
                <a:ea typeface="Meiryo" pitchFamily="34" charset="-122"/>
                <a:cs typeface="Meiryo" pitchFamily="34" charset="-120"/>
              </a:rPr>
              <a:t>「docomo data square Ads」として販売され、Google・Meta・LINEなどでもドコモデータを活用可能</a:t>
            </a:r>
            <a:endParaRPr lang="en-US" sz="1200" dirty="0"/>
          </a:p>
        </p:txBody>
      </p:sp>
      <p:sp>
        <p:nvSpPr>
          <p:cNvPr id="15" name="Text 1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最低出稿額・課金方式はメニューにより異なり、個別見積です。広告の成果は保証されません</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担当者の手間を増やしません</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設計から報告まで当社が担当します。お願いするのは3つだけです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08</a:t>
            </a:r>
            <a:endParaRPr lang="en-US" sz="1000" dirty="0"/>
          </a:p>
        </p:txBody>
      </p:sp>
      <p:sp>
        <p:nvSpPr>
          <p:cNvPr id="6" name="Text 4"/>
          <p:cNvSpPr txBox="1"/>
          <p:nvPr/>
        </p:nvSpPr>
        <p:spPr>
          <a:xfrm>
            <a:off x="548640" y="1783080"/>
            <a:ext cx="64008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当社が担当すること</a:t>
            </a:r>
            <a:endParaRPr lang="en-US" sz="1500" dirty="0"/>
          </a:p>
        </p:txBody>
      </p:sp>
      <p:sp>
        <p:nvSpPr>
          <p:cNvPr id="7" name="Shape 5"/>
          <p:cNvSpPr/>
          <p:nvPr/>
        </p:nvSpPr>
        <p:spPr>
          <a:xfrm>
            <a:off x="548640" y="2194560"/>
            <a:ext cx="3291840" cy="822960"/>
          </a:xfrm>
          <a:prstGeom prst="roundRect">
            <a:avLst>
              <a:gd name="adj" fmla="val 8889"/>
            </a:avLst>
          </a:prstGeom>
          <a:solidFill>
            <a:srgbClr val="F2F5F8"/>
          </a:solidFill>
          <a:ln w="12700">
            <a:solidFill>
              <a:srgbClr val="F2F5F8"/>
            </a:solidFill>
            <a:prstDash val="solid"/>
          </a:ln>
        </p:spPr>
      </p:sp>
      <p:pic>
        <p:nvPicPr>
          <p:cNvPr id="8" name="Image 0" descr="preencoded.png">    </p:cNvPr>
          <p:cNvPicPr>
            <a:picLocks noChangeAspect="1"/>
          </p:cNvPicPr>
          <p:nvPr/>
        </p:nvPicPr>
        <p:blipFill>
          <a:blip r:embed="rId1"/>
          <a:stretch>
            <a:fillRect/>
          </a:stretch>
        </p:blipFill>
        <p:spPr>
          <a:xfrm>
            <a:off x="731520" y="2441448"/>
            <a:ext cx="329184" cy="329184"/>
          </a:xfrm>
          <a:prstGeom prst="rect">
            <a:avLst/>
          </a:prstGeom>
        </p:spPr>
      </p:pic>
      <p:sp>
        <p:nvSpPr>
          <p:cNvPr id="9" name="Text 6"/>
          <p:cNvSpPr txBox="1"/>
          <p:nvPr/>
        </p:nvSpPr>
        <p:spPr>
          <a:xfrm>
            <a:off x="1188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アンケートの設問と対象の設計</a:t>
            </a:r>
            <a:endParaRPr lang="en-US" sz="1250" dirty="0"/>
          </a:p>
        </p:txBody>
      </p:sp>
      <p:sp>
        <p:nvSpPr>
          <p:cNvPr id="10" name="Shape 7"/>
          <p:cNvSpPr/>
          <p:nvPr/>
        </p:nvSpPr>
        <p:spPr>
          <a:xfrm>
            <a:off x="3977640" y="2194560"/>
            <a:ext cx="3291840" cy="822960"/>
          </a:xfrm>
          <a:prstGeom prst="roundRect">
            <a:avLst>
              <a:gd name="adj" fmla="val 8889"/>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4160520" y="2441448"/>
            <a:ext cx="329184" cy="329184"/>
          </a:xfrm>
          <a:prstGeom prst="rect">
            <a:avLst/>
          </a:prstGeom>
        </p:spPr>
      </p:pic>
      <p:sp>
        <p:nvSpPr>
          <p:cNvPr id="12" name="Text 8"/>
          <p:cNvSpPr txBox="1"/>
          <p:nvPr/>
        </p:nvSpPr>
        <p:spPr>
          <a:xfrm>
            <a:off x="4617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人流データの分析条件の設定</a:t>
            </a:r>
            <a:endParaRPr lang="en-US" sz="1250" dirty="0"/>
          </a:p>
        </p:txBody>
      </p:sp>
      <p:sp>
        <p:nvSpPr>
          <p:cNvPr id="13" name="Shape 9"/>
          <p:cNvSpPr/>
          <p:nvPr/>
        </p:nvSpPr>
        <p:spPr>
          <a:xfrm>
            <a:off x="548640" y="3154680"/>
            <a:ext cx="3291840" cy="822960"/>
          </a:xfrm>
          <a:prstGeom prst="roundRect">
            <a:avLst>
              <a:gd name="adj" fmla="val 8889"/>
            </a:avLst>
          </a:prstGeom>
          <a:solidFill>
            <a:srgbClr val="F2F5F8"/>
          </a:solidFill>
          <a:ln w="12700">
            <a:solidFill>
              <a:srgbClr val="F2F5F8"/>
            </a:solidFill>
            <a:prstDash val="solid"/>
          </a:ln>
        </p:spPr>
      </p:sp>
      <p:pic>
        <p:nvPicPr>
          <p:cNvPr id="14" name="Image 2" descr="preencoded.png">    </p:cNvPr>
          <p:cNvPicPr>
            <a:picLocks noChangeAspect="1"/>
          </p:cNvPicPr>
          <p:nvPr/>
        </p:nvPicPr>
        <p:blipFill>
          <a:blip r:embed="rId3"/>
          <a:stretch>
            <a:fillRect/>
          </a:stretch>
        </p:blipFill>
        <p:spPr>
          <a:xfrm>
            <a:off x="731520" y="3401568"/>
            <a:ext cx="329184" cy="329184"/>
          </a:xfrm>
          <a:prstGeom prst="rect">
            <a:avLst/>
          </a:prstGeom>
        </p:spPr>
      </p:pic>
      <p:sp>
        <p:nvSpPr>
          <p:cNvPr id="15" name="Text 10"/>
          <p:cNvSpPr txBox="1"/>
          <p:nvPr/>
        </p:nvSpPr>
        <p:spPr>
          <a:xfrm>
            <a:off x="1188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提供元への発注・日程調整</a:t>
            </a:r>
            <a:endParaRPr lang="en-US" sz="1250" dirty="0"/>
          </a:p>
        </p:txBody>
      </p:sp>
      <p:sp>
        <p:nvSpPr>
          <p:cNvPr id="16" name="Shape 11"/>
          <p:cNvSpPr/>
          <p:nvPr/>
        </p:nvSpPr>
        <p:spPr>
          <a:xfrm>
            <a:off x="3977640" y="3154680"/>
            <a:ext cx="3291840" cy="822960"/>
          </a:xfrm>
          <a:prstGeom prst="roundRect">
            <a:avLst>
              <a:gd name="adj" fmla="val 8889"/>
            </a:avLst>
          </a:prstGeom>
          <a:solidFill>
            <a:srgbClr val="F2F5F8"/>
          </a:solidFill>
          <a:ln w="12700">
            <a:solidFill>
              <a:srgbClr val="F2F5F8"/>
            </a:solidFill>
            <a:prstDash val="solid"/>
          </a:ln>
        </p:spPr>
      </p:sp>
      <p:pic>
        <p:nvPicPr>
          <p:cNvPr id="17" name="Image 3" descr="preencoded.png">    </p:cNvPr>
          <p:cNvPicPr>
            <a:picLocks noChangeAspect="1"/>
          </p:cNvPicPr>
          <p:nvPr/>
        </p:nvPicPr>
        <p:blipFill>
          <a:blip r:embed="rId4"/>
          <a:stretch>
            <a:fillRect/>
          </a:stretch>
        </p:blipFill>
        <p:spPr>
          <a:xfrm>
            <a:off x="4160520" y="3401568"/>
            <a:ext cx="329184" cy="329184"/>
          </a:xfrm>
          <a:prstGeom prst="rect">
            <a:avLst/>
          </a:prstGeom>
        </p:spPr>
      </p:pic>
      <p:sp>
        <p:nvSpPr>
          <p:cNvPr id="18" name="Text 12"/>
          <p:cNvSpPr txBox="1"/>
          <p:nvPr/>
        </p:nvSpPr>
        <p:spPr>
          <a:xfrm>
            <a:off x="4617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報告書と「1枚まとめ」の作成</a:t>
            </a:r>
            <a:endParaRPr lang="en-US" sz="1250" dirty="0"/>
          </a:p>
        </p:txBody>
      </p:sp>
      <p:sp>
        <p:nvSpPr>
          <p:cNvPr id="19" name="Shape 13"/>
          <p:cNvSpPr/>
          <p:nvPr/>
        </p:nvSpPr>
        <p:spPr>
          <a:xfrm>
            <a:off x="548640" y="4114800"/>
            <a:ext cx="3291840" cy="822960"/>
          </a:xfrm>
          <a:prstGeom prst="roundRect">
            <a:avLst>
              <a:gd name="adj" fmla="val 8889"/>
            </a:avLst>
          </a:prstGeom>
          <a:solidFill>
            <a:srgbClr val="F2F5F8"/>
          </a:solidFill>
          <a:ln w="12700">
            <a:solidFill>
              <a:srgbClr val="F2F5F8"/>
            </a:solidFill>
            <a:prstDash val="solid"/>
          </a:ln>
        </p:spPr>
      </p:sp>
      <p:pic>
        <p:nvPicPr>
          <p:cNvPr id="20" name="Image 4" descr="preencoded.png">    </p:cNvPr>
          <p:cNvPicPr>
            <a:picLocks noChangeAspect="1"/>
          </p:cNvPicPr>
          <p:nvPr/>
        </p:nvPicPr>
        <p:blipFill>
          <a:blip r:embed="rId5"/>
          <a:stretch>
            <a:fillRect/>
          </a:stretch>
        </p:blipFill>
        <p:spPr>
          <a:xfrm>
            <a:off x="731520" y="4361688"/>
            <a:ext cx="329184" cy="329184"/>
          </a:xfrm>
          <a:prstGeom prst="rect">
            <a:avLst/>
          </a:prstGeom>
        </p:spPr>
      </p:pic>
      <p:sp>
        <p:nvSpPr>
          <p:cNvPr id="21" name="Text 14"/>
          <p:cNvSpPr txBox="1"/>
          <p:nvPr/>
        </p:nvSpPr>
        <p:spPr>
          <a:xfrm>
            <a:off x="1188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報告会（30分）での説明</a:t>
            </a:r>
            <a:endParaRPr lang="en-US" sz="1250" dirty="0"/>
          </a:p>
        </p:txBody>
      </p:sp>
      <p:sp>
        <p:nvSpPr>
          <p:cNvPr id="22" name="Shape 15"/>
          <p:cNvSpPr/>
          <p:nvPr/>
        </p:nvSpPr>
        <p:spPr>
          <a:xfrm>
            <a:off x="3977640" y="4114800"/>
            <a:ext cx="3291840" cy="822960"/>
          </a:xfrm>
          <a:prstGeom prst="roundRect">
            <a:avLst>
              <a:gd name="adj" fmla="val 8889"/>
            </a:avLst>
          </a:prstGeom>
          <a:solidFill>
            <a:srgbClr val="F2F5F8"/>
          </a:solidFill>
          <a:ln w="12700">
            <a:solidFill>
              <a:srgbClr val="F2F5F8"/>
            </a:solidFill>
            <a:prstDash val="solid"/>
          </a:ln>
        </p:spPr>
      </p:sp>
      <p:pic>
        <p:nvPicPr>
          <p:cNvPr id="23" name="Image 5" descr="preencoded.png">    </p:cNvPr>
          <p:cNvPicPr>
            <a:picLocks noChangeAspect="1"/>
          </p:cNvPicPr>
          <p:nvPr/>
        </p:nvPicPr>
        <p:blipFill>
          <a:blip r:embed="rId6"/>
          <a:stretch>
            <a:fillRect/>
          </a:stretch>
        </p:blipFill>
        <p:spPr>
          <a:xfrm>
            <a:off x="4160520" y="4361688"/>
            <a:ext cx="329184" cy="329184"/>
          </a:xfrm>
          <a:prstGeom prst="rect">
            <a:avLst/>
          </a:prstGeom>
        </p:spPr>
      </p:pic>
      <p:sp>
        <p:nvSpPr>
          <p:cNvPr id="24" name="Text 16"/>
          <p:cNvSpPr txBox="1"/>
          <p:nvPr/>
        </p:nvSpPr>
        <p:spPr>
          <a:xfrm>
            <a:off x="4617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次年度の予算要求・稟議用の資料づくりのお手伝い</a:t>
            </a:r>
            <a:endParaRPr lang="en-US" sz="1250" dirty="0"/>
          </a:p>
        </p:txBody>
      </p:sp>
      <p:sp>
        <p:nvSpPr>
          <p:cNvPr id="25" name="Shape 17"/>
          <p:cNvSpPr/>
          <p:nvPr/>
        </p:nvSpPr>
        <p:spPr>
          <a:xfrm>
            <a:off x="7589520" y="1783080"/>
            <a:ext cx="4023360" cy="4251960"/>
          </a:xfrm>
          <a:prstGeom prst="roundRect">
            <a:avLst>
              <a:gd name="adj" fmla="val 1818"/>
            </a:avLst>
          </a:prstGeom>
          <a:solidFill>
            <a:srgbClr val="13283C"/>
          </a:solidFill>
          <a:ln w="12700">
            <a:solidFill>
              <a:srgbClr val="13283C"/>
            </a:solidFill>
            <a:prstDash val="solid"/>
          </a:ln>
        </p:spPr>
      </p:sp>
      <p:sp>
        <p:nvSpPr>
          <p:cNvPr id="26" name="Text 18"/>
          <p:cNvSpPr txBox="1"/>
          <p:nvPr/>
        </p:nvSpPr>
        <p:spPr>
          <a:xfrm>
            <a:off x="7818120" y="1920240"/>
            <a:ext cx="3657600" cy="365760"/>
          </a:xfrm>
          <a:prstGeom prst="rect">
            <a:avLst/>
          </a:prstGeom>
          <a:noFill/>
          <a:ln/>
        </p:spPr>
        <p:txBody>
          <a:bodyPr wrap="square" lIns="0" tIns="0" rIns="0" bIns="0" rtlCol="0" anchor="t"/>
          <a:lstStyle/>
          <a:p>
            <a:pPr indent="0" marL="0">
              <a:buNone/>
            </a:pPr>
            <a:r>
              <a:rPr lang="en-US" sz="1500" b="1" dirty="0">
                <a:solidFill>
                  <a:srgbClr val="FF8FA3"/>
                </a:solidFill>
                <a:latin typeface="Meiryo" pitchFamily="34" charset="0"/>
                <a:ea typeface="Meiryo" pitchFamily="34" charset="-122"/>
                <a:cs typeface="Meiryo" pitchFamily="34" charset="-120"/>
              </a:rPr>
              <a:t>お客様にお願いすること</a:t>
            </a:r>
            <a:endParaRPr lang="en-US" sz="1500" dirty="0"/>
          </a:p>
        </p:txBody>
      </p:sp>
      <p:sp>
        <p:nvSpPr>
          <p:cNvPr id="27" name="Shape 19"/>
          <p:cNvSpPr/>
          <p:nvPr/>
        </p:nvSpPr>
        <p:spPr>
          <a:xfrm>
            <a:off x="7818120" y="2468880"/>
            <a:ext cx="548640" cy="548640"/>
          </a:xfrm>
          <a:prstGeom prst="ellipse">
            <a:avLst/>
          </a:prstGeom>
          <a:solidFill>
            <a:srgbClr val="C9002B"/>
          </a:solidFill>
          <a:ln w="12700">
            <a:solidFill>
              <a:srgbClr val="C9002B"/>
            </a:solidFill>
            <a:prstDash val="solid"/>
          </a:ln>
        </p:spPr>
      </p:sp>
      <p:sp>
        <p:nvSpPr>
          <p:cNvPr id="28" name="Text 20"/>
          <p:cNvSpPr txBox="1"/>
          <p:nvPr/>
        </p:nvSpPr>
        <p:spPr>
          <a:xfrm>
            <a:off x="7818120" y="2468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29" name="Text 21"/>
          <p:cNvSpPr txBox="1"/>
          <p:nvPr/>
        </p:nvSpPr>
        <p:spPr>
          <a:xfrm>
            <a:off x="8503920" y="2450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目的と対象イベントを決める</a:t>
            </a:r>
            <a:endParaRPr lang="en-US" sz="1400" dirty="0"/>
          </a:p>
        </p:txBody>
      </p:sp>
      <p:sp>
        <p:nvSpPr>
          <p:cNvPr id="30" name="Text 22"/>
          <p:cNvSpPr txBox="1"/>
          <p:nvPr/>
        </p:nvSpPr>
        <p:spPr>
          <a:xfrm>
            <a:off x="8503920" y="2816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約1時間の打ち合わせ</a:t>
            </a:r>
            <a:endParaRPr lang="en-US" sz="1200" dirty="0"/>
          </a:p>
        </p:txBody>
      </p:sp>
      <p:sp>
        <p:nvSpPr>
          <p:cNvPr id="31" name="Shape 23"/>
          <p:cNvSpPr/>
          <p:nvPr/>
        </p:nvSpPr>
        <p:spPr>
          <a:xfrm>
            <a:off x="7818120" y="3611880"/>
            <a:ext cx="548640" cy="548640"/>
          </a:xfrm>
          <a:prstGeom prst="ellipse">
            <a:avLst/>
          </a:prstGeom>
          <a:solidFill>
            <a:srgbClr val="C9002B"/>
          </a:solidFill>
          <a:ln w="12700">
            <a:solidFill>
              <a:srgbClr val="C9002B"/>
            </a:solidFill>
            <a:prstDash val="solid"/>
          </a:ln>
        </p:spPr>
      </p:sp>
      <p:sp>
        <p:nvSpPr>
          <p:cNvPr id="32" name="Text 24"/>
          <p:cNvSpPr txBox="1"/>
          <p:nvPr/>
        </p:nvSpPr>
        <p:spPr>
          <a:xfrm>
            <a:off x="7818120" y="3611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33" name="Text 25"/>
          <p:cNvSpPr txBox="1"/>
          <p:nvPr/>
        </p:nvSpPr>
        <p:spPr>
          <a:xfrm>
            <a:off x="8503920" y="3593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過去の来場数などを共有</a:t>
            </a:r>
            <a:endParaRPr lang="en-US" sz="1400" dirty="0"/>
          </a:p>
        </p:txBody>
      </p:sp>
      <p:sp>
        <p:nvSpPr>
          <p:cNvPr id="34" name="Text 26"/>
          <p:cNvSpPr txBox="1"/>
          <p:nvPr/>
        </p:nvSpPr>
        <p:spPr>
          <a:xfrm>
            <a:off x="8503920" y="3959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手元にある範囲で</a:t>
            </a:r>
            <a:endParaRPr lang="en-US" sz="1200" dirty="0"/>
          </a:p>
        </p:txBody>
      </p:sp>
      <p:sp>
        <p:nvSpPr>
          <p:cNvPr id="35" name="Shape 27"/>
          <p:cNvSpPr/>
          <p:nvPr/>
        </p:nvSpPr>
        <p:spPr>
          <a:xfrm>
            <a:off x="7818120" y="4754880"/>
            <a:ext cx="548640" cy="548640"/>
          </a:xfrm>
          <a:prstGeom prst="ellipse">
            <a:avLst/>
          </a:prstGeom>
          <a:solidFill>
            <a:srgbClr val="C9002B"/>
          </a:solidFill>
          <a:ln w="12700">
            <a:solidFill>
              <a:srgbClr val="C9002B"/>
            </a:solidFill>
            <a:prstDash val="solid"/>
          </a:ln>
        </p:spPr>
      </p:sp>
      <p:sp>
        <p:nvSpPr>
          <p:cNvPr id="36" name="Text 28"/>
          <p:cNvSpPr txBox="1"/>
          <p:nvPr/>
        </p:nvSpPr>
        <p:spPr>
          <a:xfrm>
            <a:off x="7818120" y="4754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37" name="Text 29"/>
          <p:cNvSpPr txBox="1"/>
          <p:nvPr/>
        </p:nvSpPr>
        <p:spPr>
          <a:xfrm>
            <a:off x="8503920" y="4736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報告会に参加する</a:t>
            </a:r>
            <a:endParaRPr lang="en-US" sz="1400" dirty="0"/>
          </a:p>
        </p:txBody>
      </p:sp>
      <p:sp>
        <p:nvSpPr>
          <p:cNvPr id="38" name="Text 30"/>
          <p:cNvSpPr txBox="1"/>
          <p:nvPr/>
        </p:nvSpPr>
        <p:spPr>
          <a:xfrm>
            <a:off x="8503920" y="5102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約30分</a:t>
            </a:r>
            <a:endParaRPr lang="en-US" sz="1200" dirty="0"/>
          </a:p>
        </p:txBody>
      </p:sp>
      <p:sp>
        <p:nvSpPr>
          <p:cNvPr id="39" name="Text 3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当社の支援範囲は契約内容によります。範囲と費用はお見積でお示しします</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お渡しする「1枚まとめ」のイメージ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議会・役員会・スポンサーへの説明に、そのまま使える形でお渡しします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09</a:t>
            </a:r>
            <a:endParaRPr lang="en-US" sz="1000" dirty="0"/>
          </a:p>
        </p:txBody>
      </p:sp>
      <p:sp>
        <p:nvSpPr>
          <p:cNvPr id="6" name="Shape 4"/>
          <p:cNvSpPr/>
          <p:nvPr/>
        </p:nvSpPr>
        <p:spPr>
          <a:xfrm>
            <a:off x="548640" y="1783080"/>
            <a:ext cx="11064240" cy="4343400"/>
          </a:xfrm>
          <a:prstGeom prst="roundRect">
            <a:avLst>
              <a:gd name="adj" fmla="val 1684"/>
            </a:avLst>
          </a:prstGeom>
          <a:solidFill>
            <a:srgbClr val="FFFFFF"/>
          </a:solidFill>
          <a:ln w="12700">
            <a:solidFill>
              <a:srgbClr val="D5DDE5"/>
            </a:solidFill>
            <a:prstDash val="solid"/>
          </a:ln>
        </p:spPr>
      </p:sp>
      <p:sp>
        <p:nvSpPr>
          <p:cNvPr id="7" name="Text 5"/>
          <p:cNvSpPr txBox="1"/>
          <p:nvPr/>
        </p:nvSpPr>
        <p:spPr>
          <a:xfrm>
            <a:off x="9601200" y="1920240"/>
            <a:ext cx="1828800" cy="274320"/>
          </a:xfrm>
          <a:prstGeom prst="roundRect">
            <a:avLst>
              <a:gd name="adj" fmla="val 50000"/>
            </a:avLst>
          </a:prstGeom>
          <a:solidFill>
            <a:srgbClr val="FFFFFF"/>
          </a:solidFill>
          <a:ln>
            <a:solidFill>
              <a:srgbClr val="C9002B"/>
            </a:solidFill>
          </a:ln>
        </p:spPr>
        <p:txBody>
          <a:bodyPr wrap="square" lIns="0" tIns="0" rIns="0" bIns="0" rtlCol="0" anchor="ctr"/>
          <a:lstStyle/>
          <a:p>
            <a:pPr algn="ctr" indent="0" marL="0">
              <a:buNone/>
            </a:pPr>
            <a:r>
              <a:rPr lang="en-US" sz="1000" b="1" dirty="0">
                <a:solidFill>
                  <a:srgbClr val="C9002B"/>
                </a:solidFill>
                <a:latin typeface="Meiryo" pitchFamily="34" charset="0"/>
                <a:ea typeface="Meiryo" pitchFamily="34" charset="-122"/>
                <a:cs typeface="Meiryo" pitchFamily="34" charset="-120"/>
              </a:rPr>
              <a:t>イメージ（架空の数値）</a:t>
            </a:r>
            <a:endParaRPr lang="en-US" sz="1000" dirty="0"/>
          </a:p>
        </p:txBody>
      </p:sp>
      <p:sp>
        <p:nvSpPr>
          <p:cNvPr id="8" name="Text 6"/>
          <p:cNvSpPr txBox="1"/>
          <p:nvPr/>
        </p:nvSpPr>
        <p:spPr>
          <a:xfrm>
            <a:off x="822960" y="1920240"/>
            <a:ext cx="8229600" cy="36576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〇〇まつり 来訪者データまとめ（2026年11月）</a:t>
            </a:r>
            <a:endParaRPr lang="en-US" sz="1600" dirty="0"/>
          </a:p>
        </p:txBody>
      </p:sp>
      <p:sp>
        <p:nvSpPr>
          <p:cNvPr id="9" name="Shape 7"/>
          <p:cNvSpPr/>
          <p:nvPr/>
        </p:nvSpPr>
        <p:spPr>
          <a:xfrm>
            <a:off x="822960" y="2468880"/>
            <a:ext cx="2331720" cy="1600200"/>
          </a:xfrm>
          <a:prstGeom prst="roundRect">
            <a:avLst>
              <a:gd name="adj" fmla="val 4571"/>
            </a:avLst>
          </a:prstGeom>
          <a:solidFill>
            <a:srgbClr val="F2F5F8"/>
          </a:solidFill>
          <a:ln w="12700">
            <a:solidFill>
              <a:srgbClr val="F2F5F8"/>
            </a:solidFill>
            <a:prstDash val="solid"/>
          </a:ln>
        </p:spPr>
      </p:sp>
      <p:sp>
        <p:nvSpPr>
          <p:cNvPr id="10" name="Text 8"/>
          <p:cNvSpPr txBox="1"/>
          <p:nvPr/>
        </p:nvSpPr>
        <p:spPr>
          <a:xfrm>
            <a:off x="9601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約2.8倍</a:t>
            </a:r>
            <a:endParaRPr lang="en-US" sz="3000" dirty="0"/>
          </a:p>
        </p:txBody>
      </p:sp>
      <p:sp>
        <p:nvSpPr>
          <p:cNvPr id="11" name="Text 9"/>
          <p:cNvSpPr txBox="1"/>
          <p:nvPr/>
        </p:nvSpPr>
        <p:spPr>
          <a:xfrm>
            <a:off x="9601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当日の周辺の人の数</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（普段の土曜日との比較）</a:t>
            </a:r>
            <a:endParaRPr lang="en-US" sz="1100" dirty="0"/>
          </a:p>
        </p:txBody>
      </p:sp>
      <p:sp>
        <p:nvSpPr>
          <p:cNvPr id="12" name="Shape 10"/>
          <p:cNvSpPr/>
          <p:nvPr/>
        </p:nvSpPr>
        <p:spPr>
          <a:xfrm>
            <a:off x="3337560" y="2468880"/>
            <a:ext cx="2331720" cy="1600200"/>
          </a:xfrm>
          <a:prstGeom prst="roundRect">
            <a:avLst>
              <a:gd name="adj" fmla="val 4571"/>
            </a:avLst>
          </a:prstGeom>
          <a:solidFill>
            <a:srgbClr val="F2F5F8"/>
          </a:solidFill>
          <a:ln w="12700">
            <a:solidFill>
              <a:srgbClr val="F2F5F8"/>
            </a:solidFill>
            <a:prstDash val="solid"/>
          </a:ln>
        </p:spPr>
      </p:sp>
      <p:sp>
        <p:nvSpPr>
          <p:cNvPr id="13" name="Text 11"/>
          <p:cNvSpPr txBox="1"/>
          <p:nvPr/>
        </p:nvSpPr>
        <p:spPr>
          <a:xfrm>
            <a:off x="34747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18%</a:t>
            </a:r>
            <a:endParaRPr lang="en-US" sz="3000" dirty="0"/>
          </a:p>
        </p:txBody>
      </p:sp>
      <p:sp>
        <p:nvSpPr>
          <p:cNvPr id="14" name="Text 12"/>
          <p:cNvSpPr txBox="1"/>
          <p:nvPr/>
        </p:nvSpPr>
        <p:spPr>
          <a:xfrm>
            <a:off x="34747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県外から来た人の割合</a:t>
            </a:r>
            <a:endParaRPr lang="en-US" sz="1100" dirty="0"/>
          </a:p>
        </p:txBody>
      </p:sp>
      <p:sp>
        <p:nvSpPr>
          <p:cNvPr id="15" name="Shape 13"/>
          <p:cNvSpPr/>
          <p:nvPr/>
        </p:nvSpPr>
        <p:spPr>
          <a:xfrm>
            <a:off x="5852160" y="2468880"/>
            <a:ext cx="2331720" cy="1600200"/>
          </a:xfrm>
          <a:prstGeom prst="roundRect">
            <a:avLst>
              <a:gd name="adj" fmla="val 4571"/>
            </a:avLst>
          </a:prstGeom>
          <a:solidFill>
            <a:srgbClr val="F2F5F8"/>
          </a:solidFill>
          <a:ln w="12700">
            <a:solidFill>
              <a:srgbClr val="F2F5F8"/>
            </a:solidFill>
            <a:prstDash val="solid"/>
          </a:ln>
        </p:spPr>
      </p:sp>
      <p:sp>
        <p:nvSpPr>
          <p:cNvPr id="16" name="Text 14"/>
          <p:cNvSpPr txBox="1"/>
          <p:nvPr/>
        </p:nvSpPr>
        <p:spPr>
          <a:xfrm>
            <a:off x="59893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42%</a:t>
            </a:r>
            <a:endParaRPr lang="en-US" sz="3000" dirty="0"/>
          </a:p>
        </p:txBody>
      </p:sp>
      <p:sp>
        <p:nvSpPr>
          <p:cNvPr id="17" name="Text 15"/>
          <p:cNvSpPr txBox="1"/>
          <p:nvPr/>
        </p:nvSpPr>
        <p:spPr>
          <a:xfrm>
            <a:off x="59893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来なかった理由の1位</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「開催を知らなかった」</a:t>
            </a:r>
            <a:endParaRPr lang="en-US" sz="1100" dirty="0"/>
          </a:p>
        </p:txBody>
      </p:sp>
      <p:graphicFrame>
        <p:nvGraphicFramePr>
          <p:cNvPr id="18" name="Chart 0" descr=""/>
          <p:cNvGraphicFramePr/>
          <p:nvPr/>
        </p:nvGraphicFramePr>
        <p:xfrm>
          <a:off x="8412480" y="2377440"/>
          <a:ext cx="3017520" cy="178308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822960" y="429768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次にやること（提案）</a:t>
            </a:r>
            <a:endParaRPr lang="en-US" sz="1300" dirty="0"/>
          </a:p>
        </p:txBody>
      </p:sp>
      <p:sp>
        <p:nvSpPr>
          <p:cNvPr id="20" name="Text 17"/>
          <p:cNvSpPr txBox="1"/>
          <p:nvPr/>
        </p:nvSpPr>
        <p:spPr>
          <a:xfrm>
            <a:off x="822960" y="4617720"/>
            <a:ext cx="10424160" cy="13716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告知を2週間早め、隣の県にも広げる</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駐車場とシャトルバスの案内を告知文に入れる</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次回も同じ方法で比べ、効果を確かめる</a:t>
            </a:r>
            <a:endParaRPr lang="en-US" sz="1300" dirty="0"/>
          </a:p>
        </p:txBody>
      </p:sp>
      <p:sp>
        <p:nvSpPr>
          <p:cNvPr id="21" name="Text 1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数値はすべて架空のイメージです。実際の報告書には詳細なグラフと分析方法を付けます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規模の近い活用事例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町・市・地域の団体やクラブでも、同じサービスが使われています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10</a:t>
            </a:r>
            <a:endParaRPr lang="en-US" sz="1000" dirty="0"/>
          </a:p>
        </p:txBody>
      </p:sp>
      <p:sp>
        <p:nvSpPr>
          <p:cNvPr id="6" name="Shape 4"/>
          <p:cNvSpPr/>
          <p:nvPr/>
        </p:nvSpPr>
        <p:spPr>
          <a:xfrm>
            <a:off x="548640" y="1783080"/>
            <a:ext cx="3566160" cy="2103120"/>
          </a:xfrm>
          <a:prstGeom prst="roundRect">
            <a:avLst>
              <a:gd name="adj" fmla="val 3478"/>
            </a:avLst>
          </a:prstGeom>
          <a:solidFill>
            <a:srgbClr val="FFFFFF"/>
          </a:solidFill>
          <a:ln w="12700">
            <a:solidFill>
              <a:srgbClr val="D5DDE5"/>
            </a:solidFill>
            <a:prstDash val="solid"/>
          </a:ln>
        </p:spPr>
      </p:sp>
      <p:sp>
        <p:nvSpPr>
          <p:cNvPr id="7" name="Shape 5"/>
          <p:cNvSpPr/>
          <p:nvPr/>
        </p:nvSpPr>
        <p:spPr>
          <a:xfrm>
            <a:off x="731520" y="1965960"/>
            <a:ext cx="502920" cy="50292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9" name="Text 6"/>
          <p:cNvSpPr txBox="1"/>
          <p:nvPr/>
        </p:nvSpPr>
        <p:spPr>
          <a:xfrm>
            <a:off x="1371600" y="191109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香川県琴平町</a:t>
            </a:r>
            <a:endParaRPr lang="en-US" sz="1300" dirty="0"/>
          </a:p>
        </p:txBody>
      </p:sp>
      <p:sp>
        <p:nvSpPr>
          <p:cNvPr id="10" name="Text 7"/>
          <p:cNvSpPr txBox="1"/>
          <p:nvPr/>
        </p:nvSpPr>
        <p:spPr>
          <a:xfrm>
            <a:off x="338328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町</a:t>
            </a:r>
            <a:endParaRPr lang="en-US" sz="950" dirty="0"/>
          </a:p>
        </p:txBody>
      </p:sp>
      <p:sp>
        <p:nvSpPr>
          <p:cNvPr id="11" name="Text 8"/>
          <p:cNvSpPr txBox="1"/>
          <p:nvPr/>
        </p:nvSpPr>
        <p:spPr>
          <a:xfrm>
            <a:off x="137160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空間統計＋プレミアパネル</a:t>
            </a:r>
            <a:endParaRPr lang="en-US" sz="1050" dirty="0"/>
          </a:p>
        </p:txBody>
      </p:sp>
      <p:sp>
        <p:nvSpPr>
          <p:cNvPr id="12" name="Text 9"/>
          <p:cNvSpPr txBox="1"/>
          <p:nvPr/>
        </p:nvSpPr>
        <p:spPr>
          <a:xfrm>
            <a:off x="73152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手書きアンケートは50件程度で、推測に頼っていた</a:t>
            </a:r>
            <a:endParaRPr lang="en-US" sz="1100" dirty="0"/>
          </a:p>
        </p:txBody>
      </p:sp>
      <p:sp>
        <p:nvSpPr>
          <p:cNvPr id="13" name="Text 10"/>
          <p:cNvSpPr txBox="1"/>
          <p:nvPr/>
        </p:nvSpPr>
        <p:spPr>
          <a:xfrm>
            <a:off x="73152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来訪者の属性とニーズをデータでつかみ、観光戦略を立案</a:t>
            </a:r>
            <a:endParaRPr lang="en-US" sz="1100" dirty="0"/>
          </a:p>
        </p:txBody>
      </p:sp>
      <p:sp>
        <p:nvSpPr>
          <p:cNvPr id="14" name="Shape 11"/>
          <p:cNvSpPr/>
          <p:nvPr/>
        </p:nvSpPr>
        <p:spPr>
          <a:xfrm>
            <a:off x="4297680" y="1783080"/>
            <a:ext cx="3566160" cy="2103120"/>
          </a:xfrm>
          <a:prstGeom prst="roundRect">
            <a:avLst>
              <a:gd name="adj" fmla="val 3478"/>
            </a:avLst>
          </a:prstGeom>
          <a:solidFill>
            <a:srgbClr val="FFFFFF"/>
          </a:solidFill>
          <a:ln w="12700">
            <a:solidFill>
              <a:srgbClr val="D5DDE5"/>
            </a:solidFill>
            <a:prstDash val="solid"/>
          </a:ln>
        </p:spPr>
      </p:sp>
      <p:sp>
        <p:nvSpPr>
          <p:cNvPr id="15" name="Shape 12"/>
          <p:cNvSpPr/>
          <p:nvPr/>
        </p:nvSpPr>
        <p:spPr>
          <a:xfrm>
            <a:off x="4480560" y="1965960"/>
            <a:ext cx="502920" cy="502920"/>
          </a:xfrm>
          <a:prstGeom prst="ellipse">
            <a:avLst/>
          </a:prstGeom>
          <a:solidFill>
            <a:srgbClr val="13283C"/>
          </a:solidFill>
          <a:ln w="12700">
            <a:solidFill>
              <a:srgbClr val="13283C"/>
            </a:solidFill>
            <a:prstDash val="solid"/>
          </a:ln>
        </p:spPr>
      </p:sp>
      <p:pic>
        <p:nvPicPr>
          <p:cNvPr id="16" name="Image 1" descr="preencoded.png">    </p:cNvPr>
          <p:cNvPicPr>
            <a:picLocks noChangeAspect="1"/>
          </p:cNvPicPr>
          <p:nvPr/>
        </p:nvPicPr>
        <p:blipFill>
          <a:blip r:embed="rId2"/>
          <a:stretch>
            <a:fillRect/>
          </a:stretch>
        </p:blipFill>
        <p:spPr>
          <a:xfrm>
            <a:off x="4606290" y="2091690"/>
            <a:ext cx="251460" cy="251460"/>
          </a:xfrm>
          <a:prstGeom prst="rect">
            <a:avLst/>
          </a:prstGeom>
        </p:spPr>
      </p:pic>
      <p:sp>
        <p:nvSpPr>
          <p:cNvPr id="17" name="Text 13"/>
          <p:cNvSpPr txBox="1"/>
          <p:nvPr/>
        </p:nvSpPr>
        <p:spPr>
          <a:xfrm>
            <a:off x="5120640" y="191109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徳島県美馬市</a:t>
            </a:r>
            <a:endParaRPr lang="en-US" sz="1300" dirty="0"/>
          </a:p>
        </p:txBody>
      </p:sp>
      <p:sp>
        <p:nvSpPr>
          <p:cNvPr id="18" name="Text 14"/>
          <p:cNvSpPr txBox="1"/>
          <p:nvPr/>
        </p:nvSpPr>
        <p:spPr>
          <a:xfrm>
            <a:off x="713232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19" name="Text 15"/>
          <p:cNvSpPr txBox="1"/>
          <p:nvPr/>
        </p:nvSpPr>
        <p:spPr>
          <a:xfrm>
            <a:off x="512064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0" name="Text 16"/>
          <p:cNvSpPr txBox="1"/>
          <p:nvPr/>
        </p:nvSpPr>
        <p:spPr>
          <a:xfrm>
            <a:off x="448056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観光客が伸び悩み、通過されがちな観光地だった</a:t>
            </a:r>
            <a:endParaRPr lang="en-US" sz="1100" dirty="0"/>
          </a:p>
        </p:txBody>
      </p:sp>
      <p:sp>
        <p:nvSpPr>
          <p:cNvPr id="21" name="Text 17"/>
          <p:cNvSpPr txBox="1"/>
          <p:nvPr/>
        </p:nvSpPr>
        <p:spPr>
          <a:xfrm>
            <a:off x="448056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観光客の性別・年代別データで観光施策を立案</a:t>
            </a:r>
            <a:endParaRPr lang="en-US" sz="1100" dirty="0"/>
          </a:p>
        </p:txBody>
      </p:sp>
      <p:sp>
        <p:nvSpPr>
          <p:cNvPr id="22" name="Shape 18"/>
          <p:cNvSpPr/>
          <p:nvPr/>
        </p:nvSpPr>
        <p:spPr>
          <a:xfrm>
            <a:off x="8046720" y="1783080"/>
            <a:ext cx="3566160" cy="2103120"/>
          </a:xfrm>
          <a:prstGeom prst="roundRect">
            <a:avLst>
              <a:gd name="adj" fmla="val 3478"/>
            </a:avLst>
          </a:prstGeom>
          <a:solidFill>
            <a:srgbClr val="FFFFFF"/>
          </a:solidFill>
          <a:ln w="12700">
            <a:solidFill>
              <a:srgbClr val="D5DDE5"/>
            </a:solidFill>
            <a:prstDash val="solid"/>
          </a:ln>
        </p:spPr>
      </p:sp>
      <p:sp>
        <p:nvSpPr>
          <p:cNvPr id="23" name="Shape 19"/>
          <p:cNvSpPr/>
          <p:nvPr/>
        </p:nvSpPr>
        <p:spPr>
          <a:xfrm>
            <a:off x="8229600" y="1965960"/>
            <a:ext cx="502920" cy="502920"/>
          </a:xfrm>
          <a:prstGeom prst="ellipse">
            <a:avLst/>
          </a:prstGeom>
          <a:solidFill>
            <a:srgbClr val="13283C"/>
          </a:solidFill>
          <a:ln w="12700">
            <a:solidFill>
              <a:srgbClr val="13283C"/>
            </a:solidFill>
            <a:prstDash val="solid"/>
          </a:ln>
        </p:spPr>
      </p:sp>
      <p:pic>
        <p:nvPicPr>
          <p:cNvPr id="24" name="Image 2" descr="preencoded.png">    </p:cNvPr>
          <p:cNvPicPr>
            <a:picLocks noChangeAspect="1"/>
          </p:cNvPicPr>
          <p:nvPr/>
        </p:nvPicPr>
        <p:blipFill>
          <a:blip r:embed="rId3"/>
          <a:stretch>
            <a:fillRect/>
          </a:stretch>
        </p:blipFill>
        <p:spPr>
          <a:xfrm>
            <a:off x="8355330" y="2091690"/>
            <a:ext cx="251460" cy="251460"/>
          </a:xfrm>
          <a:prstGeom prst="rect">
            <a:avLst/>
          </a:prstGeom>
        </p:spPr>
      </p:pic>
      <p:sp>
        <p:nvSpPr>
          <p:cNvPr id="25" name="Text 20"/>
          <p:cNvSpPr txBox="1"/>
          <p:nvPr/>
        </p:nvSpPr>
        <p:spPr>
          <a:xfrm>
            <a:off x="8869680" y="191109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熊本県玉名市</a:t>
            </a:r>
            <a:endParaRPr lang="en-US" sz="1300" dirty="0"/>
          </a:p>
        </p:txBody>
      </p:sp>
      <p:sp>
        <p:nvSpPr>
          <p:cNvPr id="26" name="Text 21"/>
          <p:cNvSpPr txBox="1"/>
          <p:nvPr/>
        </p:nvSpPr>
        <p:spPr>
          <a:xfrm>
            <a:off x="1088136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27" name="Text 22"/>
          <p:cNvSpPr txBox="1"/>
          <p:nvPr/>
        </p:nvSpPr>
        <p:spPr>
          <a:xfrm>
            <a:off x="886968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8" name="Text 23"/>
          <p:cNvSpPr txBox="1"/>
          <p:nvPr/>
        </p:nvSpPr>
        <p:spPr>
          <a:xfrm>
            <a:off x="822960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無料のRESASでは県単位しか見えず、国別の人数が不明</a:t>
            </a:r>
            <a:endParaRPr lang="en-US" sz="1100" dirty="0"/>
          </a:p>
        </p:txBody>
      </p:sp>
      <p:sp>
        <p:nvSpPr>
          <p:cNvPr id="29" name="Text 24"/>
          <p:cNvSpPr txBox="1"/>
          <p:nvPr/>
        </p:nvSpPr>
        <p:spPr>
          <a:xfrm>
            <a:off x="822960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重点国を決めて誘致し、温泉施設に泊まる外国人客が増加</a:t>
            </a:r>
            <a:endParaRPr lang="en-US" sz="1100" dirty="0"/>
          </a:p>
        </p:txBody>
      </p:sp>
      <p:sp>
        <p:nvSpPr>
          <p:cNvPr id="30" name="Shape 25"/>
          <p:cNvSpPr/>
          <p:nvPr/>
        </p:nvSpPr>
        <p:spPr>
          <a:xfrm>
            <a:off x="548640" y="4023360"/>
            <a:ext cx="3566160" cy="2103120"/>
          </a:xfrm>
          <a:prstGeom prst="roundRect">
            <a:avLst>
              <a:gd name="adj" fmla="val 3478"/>
            </a:avLst>
          </a:prstGeom>
          <a:solidFill>
            <a:srgbClr val="FFFFFF"/>
          </a:solidFill>
          <a:ln w="12700">
            <a:solidFill>
              <a:srgbClr val="D5DDE5"/>
            </a:solidFill>
            <a:prstDash val="solid"/>
          </a:ln>
        </p:spPr>
      </p:sp>
      <p:sp>
        <p:nvSpPr>
          <p:cNvPr id="31" name="Shape 26"/>
          <p:cNvSpPr/>
          <p:nvPr/>
        </p:nvSpPr>
        <p:spPr>
          <a:xfrm>
            <a:off x="731520" y="4206240"/>
            <a:ext cx="502920" cy="502920"/>
          </a:xfrm>
          <a:prstGeom prst="ellipse">
            <a:avLst/>
          </a:prstGeom>
          <a:solidFill>
            <a:srgbClr val="13283C"/>
          </a:solidFill>
          <a:ln w="12700">
            <a:solidFill>
              <a:srgbClr val="13283C"/>
            </a:solidFill>
            <a:prstDash val="solid"/>
          </a:ln>
        </p:spPr>
      </p:sp>
      <p:pic>
        <p:nvPicPr>
          <p:cNvPr id="32" name="Image 3" descr="preencoded.png">    </p:cNvPr>
          <p:cNvPicPr>
            <a:picLocks noChangeAspect="1"/>
          </p:cNvPicPr>
          <p:nvPr/>
        </p:nvPicPr>
        <p:blipFill>
          <a:blip r:embed="rId4"/>
          <a:stretch>
            <a:fillRect/>
          </a:stretch>
        </p:blipFill>
        <p:spPr>
          <a:xfrm>
            <a:off x="857250" y="4331970"/>
            <a:ext cx="251460" cy="251460"/>
          </a:xfrm>
          <a:prstGeom prst="rect">
            <a:avLst/>
          </a:prstGeom>
        </p:spPr>
      </p:pic>
      <p:sp>
        <p:nvSpPr>
          <p:cNvPr id="33" name="Text 27"/>
          <p:cNvSpPr txBox="1"/>
          <p:nvPr/>
        </p:nvSpPr>
        <p:spPr>
          <a:xfrm>
            <a:off x="1371600" y="415137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みやぎん経済研究所</a:t>
            </a:r>
            <a:endParaRPr lang="en-US" sz="1300" dirty="0"/>
          </a:p>
        </p:txBody>
      </p:sp>
      <p:sp>
        <p:nvSpPr>
          <p:cNvPr id="34" name="Text 28"/>
          <p:cNvSpPr txBox="1"/>
          <p:nvPr/>
        </p:nvSpPr>
        <p:spPr>
          <a:xfrm>
            <a:off x="338328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団体</a:t>
            </a:r>
            <a:endParaRPr lang="en-US" sz="950" dirty="0"/>
          </a:p>
        </p:txBody>
      </p:sp>
      <p:sp>
        <p:nvSpPr>
          <p:cNvPr id="35" name="Text 29"/>
          <p:cNvSpPr txBox="1"/>
          <p:nvPr/>
        </p:nvSpPr>
        <p:spPr>
          <a:xfrm>
            <a:off x="137160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36" name="Text 30"/>
          <p:cNvSpPr txBox="1"/>
          <p:nvPr/>
        </p:nvSpPr>
        <p:spPr>
          <a:xfrm>
            <a:off x="73152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アリーナ興行の経済効果を示したい（宮崎市）</a:t>
            </a:r>
            <a:endParaRPr lang="en-US" sz="1100" dirty="0"/>
          </a:p>
        </p:txBody>
      </p:sp>
      <p:sp>
        <p:nvSpPr>
          <p:cNvPr id="37" name="Text 31"/>
          <p:cNvSpPr txBox="1"/>
          <p:nvPr/>
        </p:nvSpPr>
        <p:spPr>
          <a:xfrm>
            <a:off x="73152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来場者の繁華街滞在・宿泊と消費額で効果を推計</a:t>
            </a:r>
            <a:endParaRPr lang="en-US" sz="1100" dirty="0"/>
          </a:p>
        </p:txBody>
      </p:sp>
      <p:sp>
        <p:nvSpPr>
          <p:cNvPr id="38" name="Shape 32"/>
          <p:cNvSpPr/>
          <p:nvPr/>
        </p:nvSpPr>
        <p:spPr>
          <a:xfrm>
            <a:off x="4297680" y="4023360"/>
            <a:ext cx="3566160" cy="2103120"/>
          </a:xfrm>
          <a:prstGeom prst="roundRect">
            <a:avLst>
              <a:gd name="adj" fmla="val 3478"/>
            </a:avLst>
          </a:prstGeom>
          <a:solidFill>
            <a:srgbClr val="FFFFFF"/>
          </a:solidFill>
          <a:ln w="12700">
            <a:solidFill>
              <a:srgbClr val="D5DDE5"/>
            </a:solidFill>
            <a:prstDash val="solid"/>
          </a:ln>
        </p:spPr>
      </p:sp>
      <p:sp>
        <p:nvSpPr>
          <p:cNvPr id="39" name="Shape 33"/>
          <p:cNvSpPr/>
          <p:nvPr/>
        </p:nvSpPr>
        <p:spPr>
          <a:xfrm>
            <a:off x="4480560" y="4206240"/>
            <a:ext cx="502920" cy="502920"/>
          </a:xfrm>
          <a:prstGeom prst="ellipse">
            <a:avLst/>
          </a:prstGeom>
          <a:solidFill>
            <a:srgbClr val="13283C"/>
          </a:solidFill>
          <a:ln w="12700">
            <a:solidFill>
              <a:srgbClr val="13283C"/>
            </a:solidFill>
            <a:prstDash val="solid"/>
          </a:ln>
        </p:spPr>
      </p:sp>
      <p:pic>
        <p:nvPicPr>
          <p:cNvPr id="40" name="Image 4" descr="preencoded.png">    </p:cNvPr>
          <p:cNvPicPr>
            <a:picLocks noChangeAspect="1"/>
          </p:cNvPicPr>
          <p:nvPr/>
        </p:nvPicPr>
        <p:blipFill>
          <a:blip r:embed="rId5"/>
          <a:stretch>
            <a:fillRect/>
          </a:stretch>
        </p:blipFill>
        <p:spPr>
          <a:xfrm>
            <a:off x="4606290" y="4331970"/>
            <a:ext cx="251460" cy="251460"/>
          </a:xfrm>
          <a:prstGeom prst="rect">
            <a:avLst/>
          </a:prstGeom>
        </p:spPr>
      </p:pic>
      <p:sp>
        <p:nvSpPr>
          <p:cNvPr id="41" name="Text 34"/>
          <p:cNvSpPr txBox="1"/>
          <p:nvPr/>
        </p:nvSpPr>
        <p:spPr>
          <a:xfrm>
            <a:off x="5120640" y="415137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川崎フロンターレ</a:t>
            </a:r>
            <a:endParaRPr lang="en-US" sz="1300" dirty="0"/>
          </a:p>
        </p:txBody>
      </p:sp>
      <p:sp>
        <p:nvSpPr>
          <p:cNvPr id="42" name="Text 35"/>
          <p:cNvSpPr txBox="1"/>
          <p:nvPr/>
        </p:nvSpPr>
        <p:spPr>
          <a:xfrm>
            <a:off x="713232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クラブ</a:t>
            </a:r>
            <a:endParaRPr lang="en-US" sz="950" dirty="0"/>
          </a:p>
        </p:txBody>
      </p:sp>
      <p:sp>
        <p:nvSpPr>
          <p:cNvPr id="43" name="Text 36"/>
          <p:cNvSpPr txBox="1"/>
          <p:nvPr/>
        </p:nvSpPr>
        <p:spPr>
          <a:xfrm>
            <a:off x="512064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ドコモの位置・決済データ</a:t>
            </a:r>
            <a:endParaRPr lang="en-US" sz="1050" dirty="0"/>
          </a:p>
        </p:txBody>
      </p:sp>
      <p:sp>
        <p:nvSpPr>
          <p:cNvPr id="44" name="Text 37"/>
          <p:cNvSpPr txBox="1"/>
          <p:nvPr/>
        </p:nvSpPr>
        <p:spPr>
          <a:xfrm>
            <a:off x="448056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試合が地域経済に与える効果を示したい（実証実験）</a:t>
            </a:r>
            <a:endParaRPr lang="en-US" sz="1100" dirty="0"/>
          </a:p>
        </p:txBody>
      </p:sp>
      <p:sp>
        <p:nvSpPr>
          <p:cNvPr id="45" name="Text 38"/>
          <p:cNvSpPr txBox="1"/>
          <p:nvPr/>
        </p:nvSpPr>
        <p:spPr>
          <a:xfrm>
            <a:off x="448056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1試合あたりの経済効果を2,419万円と算出</a:t>
            </a:r>
            <a:endParaRPr lang="en-US" sz="1100" dirty="0"/>
          </a:p>
        </p:txBody>
      </p:sp>
      <p:sp>
        <p:nvSpPr>
          <p:cNvPr id="46" name="Shape 39"/>
          <p:cNvSpPr/>
          <p:nvPr/>
        </p:nvSpPr>
        <p:spPr>
          <a:xfrm>
            <a:off x="8046720" y="4023360"/>
            <a:ext cx="3566160" cy="2103120"/>
          </a:xfrm>
          <a:prstGeom prst="roundRect">
            <a:avLst>
              <a:gd name="adj" fmla="val 3478"/>
            </a:avLst>
          </a:prstGeom>
          <a:solidFill>
            <a:srgbClr val="FFFFFF"/>
          </a:solidFill>
          <a:ln w="12700">
            <a:solidFill>
              <a:srgbClr val="D5DDE5"/>
            </a:solidFill>
            <a:prstDash val="solid"/>
          </a:ln>
        </p:spPr>
      </p:sp>
      <p:sp>
        <p:nvSpPr>
          <p:cNvPr id="47" name="Shape 40"/>
          <p:cNvSpPr/>
          <p:nvPr/>
        </p:nvSpPr>
        <p:spPr>
          <a:xfrm>
            <a:off x="8229600" y="4206240"/>
            <a:ext cx="502920" cy="502920"/>
          </a:xfrm>
          <a:prstGeom prst="ellipse">
            <a:avLst/>
          </a:prstGeom>
          <a:solidFill>
            <a:srgbClr val="13283C"/>
          </a:solidFill>
          <a:ln w="12700">
            <a:solidFill>
              <a:srgbClr val="13283C"/>
            </a:solidFill>
            <a:prstDash val="solid"/>
          </a:ln>
        </p:spPr>
      </p:sp>
      <p:pic>
        <p:nvPicPr>
          <p:cNvPr id="48" name="Image 5" descr="preencoded.png">    </p:cNvPr>
          <p:cNvPicPr>
            <a:picLocks noChangeAspect="1"/>
          </p:cNvPicPr>
          <p:nvPr/>
        </p:nvPicPr>
        <p:blipFill>
          <a:blip r:embed="rId6"/>
          <a:stretch>
            <a:fillRect/>
          </a:stretch>
        </p:blipFill>
        <p:spPr>
          <a:xfrm>
            <a:off x="8355330" y="4331970"/>
            <a:ext cx="251460" cy="251460"/>
          </a:xfrm>
          <a:prstGeom prst="rect">
            <a:avLst/>
          </a:prstGeom>
        </p:spPr>
      </p:pic>
      <p:sp>
        <p:nvSpPr>
          <p:cNvPr id="49" name="Text 41"/>
          <p:cNvSpPr txBox="1"/>
          <p:nvPr/>
        </p:nvSpPr>
        <p:spPr>
          <a:xfrm>
            <a:off x="8869680" y="4151376"/>
            <a:ext cx="2011680" cy="301752"/>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富山県</a:t>
            </a:r>
            <a:endParaRPr lang="en-US" sz="1300" dirty="0"/>
          </a:p>
        </p:txBody>
      </p:sp>
      <p:sp>
        <p:nvSpPr>
          <p:cNvPr id="50" name="Text 42"/>
          <p:cNvSpPr txBox="1"/>
          <p:nvPr/>
        </p:nvSpPr>
        <p:spPr>
          <a:xfrm>
            <a:off x="1088136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県</a:t>
            </a:r>
            <a:endParaRPr lang="en-US" sz="950" dirty="0"/>
          </a:p>
        </p:txBody>
      </p:sp>
      <p:sp>
        <p:nvSpPr>
          <p:cNvPr id="51" name="Text 43"/>
          <p:cNvSpPr txBox="1"/>
          <p:nvPr/>
        </p:nvSpPr>
        <p:spPr>
          <a:xfrm>
            <a:off x="886968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プレミアパネル</a:t>
            </a:r>
            <a:endParaRPr lang="en-US" sz="1050" dirty="0"/>
          </a:p>
        </p:txBody>
      </p:sp>
      <p:sp>
        <p:nvSpPr>
          <p:cNvPr id="52" name="Text 44"/>
          <p:cNvSpPr txBox="1"/>
          <p:nvPr/>
        </p:nvSpPr>
        <p:spPr>
          <a:xfrm>
            <a:off x="822960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限られた日程で県民・観光客のニーズを把握したい</a:t>
            </a:r>
            <a:endParaRPr lang="en-US" sz="1100" dirty="0"/>
          </a:p>
        </p:txBody>
      </p:sp>
      <p:sp>
        <p:nvSpPr>
          <p:cNvPr id="53" name="Text 45"/>
          <p:cNvSpPr txBox="1"/>
          <p:nvPr/>
        </p:nvSpPr>
        <p:spPr>
          <a:xfrm>
            <a:off x="822960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情報を出し分け、県公式LINEの登録者が約3倍</a:t>
            </a:r>
            <a:endParaRPr lang="en-US" sz="1100" dirty="0"/>
          </a:p>
        </p:txBody>
      </p:sp>
      <p:sp>
        <p:nvSpPr>
          <p:cNvPr id="54" name="Text 4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NTTドコモビジネス・NTTドコモビジネスソリューションズ・インテージ等の公開事例の要約。当社の実績ではありません</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進め方：小さく試して、広げる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1回目の結果を見てから、次に何を足すかを一緒に決めます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548640" y="2468880"/>
            <a:ext cx="3383280" cy="3566160"/>
          </a:xfrm>
          <a:prstGeom prst="roundRect">
            <a:avLst>
              <a:gd name="adj" fmla="val 2162"/>
            </a:avLst>
          </a:prstGeom>
          <a:solidFill>
            <a:srgbClr val="FBEAEE"/>
          </a:solidFill>
          <a:ln w="12700">
            <a:solidFill>
              <a:srgbClr val="FBEAEE"/>
            </a:solidFill>
            <a:prstDash val="solid"/>
          </a:ln>
        </p:spPr>
      </p:sp>
      <p:sp>
        <p:nvSpPr>
          <p:cNvPr id="7" name="Shape 5"/>
          <p:cNvSpPr/>
          <p:nvPr/>
        </p:nvSpPr>
        <p:spPr>
          <a:xfrm>
            <a:off x="822960" y="2697480"/>
            <a:ext cx="685800" cy="68580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94410" y="2868930"/>
            <a:ext cx="342900" cy="342900"/>
          </a:xfrm>
          <a:prstGeom prst="rect">
            <a:avLst/>
          </a:prstGeom>
        </p:spPr>
      </p:pic>
      <p:sp>
        <p:nvSpPr>
          <p:cNvPr id="9" name="Text 6"/>
          <p:cNvSpPr txBox="1"/>
          <p:nvPr/>
        </p:nvSpPr>
        <p:spPr>
          <a:xfrm>
            <a:off x="1645920" y="274320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ステップ1</a:t>
            </a:r>
            <a:endParaRPr lang="en-US" sz="1100" dirty="0"/>
          </a:p>
        </p:txBody>
      </p:sp>
      <p:sp>
        <p:nvSpPr>
          <p:cNvPr id="10" name="Text 7"/>
          <p:cNvSpPr txBox="1"/>
          <p:nvPr/>
        </p:nvSpPr>
        <p:spPr>
          <a:xfrm>
            <a:off x="1645920" y="301752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1回、試す</a:t>
            </a:r>
            <a:endParaRPr lang="en-US" sz="1800" dirty="0"/>
          </a:p>
        </p:txBody>
      </p:sp>
      <p:sp>
        <p:nvSpPr>
          <p:cNvPr id="11" name="Text 8"/>
          <p:cNvSpPr txBox="1"/>
          <p:nvPr/>
        </p:nvSpPr>
        <p:spPr>
          <a:xfrm>
            <a:off x="822960" y="365760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1つのサービスで、1回のイベントを調べる</a:t>
            </a:r>
            <a:endParaRPr lang="en-US" sz="1350" dirty="0"/>
          </a:p>
        </p:txBody>
      </p:sp>
      <p:sp>
        <p:nvSpPr>
          <p:cNvPr id="12" name="Text 9"/>
          <p:cNvSpPr txBox="1"/>
          <p:nvPr/>
        </p:nvSpPr>
        <p:spPr>
          <a:xfrm>
            <a:off x="822960" y="443484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例：来なかった人へのアンケート1回</a:t>
            </a:r>
            <a:endParaRPr lang="en-US" sz="1150" dirty="0"/>
          </a:p>
        </p:txBody>
      </p:sp>
      <p:pic>
        <p:nvPicPr>
          <p:cNvPr id="13" name="Image 1" descr="preencoded.png">    </p:cNvPr>
          <p:cNvPicPr>
            <a:picLocks noChangeAspect="1"/>
          </p:cNvPicPr>
          <p:nvPr/>
        </p:nvPicPr>
        <p:blipFill>
          <a:blip r:embed="rId2"/>
          <a:stretch>
            <a:fillRect/>
          </a:stretch>
        </p:blipFill>
        <p:spPr>
          <a:xfrm>
            <a:off x="4023360" y="3931920"/>
            <a:ext cx="274320" cy="274320"/>
          </a:xfrm>
          <a:prstGeom prst="rect">
            <a:avLst/>
          </a:prstGeom>
        </p:spPr>
      </p:pic>
      <p:sp>
        <p:nvSpPr>
          <p:cNvPr id="14" name="Shape 10"/>
          <p:cNvSpPr/>
          <p:nvPr/>
        </p:nvSpPr>
        <p:spPr>
          <a:xfrm>
            <a:off x="4389120" y="2148840"/>
            <a:ext cx="3383280" cy="3886200"/>
          </a:xfrm>
          <a:prstGeom prst="roundRect">
            <a:avLst>
              <a:gd name="adj" fmla="val 2162"/>
            </a:avLst>
          </a:prstGeom>
          <a:solidFill>
            <a:srgbClr val="F2F5F8"/>
          </a:solidFill>
          <a:ln w="12700">
            <a:solidFill>
              <a:srgbClr val="F2F5F8"/>
            </a:solidFill>
            <a:prstDash val="solid"/>
          </a:ln>
        </p:spPr>
      </p:sp>
      <p:sp>
        <p:nvSpPr>
          <p:cNvPr id="15" name="Shape 11"/>
          <p:cNvSpPr/>
          <p:nvPr/>
        </p:nvSpPr>
        <p:spPr>
          <a:xfrm>
            <a:off x="4663440" y="2377440"/>
            <a:ext cx="685800" cy="685800"/>
          </a:xfrm>
          <a:prstGeom prst="ellipse">
            <a:avLst/>
          </a:prstGeom>
          <a:solidFill>
            <a:srgbClr val="2F4A63"/>
          </a:solidFill>
          <a:ln w="12700">
            <a:solidFill>
              <a:srgbClr val="2F4A63"/>
            </a:solidFill>
            <a:prstDash val="solid"/>
          </a:ln>
        </p:spPr>
      </p:sp>
      <p:pic>
        <p:nvPicPr>
          <p:cNvPr id="16" name="Image 2" descr="preencoded.png">    </p:cNvPr>
          <p:cNvPicPr>
            <a:picLocks noChangeAspect="1"/>
          </p:cNvPicPr>
          <p:nvPr/>
        </p:nvPicPr>
        <p:blipFill>
          <a:blip r:embed="rId3"/>
          <a:stretch>
            <a:fillRect/>
          </a:stretch>
        </p:blipFill>
        <p:spPr>
          <a:xfrm>
            <a:off x="4834890" y="2548890"/>
            <a:ext cx="342900" cy="342900"/>
          </a:xfrm>
          <a:prstGeom prst="rect">
            <a:avLst/>
          </a:prstGeom>
        </p:spPr>
      </p:pic>
      <p:sp>
        <p:nvSpPr>
          <p:cNvPr id="17" name="Text 12"/>
          <p:cNvSpPr txBox="1"/>
          <p:nvPr/>
        </p:nvSpPr>
        <p:spPr>
          <a:xfrm>
            <a:off x="5486400" y="242316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ステップ2</a:t>
            </a:r>
            <a:endParaRPr lang="en-US" sz="1100" dirty="0"/>
          </a:p>
        </p:txBody>
      </p:sp>
      <p:sp>
        <p:nvSpPr>
          <p:cNvPr id="18" name="Text 13"/>
          <p:cNvSpPr txBox="1"/>
          <p:nvPr/>
        </p:nvSpPr>
        <p:spPr>
          <a:xfrm>
            <a:off x="5486400" y="269748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組み合わせる</a:t>
            </a:r>
            <a:endParaRPr lang="en-US" sz="1800" dirty="0"/>
          </a:p>
        </p:txBody>
      </p:sp>
      <p:sp>
        <p:nvSpPr>
          <p:cNvPr id="19" name="Text 14"/>
          <p:cNvSpPr txBox="1"/>
          <p:nvPr/>
        </p:nvSpPr>
        <p:spPr>
          <a:xfrm>
            <a:off x="4663440" y="333756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結果を見て、人流データや告知を足す</a:t>
            </a:r>
            <a:endParaRPr lang="en-US" sz="1350" dirty="0"/>
          </a:p>
        </p:txBody>
      </p:sp>
      <p:sp>
        <p:nvSpPr>
          <p:cNvPr id="20" name="Text 15"/>
          <p:cNvSpPr txBox="1"/>
          <p:nvPr/>
        </p:nvSpPr>
        <p:spPr>
          <a:xfrm>
            <a:off x="4663440" y="411480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例：次のイベントで当日の人の動きも比べる</a:t>
            </a:r>
            <a:endParaRPr lang="en-US" sz="1150" dirty="0"/>
          </a:p>
        </p:txBody>
      </p:sp>
      <p:pic>
        <p:nvPicPr>
          <p:cNvPr id="21" name="Image 3" descr="preencoded.png">    </p:cNvPr>
          <p:cNvPicPr>
            <a:picLocks noChangeAspect="1"/>
          </p:cNvPicPr>
          <p:nvPr/>
        </p:nvPicPr>
        <p:blipFill>
          <a:blip r:embed="rId4"/>
          <a:stretch>
            <a:fillRect/>
          </a:stretch>
        </p:blipFill>
        <p:spPr>
          <a:xfrm>
            <a:off x="7863840" y="3931920"/>
            <a:ext cx="274320" cy="274320"/>
          </a:xfrm>
          <a:prstGeom prst="rect">
            <a:avLst/>
          </a:prstGeom>
        </p:spPr>
      </p:pic>
      <p:sp>
        <p:nvSpPr>
          <p:cNvPr id="22" name="Shape 16"/>
          <p:cNvSpPr/>
          <p:nvPr/>
        </p:nvSpPr>
        <p:spPr>
          <a:xfrm>
            <a:off x="8229600" y="1828800"/>
            <a:ext cx="3383280" cy="4206240"/>
          </a:xfrm>
          <a:prstGeom prst="roundRect">
            <a:avLst>
              <a:gd name="adj" fmla="val 2162"/>
            </a:avLst>
          </a:prstGeom>
          <a:solidFill>
            <a:srgbClr val="F2F5F8"/>
          </a:solidFill>
          <a:ln w="12700">
            <a:solidFill>
              <a:srgbClr val="F2F5F8"/>
            </a:solidFill>
            <a:prstDash val="solid"/>
          </a:ln>
        </p:spPr>
      </p:sp>
      <p:sp>
        <p:nvSpPr>
          <p:cNvPr id="23" name="Shape 17"/>
          <p:cNvSpPr/>
          <p:nvPr/>
        </p:nvSpPr>
        <p:spPr>
          <a:xfrm>
            <a:off x="8503920" y="2057400"/>
            <a:ext cx="685800" cy="685800"/>
          </a:xfrm>
          <a:prstGeom prst="ellipse">
            <a:avLst/>
          </a:prstGeom>
          <a:solidFill>
            <a:srgbClr val="13283C"/>
          </a:solidFill>
          <a:ln w="12700">
            <a:solidFill>
              <a:srgbClr val="13283C"/>
            </a:solidFill>
            <a:prstDash val="solid"/>
          </a:ln>
        </p:spPr>
      </p:sp>
      <p:pic>
        <p:nvPicPr>
          <p:cNvPr id="24" name="Image 4" descr="preencoded.png">    </p:cNvPr>
          <p:cNvPicPr>
            <a:picLocks noChangeAspect="1"/>
          </p:cNvPicPr>
          <p:nvPr/>
        </p:nvPicPr>
        <p:blipFill>
          <a:blip r:embed="rId5"/>
          <a:stretch>
            <a:fillRect/>
          </a:stretch>
        </p:blipFill>
        <p:spPr>
          <a:xfrm>
            <a:off x="8675370" y="2228850"/>
            <a:ext cx="342900" cy="342900"/>
          </a:xfrm>
          <a:prstGeom prst="rect">
            <a:avLst/>
          </a:prstGeom>
        </p:spPr>
      </p:pic>
      <p:sp>
        <p:nvSpPr>
          <p:cNvPr id="25" name="Text 18"/>
          <p:cNvSpPr txBox="1"/>
          <p:nvPr/>
        </p:nvSpPr>
        <p:spPr>
          <a:xfrm>
            <a:off x="9326880" y="210312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ステップ3</a:t>
            </a:r>
            <a:endParaRPr lang="en-US" sz="1100" dirty="0"/>
          </a:p>
        </p:txBody>
      </p:sp>
      <p:sp>
        <p:nvSpPr>
          <p:cNvPr id="26" name="Text 19"/>
          <p:cNvSpPr txBox="1"/>
          <p:nvPr/>
        </p:nvSpPr>
        <p:spPr>
          <a:xfrm>
            <a:off x="9326880" y="237744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続ける</a:t>
            </a:r>
            <a:endParaRPr lang="en-US" sz="1800" dirty="0"/>
          </a:p>
        </p:txBody>
      </p:sp>
      <p:sp>
        <p:nvSpPr>
          <p:cNvPr id="27" name="Text 20"/>
          <p:cNvSpPr txBox="1"/>
          <p:nvPr/>
        </p:nvSpPr>
        <p:spPr>
          <a:xfrm>
            <a:off x="8503920" y="301752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季節や年間の計画に合わせて続ける</a:t>
            </a:r>
            <a:endParaRPr lang="en-US" sz="1350" dirty="0"/>
          </a:p>
        </p:txBody>
      </p:sp>
      <p:sp>
        <p:nvSpPr>
          <p:cNvPr id="28" name="Text 21"/>
          <p:cNvSpPr txBox="1"/>
          <p:nvPr/>
        </p:nvSpPr>
        <p:spPr>
          <a:xfrm>
            <a:off x="8503920" y="379476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例：主なイベントで毎回同じ方法で比べる</a:t>
            </a:r>
            <a:endParaRPr lang="en-US" sz="1150" dirty="0"/>
          </a:p>
        </p:txBody>
      </p:sp>
      <p:sp>
        <p:nvSpPr>
          <p:cNvPr id="29"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どの段階でも、続けるかどうかは結果を見てご判断いただけます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プランと費用の目安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規模とご予算に合わせて選べます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12</a:t>
            </a:r>
            <a:endParaRPr lang="en-US" sz="1000" dirty="0"/>
          </a:p>
        </p:txBody>
      </p:sp>
      <p:sp>
        <p:nvSpPr>
          <p:cNvPr id="6" name="Shape 4"/>
          <p:cNvSpPr/>
          <p:nvPr/>
        </p:nvSpPr>
        <p:spPr>
          <a:xfrm>
            <a:off x="548640" y="1783080"/>
            <a:ext cx="3566160" cy="4160520"/>
          </a:xfrm>
          <a:prstGeom prst="roundRect">
            <a:avLst>
              <a:gd name="adj" fmla="val 2051"/>
            </a:avLst>
          </a:prstGeom>
          <a:solidFill>
            <a:srgbClr val="FFFFFF"/>
          </a:solidFill>
          <a:ln w="12700">
            <a:solidFill>
              <a:srgbClr val="C9002B"/>
            </a:solidFill>
            <a:prstDash val="solid"/>
          </a:ln>
        </p:spPr>
      </p:sp>
      <p:sp>
        <p:nvSpPr>
          <p:cNvPr id="7" name="Shape 5"/>
          <p:cNvSpPr/>
          <p:nvPr/>
        </p:nvSpPr>
        <p:spPr>
          <a:xfrm>
            <a:off x="548640" y="1783080"/>
            <a:ext cx="3566160" cy="914400"/>
          </a:xfrm>
          <a:prstGeom prst="roundRect">
            <a:avLst>
              <a:gd name="adj" fmla="val 8000"/>
            </a:avLst>
          </a:prstGeom>
          <a:solidFill>
            <a:srgbClr val="C9002B"/>
          </a:solidFill>
          <a:ln w="12700">
            <a:solidFill>
              <a:srgbClr val="C9002B"/>
            </a:solidFill>
            <a:prstDash val="solid"/>
          </a:ln>
        </p:spPr>
      </p:sp>
      <p:sp>
        <p:nvSpPr>
          <p:cNvPr id="8" name="Text 6"/>
          <p:cNvSpPr txBox="1"/>
          <p:nvPr/>
        </p:nvSpPr>
        <p:spPr>
          <a:xfrm>
            <a:off x="77724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お試し</a:t>
            </a:r>
            <a:endParaRPr lang="en-US" sz="1800" dirty="0"/>
          </a:p>
        </p:txBody>
      </p:sp>
      <p:sp>
        <p:nvSpPr>
          <p:cNvPr id="9" name="Text 7"/>
          <p:cNvSpPr txBox="1"/>
          <p:nvPr/>
        </p:nvSpPr>
        <p:spPr>
          <a:xfrm>
            <a:off x="777240" y="2286000"/>
            <a:ext cx="3108960" cy="320040"/>
          </a:xfrm>
          <a:prstGeom prst="rect">
            <a:avLst/>
          </a:prstGeom>
          <a:noFill/>
          <a:ln/>
        </p:spPr>
        <p:txBody>
          <a:bodyPr wrap="square" lIns="0" tIns="0" rIns="0" bIns="0" rtlCol="0" anchor="t"/>
          <a:lstStyle/>
          <a:p>
            <a:pPr indent="0" marL="0">
              <a:buNone/>
            </a:pPr>
            <a:r>
              <a:rPr lang="en-US" sz="1150" dirty="0">
                <a:solidFill>
                  <a:srgbClr val="FFFFFF"/>
                </a:solidFill>
                <a:latin typeface="Meiryo" pitchFamily="34" charset="0"/>
                <a:ea typeface="Meiryo" pitchFamily="34" charset="-122"/>
                <a:cs typeface="Meiryo" pitchFamily="34" charset="-120"/>
              </a:rPr>
              <a:t>まず1回</a:t>
            </a:r>
            <a:endParaRPr lang="en-US" sz="1150" dirty="0"/>
          </a:p>
        </p:txBody>
      </p:sp>
      <p:sp>
        <p:nvSpPr>
          <p:cNvPr id="10" name="Text 8"/>
          <p:cNvSpPr txBox="1"/>
          <p:nvPr/>
        </p:nvSpPr>
        <p:spPr>
          <a:xfrm>
            <a:off x="2971800" y="1901952"/>
            <a:ext cx="960120" cy="292608"/>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50" b="1" dirty="0">
                <a:solidFill>
                  <a:srgbClr val="C9002B"/>
                </a:solidFill>
                <a:latin typeface="Meiryo" pitchFamily="34" charset="0"/>
                <a:ea typeface="Meiryo" pitchFamily="34" charset="-122"/>
                <a:cs typeface="Meiryo" pitchFamily="34" charset="-120"/>
              </a:rPr>
              <a:t>おすすめ</a:t>
            </a:r>
            <a:endParaRPr lang="en-US" sz="1050" dirty="0"/>
          </a:p>
        </p:txBody>
      </p:sp>
      <p:sp>
        <p:nvSpPr>
          <p:cNvPr id="11" name="Text 9"/>
          <p:cNvSpPr txBox="1"/>
          <p:nvPr/>
        </p:nvSpPr>
        <p:spPr>
          <a:xfrm>
            <a:off x="77724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アンケート1回（来なかった理由など）</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報告書＋1枚まとめ</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報告会30分</a:t>
            </a:r>
            <a:endParaRPr lang="en-US" sz="1250" dirty="0"/>
          </a:p>
        </p:txBody>
      </p:sp>
      <p:sp>
        <p:nvSpPr>
          <p:cNvPr id="12" name="Shape 10"/>
          <p:cNvSpPr/>
          <p:nvPr/>
        </p:nvSpPr>
        <p:spPr>
          <a:xfrm>
            <a:off x="777240" y="4251960"/>
            <a:ext cx="3108960" cy="0"/>
          </a:xfrm>
          <a:prstGeom prst="line">
            <a:avLst/>
          </a:prstGeom>
          <a:noFill/>
          <a:ln w="12700">
            <a:solidFill>
              <a:srgbClr val="D5DDE5"/>
            </a:solidFill>
            <a:prstDash val="solid"/>
          </a:ln>
        </p:spPr>
      </p:sp>
      <p:sp>
        <p:nvSpPr>
          <p:cNvPr id="13" name="Text 11"/>
          <p:cNvSpPr txBox="1"/>
          <p:nvPr/>
        </p:nvSpPr>
        <p:spPr>
          <a:xfrm>
            <a:off x="77724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27.5万円〜</a:t>
            </a:r>
            <a:endParaRPr lang="en-US" sz="2400" dirty="0"/>
          </a:p>
        </p:txBody>
      </p:sp>
      <p:sp>
        <p:nvSpPr>
          <p:cNvPr id="14" name="Text 12"/>
          <p:cNvSpPr txBox="1"/>
          <p:nvPr/>
        </p:nvSpPr>
        <p:spPr>
          <a:xfrm>
            <a:off x="77724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（税込）調査基本料。支援費は別途お見積</a:t>
            </a:r>
            <a:endParaRPr lang="en-US" sz="1100" dirty="0"/>
          </a:p>
        </p:txBody>
      </p:sp>
      <p:sp>
        <p:nvSpPr>
          <p:cNvPr id="15" name="Shape 13"/>
          <p:cNvSpPr/>
          <p:nvPr/>
        </p:nvSpPr>
        <p:spPr>
          <a:xfrm>
            <a:off x="4297680" y="1783080"/>
            <a:ext cx="3566160" cy="4160520"/>
          </a:xfrm>
          <a:prstGeom prst="roundRect">
            <a:avLst>
              <a:gd name="adj" fmla="val 2051"/>
            </a:avLst>
          </a:prstGeom>
          <a:solidFill>
            <a:srgbClr val="F2F5F8"/>
          </a:solidFill>
          <a:ln w="12700">
            <a:solidFill>
              <a:srgbClr val="F2F5F8"/>
            </a:solidFill>
            <a:prstDash val="solid"/>
          </a:ln>
        </p:spPr>
      </p:sp>
      <p:sp>
        <p:nvSpPr>
          <p:cNvPr id="16" name="Shape 14"/>
          <p:cNvSpPr/>
          <p:nvPr/>
        </p:nvSpPr>
        <p:spPr>
          <a:xfrm>
            <a:off x="4297680" y="1783080"/>
            <a:ext cx="3566160" cy="914400"/>
          </a:xfrm>
          <a:prstGeom prst="roundRect">
            <a:avLst>
              <a:gd name="adj" fmla="val 8000"/>
            </a:avLst>
          </a:prstGeom>
          <a:solidFill>
            <a:srgbClr val="13283C"/>
          </a:solidFill>
          <a:ln w="12700">
            <a:solidFill>
              <a:srgbClr val="13283C"/>
            </a:solidFill>
            <a:prstDash val="solid"/>
          </a:ln>
        </p:spPr>
      </p:sp>
      <p:sp>
        <p:nvSpPr>
          <p:cNvPr id="17" name="Text 15"/>
          <p:cNvSpPr txBox="1"/>
          <p:nvPr/>
        </p:nvSpPr>
        <p:spPr>
          <a:xfrm>
            <a:off x="452628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スタンダード</a:t>
            </a:r>
            <a:endParaRPr lang="en-US" sz="1800" dirty="0"/>
          </a:p>
        </p:txBody>
      </p:sp>
      <p:sp>
        <p:nvSpPr>
          <p:cNvPr id="18" name="Text 16"/>
          <p:cNvSpPr txBox="1"/>
          <p:nvPr/>
        </p:nvSpPr>
        <p:spPr>
          <a:xfrm>
            <a:off x="452628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イベント1回をしっかり</a:t>
            </a:r>
            <a:endParaRPr lang="en-US" sz="1150" dirty="0"/>
          </a:p>
        </p:txBody>
      </p:sp>
      <p:sp>
        <p:nvSpPr>
          <p:cNvPr id="19" name="Text 17"/>
          <p:cNvSpPr txBox="1"/>
          <p:nvPr/>
        </p:nvSpPr>
        <p:spPr>
          <a:xfrm>
            <a:off x="452628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当日と普段の日の人流比較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必要に応じて告知</a:t>
            </a:r>
            <a:endParaRPr lang="en-US" sz="1250" dirty="0"/>
          </a:p>
        </p:txBody>
      </p:sp>
      <p:sp>
        <p:nvSpPr>
          <p:cNvPr id="20" name="Shape 18"/>
          <p:cNvSpPr/>
          <p:nvPr/>
        </p:nvSpPr>
        <p:spPr>
          <a:xfrm>
            <a:off x="4526280" y="4251960"/>
            <a:ext cx="3108960" cy="0"/>
          </a:xfrm>
          <a:prstGeom prst="line">
            <a:avLst/>
          </a:prstGeom>
          <a:noFill/>
          <a:ln w="12700">
            <a:solidFill>
              <a:srgbClr val="D5DDE5"/>
            </a:solidFill>
            <a:prstDash val="solid"/>
          </a:ln>
        </p:spPr>
      </p:sp>
      <p:sp>
        <p:nvSpPr>
          <p:cNvPr id="21" name="Text 19"/>
          <p:cNvSpPr txBox="1"/>
          <p:nvPr/>
        </p:nvSpPr>
        <p:spPr>
          <a:xfrm>
            <a:off x="452628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22" name="Text 20"/>
          <p:cNvSpPr txBox="1"/>
          <p:nvPr/>
        </p:nvSpPr>
        <p:spPr>
          <a:xfrm>
            <a:off x="452628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自治体は少額随意契約の範囲（市区町村は100万円以下※）を目安に設計</a:t>
            </a:r>
            <a:endParaRPr lang="en-US" sz="1100" dirty="0"/>
          </a:p>
        </p:txBody>
      </p:sp>
      <p:sp>
        <p:nvSpPr>
          <p:cNvPr id="23" name="Shape 21"/>
          <p:cNvSpPr/>
          <p:nvPr/>
        </p:nvSpPr>
        <p:spPr>
          <a:xfrm>
            <a:off x="8046720" y="1783080"/>
            <a:ext cx="3566160" cy="4160520"/>
          </a:xfrm>
          <a:prstGeom prst="roundRect">
            <a:avLst>
              <a:gd name="adj" fmla="val 2051"/>
            </a:avLst>
          </a:prstGeom>
          <a:solidFill>
            <a:srgbClr val="F2F5F8"/>
          </a:solidFill>
          <a:ln w="12700">
            <a:solidFill>
              <a:srgbClr val="F2F5F8"/>
            </a:solidFill>
            <a:prstDash val="solid"/>
          </a:ln>
        </p:spPr>
      </p:sp>
      <p:sp>
        <p:nvSpPr>
          <p:cNvPr id="24" name="Shape 22"/>
          <p:cNvSpPr/>
          <p:nvPr/>
        </p:nvSpPr>
        <p:spPr>
          <a:xfrm>
            <a:off x="8046720" y="1783080"/>
            <a:ext cx="3566160" cy="914400"/>
          </a:xfrm>
          <a:prstGeom prst="roundRect">
            <a:avLst>
              <a:gd name="adj" fmla="val 8000"/>
            </a:avLst>
          </a:prstGeom>
          <a:solidFill>
            <a:srgbClr val="13283C"/>
          </a:solidFill>
          <a:ln w="12700">
            <a:solidFill>
              <a:srgbClr val="13283C"/>
            </a:solidFill>
            <a:prstDash val="solid"/>
          </a:ln>
        </p:spPr>
      </p:sp>
      <p:sp>
        <p:nvSpPr>
          <p:cNvPr id="25" name="Text 23"/>
          <p:cNvSpPr txBox="1"/>
          <p:nvPr/>
        </p:nvSpPr>
        <p:spPr>
          <a:xfrm>
            <a:off x="827532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年間</a:t>
            </a:r>
            <a:endParaRPr lang="en-US" sz="1800" dirty="0"/>
          </a:p>
        </p:txBody>
      </p:sp>
      <p:sp>
        <p:nvSpPr>
          <p:cNvPr id="26" name="Text 24"/>
          <p:cNvSpPr txBox="1"/>
          <p:nvPr/>
        </p:nvSpPr>
        <p:spPr>
          <a:xfrm>
            <a:off x="827532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シーズン・年度を通して</a:t>
            </a:r>
            <a:endParaRPr lang="en-US" sz="1150" dirty="0"/>
          </a:p>
        </p:txBody>
      </p:sp>
      <p:sp>
        <p:nvSpPr>
          <p:cNvPr id="27" name="Text 25"/>
          <p:cNvSpPr txBox="1"/>
          <p:nvPr/>
        </p:nvSpPr>
        <p:spPr>
          <a:xfrm>
            <a:off x="827532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主なイベントで毎回比較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アンケートは四半期ごと</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年間計画に沿った告知</a:t>
            </a:r>
            <a:endParaRPr lang="en-US" sz="1250" dirty="0"/>
          </a:p>
        </p:txBody>
      </p:sp>
      <p:sp>
        <p:nvSpPr>
          <p:cNvPr id="28" name="Shape 26"/>
          <p:cNvSpPr/>
          <p:nvPr/>
        </p:nvSpPr>
        <p:spPr>
          <a:xfrm>
            <a:off x="8275320" y="4251960"/>
            <a:ext cx="3108960" cy="0"/>
          </a:xfrm>
          <a:prstGeom prst="line">
            <a:avLst/>
          </a:prstGeom>
          <a:noFill/>
          <a:ln w="12700">
            <a:solidFill>
              <a:srgbClr val="D5DDE5"/>
            </a:solidFill>
            <a:prstDash val="solid"/>
          </a:ln>
        </p:spPr>
      </p:sp>
      <p:sp>
        <p:nvSpPr>
          <p:cNvPr id="29" name="Text 27"/>
          <p:cNvSpPr txBox="1"/>
          <p:nvPr/>
        </p:nvSpPr>
        <p:spPr>
          <a:xfrm>
            <a:off x="827532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30" name="Text 28"/>
          <p:cNvSpPr txBox="1"/>
          <p:nvPr/>
        </p:nvSpPr>
        <p:spPr>
          <a:xfrm>
            <a:off x="827532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1回目の結果を見てからご検討ください</a:t>
            </a:r>
            <a:endParaRPr lang="en-US" sz="110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※基準額は各自治体の規則によります。料金は2026年9月時点の公開情報の例で、条件により変わります。正式見積でお示しします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スケジュールと、予算・契約の進め方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ご相談から報告まで、目安は1〜2か月です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13</a:t>
            </a:r>
            <a:endParaRPr lang="en-US" sz="1000" dirty="0"/>
          </a:p>
        </p:txBody>
      </p:sp>
      <p:sp>
        <p:nvSpPr>
          <p:cNvPr id="6" name="Shape 4"/>
          <p:cNvSpPr/>
          <p:nvPr/>
        </p:nvSpPr>
        <p:spPr>
          <a:xfrm>
            <a:off x="1097280" y="2057400"/>
            <a:ext cx="9966960" cy="0"/>
          </a:xfrm>
          <a:prstGeom prst="line">
            <a:avLst/>
          </a:prstGeom>
          <a:noFill/>
          <a:ln w="38100">
            <a:solidFill>
              <a:srgbClr val="D5DDE5"/>
            </a:solidFill>
            <a:prstDash val="solid"/>
          </a:ln>
        </p:spPr>
      </p:sp>
      <p:sp>
        <p:nvSpPr>
          <p:cNvPr id="7" name="Shape 5"/>
          <p:cNvSpPr/>
          <p:nvPr/>
        </p:nvSpPr>
        <p:spPr>
          <a:xfrm>
            <a:off x="969264" y="1929384"/>
            <a:ext cx="256032" cy="256032"/>
          </a:xfrm>
          <a:prstGeom prst="ellipse">
            <a:avLst/>
          </a:prstGeom>
          <a:solidFill>
            <a:srgbClr val="13283C"/>
          </a:solidFill>
          <a:ln w="25400">
            <a:solidFill>
              <a:srgbClr val="FFFFFF"/>
            </a:solidFill>
            <a:prstDash val="solid"/>
          </a:ln>
        </p:spPr>
      </p:sp>
      <p:sp>
        <p:nvSpPr>
          <p:cNvPr id="8" name="Text 6"/>
          <p:cNvSpPr txBox="1"/>
          <p:nvPr/>
        </p:nvSpPr>
        <p:spPr>
          <a:xfrm>
            <a:off x="914400" y="2286000"/>
            <a:ext cx="2560320" cy="274320"/>
          </a:xfrm>
          <a:prstGeom prst="rect">
            <a:avLst/>
          </a:prstGeom>
          <a:noFill/>
          <a:ln/>
        </p:spPr>
        <p:txBody>
          <a:bodyPr wrap="square" lIns="0" tIns="0" rIns="0" bIns="0" rtlCol="0" anchor="t"/>
          <a:lstStyle/>
          <a:p>
            <a:pPr algn="l" indent="0" marL="0">
              <a:buNone/>
            </a:pPr>
            <a:r>
              <a:rPr lang="en-US" sz="1300" b="1" dirty="0">
                <a:solidFill>
                  <a:srgbClr val="13283C"/>
                </a:solidFill>
                <a:latin typeface="Meiryo" pitchFamily="34" charset="0"/>
                <a:ea typeface="Meiryo" pitchFamily="34" charset="-122"/>
                <a:cs typeface="Meiryo" pitchFamily="34" charset="-120"/>
              </a:rPr>
              <a:t>ご相談</a:t>
            </a:r>
            <a:endParaRPr lang="en-US" sz="1300" dirty="0"/>
          </a:p>
        </p:txBody>
      </p:sp>
      <p:sp>
        <p:nvSpPr>
          <p:cNvPr id="9" name="Text 7"/>
          <p:cNvSpPr txBox="1"/>
          <p:nvPr/>
        </p:nvSpPr>
        <p:spPr>
          <a:xfrm>
            <a:off x="914400" y="2560320"/>
            <a:ext cx="2560320" cy="256032"/>
          </a:xfrm>
          <a:prstGeom prst="rect">
            <a:avLst/>
          </a:prstGeom>
          <a:noFill/>
          <a:ln/>
        </p:spPr>
        <p:txBody>
          <a:bodyPr wrap="square" lIns="0" tIns="0" rIns="0" bIns="0" rtlCol="0" anchor="t"/>
          <a:lstStyle/>
          <a:p>
            <a:pPr algn="l" indent="0" marL="0">
              <a:buNone/>
            </a:pPr>
            <a:r>
              <a:rPr lang="en-US" sz="1100" dirty="0">
                <a:solidFill>
                  <a:srgbClr val="5A6675"/>
                </a:solidFill>
                <a:latin typeface="Meiryo" pitchFamily="34" charset="0"/>
                <a:ea typeface="Meiryo" pitchFamily="34" charset="-122"/>
                <a:cs typeface="Meiryo" pitchFamily="34" charset="-120"/>
              </a:rPr>
              <a:t>目的・対象の確認</a:t>
            </a:r>
            <a:endParaRPr lang="en-US" sz="1100" dirty="0"/>
          </a:p>
        </p:txBody>
      </p:sp>
      <p:sp>
        <p:nvSpPr>
          <p:cNvPr id="10" name="Shape 8"/>
          <p:cNvSpPr/>
          <p:nvPr/>
        </p:nvSpPr>
        <p:spPr>
          <a:xfrm>
            <a:off x="4291584" y="1929384"/>
            <a:ext cx="256032" cy="256032"/>
          </a:xfrm>
          <a:prstGeom prst="ellipse">
            <a:avLst/>
          </a:prstGeom>
          <a:solidFill>
            <a:srgbClr val="13283C"/>
          </a:solidFill>
          <a:ln w="25400">
            <a:solidFill>
              <a:srgbClr val="FFFFFF"/>
            </a:solidFill>
            <a:prstDash val="solid"/>
          </a:ln>
        </p:spPr>
      </p:sp>
      <p:sp>
        <p:nvSpPr>
          <p:cNvPr id="11" name="Text 9"/>
          <p:cNvSpPr txBox="1"/>
          <p:nvPr/>
        </p:nvSpPr>
        <p:spPr>
          <a:xfrm>
            <a:off x="313944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お見積・ご契約</a:t>
            </a:r>
            <a:endParaRPr lang="en-US" sz="1300" dirty="0"/>
          </a:p>
        </p:txBody>
      </p:sp>
      <p:sp>
        <p:nvSpPr>
          <p:cNvPr id="12" name="Text 10"/>
          <p:cNvSpPr txBox="1"/>
          <p:nvPr/>
        </p:nvSpPr>
        <p:spPr>
          <a:xfrm>
            <a:off x="313944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2〜4週間前まで</a:t>
            </a:r>
            <a:endParaRPr lang="en-US" sz="1100" dirty="0"/>
          </a:p>
        </p:txBody>
      </p:sp>
      <p:sp>
        <p:nvSpPr>
          <p:cNvPr id="13" name="Shape 11"/>
          <p:cNvSpPr/>
          <p:nvPr/>
        </p:nvSpPr>
        <p:spPr>
          <a:xfrm>
            <a:off x="7613904" y="1929384"/>
            <a:ext cx="256032" cy="256032"/>
          </a:xfrm>
          <a:prstGeom prst="ellipse">
            <a:avLst/>
          </a:prstGeom>
          <a:solidFill>
            <a:srgbClr val="13283C"/>
          </a:solidFill>
          <a:ln w="25400">
            <a:solidFill>
              <a:srgbClr val="FFFFFF"/>
            </a:solidFill>
            <a:prstDash val="solid"/>
          </a:ln>
        </p:spPr>
      </p:sp>
      <p:sp>
        <p:nvSpPr>
          <p:cNvPr id="14" name="Text 12"/>
          <p:cNvSpPr txBox="1"/>
          <p:nvPr/>
        </p:nvSpPr>
        <p:spPr>
          <a:xfrm>
            <a:off x="646176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実施</a:t>
            </a:r>
            <a:endParaRPr lang="en-US" sz="1300" dirty="0"/>
          </a:p>
        </p:txBody>
      </p:sp>
      <p:sp>
        <p:nvSpPr>
          <p:cNvPr id="15" name="Text 13"/>
          <p:cNvSpPr txBox="1"/>
          <p:nvPr/>
        </p:nvSpPr>
        <p:spPr>
          <a:xfrm>
            <a:off x="646176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イベント当日・調査</a:t>
            </a:r>
            <a:endParaRPr lang="en-US" sz="1100" dirty="0"/>
          </a:p>
        </p:txBody>
      </p:sp>
      <p:sp>
        <p:nvSpPr>
          <p:cNvPr id="16" name="Shape 14"/>
          <p:cNvSpPr/>
          <p:nvPr/>
        </p:nvSpPr>
        <p:spPr>
          <a:xfrm>
            <a:off x="10936224" y="1929384"/>
            <a:ext cx="256032" cy="256032"/>
          </a:xfrm>
          <a:prstGeom prst="ellipse">
            <a:avLst/>
          </a:prstGeom>
          <a:solidFill>
            <a:srgbClr val="C9002B"/>
          </a:solidFill>
          <a:ln w="25400">
            <a:solidFill>
              <a:srgbClr val="FFFFFF"/>
            </a:solidFill>
            <a:prstDash val="solid"/>
          </a:ln>
        </p:spPr>
      </p:sp>
      <p:sp>
        <p:nvSpPr>
          <p:cNvPr id="17" name="Text 15"/>
          <p:cNvSpPr txBox="1"/>
          <p:nvPr/>
        </p:nvSpPr>
        <p:spPr>
          <a:xfrm>
            <a:off x="8686800" y="2286000"/>
            <a:ext cx="2560320" cy="274320"/>
          </a:xfrm>
          <a:prstGeom prst="rect">
            <a:avLst/>
          </a:prstGeom>
          <a:noFill/>
          <a:ln/>
        </p:spPr>
        <p:txBody>
          <a:bodyPr wrap="square" lIns="0" tIns="0" rIns="0" bIns="0" rtlCol="0" anchor="t"/>
          <a:lstStyle/>
          <a:p>
            <a:pPr algn="r" indent="0" marL="0">
              <a:buNone/>
            </a:pPr>
            <a:r>
              <a:rPr lang="en-US" sz="1300" b="1" dirty="0">
                <a:solidFill>
                  <a:srgbClr val="C9002B"/>
                </a:solidFill>
                <a:latin typeface="Meiryo" pitchFamily="34" charset="0"/>
                <a:ea typeface="Meiryo" pitchFamily="34" charset="-122"/>
                <a:cs typeface="Meiryo" pitchFamily="34" charset="-120"/>
              </a:rPr>
              <a:t>ご報告</a:t>
            </a:r>
            <a:endParaRPr lang="en-US" sz="1300" dirty="0"/>
          </a:p>
        </p:txBody>
      </p:sp>
      <p:sp>
        <p:nvSpPr>
          <p:cNvPr id="18" name="Text 16"/>
          <p:cNvSpPr txBox="1"/>
          <p:nvPr/>
        </p:nvSpPr>
        <p:spPr>
          <a:xfrm>
            <a:off x="8686800" y="2560320"/>
            <a:ext cx="2560320" cy="256032"/>
          </a:xfrm>
          <a:prstGeom prst="rect">
            <a:avLst/>
          </a:prstGeom>
          <a:noFill/>
          <a:ln/>
        </p:spPr>
        <p:txBody>
          <a:bodyPr wrap="square" lIns="0" tIns="0" rIns="0" bIns="0" rtlCol="0" anchor="t"/>
          <a:lstStyle/>
          <a:p>
            <a:pPr algn="r" indent="0" marL="0">
              <a:buNone/>
            </a:pPr>
            <a:r>
              <a:rPr lang="en-US" sz="1100" dirty="0">
                <a:solidFill>
                  <a:srgbClr val="5A6675"/>
                </a:solidFill>
                <a:latin typeface="Meiryo" pitchFamily="34" charset="0"/>
                <a:ea typeface="Meiryo" pitchFamily="34" charset="-122"/>
                <a:cs typeface="Meiryo" pitchFamily="34" charset="-120"/>
              </a:rPr>
              <a:t>1枚まとめと報告会</a:t>
            </a:r>
            <a:endParaRPr lang="en-US" sz="1100" dirty="0"/>
          </a:p>
        </p:txBody>
      </p:sp>
      <p:sp>
        <p:nvSpPr>
          <p:cNvPr id="19" name="Shape 17"/>
          <p:cNvSpPr/>
          <p:nvPr/>
        </p:nvSpPr>
        <p:spPr>
          <a:xfrm>
            <a:off x="548640" y="3108960"/>
            <a:ext cx="5440680" cy="2651760"/>
          </a:xfrm>
          <a:prstGeom prst="roundRect">
            <a:avLst>
              <a:gd name="adj" fmla="val 2759"/>
            </a:avLst>
          </a:prstGeom>
          <a:solidFill>
            <a:srgbClr val="F2F5F8"/>
          </a:solidFill>
          <a:ln w="12700">
            <a:solidFill>
              <a:srgbClr val="F2F5F8"/>
            </a:solidFill>
            <a:prstDash val="solid"/>
          </a:ln>
        </p:spPr>
      </p:sp>
      <p:sp>
        <p:nvSpPr>
          <p:cNvPr id="20" name="Shape 18"/>
          <p:cNvSpPr/>
          <p:nvPr/>
        </p:nvSpPr>
        <p:spPr>
          <a:xfrm>
            <a:off x="777240" y="3291840"/>
            <a:ext cx="548640" cy="548640"/>
          </a:xfrm>
          <a:prstGeom prst="ellipse">
            <a:avLst/>
          </a:prstGeom>
          <a:solidFill>
            <a:srgbClr val="C9002B"/>
          </a:solidFill>
          <a:ln w="12700">
            <a:solidFill>
              <a:srgbClr val="C9002B"/>
            </a:solidFill>
            <a:prstDash val="solid"/>
          </a:ln>
        </p:spPr>
      </p:sp>
      <p:pic>
        <p:nvPicPr>
          <p:cNvPr id="21" name="Image 0" descr="preencoded.png">    </p:cNvPr>
          <p:cNvPicPr>
            <a:picLocks noChangeAspect="1"/>
          </p:cNvPicPr>
          <p:nvPr/>
        </p:nvPicPr>
        <p:blipFill>
          <a:blip r:embed="rId1"/>
          <a:stretch>
            <a:fillRect/>
          </a:stretch>
        </p:blipFill>
        <p:spPr>
          <a:xfrm>
            <a:off x="914400" y="3429000"/>
            <a:ext cx="274320" cy="274320"/>
          </a:xfrm>
          <a:prstGeom prst="rect">
            <a:avLst/>
          </a:prstGeom>
        </p:spPr>
      </p:pic>
      <p:sp>
        <p:nvSpPr>
          <p:cNvPr id="22" name="Text 19"/>
          <p:cNvSpPr txBox="1"/>
          <p:nvPr/>
        </p:nvSpPr>
        <p:spPr>
          <a:xfrm>
            <a:off x="146304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自治体の場合</a:t>
            </a:r>
            <a:endParaRPr lang="en-US" sz="1600" dirty="0"/>
          </a:p>
        </p:txBody>
      </p:sp>
      <p:sp>
        <p:nvSpPr>
          <p:cNvPr id="23" name="Text 20"/>
          <p:cNvSpPr txBox="1"/>
          <p:nvPr/>
        </p:nvSpPr>
        <p:spPr>
          <a:xfrm>
            <a:off x="82296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今年度は少額随意契約や既存の予算で、1回試す</a:t>
            </a:r>
            <a:endParaRPr lang="en-US" sz="1400" dirty="0"/>
          </a:p>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結果を、次年度の予算要求の根拠に使う</a:t>
            </a:r>
            <a:endParaRPr lang="en-US" sz="1400" dirty="0"/>
          </a:p>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予算要求用の説明資料づくりもお手伝いします</a:t>
            </a:r>
            <a:endParaRPr lang="en-US" sz="1400" dirty="0"/>
          </a:p>
        </p:txBody>
      </p:sp>
      <p:sp>
        <p:nvSpPr>
          <p:cNvPr id="24" name="Shape 21"/>
          <p:cNvSpPr/>
          <p:nvPr/>
        </p:nvSpPr>
        <p:spPr>
          <a:xfrm>
            <a:off x="6172200" y="3108960"/>
            <a:ext cx="5440680" cy="2651760"/>
          </a:xfrm>
          <a:prstGeom prst="roundRect">
            <a:avLst>
              <a:gd name="adj" fmla="val 2759"/>
            </a:avLst>
          </a:prstGeom>
          <a:solidFill>
            <a:srgbClr val="F2F5F8"/>
          </a:solidFill>
          <a:ln w="12700">
            <a:solidFill>
              <a:srgbClr val="F2F5F8"/>
            </a:solidFill>
            <a:prstDash val="solid"/>
          </a:ln>
        </p:spPr>
      </p:sp>
      <p:sp>
        <p:nvSpPr>
          <p:cNvPr id="25" name="Shape 22"/>
          <p:cNvSpPr/>
          <p:nvPr/>
        </p:nvSpPr>
        <p:spPr>
          <a:xfrm>
            <a:off x="6400800" y="3291840"/>
            <a:ext cx="548640" cy="54864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6537960" y="3429000"/>
            <a:ext cx="274320" cy="274320"/>
          </a:xfrm>
          <a:prstGeom prst="rect">
            <a:avLst/>
          </a:prstGeom>
        </p:spPr>
      </p:pic>
      <p:sp>
        <p:nvSpPr>
          <p:cNvPr id="27" name="Text 23"/>
          <p:cNvSpPr txBox="1"/>
          <p:nvPr/>
        </p:nvSpPr>
        <p:spPr>
          <a:xfrm>
            <a:off x="708660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企業・球団の場合</a:t>
            </a:r>
            <a:endParaRPr lang="en-US" sz="1600" dirty="0"/>
          </a:p>
        </p:txBody>
      </p:sp>
      <p:sp>
        <p:nvSpPr>
          <p:cNvPr id="28" name="Text 24"/>
          <p:cNvSpPr txBox="1"/>
          <p:nvPr/>
        </p:nvSpPr>
        <p:spPr>
          <a:xfrm>
            <a:off x="644652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1回のイベント単位でご発注いただけます</a:t>
            </a:r>
            <a:endParaRPr lang="en-US" sz="1400" dirty="0"/>
          </a:p>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稟議用に、目的・費用・期待できることを1枚にまとめます</a:t>
            </a:r>
            <a:endParaRPr lang="en-US" sz="1400" dirty="0"/>
          </a:p>
          <a:p>
            <a:pPr marL="342900" indent="-342900">
              <a:spcAft>
                <a:spcPts val="1200"/>
              </a:spcAft>
              <a:buSzPct val="100000"/>
              <a:buChar char="•"/>
            </a:pPr>
            <a:r>
              <a:rPr lang="en-US" sz="1400" dirty="0">
                <a:solidFill>
                  <a:srgbClr val="1B2B3D"/>
                </a:solidFill>
                <a:latin typeface="Meiryo" pitchFamily="34" charset="0"/>
                <a:ea typeface="Meiryo" pitchFamily="34" charset="-122"/>
                <a:cs typeface="Meiryo" pitchFamily="34" charset="-120"/>
              </a:rPr>
              <a:t>効果を見て、シーズン・年間での利用をご検討ください</a:t>
            </a:r>
            <a:endParaRPr lang="en-US" sz="1400" dirty="0"/>
          </a:p>
        </p:txBody>
      </p:sp>
      <p:sp>
        <p:nvSpPr>
          <p:cNvPr id="29" name="Text 25"/>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人流データの納品は最短10営業日（公式FAQ、仕様で変動）。アンケートの回収・広告の審査日程は提供元に確認のうえ確定します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ご安心いただくために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事前にご確認いただきたいこと</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14</a:t>
            </a:r>
            <a:endParaRPr lang="en-US" sz="1000" dirty="0"/>
          </a:p>
        </p:txBody>
      </p:sp>
      <p:sp>
        <p:nvSpPr>
          <p:cNvPr id="6" name="Shape 4"/>
          <p:cNvSpPr/>
          <p:nvPr/>
        </p:nvSpPr>
        <p:spPr>
          <a:xfrm>
            <a:off x="548640" y="1783080"/>
            <a:ext cx="5440680" cy="2103120"/>
          </a:xfrm>
          <a:prstGeom prst="roundRect">
            <a:avLst>
              <a:gd name="adj" fmla="val 3478"/>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822960" y="2075688"/>
            <a:ext cx="457200" cy="457200"/>
          </a:xfrm>
          <a:prstGeom prst="rect">
            <a:avLst/>
          </a:prstGeom>
        </p:spPr>
      </p:pic>
      <p:sp>
        <p:nvSpPr>
          <p:cNvPr id="8" name="Text 5"/>
          <p:cNvSpPr txBox="1"/>
          <p:nvPr/>
        </p:nvSpPr>
        <p:spPr>
          <a:xfrm>
            <a:off x="146304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個人は特定しません</a:t>
            </a:r>
            <a:endParaRPr lang="en-US" sz="1650" dirty="0"/>
          </a:p>
        </p:txBody>
      </p:sp>
      <p:sp>
        <p:nvSpPr>
          <p:cNvPr id="9" name="Text 6"/>
          <p:cNvSpPr txBox="1"/>
          <p:nvPr/>
        </p:nvSpPr>
        <p:spPr>
          <a:xfrm>
            <a:off x="146304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人流は集団の人数を表す統計で、少人数は秘匿処理されます</a:t>
            </a:r>
            <a:endParaRPr lang="en-US" sz="1300" dirty="0"/>
          </a:p>
        </p:txBody>
      </p:sp>
      <p:sp>
        <p:nvSpPr>
          <p:cNvPr id="10" name="Shape 7"/>
          <p:cNvSpPr/>
          <p:nvPr/>
        </p:nvSpPr>
        <p:spPr>
          <a:xfrm>
            <a:off x="6172200" y="1783080"/>
            <a:ext cx="5440680" cy="2103120"/>
          </a:xfrm>
          <a:prstGeom prst="roundRect">
            <a:avLst>
              <a:gd name="adj" fmla="val 3478"/>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6446520" y="2075688"/>
            <a:ext cx="457200" cy="457200"/>
          </a:xfrm>
          <a:prstGeom prst="rect">
            <a:avLst/>
          </a:prstGeom>
        </p:spPr>
      </p:pic>
      <p:sp>
        <p:nvSpPr>
          <p:cNvPr id="12" name="Text 8"/>
          <p:cNvSpPr txBox="1"/>
          <p:nvPr/>
        </p:nvSpPr>
        <p:spPr>
          <a:xfrm>
            <a:off x="708660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推計の人数は入場者数ではありません</a:t>
            </a:r>
            <a:endParaRPr lang="en-US" sz="1650" dirty="0"/>
          </a:p>
        </p:txBody>
      </p:sp>
      <p:sp>
        <p:nvSpPr>
          <p:cNvPr id="13" name="Text 9"/>
          <p:cNvSpPr txBox="1"/>
          <p:nvPr/>
        </p:nvSpPr>
        <p:spPr>
          <a:xfrm>
            <a:off x="708660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会場周辺の推計です。チケット販売数や入場者数とは分けて見ます</a:t>
            </a:r>
            <a:endParaRPr lang="en-US" sz="1300" dirty="0"/>
          </a:p>
        </p:txBody>
      </p:sp>
      <p:sp>
        <p:nvSpPr>
          <p:cNvPr id="14" name="Shape 10"/>
          <p:cNvSpPr/>
          <p:nvPr/>
        </p:nvSpPr>
        <p:spPr>
          <a:xfrm>
            <a:off x="548640" y="4023360"/>
            <a:ext cx="5440680" cy="2103120"/>
          </a:xfrm>
          <a:prstGeom prst="roundRect">
            <a:avLst>
              <a:gd name="adj" fmla="val 3478"/>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822960" y="4315968"/>
            <a:ext cx="457200" cy="457200"/>
          </a:xfrm>
          <a:prstGeom prst="rect">
            <a:avLst/>
          </a:prstGeom>
        </p:spPr>
      </p:pic>
      <p:sp>
        <p:nvSpPr>
          <p:cNvPr id="16" name="Text 11"/>
          <p:cNvSpPr txBox="1"/>
          <p:nvPr/>
        </p:nvSpPr>
        <p:spPr>
          <a:xfrm>
            <a:off x="146304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回答数・広告の成果は保証しません</a:t>
            </a:r>
            <a:endParaRPr lang="en-US" sz="1650" dirty="0"/>
          </a:p>
        </p:txBody>
      </p:sp>
      <p:sp>
        <p:nvSpPr>
          <p:cNvPr id="17" name="Text 12"/>
          <p:cNvSpPr txBox="1"/>
          <p:nvPr/>
        </p:nvSpPr>
        <p:spPr>
          <a:xfrm>
            <a:off x="146304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アンケートの回答数は目標値、広告の成果は条件や文章で変わります</a:t>
            </a:r>
            <a:endParaRPr lang="en-US" sz="1300" dirty="0"/>
          </a:p>
        </p:txBody>
      </p:sp>
      <p:sp>
        <p:nvSpPr>
          <p:cNvPr id="18" name="Shape 13"/>
          <p:cNvSpPr/>
          <p:nvPr/>
        </p:nvSpPr>
        <p:spPr>
          <a:xfrm>
            <a:off x="6172200" y="4023360"/>
            <a:ext cx="5440680" cy="2103120"/>
          </a:xfrm>
          <a:prstGeom prst="roundRect">
            <a:avLst>
              <a:gd name="adj" fmla="val 3478"/>
            </a:avLst>
          </a:prstGeom>
          <a:solidFill>
            <a:srgbClr val="F2F5F8"/>
          </a:solidFill>
          <a:ln w="12700">
            <a:solidFill>
              <a:srgbClr val="F2F5F8"/>
            </a:solidFill>
            <a:prstDash val="solid"/>
          </a:ln>
        </p:spPr>
      </p:sp>
      <p:pic>
        <p:nvPicPr>
          <p:cNvPr id="19" name="Image 3" descr="preencoded.png">    </p:cNvPr>
          <p:cNvPicPr>
            <a:picLocks noChangeAspect="1"/>
          </p:cNvPicPr>
          <p:nvPr/>
        </p:nvPicPr>
        <p:blipFill>
          <a:blip r:embed="rId4"/>
          <a:stretch>
            <a:fillRect/>
          </a:stretch>
        </p:blipFill>
        <p:spPr>
          <a:xfrm>
            <a:off x="6446520" y="4315968"/>
            <a:ext cx="457200" cy="457200"/>
          </a:xfrm>
          <a:prstGeom prst="rect">
            <a:avLst/>
          </a:prstGeom>
        </p:spPr>
      </p:pic>
      <p:sp>
        <p:nvSpPr>
          <p:cNvPr id="20" name="Text 14"/>
          <p:cNvSpPr txBox="1"/>
          <p:nvPr/>
        </p:nvSpPr>
        <p:spPr>
          <a:xfrm>
            <a:off x="708660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続けるかは結果を見てから</a:t>
            </a:r>
            <a:endParaRPr lang="en-US" sz="1650" dirty="0"/>
          </a:p>
        </p:txBody>
      </p:sp>
      <p:sp>
        <p:nvSpPr>
          <p:cNvPr id="21" name="Text 15"/>
          <p:cNvSpPr txBox="1"/>
          <p:nvPr/>
        </p:nvSpPr>
        <p:spPr>
          <a:xfrm>
            <a:off x="708660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1回ごとにご判断いただけます。長期の契約を前提にしません</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次のステップ</a:t>
            </a:r>
            <a:endParaRPr lang="en-US" sz="3000" dirty="0"/>
          </a:p>
        </p:txBody>
      </p:sp>
      <p:sp>
        <p:nvSpPr>
          <p:cNvPr id="3" name="Text 1"/>
          <p:cNvSpPr txBox="1"/>
          <p:nvPr/>
        </p:nvSpPr>
        <p:spPr>
          <a:xfrm>
            <a:off x="731520" y="1280160"/>
            <a:ext cx="10515600" cy="365760"/>
          </a:xfrm>
          <a:prstGeom prst="rect">
            <a:avLst/>
          </a:prstGeom>
          <a:noFill/>
          <a:ln/>
        </p:spPr>
        <p:txBody>
          <a:bodyPr wrap="square" lIns="0" tIns="0" rIns="0" bIns="0" rtlCol="0" anchor="t"/>
          <a:lstStyle/>
          <a:p>
            <a:pPr indent="0" marL="0">
              <a:buNone/>
            </a:pPr>
            <a:r>
              <a:rPr lang="en-US" sz="1400" dirty="0">
                <a:solidFill>
                  <a:srgbClr val="BAC8D4"/>
                </a:solidFill>
                <a:latin typeface="Meiryo" pitchFamily="34" charset="0"/>
                <a:ea typeface="Meiryo" pitchFamily="34" charset="-122"/>
                <a:cs typeface="Meiryo" pitchFamily="34" charset="-120"/>
              </a:rPr>
              <a:t>本日、4つの点を教えてください。1週間以内に、お試しプランの具体案とお見積をお送りします</a:t>
            </a:r>
            <a:endParaRPr lang="en-US" sz="1400" dirty="0"/>
          </a:p>
        </p:txBody>
      </p:sp>
      <p:sp>
        <p:nvSpPr>
          <p:cNvPr id="4" name="Shape 2"/>
          <p:cNvSpPr/>
          <p:nvPr/>
        </p:nvSpPr>
        <p:spPr>
          <a:xfrm>
            <a:off x="731520" y="1920240"/>
            <a:ext cx="2514600" cy="2148840"/>
          </a:xfrm>
          <a:prstGeom prst="roundRect">
            <a:avLst>
              <a:gd name="adj" fmla="val 4255"/>
            </a:avLst>
          </a:prstGeom>
          <a:solidFill>
            <a:srgbClr val="22394F"/>
          </a:solidFill>
          <a:ln w="12700">
            <a:solidFill>
              <a:srgbClr val="2F4A63"/>
            </a:solidFill>
            <a:prstDash val="solid"/>
          </a:ln>
        </p:spPr>
      </p:sp>
      <p:sp>
        <p:nvSpPr>
          <p:cNvPr id="5" name="Shape 3"/>
          <p:cNvSpPr/>
          <p:nvPr/>
        </p:nvSpPr>
        <p:spPr>
          <a:xfrm>
            <a:off x="960120" y="2103120"/>
            <a:ext cx="594360" cy="594360"/>
          </a:xfrm>
          <a:prstGeom prst="ellipse">
            <a:avLst/>
          </a:prstGeom>
          <a:solidFill>
            <a:srgbClr val="C9002B"/>
          </a:solidFill>
          <a:ln w="12700">
            <a:solidFill>
              <a:srgbClr val="C9002B"/>
            </a:solidFill>
            <a:prstDash val="solid"/>
          </a:ln>
        </p:spPr>
      </p:sp>
      <p:pic>
        <p:nvPicPr>
          <p:cNvPr id="6" name="Image 0" descr="preencoded.png">    </p:cNvPr>
          <p:cNvPicPr>
            <a:picLocks noChangeAspect="1"/>
          </p:cNvPicPr>
          <p:nvPr/>
        </p:nvPicPr>
        <p:blipFill>
          <a:blip r:embed="rId1"/>
          <a:stretch>
            <a:fillRect/>
          </a:stretch>
        </p:blipFill>
        <p:spPr>
          <a:xfrm>
            <a:off x="1108710" y="2251710"/>
            <a:ext cx="297180" cy="297180"/>
          </a:xfrm>
          <a:prstGeom prst="rect">
            <a:avLst/>
          </a:prstGeom>
        </p:spPr>
      </p:pic>
      <p:sp>
        <p:nvSpPr>
          <p:cNvPr id="7" name="Text 4"/>
          <p:cNvSpPr txBox="1"/>
          <p:nvPr/>
        </p:nvSpPr>
        <p:spPr>
          <a:xfrm>
            <a:off x="9601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対象のイベント</a:t>
            </a:r>
            <a:endParaRPr lang="en-US" sz="1600" dirty="0"/>
          </a:p>
        </p:txBody>
      </p:sp>
      <p:sp>
        <p:nvSpPr>
          <p:cNvPr id="8" name="Text 5"/>
          <p:cNvSpPr txBox="1"/>
          <p:nvPr/>
        </p:nvSpPr>
        <p:spPr>
          <a:xfrm>
            <a:off x="9601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次に試したいイベントと日程</a:t>
            </a:r>
            <a:endParaRPr lang="en-US" sz="1200" dirty="0"/>
          </a:p>
        </p:txBody>
      </p:sp>
      <p:sp>
        <p:nvSpPr>
          <p:cNvPr id="9" name="Shape 6"/>
          <p:cNvSpPr/>
          <p:nvPr/>
        </p:nvSpPr>
        <p:spPr>
          <a:xfrm>
            <a:off x="3474720" y="1920240"/>
            <a:ext cx="2514600" cy="2148840"/>
          </a:xfrm>
          <a:prstGeom prst="roundRect">
            <a:avLst>
              <a:gd name="adj" fmla="val 4255"/>
            </a:avLst>
          </a:prstGeom>
          <a:solidFill>
            <a:srgbClr val="22394F"/>
          </a:solidFill>
          <a:ln w="12700">
            <a:solidFill>
              <a:srgbClr val="2F4A63"/>
            </a:solidFill>
            <a:prstDash val="solid"/>
          </a:ln>
        </p:spPr>
      </p:sp>
      <p:sp>
        <p:nvSpPr>
          <p:cNvPr id="10" name="Shape 7"/>
          <p:cNvSpPr/>
          <p:nvPr/>
        </p:nvSpPr>
        <p:spPr>
          <a:xfrm>
            <a:off x="3703320" y="2103120"/>
            <a:ext cx="594360" cy="594360"/>
          </a:xfrm>
          <a:prstGeom prst="ellipse">
            <a:avLst/>
          </a:prstGeom>
          <a:solidFill>
            <a:srgbClr val="C9002B"/>
          </a:solidFill>
          <a:ln w="12700">
            <a:solidFill>
              <a:srgbClr val="C9002B"/>
            </a:solidFill>
            <a:prstDash val="solid"/>
          </a:ln>
        </p:spPr>
      </p:sp>
      <p:pic>
        <p:nvPicPr>
          <p:cNvPr id="11" name="Image 1" descr="preencoded.png">    </p:cNvPr>
          <p:cNvPicPr>
            <a:picLocks noChangeAspect="1"/>
          </p:cNvPicPr>
          <p:nvPr/>
        </p:nvPicPr>
        <p:blipFill>
          <a:blip r:embed="rId2"/>
          <a:stretch>
            <a:fillRect/>
          </a:stretch>
        </p:blipFill>
        <p:spPr>
          <a:xfrm>
            <a:off x="3851910" y="2251710"/>
            <a:ext cx="297180" cy="297180"/>
          </a:xfrm>
          <a:prstGeom prst="rect">
            <a:avLst/>
          </a:prstGeom>
        </p:spPr>
      </p:pic>
      <p:sp>
        <p:nvSpPr>
          <p:cNvPr id="12" name="Text 8"/>
          <p:cNvSpPr txBox="1"/>
          <p:nvPr/>
        </p:nvSpPr>
        <p:spPr>
          <a:xfrm>
            <a:off x="37033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増やしたい人</a:t>
            </a:r>
            <a:endParaRPr lang="en-US" sz="1600" dirty="0"/>
          </a:p>
        </p:txBody>
      </p:sp>
      <p:sp>
        <p:nvSpPr>
          <p:cNvPr id="13" name="Text 9"/>
          <p:cNvSpPr txBox="1"/>
          <p:nvPr/>
        </p:nvSpPr>
        <p:spPr>
          <a:xfrm>
            <a:off x="37033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新しいお客様・若い世代・県外など</a:t>
            </a:r>
            <a:endParaRPr lang="en-US" sz="1200" dirty="0"/>
          </a:p>
        </p:txBody>
      </p:sp>
      <p:sp>
        <p:nvSpPr>
          <p:cNvPr id="14" name="Shape 10"/>
          <p:cNvSpPr/>
          <p:nvPr/>
        </p:nvSpPr>
        <p:spPr>
          <a:xfrm>
            <a:off x="6217920" y="1920240"/>
            <a:ext cx="2514600" cy="2148840"/>
          </a:xfrm>
          <a:prstGeom prst="roundRect">
            <a:avLst>
              <a:gd name="adj" fmla="val 4255"/>
            </a:avLst>
          </a:prstGeom>
          <a:solidFill>
            <a:srgbClr val="22394F"/>
          </a:solidFill>
          <a:ln w="12700">
            <a:solidFill>
              <a:srgbClr val="2F4A63"/>
            </a:solidFill>
            <a:prstDash val="solid"/>
          </a:ln>
        </p:spPr>
      </p:sp>
      <p:sp>
        <p:nvSpPr>
          <p:cNvPr id="15" name="Shape 11"/>
          <p:cNvSpPr/>
          <p:nvPr/>
        </p:nvSpPr>
        <p:spPr>
          <a:xfrm>
            <a:off x="6446520" y="2103120"/>
            <a:ext cx="594360" cy="594360"/>
          </a:xfrm>
          <a:prstGeom prst="ellipse">
            <a:avLst/>
          </a:prstGeom>
          <a:solidFill>
            <a:srgbClr val="C9002B"/>
          </a:solidFill>
          <a:ln w="12700">
            <a:solidFill>
              <a:srgbClr val="C9002B"/>
            </a:solidFill>
            <a:prstDash val="solid"/>
          </a:ln>
        </p:spPr>
      </p:sp>
      <p:pic>
        <p:nvPicPr>
          <p:cNvPr id="16" name="Image 2" descr="preencoded.png">    </p:cNvPr>
          <p:cNvPicPr>
            <a:picLocks noChangeAspect="1"/>
          </p:cNvPicPr>
          <p:nvPr/>
        </p:nvPicPr>
        <p:blipFill>
          <a:blip r:embed="rId3"/>
          <a:stretch>
            <a:fillRect/>
          </a:stretch>
        </p:blipFill>
        <p:spPr>
          <a:xfrm>
            <a:off x="6595110" y="2251710"/>
            <a:ext cx="297180" cy="297180"/>
          </a:xfrm>
          <a:prstGeom prst="rect">
            <a:avLst/>
          </a:prstGeom>
        </p:spPr>
      </p:pic>
      <p:sp>
        <p:nvSpPr>
          <p:cNvPr id="17" name="Text 12"/>
          <p:cNvSpPr txBox="1"/>
          <p:nvPr/>
        </p:nvSpPr>
        <p:spPr>
          <a:xfrm>
            <a:off x="64465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使えるご予算</a:t>
            </a:r>
            <a:endParaRPr lang="en-US" sz="1600" dirty="0"/>
          </a:p>
        </p:txBody>
      </p:sp>
      <p:sp>
        <p:nvSpPr>
          <p:cNvPr id="18" name="Text 13"/>
          <p:cNvSpPr txBox="1"/>
          <p:nvPr/>
        </p:nvSpPr>
        <p:spPr>
          <a:xfrm>
            <a:off x="64465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今年度の枠、稟議・契約の手続き</a:t>
            </a:r>
            <a:endParaRPr lang="en-US" sz="1200" dirty="0"/>
          </a:p>
        </p:txBody>
      </p:sp>
      <p:sp>
        <p:nvSpPr>
          <p:cNvPr id="19" name="Shape 14"/>
          <p:cNvSpPr/>
          <p:nvPr/>
        </p:nvSpPr>
        <p:spPr>
          <a:xfrm>
            <a:off x="8961120" y="1920240"/>
            <a:ext cx="2514600" cy="2148840"/>
          </a:xfrm>
          <a:prstGeom prst="roundRect">
            <a:avLst>
              <a:gd name="adj" fmla="val 4255"/>
            </a:avLst>
          </a:prstGeom>
          <a:solidFill>
            <a:srgbClr val="22394F"/>
          </a:solidFill>
          <a:ln w="12700">
            <a:solidFill>
              <a:srgbClr val="2F4A63"/>
            </a:solidFill>
            <a:prstDash val="solid"/>
          </a:ln>
        </p:spPr>
      </p:sp>
      <p:sp>
        <p:nvSpPr>
          <p:cNvPr id="20" name="Shape 15"/>
          <p:cNvSpPr/>
          <p:nvPr/>
        </p:nvSpPr>
        <p:spPr>
          <a:xfrm>
            <a:off x="9189720" y="2103120"/>
            <a:ext cx="594360" cy="594360"/>
          </a:xfrm>
          <a:prstGeom prst="ellipse">
            <a:avLst/>
          </a:prstGeom>
          <a:solidFill>
            <a:srgbClr val="C9002B"/>
          </a:solidFill>
          <a:ln w="12700">
            <a:solidFill>
              <a:srgbClr val="C9002B"/>
            </a:solidFill>
            <a:prstDash val="solid"/>
          </a:ln>
        </p:spPr>
      </p:sp>
      <p:pic>
        <p:nvPicPr>
          <p:cNvPr id="21" name="Image 3" descr="preencoded.png">    </p:cNvPr>
          <p:cNvPicPr>
            <a:picLocks noChangeAspect="1"/>
          </p:cNvPicPr>
          <p:nvPr/>
        </p:nvPicPr>
        <p:blipFill>
          <a:blip r:embed="rId4"/>
          <a:stretch>
            <a:fillRect/>
          </a:stretch>
        </p:blipFill>
        <p:spPr>
          <a:xfrm>
            <a:off x="9338310" y="2251710"/>
            <a:ext cx="297180" cy="297180"/>
          </a:xfrm>
          <a:prstGeom prst="rect">
            <a:avLst/>
          </a:prstGeom>
        </p:spPr>
      </p:pic>
      <p:sp>
        <p:nvSpPr>
          <p:cNvPr id="22" name="Text 16"/>
          <p:cNvSpPr txBox="1"/>
          <p:nvPr/>
        </p:nvSpPr>
        <p:spPr>
          <a:xfrm>
            <a:off x="91897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手元のデータ</a:t>
            </a:r>
            <a:endParaRPr lang="en-US" sz="1600" dirty="0"/>
          </a:p>
        </p:txBody>
      </p:sp>
      <p:sp>
        <p:nvSpPr>
          <p:cNvPr id="23" name="Text 17"/>
          <p:cNvSpPr txBox="1"/>
          <p:nvPr/>
        </p:nvSpPr>
        <p:spPr>
          <a:xfrm>
            <a:off x="91897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過去の来場数・申込数など</a:t>
            </a:r>
            <a:endParaRPr lang="en-US" sz="1200" dirty="0"/>
          </a:p>
        </p:txBody>
      </p:sp>
      <p:sp>
        <p:nvSpPr>
          <p:cNvPr id="24" name="Shape 18"/>
          <p:cNvSpPr/>
          <p:nvPr/>
        </p:nvSpPr>
        <p:spPr>
          <a:xfrm>
            <a:off x="731520" y="4434840"/>
            <a:ext cx="2514600" cy="1234440"/>
          </a:xfrm>
          <a:prstGeom prst="roundRect">
            <a:avLst>
              <a:gd name="adj" fmla="val 7407"/>
            </a:avLst>
          </a:prstGeom>
          <a:solidFill>
            <a:srgbClr val="C9002B"/>
          </a:solidFill>
          <a:ln w="12700">
            <a:solidFill>
              <a:srgbClr val="C9002B"/>
            </a:solidFill>
            <a:prstDash val="solid"/>
          </a:ln>
        </p:spPr>
      </p:sp>
      <p:sp>
        <p:nvSpPr>
          <p:cNvPr id="25" name="Text 19"/>
          <p:cNvSpPr txBox="1"/>
          <p:nvPr/>
        </p:nvSpPr>
        <p:spPr>
          <a:xfrm>
            <a:off x="9144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本日</a:t>
            </a:r>
            <a:endParaRPr lang="en-US" sz="1600" dirty="0"/>
          </a:p>
        </p:txBody>
      </p:sp>
      <p:sp>
        <p:nvSpPr>
          <p:cNvPr id="26" name="Text 20"/>
          <p:cNvSpPr txBox="1"/>
          <p:nvPr/>
        </p:nvSpPr>
        <p:spPr>
          <a:xfrm>
            <a:off x="9144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4つの点の確認</a:t>
            </a:r>
            <a:endParaRPr lang="en-US" sz="1200" dirty="0"/>
          </a:p>
        </p:txBody>
      </p:sp>
      <p:sp>
        <p:nvSpPr>
          <p:cNvPr id="27" name="Shape 21"/>
          <p:cNvSpPr/>
          <p:nvPr/>
        </p:nvSpPr>
        <p:spPr>
          <a:xfrm>
            <a:off x="3474720" y="4434840"/>
            <a:ext cx="2514600" cy="1234440"/>
          </a:xfrm>
          <a:prstGeom prst="roundRect">
            <a:avLst>
              <a:gd name="adj" fmla="val 7407"/>
            </a:avLst>
          </a:prstGeom>
          <a:solidFill>
            <a:srgbClr val="2F4A63"/>
          </a:solidFill>
          <a:ln w="12700">
            <a:solidFill>
              <a:srgbClr val="2F4A63"/>
            </a:solidFill>
            <a:prstDash val="solid"/>
          </a:ln>
        </p:spPr>
      </p:sp>
      <p:sp>
        <p:nvSpPr>
          <p:cNvPr id="28" name="Text 22"/>
          <p:cNvSpPr txBox="1"/>
          <p:nvPr/>
        </p:nvSpPr>
        <p:spPr>
          <a:xfrm>
            <a:off x="36576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1週間以内</a:t>
            </a:r>
            <a:endParaRPr lang="en-US" sz="1600" dirty="0"/>
          </a:p>
        </p:txBody>
      </p:sp>
      <p:sp>
        <p:nvSpPr>
          <p:cNvPr id="29" name="Text 23"/>
          <p:cNvSpPr txBox="1"/>
          <p:nvPr/>
        </p:nvSpPr>
        <p:spPr>
          <a:xfrm>
            <a:off x="36576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具体案とお見積</a:t>
            </a:r>
            <a:endParaRPr lang="en-US" sz="1200" dirty="0"/>
          </a:p>
        </p:txBody>
      </p:sp>
      <p:sp>
        <p:nvSpPr>
          <p:cNvPr id="30" name="Shape 24"/>
          <p:cNvSpPr/>
          <p:nvPr/>
        </p:nvSpPr>
        <p:spPr>
          <a:xfrm>
            <a:off x="6217920" y="4434840"/>
            <a:ext cx="2514600" cy="1234440"/>
          </a:xfrm>
          <a:prstGeom prst="roundRect">
            <a:avLst>
              <a:gd name="adj" fmla="val 7407"/>
            </a:avLst>
          </a:prstGeom>
          <a:solidFill>
            <a:srgbClr val="2F4A63"/>
          </a:solidFill>
          <a:ln w="12700">
            <a:solidFill>
              <a:srgbClr val="2F4A63"/>
            </a:solidFill>
            <a:prstDash val="solid"/>
          </a:ln>
        </p:spPr>
      </p:sp>
      <p:sp>
        <p:nvSpPr>
          <p:cNvPr id="31" name="Text 25"/>
          <p:cNvSpPr txBox="1"/>
          <p:nvPr/>
        </p:nvSpPr>
        <p:spPr>
          <a:xfrm>
            <a:off x="64008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ご契約</a:t>
            </a:r>
            <a:endParaRPr lang="en-US" sz="1600" dirty="0"/>
          </a:p>
        </p:txBody>
      </p:sp>
      <p:sp>
        <p:nvSpPr>
          <p:cNvPr id="32" name="Text 26"/>
          <p:cNvSpPr txBox="1"/>
          <p:nvPr/>
        </p:nvSpPr>
        <p:spPr>
          <a:xfrm>
            <a:off x="64008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1回分のご発注</a:t>
            </a:r>
            <a:endParaRPr lang="en-US" sz="1200" dirty="0"/>
          </a:p>
        </p:txBody>
      </p:sp>
      <p:sp>
        <p:nvSpPr>
          <p:cNvPr id="33" name="Shape 27"/>
          <p:cNvSpPr/>
          <p:nvPr/>
        </p:nvSpPr>
        <p:spPr>
          <a:xfrm>
            <a:off x="8961120" y="4434840"/>
            <a:ext cx="2514600" cy="1234440"/>
          </a:xfrm>
          <a:prstGeom prst="roundRect">
            <a:avLst>
              <a:gd name="adj" fmla="val 7407"/>
            </a:avLst>
          </a:prstGeom>
          <a:solidFill>
            <a:srgbClr val="2F4A63"/>
          </a:solidFill>
          <a:ln w="12700">
            <a:solidFill>
              <a:srgbClr val="2F4A63"/>
            </a:solidFill>
            <a:prstDash val="solid"/>
          </a:ln>
        </p:spPr>
      </p:sp>
      <p:sp>
        <p:nvSpPr>
          <p:cNvPr id="34" name="Text 28"/>
          <p:cNvSpPr txBox="1"/>
          <p:nvPr/>
        </p:nvSpPr>
        <p:spPr>
          <a:xfrm>
            <a:off x="91440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実施・報告</a:t>
            </a:r>
            <a:endParaRPr lang="en-US" sz="1600" dirty="0"/>
          </a:p>
        </p:txBody>
      </p:sp>
      <p:sp>
        <p:nvSpPr>
          <p:cNvPr id="35" name="Text 29"/>
          <p:cNvSpPr txBox="1"/>
          <p:nvPr/>
        </p:nvSpPr>
        <p:spPr>
          <a:xfrm>
            <a:off x="91440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1枚まとめと報告会</a:t>
            </a:r>
            <a:endParaRPr lang="en-US" sz="1200" dirty="0"/>
          </a:p>
        </p:txBody>
      </p:sp>
      <p:sp>
        <p:nvSpPr>
          <p:cNvPr id="36" name="Text 30"/>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BAC8D4"/>
                </a:solidFill>
                <a:latin typeface="Meiryo" pitchFamily="34" charset="0"/>
                <a:ea typeface="Meiryo" pitchFamily="34" charset="-122"/>
                <a:cs typeface="Meiry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参考</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出典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サービス・料金は2026年9月時点、事例は9月27日に確認した公開情報です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16</a:t>
            </a:r>
            <a:endParaRPr lang="en-US" sz="1000" dirty="0"/>
          </a:p>
        </p:txBody>
      </p:sp>
      <p:sp>
        <p:nvSpPr>
          <p:cNvPr id="6" name="Text 4"/>
          <p:cNvSpPr txBox="1"/>
          <p:nvPr/>
        </p:nvSpPr>
        <p:spPr>
          <a:xfrm>
            <a:off x="54864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サービス・料金</a:t>
            </a:r>
            <a:endParaRPr lang="en-US" sz="1200" dirty="0"/>
          </a:p>
        </p:txBody>
      </p:sp>
      <p:sp>
        <p:nvSpPr>
          <p:cNvPr id="7" name="Text 5"/>
          <p:cNvSpPr txBox="1"/>
          <p:nvPr/>
        </p:nvSpPr>
        <p:spPr>
          <a:xfrm>
            <a:off x="548640" y="2103120"/>
            <a:ext cx="5440680" cy="219456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https://mobaku.jp/</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https://mobaku.jp/price/jpn/</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https://mobaku.jp/faq/</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https://mobaku.jp/analysis/2017/1101_50.html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https://bizzine.jp/article/detail/10718</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https://ssw.web.docomo.ne.jp/marketing/products/premium-panel/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https://www.ntt.com/business/services/premierepanel/research.html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https://ssw.web.docomo.ne.jp/marketing/products/ad-network/</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https://www.cartazero.co.jp/ja/news/20260701</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https://www.soumu.go.jp/main_content/001026062.pdf</a:t>
            </a:r>
            <a:endParaRPr lang="en-US" sz="1000" dirty="0"/>
          </a:p>
        </p:txBody>
      </p:sp>
      <p:sp>
        <p:nvSpPr>
          <p:cNvPr id="8" name="Text 6"/>
          <p:cNvSpPr txBox="1"/>
          <p:nvPr/>
        </p:nvSpPr>
        <p:spPr>
          <a:xfrm>
            <a:off x="617220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活用事例</a:t>
            </a:r>
            <a:endParaRPr lang="en-US" sz="1200" dirty="0"/>
          </a:p>
        </p:txBody>
      </p:sp>
      <p:sp>
        <p:nvSpPr>
          <p:cNvPr id="9" name="Text 7"/>
          <p:cNvSpPr txBox="1"/>
          <p:nvPr/>
        </p:nvSpPr>
        <p:spPr>
          <a:xfrm>
            <a:off x="6172200" y="2103120"/>
            <a:ext cx="5440680" cy="1316736"/>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https://www.ntt.com/business/case-studies/kotohira_town.html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https://www.ntt.com/business/case-studies/mima.html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https://www.ntt.com/business/case-studies/tamana.html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https://www.ntt.com/business/services/spatial_statistics/case_miyaginresearch.html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https://www.intage.co.jp/news/6237/</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https://www.docomobs.com/case/toyama/</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中小規模のお客様で選ばれる提案のポイント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大きな組織向けとの違いを押さえる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17</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2240280" y="1737360"/>
            <a:ext cx="2834640" cy="411480"/>
          </a:xfrm>
          <a:prstGeom prst="rect">
            <a:avLst/>
          </a:prstGeom>
          <a:solidFill>
            <a:srgbClr val="5A6675"/>
          </a:solidFill>
          <a:ln w="12700">
            <a:solidFill>
              <a:srgbClr val="5A6675"/>
            </a:solidFill>
            <a:prstDash val="solid"/>
          </a:ln>
        </p:spPr>
      </p:sp>
      <p:sp>
        <p:nvSpPr>
          <p:cNvPr id="8" name="Text 6"/>
          <p:cNvSpPr txBox="1"/>
          <p:nvPr/>
        </p:nvSpPr>
        <p:spPr>
          <a:xfrm>
            <a:off x="2240280" y="173736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大きな組織</a:t>
            </a:r>
            <a:endParaRPr lang="en-US" sz="1300" dirty="0"/>
          </a:p>
        </p:txBody>
      </p:sp>
      <p:sp>
        <p:nvSpPr>
          <p:cNvPr id="9" name="Shape 7"/>
          <p:cNvSpPr/>
          <p:nvPr/>
        </p:nvSpPr>
        <p:spPr>
          <a:xfrm>
            <a:off x="5166360" y="1737360"/>
            <a:ext cx="2926080" cy="411480"/>
          </a:xfrm>
          <a:prstGeom prst="rect">
            <a:avLst/>
          </a:prstGeom>
          <a:solidFill>
            <a:srgbClr val="C9002B"/>
          </a:solidFill>
          <a:ln w="12700">
            <a:solidFill>
              <a:srgbClr val="C9002B"/>
            </a:solidFill>
            <a:prstDash val="solid"/>
          </a:ln>
        </p:spPr>
      </p:sp>
      <p:sp>
        <p:nvSpPr>
          <p:cNvPr id="10" name="Text 8"/>
          <p:cNvSpPr txBox="1"/>
          <p:nvPr/>
        </p:nvSpPr>
        <p:spPr>
          <a:xfrm>
            <a:off x="5166360" y="173736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中小規模のお客様</a:t>
            </a:r>
            <a:endParaRPr lang="en-US" sz="1300" dirty="0"/>
          </a:p>
        </p:txBody>
      </p:sp>
      <p:sp>
        <p:nvSpPr>
          <p:cNvPr id="11" name="Shape 9"/>
          <p:cNvSpPr/>
          <p:nvPr/>
        </p:nvSpPr>
        <p:spPr>
          <a:xfrm>
            <a:off x="8183880" y="1737360"/>
            <a:ext cx="3383280" cy="411480"/>
          </a:xfrm>
          <a:prstGeom prst="rect">
            <a:avLst/>
          </a:prstGeom>
          <a:solidFill>
            <a:srgbClr val="13283C"/>
          </a:solidFill>
          <a:ln w="12700">
            <a:solidFill>
              <a:srgbClr val="13283C"/>
            </a:solidFill>
            <a:prstDash val="solid"/>
          </a:ln>
        </p:spPr>
      </p:sp>
      <p:sp>
        <p:nvSpPr>
          <p:cNvPr id="12" name="Text 10"/>
          <p:cNvSpPr txBox="1"/>
          <p:nvPr/>
        </p:nvSpPr>
        <p:spPr>
          <a:xfrm>
            <a:off x="8183880" y="1737360"/>
            <a:ext cx="3383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提案で気をつけること</a:t>
            </a:r>
            <a:endParaRPr lang="en-US" sz="1300" dirty="0"/>
          </a:p>
        </p:txBody>
      </p:sp>
      <p:sp>
        <p:nvSpPr>
          <p:cNvPr id="13" name="Shape 11"/>
          <p:cNvSpPr/>
          <p:nvPr/>
        </p:nvSpPr>
        <p:spPr>
          <a:xfrm>
            <a:off x="548640" y="2212848"/>
            <a:ext cx="1600200" cy="658368"/>
          </a:xfrm>
          <a:prstGeom prst="rect">
            <a:avLst/>
          </a:prstGeom>
          <a:solidFill>
            <a:srgbClr val="F2F5F8"/>
          </a:solidFill>
          <a:ln w="6350">
            <a:solidFill>
              <a:srgbClr val="D5DDE5"/>
            </a:solidFill>
            <a:prstDash val="solid"/>
          </a:ln>
        </p:spPr>
      </p:sp>
      <p:sp>
        <p:nvSpPr>
          <p:cNvPr id="14" name="Text 12"/>
          <p:cNvSpPr txBox="1"/>
          <p:nvPr/>
        </p:nvSpPr>
        <p:spPr>
          <a:xfrm>
            <a:off x="658368" y="2212848"/>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決める人</a:t>
            </a:r>
            <a:endParaRPr lang="en-US" sz="1300" dirty="0"/>
          </a:p>
        </p:txBody>
      </p:sp>
      <p:sp>
        <p:nvSpPr>
          <p:cNvPr id="15" name="Shape 13"/>
          <p:cNvSpPr/>
          <p:nvPr/>
        </p:nvSpPr>
        <p:spPr>
          <a:xfrm>
            <a:off x="2240280" y="2212848"/>
            <a:ext cx="2834640" cy="658368"/>
          </a:xfrm>
          <a:prstGeom prst="rect">
            <a:avLst/>
          </a:prstGeom>
          <a:solidFill>
            <a:srgbClr val="FFFFFF"/>
          </a:solidFill>
          <a:ln w="6350">
            <a:solidFill>
              <a:srgbClr val="D5DDE5"/>
            </a:solidFill>
            <a:prstDash val="solid"/>
          </a:ln>
        </p:spPr>
      </p:sp>
      <p:sp>
        <p:nvSpPr>
          <p:cNvPr id="16" name="Text 14"/>
          <p:cNvSpPr txBox="1"/>
          <p:nvPr/>
        </p:nvSpPr>
        <p:spPr>
          <a:xfrm>
            <a:off x="2350008" y="2212848"/>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部署・審査会・議会など複数段階</a:t>
            </a:r>
            <a:endParaRPr lang="en-US" sz="1200" dirty="0"/>
          </a:p>
        </p:txBody>
      </p:sp>
      <p:sp>
        <p:nvSpPr>
          <p:cNvPr id="17" name="Shape 15"/>
          <p:cNvSpPr/>
          <p:nvPr/>
        </p:nvSpPr>
        <p:spPr>
          <a:xfrm>
            <a:off x="5166360" y="2212848"/>
            <a:ext cx="2926080" cy="658368"/>
          </a:xfrm>
          <a:prstGeom prst="rect">
            <a:avLst/>
          </a:prstGeom>
          <a:solidFill>
            <a:srgbClr val="FBEAEE"/>
          </a:solidFill>
          <a:ln w="6350">
            <a:solidFill>
              <a:srgbClr val="D5DDE5"/>
            </a:solidFill>
            <a:prstDash val="solid"/>
          </a:ln>
        </p:spPr>
      </p:sp>
      <p:sp>
        <p:nvSpPr>
          <p:cNvPr id="18" name="Text 16"/>
          <p:cNvSpPr txBox="1"/>
          <p:nvPr/>
        </p:nvSpPr>
        <p:spPr>
          <a:xfrm>
            <a:off x="5276088" y="2212848"/>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課長・町長・部長など、決める人が近い</a:t>
            </a:r>
            <a:endParaRPr lang="en-US" sz="1200" dirty="0"/>
          </a:p>
        </p:txBody>
      </p:sp>
      <p:sp>
        <p:nvSpPr>
          <p:cNvPr id="19" name="Shape 17"/>
          <p:cNvSpPr/>
          <p:nvPr/>
        </p:nvSpPr>
        <p:spPr>
          <a:xfrm>
            <a:off x="8183880" y="2212848"/>
            <a:ext cx="3383280" cy="658368"/>
          </a:xfrm>
          <a:prstGeom prst="rect">
            <a:avLst/>
          </a:prstGeom>
          <a:solidFill>
            <a:srgbClr val="FFFFFF"/>
          </a:solidFill>
          <a:ln w="6350">
            <a:solidFill>
              <a:srgbClr val="D5DDE5"/>
            </a:solidFill>
            <a:prstDash val="solid"/>
          </a:ln>
        </p:spPr>
      </p:sp>
      <p:sp>
        <p:nvSpPr>
          <p:cNvPr id="20" name="Text 18"/>
          <p:cNvSpPr txBox="1"/>
          <p:nvPr/>
        </p:nvSpPr>
        <p:spPr>
          <a:xfrm>
            <a:off x="8293608" y="2212848"/>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決める人に直接、短く伝える</a:t>
            </a:r>
            <a:endParaRPr lang="en-US" sz="1200" dirty="0"/>
          </a:p>
        </p:txBody>
      </p:sp>
      <p:sp>
        <p:nvSpPr>
          <p:cNvPr id="21" name="Shape 19"/>
          <p:cNvSpPr/>
          <p:nvPr/>
        </p:nvSpPr>
        <p:spPr>
          <a:xfrm>
            <a:off x="548640" y="2926080"/>
            <a:ext cx="1600200" cy="658368"/>
          </a:xfrm>
          <a:prstGeom prst="rect">
            <a:avLst/>
          </a:prstGeom>
          <a:solidFill>
            <a:srgbClr val="F2F5F8"/>
          </a:solidFill>
          <a:ln w="6350">
            <a:solidFill>
              <a:srgbClr val="D5DDE5"/>
            </a:solidFill>
            <a:prstDash val="solid"/>
          </a:ln>
        </p:spPr>
      </p:sp>
      <p:sp>
        <p:nvSpPr>
          <p:cNvPr id="22" name="Text 20"/>
          <p:cNvSpPr txBox="1"/>
          <p:nvPr/>
        </p:nvSpPr>
        <p:spPr>
          <a:xfrm>
            <a:off x="658368" y="2926080"/>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予算</a:t>
            </a:r>
            <a:endParaRPr lang="en-US" sz="1300" dirty="0"/>
          </a:p>
        </p:txBody>
      </p:sp>
      <p:sp>
        <p:nvSpPr>
          <p:cNvPr id="23" name="Shape 21"/>
          <p:cNvSpPr/>
          <p:nvPr/>
        </p:nvSpPr>
        <p:spPr>
          <a:xfrm>
            <a:off x="2240280" y="2926080"/>
            <a:ext cx="2834640" cy="658368"/>
          </a:xfrm>
          <a:prstGeom prst="rect">
            <a:avLst/>
          </a:prstGeom>
          <a:solidFill>
            <a:srgbClr val="FFFFFF"/>
          </a:solidFill>
          <a:ln w="6350">
            <a:solidFill>
              <a:srgbClr val="D5DDE5"/>
            </a:solidFill>
            <a:prstDash val="solid"/>
          </a:ln>
        </p:spPr>
      </p:sp>
      <p:sp>
        <p:nvSpPr>
          <p:cNvPr id="24" name="Text 22"/>
          <p:cNvSpPr txBox="1"/>
          <p:nvPr/>
        </p:nvSpPr>
        <p:spPr>
          <a:xfrm>
            <a:off x="2350008" y="2926080"/>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数百万円〜の年間予算</a:t>
            </a:r>
            <a:endParaRPr lang="en-US" sz="1200" dirty="0"/>
          </a:p>
        </p:txBody>
      </p:sp>
      <p:sp>
        <p:nvSpPr>
          <p:cNvPr id="25" name="Shape 23"/>
          <p:cNvSpPr/>
          <p:nvPr/>
        </p:nvSpPr>
        <p:spPr>
          <a:xfrm>
            <a:off x="5166360" y="2926080"/>
            <a:ext cx="2926080" cy="658368"/>
          </a:xfrm>
          <a:prstGeom prst="rect">
            <a:avLst/>
          </a:prstGeom>
          <a:solidFill>
            <a:srgbClr val="FBEAEE"/>
          </a:solidFill>
          <a:ln w="6350">
            <a:solidFill>
              <a:srgbClr val="D5DDE5"/>
            </a:solidFill>
            <a:prstDash val="solid"/>
          </a:ln>
        </p:spPr>
      </p:sp>
      <p:sp>
        <p:nvSpPr>
          <p:cNvPr id="26" name="Text 24"/>
          <p:cNvSpPr txBox="1"/>
          <p:nvPr/>
        </p:nvSpPr>
        <p:spPr>
          <a:xfrm>
            <a:off x="5276088" y="2926080"/>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数十万円〜100万円前後から</a:t>
            </a:r>
            <a:endParaRPr lang="en-US" sz="1200" dirty="0"/>
          </a:p>
        </p:txBody>
      </p:sp>
      <p:sp>
        <p:nvSpPr>
          <p:cNvPr id="27" name="Shape 25"/>
          <p:cNvSpPr/>
          <p:nvPr/>
        </p:nvSpPr>
        <p:spPr>
          <a:xfrm>
            <a:off x="8183880" y="2926080"/>
            <a:ext cx="3383280" cy="658368"/>
          </a:xfrm>
          <a:prstGeom prst="rect">
            <a:avLst/>
          </a:prstGeom>
          <a:solidFill>
            <a:srgbClr val="FFFFFF"/>
          </a:solidFill>
          <a:ln w="6350">
            <a:solidFill>
              <a:srgbClr val="D5DDE5"/>
            </a:solidFill>
            <a:prstDash val="solid"/>
          </a:ln>
        </p:spPr>
      </p:sp>
      <p:sp>
        <p:nvSpPr>
          <p:cNvPr id="28" name="Text 26"/>
          <p:cNvSpPr txBox="1"/>
          <p:nvPr/>
        </p:nvSpPr>
        <p:spPr>
          <a:xfrm>
            <a:off x="8293608" y="2926080"/>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金額の目安を最初に出す</a:t>
            </a:r>
            <a:endParaRPr lang="en-US" sz="1200" dirty="0"/>
          </a:p>
        </p:txBody>
      </p:sp>
      <p:sp>
        <p:nvSpPr>
          <p:cNvPr id="29" name="Shape 27"/>
          <p:cNvSpPr/>
          <p:nvPr/>
        </p:nvSpPr>
        <p:spPr>
          <a:xfrm>
            <a:off x="548640" y="3639312"/>
            <a:ext cx="1600200" cy="658368"/>
          </a:xfrm>
          <a:prstGeom prst="rect">
            <a:avLst/>
          </a:prstGeom>
          <a:solidFill>
            <a:srgbClr val="F2F5F8"/>
          </a:solidFill>
          <a:ln w="6350">
            <a:solidFill>
              <a:srgbClr val="D5DDE5"/>
            </a:solidFill>
            <a:prstDash val="solid"/>
          </a:ln>
        </p:spPr>
      </p:sp>
      <p:sp>
        <p:nvSpPr>
          <p:cNvPr id="30" name="Text 28"/>
          <p:cNvSpPr txBox="1"/>
          <p:nvPr/>
        </p:nvSpPr>
        <p:spPr>
          <a:xfrm>
            <a:off x="658368" y="3639312"/>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担当者</a:t>
            </a:r>
            <a:endParaRPr lang="en-US" sz="1300" dirty="0"/>
          </a:p>
        </p:txBody>
      </p:sp>
      <p:sp>
        <p:nvSpPr>
          <p:cNvPr id="31" name="Shape 29"/>
          <p:cNvSpPr/>
          <p:nvPr/>
        </p:nvSpPr>
        <p:spPr>
          <a:xfrm>
            <a:off x="2240280" y="3639312"/>
            <a:ext cx="2834640" cy="658368"/>
          </a:xfrm>
          <a:prstGeom prst="rect">
            <a:avLst/>
          </a:prstGeom>
          <a:solidFill>
            <a:srgbClr val="FFFFFF"/>
          </a:solidFill>
          <a:ln w="6350">
            <a:solidFill>
              <a:srgbClr val="D5DDE5"/>
            </a:solidFill>
            <a:prstDash val="solid"/>
          </a:ln>
        </p:spPr>
      </p:sp>
      <p:sp>
        <p:nvSpPr>
          <p:cNvPr id="32" name="Text 30"/>
          <p:cNvSpPr txBox="1"/>
          <p:nvPr/>
        </p:nvSpPr>
        <p:spPr>
          <a:xfrm>
            <a:off x="2350008" y="3639312"/>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専任・分析担当がいる</a:t>
            </a:r>
            <a:endParaRPr lang="en-US" sz="1200" dirty="0"/>
          </a:p>
        </p:txBody>
      </p:sp>
      <p:sp>
        <p:nvSpPr>
          <p:cNvPr id="33" name="Shape 31"/>
          <p:cNvSpPr/>
          <p:nvPr/>
        </p:nvSpPr>
        <p:spPr>
          <a:xfrm>
            <a:off x="5166360" y="3639312"/>
            <a:ext cx="2926080" cy="658368"/>
          </a:xfrm>
          <a:prstGeom prst="rect">
            <a:avLst/>
          </a:prstGeom>
          <a:solidFill>
            <a:srgbClr val="FBEAEE"/>
          </a:solidFill>
          <a:ln w="6350">
            <a:solidFill>
              <a:srgbClr val="D5DDE5"/>
            </a:solidFill>
            <a:prstDash val="solid"/>
          </a:ln>
        </p:spPr>
      </p:sp>
      <p:sp>
        <p:nvSpPr>
          <p:cNvPr id="34" name="Text 32"/>
          <p:cNvSpPr txBox="1"/>
          <p:nvPr/>
        </p:nvSpPr>
        <p:spPr>
          <a:xfrm>
            <a:off x="5276088" y="3639312"/>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兼務の1〜2人</a:t>
            </a:r>
            <a:endParaRPr lang="en-US" sz="1200" dirty="0"/>
          </a:p>
        </p:txBody>
      </p:sp>
      <p:sp>
        <p:nvSpPr>
          <p:cNvPr id="35" name="Shape 33"/>
          <p:cNvSpPr/>
          <p:nvPr/>
        </p:nvSpPr>
        <p:spPr>
          <a:xfrm>
            <a:off x="8183880" y="3639312"/>
            <a:ext cx="3383280" cy="658368"/>
          </a:xfrm>
          <a:prstGeom prst="rect">
            <a:avLst/>
          </a:prstGeom>
          <a:solidFill>
            <a:srgbClr val="FFFFFF"/>
          </a:solidFill>
          <a:ln w="6350">
            <a:solidFill>
              <a:srgbClr val="D5DDE5"/>
            </a:solidFill>
            <a:prstDash val="solid"/>
          </a:ln>
        </p:spPr>
      </p:sp>
      <p:sp>
        <p:nvSpPr>
          <p:cNvPr id="36" name="Text 34"/>
          <p:cNvSpPr txBox="1"/>
          <p:nvPr/>
        </p:nvSpPr>
        <p:spPr>
          <a:xfrm>
            <a:off x="8293608" y="3639312"/>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「何をしなくていいか」を示す</a:t>
            </a:r>
            <a:endParaRPr lang="en-US" sz="1200" dirty="0"/>
          </a:p>
        </p:txBody>
      </p:sp>
      <p:sp>
        <p:nvSpPr>
          <p:cNvPr id="37" name="Shape 35"/>
          <p:cNvSpPr/>
          <p:nvPr/>
        </p:nvSpPr>
        <p:spPr>
          <a:xfrm>
            <a:off x="548640" y="4352544"/>
            <a:ext cx="1600200" cy="658368"/>
          </a:xfrm>
          <a:prstGeom prst="rect">
            <a:avLst/>
          </a:prstGeom>
          <a:solidFill>
            <a:srgbClr val="F2F5F8"/>
          </a:solidFill>
          <a:ln w="6350">
            <a:solidFill>
              <a:srgbClr val="D5DDE5"/>
            </a:solidFill>
            <a:prstDash val="solid"/>
          </a:ln>
        </p:spPr>
      </p:sp>
      <p:sp>
        <p:nvSpPr>
          <p:cNvPr id="38" name="Text 36"/>
          <p:cNvSpPr txBox="1"/>
          <p:nvPr/>
        </p:nvSpPr>
        <p:spPr>
          <a:xfrm>
            <a:off x="658368" y="4352544"/>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契約</a:t>
            </a:r>
            <a:endParaRPr lang="en-US" sz="1300" dirty="0"/>
          </a:p>
        </p:txBody>
      </p:sp>
      <p:sp>
        <p:nvSpPr>
          <p:cNvPr id="39" name="Shape 37"/>
          <p:cNvSpPr/>
          <p:nvPr/>
        </p:nvSpPr>
        <p:spPr>
          <a:xfrm>
            <a:off x="2240280" y="4352544"/>
            <a:ext cx="2834640" cy="658368"/>
          </a:xfrm>
          <a:prstGeom prst="rect">
            <a:avLst/>
          </a:prstGeom>
          <a:solidFill>
            <a:srgbClr val="FFFFFF"/>
          </a:solidFill>
          <a:ln w="6350">
            <a:solidFill>
              <a:srgbClr val="D5DDE5"/>
            </a:solidFill>
            <a:prstDash val="solid"/>
          </a:ln>
        </p:spPr>
      </p:sp>
      <p:sp>
        <p:nvSpPr>
          <p:cNvPr id="40" name="Text 38"/>
          <p:cNvSpPr txBox="1"/>
          <p:nvPr/>
        </p:nvSpPr>
        <p:spPr>
          <a:xfrm>
            <a:off x="2350008" y="4352544"/>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プロポーザル・年間契約</a:t>
            </a:r>
            <a:endParaRPr lang="en-US" sz="1200" dirty="0"/>
          </a:p>
        </p:txBody>
      </p:sp>
      <p:sp>
        <p:nvSpPr>
          <p:cNvPr id="41" name="Shape 39"/>
          <p:cNvSpPr/>
          <p:nvPr/>
        </p:nvSpPr>
        <p:spPr>
          <a:xfrm>
            <a:off x="5166360" y="4352544"/>
            <a:ext cx="2926080" cy="658368"/>
          </a:xfrm>
          <a:prstGeom prst="rect">
            <a:avLst/>
          </a:prstGeom>
          <a:solidFill>
            <a:srgbClr val="FBEAEE"/>
          </a:solidFill>
          <a:ln w="6350">
            <a:solidFill>
              <a:srgbClr val="D5DDE5"/>
            </a:solidFill>
            <a:prstDash val="solid"/>
          </a:ln>
        </p:spPr>
      </p:sp>
      <p:sp>
        <p:nvSpPr>
          <p:cNvPr id="42" name="Text 40"/>
          <p:cNvSpPr txBox="1"/>
          <p:nvPr/>
        </p:nvSpPr>
        <p:spPr>
          <a:xfrm>
            <a:off x="5276088" y="4352544"/>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少額随意契約・1回ごとの発注</a:t>
            </a:r>
            <a:endParaRPr lang="en-US" sz="1200" dirty="0"/>
          </a:p>
        </p:txBody>
      </p:sp>
      <p:sp>
        <p:nvSpPr>
          <p:cNvPr id="43" name="Shape 41"/>
          <p:cNvSpPr/>
          <p:nvPr/>
        </p:nvSpPr>
        <p:spPr>
          <a:xfrm>
            <a:off x="8183880" y="4352544"/>
            <a:ext cx="3383280" cy="658368"/>
          </a:xfrm>
          <a:prstGeom prst="rect">
            <a:avLst/>
          </a:prstGeom>
          <a:solidFill>
            <a:srgbClr val="FFFFFF"/>
          </a:solidFill>
          <a:ln w="6350">
            <a:solidFill>
              <a:srgbClr val="D5DDE5"/>
            </a:solidFill>
            <a:prstDash val="solid"/>
          </a:ln>
        </p:spPr>
      </p:sp>
      <p:sp>
        <p:nvSpPr>
          <p:cNvPr id="44" name="Text 42"/>
          <p:cNvSpPr txBox="1"/>
          <p:nvPr/>
        </p:nvSpPr>
        <p:spPr>
          <a:xfrm>
            <a:off x="8293608" y="4352544"/>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1回で完結するプランを用意</a:t>
            </a:r>
            <a:endParaRPr lang="en-US" sz="1200" dirty="0"/>
          </a:p>
        </p:txBody>
      </p:sp>
      <p:sp>
        <p:nvSpPr>
          <p:cNvPr id="45" name="Shape 43"/>
          <p:cNvSpPr/>
          <p:nvPr/>
        </p:nvSpPr>
        <p:spPr>
          <a:xfrm>
            <a:off x="548640" y="5065776"/>
            <a:ext cx="1600200" cy="658368"/>
          </a:xfrm>
          <a:prstGeom prst="rect">
            <a:avLst/>
          </a:prstGeom>
          <a:solidFill>
            <a:srgbClr val="F2F5F8"/>
          </a:solidFill>
          <a:ln w="6350">
            <a:solidFill>
              <a:srgbClr val="D5DDE5"/>
            </a:solidFill>
            <a:prstDash val="solid"/>
          </a:ln>
        </p:spPr>
      </p:sp>
      <p:sp>
        <p:nvSpPr>
          <p:cNvPr id="46" name="Text 44"/>
          <p:cNvSpPr txBox="1"/>
          <p:nvPr/>
        </p:nvSpPr>
        <p:spPr>
          <a:xfrm>
            <a:off x="658368" y="5065776"/>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欲しいもの</a:t>
            </a:r>
            <a:endParaRPr lang="en-US" sz="1300" dirty="0"/>
          </a:p>
        </p:txBody>
      </p:sp>
      <p:sp>
        <p:nvSpPr>
          <p:cNvPr id="47" name="Shape 45"/>
          <p:cNvSpPr/>
          <p:nvPr/>
        </p:nvSpPr>
        <p:spPr>
          <a:xfrm>
            <a:off x="2240280" y="5065776"/>
            <a:ext cx="2834640" cy="658368"/>
          </a:xfrm>
          <a:prstGeom prst="rect">
            <a:avLst/>
          </a:prstGeom>
          <a:solidFill>
            <a:srgbClr val="FFFFFF"/>
          </a:solidFill>
          <a:ln w="6350">
            <a:solidFill>
              <a:srgbClr val="D5DDE5"/>
            </a:solidFill>
            <a:prstDash val="solid"/>
          </a:ln>
        </p:spPr>
      </p:sp>
      <p:sp>
        <p:nvSpPr>
          <p:cNvPr id="48" name="Text 46"/>
          <p:cNvSpPr txBox="1"/>
          <p:nvPr/>
        </p:nvSpPr>
        <p:spPr>
          <a:xfrm>
            <a:off x="2350008" y="5065776"/>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詳細な分析レポート</a:t>
            </a:r>
            <a:endParaRPr lang="en-US" sz="1200" dirty="0"/>
          </a:p>
        </p:txBody>
      </p:sp>
      <p:sp>
        <p:nvSpPr>
          <p:cNvPr id="49" name="Shape 47"/>
          <p:cNvSpPr/>
          <p:nvPr/>
        </p:nvSpPr>
        <p:spPr>
          <a:xfrm>
            <a:off x="5166360" y="5065776"/>
            <a:ext cx="2926080" cy="658368"/>
          </a:xfrm>
          <a:prstGeom prst="rect">
            <a:avLst/>
          </a:prstGeom>
          <a:solidFill>
            <a:srgbClr val="FBEAEE"/>
          </a:solidFill>
          <a:ln w="6350">
            <a:solidFill>
              <a:srgbClr val="D5DDE5"/>
            </a:solidFill>
            <a:prstDash val="solid"/>
          </a:ln>
        </p:spPr>
      </p:sp>
      <p:sp>
        <p:nvSpPr>
          <p:cNvPr id="50" name="Text 48"/>
          <p:cNvSpPr txBox="1"/>
          <p:nvPr/>
        </p:nvSpPr>
        <p:spPr>
          <a:xfrm>
            <a:off x="5276088" y="5065776"/>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そのまま説明に使える1枚</a:t>
            </a:r>
            <a:endParaRPr lang="en-US" sz="1200" dirty="0"/>
          </a:p>
        </p:txBody>
      </p:sp>
      <p:sp>
        <p:nvSpPr>
          <p:cNvPr id="51" name="Shape 49"/>
          <p:cNvSpPr/>
          <p:nvPr/>
        </p:nvSpPr>
        <p:spPr>
          <a:xfrm>
            <a:off x="8183880" y="5065776"/>
            <a:ext cx="3383280" cy="658368"/>
          </a:xfrm>
          <a:prstGeom prst="rect">
            <a:avLst/>
          </a:prstGeom>
          <a:solidFill>
            <a:srgbClr val="FFFFFF"/>
          </a:solidFill>
          <a:ln w="6350">
            <a:solidFill>
              <a:srgbClr val="D5DDE5"/>
            </a:solidFill>
            <a:prstDash val="solid"/>
          </a:ln>
        </p:spPr>
      </p:sp>
      <p:sp>
        <p:nvSpPr>
          <p:cNvPr id="52" name="Text 50"/>
          <p:cNvSpPr txBox="1"/>
          <p:nvPr/>
        </p:nvSpPr>
        <p:spPr>
          <a:xfrm>
            <a:off x="8293608" y="5065776"/>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数字3つ＋次にやること3つ</a:t>
            </a:r>
            <a:endParaRPr lang="en-US" sz="1200" dirty="0"/>
          </a:p>
        </p:txBody>
      </p:sp>
      <p:sp>
        <p:nvSpPr>
          <p:cNvPr id="53" name="Shape 51"/>
          <p:cNvSpPr/>
          <p:nvPr/>
        </p:nvSpPr>
        <p:spPr>
          <a:xfrm>
            <a:off x="548640" y="5852160"/>
            <a:ext cx="11064240" cy="384048"/>
          </a:xfrm>
          <a:prstGeom prst="roundRect">
            <a:avLst>
              <a:gd name="adj" fmla="val 19048"/>
            </a:avLst>
          </a:prstGeom>
          <a:solidFill>
            <a:srgbClr val="13283C"/>
          </a:solidFill>
          <a:ln w="12700">
            <a:solidFill>
              <a:srgbClr val="13283C"/>
            </a:solidFill>
            <a:prstDash val="solid"/>
          </a:ln>
        </p:spPr>
      </p:sp>
      <p:sp>
        <p:nvSpPr>
          <p:cNvPr id="54" name="Text 52"/>
          <p:cNvSpPr txBox="1"/>
          <p:nvPr/>
        </p:nvSpPr>
        <p:spPr>
          <a:xfrm>
            <a:off x="777240" y="5852160"/>
            <a:ext cx="10607040" cy="38404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最重要は変わらない：顧客の判断に使える「1枚」を契約前に見せる（→P.09）</a:t>
            </a:r>
            <a:endParaRPr lang="en-US" sz="1250" dirty="0"/>
          </a:p>
        </p:txBody>
      </p:sp>
      <p:sp>
        <p:nvSpPr>
          <p:cNvPr id="55" name="Text 53"/>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本資料の整理（仮説）。案件ごとに確認する</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お客様のレベル別の提案の型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入口のサービス・金額・説明に使う数字を、相手に合わせて変える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18</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2651760" cy="914400"/>
          </a:xfrm>
          <a:prstGeom prst="roundRect">
            <a:avLst>
              <a:gd name="adj" fmla="val 8000"/>
            </a:avLst>
          </a:prstGeom>
          <a:solidFill>
            <a:srgbClr val="13283C"/>
          </a:solidFill>
          <a:ln w="12700">
            <a:solidFill>
              <a:srgbClr val="13283C"/>
            </a:solidFill>
            <a:prstDash val="solid"/>
          </a:ln>
        </p:spPr>
      </p:sp>
      <p:sp>
        <p:nvSpPr>
          <p:cNvPr id="8" name="Shape 6"/>
          <p:cNvSpPr/>
          <p:nvPr/>
        </p:nvSpPr>
        <p:spPr>
          <a:xfrm>
            <a:off x="685800" y="1920240"/>
            <a:ext cx="502920" cy="50292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811530" y="2045970"/>
            <a:ext cx="251460" cy="251460"/>
          </a:xfrm>
          <a:prstGeom prst="rect">
            <a:avLst/>
          </a:prstGeom>
        </p:spPr>
      </p:pic>
      <p:sp>
        <p:nvSpPr>
          <p:cNvPr id="10" name="Text 7"/>
          <p:cNvSpPr txBox="1"/>
          <p:nvPr/>
        </p:nvSpPr>
        <p:spPr>
          <a:xfrm>
            <a:off x="1261872" y="1801368"/>
            <a:ext cx="1874520" cy="4572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Meiryo" pitchFamily="34" charset="0"/>
                <a:ea typeface="Meiryo" pitchFamily="34" charset="-122"/>
                <a:cs typeface="Meiryo" pitchFamily="34" charset="-120"/>
              </a:rPr>
              <a:t>小規模の自治体</a:t>
            </a:r>
            <a:endParaRPr lang="en-US" sz="1250" dirty="0"/>
          </a:p>
        </p:txBody>
      </p:sp>
      <p:sp>
        <p:nvSpPr>
          <p:cNvPr id="11" name="Text 8"/>
          <p:cNvSpPr txBox="1"/>
          <p:nvPr/>
        </p:nvSpPr>
        <p:spPr>
          <a:xfrm>
            <a:off x="1261872"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町・人口数万人の市</a:t>
            </a:r>
            <a:endParaRPr lang="en-US" sz="950" dirty="0"/>
          </a:p>
        </p:txBody>
      </p:sp>
      <p:sp>
        <p:nvSpPr>
          <p:cNvPr id="12" name="Shape 9"/>
          <p:cNvSpPr/>
          <p:nvPr/>
        </p:nvSpPr>
        <p:spPr>
          <a:xfrm>
            <a:off x="548640" y="2743200"/>
            <a:ext cx="2651760" cy="777240"/>
          </a:xfrm>
          <a:prstGeom prst="roundRect">
            <a:avLst>
              <a:gd name="adj" fmla="val 9412"/>
            </a:avLst>
          </a:prstGeom>
          <a:solidFill>
            <a:srgbClr val="FBEAEE"/>
          </a:solidFill>
          <a:ln w="12700">
            <a:solidFill>
              <a:srgbClr val="FBEAEE"/>
            </a:solidFill>
            <a:prstDash val="solid"/>
          </a:ln>
        </p:spPr>
      </p:sp>
      <p:sp>
        <p:nvSpPr>
          <p:cNvPr id="13" name="Text 10"/>
          <p:cNvSpPr txBox="1"/>
          <p:nvPr/>
        </p:nvSpPr>
        <p:spPr>
          <a:xfrm>
            <a:off x="685800"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14" name="Text 11"/>
          <p:cNvSpPr txBox="1"/>
          <p:nvPr/>
        </p:nvSpPr>
        <p:spPr>
          <a:xfrm>
            <a:off x="685800"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プレミアパネル（近隣市町まで広げて）</a:t>
            </a:r>
            <a:endParaRPr lang="en-US" sz="1100" dirty="0"/>
          </a:p>
        </p:txBody>
      </p:sp>
      <p:sp>
        <p:nvSpPr>
          <p:cNvPr id="15" name="Shape 12"/>
          <p:cNvSpPr/>
          <p:nvPr/>
        </p:nvSpPr>
        <p:spPr>
          <a:xfrm>
            <a:off x="548640" y="3611880"/>
            <a:ext cx="2651760" cy="777240"/>
          </a:xfrm>
          <a:prstGeom prst="roundRect">
            <a:avLst>
              <a:gd name="adj" fmla="val 9412"/>
            </a:avLst>
          </a:prstGeom>
          <a:solidFill>
            <a:srgbClr val="F2F5F8"/>
          </a:solidFill>
          <a:ln w="12700">
            <a:solidFill>
              <a:srgbClr val="F2F5F8"/>
            </a:solidFill>
            <a:prstDash val="solid"/>
          </a:ln>
        </p:spPr>
      </p:sp>
      <p:sp>
        <p:nvSpPr>
          <p:cNvPr id="16" name="Text 13"/>
          <p:cNvSpPr txBox="1"/>
          <p:nvPr/>
        </p:nvSpPr>
        <p:spPr>
          <a:xfrm>
            <a:off x="685800"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17" name="Text 14"/>
          <p:cNvSpPr txBox="1"/>
          <p:nvPr/>
        </p:nvSpPr>
        <p:spPr>
          <a:xfrm>
            <a:off x="685800"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少額随意契約の範囲で1回</a:t>
            </a:r>
            <a:endParaRPr lang="en-US" sz="1100" dirty="0"/>
          </a:p>
        </p:txBody>
      </p:sp>
      <p:sp>
        <p:nvSpPr>
          <p:cNvPr id="18" name="Shape 15"/>
          <p:cNvSpPr/>
          <p:nvPr/>
        </p:nvSpPr>
        <p:spPr>
          <a:xfrm>
            <a:off x="548640" y="4480560"/>
            <a:ext cx="2651760" cy="777240"/>
          </a:xfrm>
          <a:prstGeom prst="roundRect">
            <a:avLst>
              <a:gd name="adj" fmla="val 9412"/>
            </a:avLst>
          </a:prstGeom>
          <a:solidFill>
            <a:srgbClr val="F2F5F8"/>
          </a:solidFill>
          <a:ln w="12700">
            <a:solidFill>
              <a:srgbClr val="F2F5F8"/>
            </a:solidFill>
            <a:prstDash val="solid"/>
          </a:ln>
        </p:spPr>
      </p:sp>
      <p:sp>
        <p:nvSpPr>
          <p:cNvPr id="19" name="Text 16"/>
          <p:cNvSpPr txBox="1"/>
          <p:nvPr/>
        </p:nvSpPr>
        <p:spPr>
          <a:xfrm>
            <a:off x="685800"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20" name="Text 17"/>
          <p:cNvSpPr txBox="1"/>
          <p:nvPr/>
        </p:nvSpPr>
        <p:spPr>
          <a:xfrm>
            <a:off x="685800"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来訪者の割合、来なかった理由</a:t>
            </a:r>
            <a:endParaRPr lang="en-US" sz="1100" dirty="0"/>
          </a:p>
        </p:txBody>
      </p:sp>
      <p:sp>
        <p:nvSpPr>
          <p:cNvPr id="21" name="Shape 18"/>
          <p:cNvSpPr/>
          <p:nvPr/>
        </p:nvSpPr>
        <p:spPr>
          <a:xfrm>
            <a:off x="548640" y="5349240"/>
            <a:ext cx="2651760" cy="777240"/>
          </a:xfrm>
          <a:prstGeom prst="roundRect">
            <a:avLst>
              <a:gd name="adj" fmla="val 9412"/>
            </a:avLst>
          </a:prstGeom>
          <a:solidFill>
            <a:srgbClr val="F2F5F8"/>
          </a:solidFill>
          <a:ln w="12700">
            <a:solidFill>
              <a:srgbClr val="F2F5F8"/>
            </a:solidFill>
            <a:prstDash val="solid"/>
          </a:ln>
        </p:spPr>
      </p:sp>
      <p:sp>
        <p:nvSpPr>
          <p:cNvPr id="22" name="Text 19"/>
          <p:cNvSpPr txBox="1"/>
          <p:nvPr/>
        </p:nvSpPr>
        <p:spPr>
          <a:xfrm>
            <a:off x="685800"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23" name="Text 20"/>
          <p:cNvSpPr txBox="1"/>
          <p:nvPr/>
        </p:nvSpPr>
        <p:spPr>
          <a:xfrm>
            <a:off x="685800"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回答が集まる範囲の確認、予算要求資料の支援</a:t>
            </a:r>
            <a:endParaRPr lang="en-US" sz="1100" dirty="0"/>
          </a:p>
        </p:txBody>
      </p:sp>
      <p:sp>
        <p:nvSpPr>
          <p:cNvPr id="24" name="Shape 21"/>
          <p:cNvSpPr/>
          <p:nvPr/>
        </p:nvSpPr>
        <p:spPr>
          <a:xfrm>
            <a:off x="3355848" y="1737360"/>
            <a:ext cx="2651760" cy="914400"/>
          </a:xfrm>
          <a:prstGeom prst="roundRect">
            <a:avLst>
              <a:gd name="adj" fmla="val 8000"/>
            </a:avLst>
          </a:prstGeom>
          <a:solidFill>
            <a:srgbClr val="13283C"/>
          </a:solidFill>
          <a:ln w="12700">
            <a:solidFill>
              <a:srgbClr val="13283C"/>
            </a:solidFill>
            <a:prstDash val="solid"/>
          </a:ln>
        </p:spPr>
      </p:sp>
      <p:sp>
        <p:nvSpPr>
          <p:cNvPr id="25" name="Shape 22"/>
          <p:cNvSpPr/>
          <p:nvPr/>
        </p:nvSpPr>
        <p:spPr>
          <a:xfrm>
            <a:off x="3493008" y="1920240"/>
            <a:ext cx="502920" cy="50292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3618738" y="2045970"/>
            <a:ext cx="251460" cy="251460"/>
          </a:xfrm>
          <a:prstGeom prst="rect">
            <a:avLst/>
          </a:prstGeom>
        </p:spPr>
      </p:pic>
      <p:sp>
        <p:nvSpPr>
          <p:cNvPr id="27" name="Text 23"/>
          <p:cNvSpPr txBox="1"/>
          <p:nvPr/>
        </p:nvSpPr>
        <p:spPr>
          <a:xfrm>
            <a:off x="4069080" y="1801368"/>
            <a:ext cx="1874520" cy="4572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Meiryo" pitchFamily="34" charset="0"/>
                <a:ea typeface="Meiryo" pitchFamily="34" charset="-122"/>
                <a:cs typeface="Meiryo" pitchFamily="34" charset="-120"/>
              </a:rPr>
              <a:t>中規模の自治体</a:t>
            </a:r>
            <a:endParaRPr lang="en-US" sz="1250" dirty="0"/>
          </a:p>
        </p:txBody>
      </p:sp>
      <p:sp>
        <p:nvSpPr>
          <p:cNvPr id="28" name="Text 24"/>
          <p:cNvSpPr txBox="1"/>
          <p:nvPr/>
        </p:nvSpPr>
        <p:spPr>
          <a:xfrm>
            <a:off x="4069080"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観光・イベントが多い市</a:t>
            </a:r>
            <a:endParaRPr lang="en-US" sz="950" dirty="0"/>
          </a:p>
        </p:txBody>
      </p:sp>
      <p:sp>
        <p:nvSpPr>
          <p:cNvPr id="29" name="Shape 25"/>
          <p:cNvSpPr/>
          <p:nvPr/>
        </p:nvSpPr>
        <p:spPr>
          <a:xfrm>
            <a:off x="3355848" y="2743200"/>
            <a:ext cx="2651760" cy="777240"/>
          </a:xfrm>
          <a:prstGeom prst="roundRect">
            <a:avLst>
              <a:gd name="adj" fmla="val 9412"/>
            </a:avLst>
          </a:prstGeom>
          <a:solidFill>
            <a:srgbClr val="FBEAEE"/>
          </a:solidFill>
          <a:ln w="12700">
            <a:solidFill>
              <a:srgbClr val="FBEAEE"/>
            </a:solidFill>
            <a:prstDash val="solid"/>
          </a:ln>
        </p:spPr>
      </p:sp>
      <p:sp>
        <p:nvSpPr>
          <p:cNvPr id="30" name="Text 26"/>
          <p:cNvSpPr txBox="1"/>
          <p:nvPr/>
        </p:nvSpPr>
        <p:spPr>
          <a:xfrm>
            <a:off x="3493008"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31" name="Text 27"/>
          <p:cNvSpPr txBox="1"/>
          <p:nvPr/>
        </p:nvSpPr>
        <p:spPr>
          <a:xfrm>
            <a:off x="3493008"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モバイル空間統計（イベント日の比較）</a:t>
            </a:r>
            <a:endParaRPr lang="en-US" sz="1100" dirty="0"/>
          </a:p>
        </p:txBody>
      </p:sp>
      <p:sp>
        <p:nvSpPr>
          <p:cNvPr id="32" name="Shape 28"/>
          <p:cNvSpPr/>
          <p:nvPr/>
        </p:nvSpPr>
        <p:spPr>
          <a:xfrm>
            <a:off x="3355848" y="3611880"/>
            <a:ext cx="2651760" cy="777240"/>
          </a:xfrm>
          <a:prstGeom prst="roundRect">
            <a:avLst>
              <a:gd name="adj" fmla="val 9412"/>
            </a:avLst>
          </a:prstGeom>
          <a:solidFill>
            <a:srgbClr val="F2F5F8"/>
          </a:solidFill>
          <a:ln w="12700">
            <a:solidFill>
              <a:srgbClr val="F2F5F8"/>
            </a:solidFill>
            <a:prstDash val="solid"/>
          </a:ln>
        </p:spPr>
      </p:sp>
      <p:sp>
        <p:nvSpPr>
          <p:cNvPr id="33" name="Text 29"/>
          <p:cNvSpPr txBox="1"/>
          <p:nvPr/>
        </p:nvSpPr>
        <p:spPr>
          <a:xfrm>
            <a:off x="3493008"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34" name="Text 30"/>
          <p:cNvSpPr txBox="1"/>
          <p:nvPr/>
        </p:nvSpPr>
        <p:spPr>
          <a:xfrm>
            <a:off x="3493008"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1回→次年度予算で年間</a:t>
            </a:r>
            <a:endParaRPr lang="en-US" sz="1100" dirty="0"/>
          </a:p>
        </p:txBody>
      </p:sp>
      <p:sp>
        <p:nvSpPr>
          <p:cNvPr id="35" name="Shape 31"/>
          <p:cNvSpPr/>
          <p:nvPr/>
        </p:nvSpPr>
        <p:spPr>
          <a:xfrm>
            <a:off x="3355848" y="4480560"/>
            <a:ext cx="2651760" cy="777240"/>
          </a:xfrm>
          <a:prstGeom prst="roundRect">
            <a:avLst>
              <a:gd name="adj" fmla="val 9412"/>
            </a:avLst>
          </a:prstGeom>
          <a:solidFill>
            <a:srgbClr val="F2F5F8"/>
          </a:solidFill>
          <a:ln w="12700">
            <a:solidFill>
              <a:srgbClr val="F2F5F8"/>
            </a:solidFill>
            <a:prstDash val="solid"/>
          </a:ln>
        </p:spPr>
      </p:sp>
      <p:sp>
        <p:nvSpPr>
          <p:cNvPr id="36" name="Text 32"/>
          <p:cNvSpPr txBox="1"/>
          <p:nvPr/>
        </p:nvSpPr>
        <p:spPr>
          <a:xfrm>
            <a:off x="3493008"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37" name="Text 33"/>
          <p:cNvSpPr txBox="1"/>
          <p:nvPr/>
        </p:nvSpPr>
        <p:spPr>
          <a:xfrm>
            <a:off x="3493008"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当日の人数の差、県外比率、経済効果</a:t>
            </a:r>
            <a:endParaRPr lang="en-US" sz="1100" dirty="0"/>
          </a:p>
        </p:txBody>
      </p:sp>
      <p:sp>
        <p:nvSpPr>
          <p:cNvPr id="38" name="Shape 34"/>
          <p:cNvSpPr/>
          <p:nvPr/>
        </p:nvSpPr>
        <p:spPr>
          <a:xfrm>
            <a:off x="3355848" y="5349240"/>
            <a:ext cx="2651760" cy="777240"/>
          </a:xfrm>
          <a:prstGeom prst="roundRect">
            <a:avLst>
              <a:gd name="adj" fmla="val 9412"/>
            </a:avLst>
          </a:prstGeom>
          <a:solidFill>
            <a:srgbClr val="F2F5F8"/>
          </a:solidFill>
          <a:ln w="12700">
            <a:solidFill>
              <a:srgbClr val="F2F5F8"/>
            </a:solidFill>
            <a:prstDash val="solid"/>
          </a:ln>
        </p:spPr>
      </p:sp>
      <p:sp>
        <p:nvSpPr>
          <p:cNvPr id="39" name="Text 35"/>
          <p:cNvSpPr txBox="1"/>
          <p:nvPr/>
        </p:nvSpPr>
        <p:spPr>
          <a:xfrm>
            <a:off x="3493008"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40" name="Text 36"/>
          <p:cNvSpPr txBox="1"/>
          <p:nvPr/>
        </p:nvSpPr>
        <p:spPr>
          <a:xfrm>
            <a:off x="3493008"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議会説明用の1枚、RESASとの違い</a:t>
            </a:r>
            <a:endParaRPr lang="en-US" sz="1100" dirty="0"/>
          </a:p>
        </p:txBody>
      </p:sp>
      <p:sp>
        <p:nvSpPr>
          <p:cNvPr id="41" name="Shape 37"/>
          <p:cNvSpPr/>
          <p:nvPr/>
        </p:nvSpPr>
        <p:spPr>
          <a:xfrm>
            <a:off x="6163056" y="1737360"/>
            <a:ext cx="2651760" cy="914400"/>
          </a:xfrm>
          <a:prstGeom prst="roundRect">
            <a:avLst>
              <a:gd name="adj" fmla="val 8000"/>
            </a:avLst>
          </a:prstGeom>
          <a:solidFill>
            <a:srgbClr val="13283C"/>
          </a:solidFill>
          <a:ln w="12700">
            <a:solidFill>
              <a:srgbClr val="13283C"/>
            </a:solidFill>
            <a:prstDash val="solid"/>
          </a:ln>
        </p:spPr>
      </p:sp>
      <p:sp>
        <p:nvSpPr>
          <p:cNvPr id="42" name="Shape 38"/>
          <p:cNvSpPr/>
          <p:nvPr/>
        </p:nvSpPr>
        <p:spPr>
          <a:xfrm>
            <a:off x="6300216" y="1920240"/>
            <a:ext cx="502920" cy="502920"/>
          </a:xfrm>
          <a:prstGeom prst="ellipse">
            <a:avLst/>
          </a:prstGeom>
          <a:solidFill>
            <a:srgbClr val="C9002B"/>
          </a:solidFill>
          <a:ln w="12700">
            <a:solidFill>
              <a:srgbClr val="C9002B"/>
            </a:solidFill>
            <a:prstDash val="solid"/>
          </a:ln>
        </p:spPr>
      </p:sp>
      <p:pic>
        <p:nvPicPr>
          <p:cNvPr id="43" name="Image 2" descr="preencoded.png">    </p:cNvPr>
          <p:cNvPicPr>
            <a:picLocks noChangeAspect="1"/>
          </p:cNvPicPr>
          <p:nvPr/>
        </p:nvPicPr>
        <p:blipFill>
          <a:blip r:embed="rId3"/>
          <a:stretch>
            <a:fillRect/>
          </a:stretch>
        </p:blipFill>
        <p:spPr>
          <a:xfrm>
            <a:off x="6425946" y="2045970"/>
            <a:ext cx="251460" cy="251460"/>
          </a:xfrm>
          <a:prstGeom prst="rect">
            <a:avLst/>
          </a:prstGeom>
        </p:spPr>
      </p:pic>
      <p:sp>
        <p:nvSpPr>
          <p:cNvPr id="44" name="Text 39"/>
          <p:cNvSpPr txBox="1"/>
          <p:nvPr/>
        </p:nvSpPr>
        <p:spPr>
          <a:xfrm>
            <a:off x="6876288" y="1801368"/>
            <a:ext cx="1874520" cy="4572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Meiryo" pitchFamily="34" charset="0"/>
                <a:ea typeface="Meiryo" pitchFamily="34" charset="-122"/>
                <a:cs typeface="Meiryo" pitchFamily="34" charset="-120"/>
              </a:rPr>
              <a:t>中小企業・商業施設</a:t>
            </a:r>
            <a:endParaRPr lang="en-US" sz="1250" dirty="0"/>
          </a:p>
        </p:txBody>
      </p:sp>
      <p:sp>
        <p:nvSpPr>
          <p:cNvPr id="45" name="Text 40"/>
          <p:cNvSpPr txBox="1"/>
          <p:nvPr/>
        </p:nvSpPr>
        <p:spPr>
          <a:xfrm>
            <a:off x="6876288"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店舗・イベント主催者</a:t>
            </a:r>
            <a:endParaRPr lang="en-US" sz="950" dirty="0"/>
          </a:p>
        </p:txBody>
      </p:sp>
      <p:sp>
        <p:nvSpPr>
          <p:cNvPr id="46" name="Shape 41"/>
          <p:cNvSpPr/>
          <p:nvPr/>
        </p:nvSpPr>
        <p:spPr>
          <a:xfrm>
            <a:off x="6163056" y="2743200"/>
            <a:ext cx="2651760" cy="777240"/>
          </a:xfrm>
          <a:prstGeom prst="roundRect">
            <a:avLst>
              <a:gd name="adj" fmla="val 9412"/>
            </a:avLst>
          </a:prstGeom>
          <a:solidFill>
            <a:srgbClr val="FBEAEE"/>
          </a:solidFill>
          <a:ln w="12700">
            <a:solidFill>
              <a:srgbClr val="FBEAEE"/>
            </a:solidFill>
            <a:prstDash val="solid"/>
          </a:ln>
        </p:spPr>
      </p:sp>
      <p:sp>
        <p:nvSpPr>
          <p:cNvPr id="47" name="Text 42"/>
          <p:cNvSpPr txBox="1"/>
          <p:nvPr/>
        </p:nvSpPr>
        <p:spPr>
          <a:xfrm>
            <a:off x="6300216"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48" name="Text 43"/>
          <p:cNvSpPr txBox="1"/>
          <p:nvPr/>
        </p:nvSpPr>
        <p:spPr>
          <a:xfrm>
            <a:off x="6300216"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モバイル空間統計（商圏・来訪元）</a:t>
            </a:r>
            <a:endParaRPr lang="en-US" sz="1100" dirty="0"/>
          </a:p>
        </p:txBody>
      </p:sp>
      <p:sp>
        <p:nvSpPr>
          <p:cNvPr id="49" name="Shape 44"/>
          <p:cNvSpPr/>
          <p:nvPr/>
        </p:nvSpPr>
        <p:spPr>
          <a:xfrm>
            <a:off x="6163056" y="3611880"/>
            <a:ext cx="2651760" cy="777240"/>
          </a:xfrm>
          <a:prstGeom prst="roundRect">
            <a:avLst>
              <a:gd name="adj" fmla="val 9412"/>
            </a:avLst>
          </a:prstGeom>
          <a:solidFill>
            <a:srgbClr val="F2F5F8"/>
          </a:solidFill>
          <a:ln w="12700">
            <a:solidFill>
              <a:srgbClr val="F2F5F8"/>
            </a:solidFill>
            <a:prstDash val="solid"/>
          </a:ln>
        </p:spPr>
      </p:sp>
      <p:sp>
        <p:nvSpPr>
          <p:cNvPr id="50" name="Text 45"/>
          <p:cNvSpPr txBox="1"/>
          <p:nvPr/>
        </p:nvSpPr>
        <p:spPr>
          <a:xfrm>
            <a:off x="6300216"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51" name="Text 46"/>
          <p:cNvSpPr txBox="1"/>
          <p:nvPr/>
        </p:nvSpPr>
        <p:spPr>
          <a:xfrm>
            <a:off x="6300216"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1イベント単位</a:t>
            </a:r>
            <a:endParaRPr lang="en-US" sz="1100" dirty="0"/>
          </a:p>
        </p:txBody>
      </p:sp>
      <p:sp>
        <p:nvSpPr>
          <p:cNvPr id="52" name="Shape 47"/>
          <p:cNvSpPr/>
          <p:nvPr/>
        </p:nvSpPr>
        <p:spPr>
          <a:xfrm>
            <a:off x="6163056" y="4480560"/>
            <a:ext cx="2651760" cy="777240"/>
          </a:xfrm>
          <a:prstGeom prst="roundRect">
            <a:avLst>
              <a:gd name="adj" fmla="val 9412"/>
            </a:avLst>
          </a:prstGeom>
          <a:solidFill>
            <a:srgbClr val="F2F5F8"/>
          </a:solidFill>
          <a:ln w="12700">
            <a:solidFill>
              <a:srgbClr val="F2F5F8"/>
            </a:solidFill>
            <a:prstDash val="solid"/>
          </a:ln>
        </p:spPr>
      </p:sp>
      <p:sp>
        <p:nvSpPr>
          <p:cNvPr id="53" name="Text 48"/>
          <p:cNvSpPr txBox="1"/>
          <p:nvPr/>
        </p:nvSpPr>
        <p:spPr>
          <a:xfrm>
            <a:off x="6300216"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54" name="Text 49"/>
          <p:cNvSpPr txBox="1"/>
          <p:nvPr/>
        </p:nvSpPr>
        <p:spPr>
          <a:xfrm>
            <a:off x="6300216"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どの地域から来ているか</a:t>
            </a:r>
            <a:endParaRPr lang="en-US" sz="1100" dirty="0"/>
          </a:p>
        </p:txBody>
      </p:sp>
      <p:sp>
        <p:nvSpPr>
          <p:cNvPr id="55" name="Shape 50"/>
          <p:cNvSpPr/>
          <p:nvPr/>
        </p:nvSpPr>
        <p:spPr>
          <a:xfrm>
            <a:off x="6163056" y="5349240"/>
            <a:ext cx="2651760" cy="777240"/>
          </a:xfrm>
          <a:prstGeom prst="roundRect">
            <a:avLst>
              <a:gd name="adj" fmla="val 9412"/>
            </a:avLst>
          </a:prstGeom>
          <a:solidFill>
            <a:srgbClr val="F2F5F8"/>
          </a:solidFill>
          <a:ln w="12700">
            <a:solidFill>
              <a:srgbClr val="F2F5F8"/>
            </a:solidFill>
            <a:prstDash val="solid"/>
          </a:ln>
        </p:spPr>
      </p:sp>
      <p:sp>
        <p:nvSpPr>
          <p:cNvPr id="56" name="Text 51"/>
          <p:cNvSpPr txBox="1"/>
          <p:nvPr/>
        </p:nvSpPr>
        <p:spPr>
          <a:xfrm>
            <a:off x="6300216"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57" name="Text 52"/>
          <p:cNvSpPr txBox="1"/>
          <p:nvPr/>
        </p:nvSpPr>
        <p:spPr>
          <a:xfrm>
            <a:off x="6300216"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稟議用の1枚、成果を保証しない説明</a:t>
            </a:r>
            <a:endParaRPr lang="en-US" sz="1100" dirty="0"/>
          </a:p>
        </p:txBody>
      </p:sp>
      <p:sp>
        <p:nvSpPr>
          <p:cNvPr id="58" name="Shape 53"/>
          <p:cNvSpPr/>
          <p:nvPr/>
        </p:nvSpPr>
        <p:spPr>
          <a:xfrm>
            <a:off x="8970264" y="1737360"/>
            <a:ext cx="2651760" cy="914400"/>
          </a:xfrm>
          <a:prstGeom prst="roundRect">
            <a:avLst>
              <a:gd name="adj" fmla="val 8000"/>
            </a:avLst>
          </a:prstGeom>
          <a:solidFill>
            <a:srgbClr val="13283C"/>
          </a:solidFill>
          <a:ln w="12700">
            <a:solidFill>
              <a:srgbClr val="13283C"/>
            </a:solidFill>
            <a:prstDash val="solid"/>
          </a:ln>
        </p:spPr>
      </p:sp>
      <p:sp>
        <p:nvSpPr>
          <p:cNvPr id="59" name="Shape 54"/>
          <p:cNvSpPr/>
          <p:nvPr/>
        </p:nvSpPr>
        <p:spPr>
          <a:xfrm>
            <a:off x="9107424" y="1920240"/>
            <a:ext cx="502920" cy="502920"/>
          </a:xfrm>
          <a:prstGeom prst="ellipse">
            <a:avLst/>
          </a:prstGeom>
          <a:solidFill>
            <a:srgbClr val="C9002B"/>
          </a:solidFill>
          <a:ln w="12700">
            <a:solidFill>
              <a:srgbClr val="C9002B"/>
            </a:solidFill>
            <a:prstDash val="solid"/>
          </a:ln>
        </p:spPr>
      </p:sp>
      <p:pic>
        <p:nvPicPr>
          <p:cNvPr id="60" name="Image 3" descr="preencoded.png">    </p:cNvPr>
          <p:cNvPicPr>
            <a:picLocks noChangeAspect="1"/>
          </p:cNvPicPr>
          <p:nvPr/>
        </p:nvPicPr>
        <p:blipFill>
          <a:blip r:embed="rId4"/>
          <a:stretch>
            <a:fillRect/>
          </a:stretch>
        </p:blipFill>
        <p:spPr>
          <a:xfrm>
            <a:off x="9233154" y="2045970"/>
            <a:ext cx="251460" cy="251460"/>
          </a:xfrm>
          <a:prstGeom prst="rect">
            <a:avLst/>
          </a:prstGeom>
        </p:spPr>
      </p:pic>
      <p:sp>
        <p:nvSpPr>
          <p:cNvPr id="61" name="Text 55"/>
          <p:cNvSpPr txBox="1"/>
          <p:nvPr/>
        </p:nvSpPr>
        <p:spPr>
          <a:xfrm>
            <a:off x="9683496" y="1801368"/>
            <a:ext cx="1874520" cy="457200"/>
          </a:xfrm>
          <a:prstGeom prst="rect">
            <a:avLst/>
          </a:prstGeom>
          <a:noFill/>
          <a:ln/>
        </p:spPr>
        <p:txBody>
          <a:bodyPr wrap="square" lIns="0" tIns="0" rIns="0" bIns="0" rtlCol="0" anchor="ctr">
            <a:normAutofit/>
          </a:bodyPr>
          <a:lstStyle/>
          <a:p>
            <a:pPr indent="0" marL="0">
              <a:buNone/>
            </a:pPr>
            <a:r>
              <a:rPr lang="en-US" sz="1250" b="1" dirty="0">
                <a:solidFill>
                  <a:srgbClr val="FFFFFF"/>
                </a:solidFill>
                <a:latin typeface="Meiryo" pitchFamily="34" charset="0"/>
                <a:ea typeface="Meiryo" pitchFamily="34" charset="-122"/>
                <a:cs typeface="Meiryo" pitchFamily="34" charset="-120"/>
              </a:rPr>
              <a:t>プロスポーツ球団・クラブ</a:t>
            </a:r>
            <a:endParaRPr lang="en-US" sz="1250" dirty="0"/>
          </a:p>
        </p:txBody>
      </p:sp>
      <p:sp>
        <p:nvSpPr>
          <p:cNvPr id="62" name="Text 56"/>
          <p:cNvSpPr txBox="1"/>
          <p:nvPr/>
        </p:nvSpPr>
        <p:spPr>
          <a:xfrm>
            <a:off x="9683496"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ファーム・地方試合も含む</a:t>
            </a:r>
            <a:endParaRPr lang="en-US" sz="950" dirty="0"/>
          </a:p>
        </p:txBody>
      </p:sp>
      <p:sp>
        <p:nvSpPr>
          <p:cNvPr id="63" name="Shape 57"/>
          <p:cNvSpPr/>
          <p:nvPr/>
        </p:nvSpPr>
        <p:spPr>
          <a:xfrm>
            <a:off x="8970264" y="2743200"/>
            <a:ext cx="2651760" cy="777240"/>
          </a:xfrm>
          <a:prstGeom prst="roundRect">
            <a:avLst>
              <a:gd name="adj" fmla="val 9412"/>
            </a:avLst>
          </a:prstGeom>
          <a:solidFill>
            <a:srgbClr val="FBEAEE"/>
          </a:solidFill>
          <a:ln w="12700">
            <a:solidFill>
              <a:srgbClr val="FBEAEE"/>
            </a:solidFill>
            <a:prstDash val="solid"/>
          </a:ln>
        </p:spPr>
      </p:sp>
      <p:sp>
        <p:nvSpPr>
          <p:cNvPr id="64" name="Text 58"/>
          <p:cNvSpPr txBox="1"/>
          <p:nvPr/>
        </p:nvSpPr>
        <p:spPr>
          <a:xfrm>
            <a:off x="9107424"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65" name="Text 59"/>
          <p:cNvSpPr txBox="1"/>
          <p:nvPr/>
        </p:nvSpPr>
        <p:spPr>
          <a:xfrm>
            <a:off x="9107424"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プレミアパネル＋告知</a:t>
            </a:r>
            <a:endParaRPr lang="en-US" sz="1100" dirty="0"/>
          </a:p>
        </p:txBody>
      </p:sp>
      <p:sp>
        <p:nvSpPr>
          <p:cNvPr id="66" name="Shape 60"/>
          <p:cNvSpPr/>
          <p:nvPr/>
        </p:nvSpPr>
        <p:spPr>
          <a:xfrm>
            <a:off x="8970264" y="3611880"/>
            <a:ext cx="2651760" cy="777240"/>
          </a:xfrm>
          <a:prstGeom prst="roundRect">
            <a:avLst>
              <a:gd name="adj" fmla="val 9412"/>
            </a:avLst>
          </a:prstGeom>
          <a:solidFill>
            <a:srgbClr val="F2F5F8"/>
          </a:solidFill>
          <a:ln w="12700">
            <a:solidFill>
              <a:srgbClr val="F2F5F8"/>
            </a:solidFill>
            <a:prstDash val="solid"/>
          </a:ln>
        </p:spPr>
      </p:sp>
      <p:sp>
        <p:nvSpPr>
          <p:cNvPr id="67" name="Text 61"/>
          <p:cNvSpPr txBox="1"/>
          <p:nvPr/>
        </p:nvSpPr>
        <p:spPr>
          <a:xfrm>
            <a:off x="9107424"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68" name="Text 62"/>
          <p:cNvSpPr txBox="1"/>
          <p:nvPr/>
        </p:nvSpPr>
        <p:spPr>
          <a:xfrm>
            <a:off x="9107424"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空席が出やすい試合で1回</a:t>
            </a:r>
            <a:endParaRPr lang="en-US" sz="1100" dirty="0"/>
          </a:p>
        </p:txBody>
      </p:sp>
      <p:sp>
        <p:nvSpPr>
          <p:cNvPr id="69" name="Shape 63"/>
          <p:cNvSpPr/>
          <p:nvPr/>
        </p:nvSpPr>
        <p:spPr>
          <a:xfrm>
            <a:off x="8970264" y="4480560"/>
            <a:ext cx="2651760" cy="777240"/>
          </a:xfrm>
          <a:prstGeom prst="roundRect">
            <a:avLst>
              <a:gd name="adj" fmla="val 9412"/>
            </a:avLst>
          </a:prstGeom>
          <a:solidFill>
            <a:srgbClr val="F2F5F8"/>
          </a:solidFill>
          <a:ln w="12700">
            <a:solidFill>
              <a:srgbClr val="F2F5F8"/>
            </a:solidFill>
            <a:prstDash val="solid"/>
          </a:ln>
        </p:spPr>
      </p:sp>
      <p:sp>
        <p:nvSpPr>
          <p:cNvPr id="70" name="Text 64"/>
          <p:cNvSpPr txBox="1"/>
          <p:nvPr/>
        </p:nvSpPr>
        <p:spPr>
          <a:xfrm>
            <a:off x="9107424"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71" name="Text 65"/>
          <p:cNvSpPr txBox="1"/>
          <p:nvPr/>
        </p:nvSpPr>
        <p:spPr>
          <a:xfrm>
            <a:off x="9107424"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未観戦の理由、新規層への申込</a:t>
            </a:r>
            <a:endParaRPr lang="en-US" sz="1100" dirty="0"/>
          </a:p>
        </p:txBody>
      </p:sp>
      <p:sp>
        <p:nvSpPr>
          <p:cNvPr id="72" name="Shape 66"/>
          <p:cNvSpPr/>
          <p:nvPr/>
        </p:nvSpPr>
        <p:spPr>
          <a:xfrm>
            <a:off x="8970264" y="5349240"/>
            <a:ext cx="2651760" cy="777240"/>
          </a:xfrm>
          <a:prstGeom prst="roundRect">
            <a:avLst>
              <a:gd name="adj" fmla="val 9412"/>
            </a:avLst>
          </a:prstGeom>
          <a:solidFill>
            <a:srgbClr val="F2F5F8"/>
          </a:solidFill>
          <a:ln w="12700">
            <a:solidFill>
              <a:srgbClr val="F2F5F8"/>
            </a:solidFill>
            <a:prstDash val="solid"/>
          </a:ln>
        </p:spPr>
      </p:sp>
      <p:sp>
        <p:nvSpPr>
          <p:cNvPr id="73" name="Text 67"/>
          <p:cNvSpPr txBox="1"/>
          <p:nvPr/>
        </p:nvSpPr>
        <p:spPr>
          <a:xfrm>
            <a:off x="9107424"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74" name="Text 68"/>
          <p:cNvSpPr txBox="1"/>
          <p:nvPr/>
        </p:nvSpPr>
        <p:spPr>
          <a:xfrm>
            <a:off x="9107424"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1試合あたりの費用、スポンサー説明</a:t>
            </a:r>
            <a:endParaRPr lang="en-US" sz="1100" dirty="0"/>
          </a:p>
        </p:txBody>
      </p:sp>
      <p:sp>
        <p:nvSpPr>
          <p:cNvPr id="75" name="Text 6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本資料の提案例。導入実績を示すものではない</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競合との比較と切り返し（中小規模向け）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小さな予算では「定額の年間ツール」より「1回単位」が入りやすい</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19</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11064240" cy="658368"/>
          </a:xfrm>
          <a:prstGeom prst="roundRect">
            <a:avLst>
              <a:gd name="adj" fmla="val 11111"/>
            </a:avLst>
          </a:prstGeom>
          <a:solidFill>
            <a:srgbClr val="FBEAEE"/>
          </a:solidFill>
          <a:ln w="12700">
            <a:solidFill>
              <a:srgbClr val="FBEAEE"/>
            </a:solidFill>
            <a:prstDash val="solid"/>
          </a:ln>
        </p:spPr>
      </p:sp>
      <p:sp>
        <p:nvSpPr>
          <p:cNvPr id="8" name="Text 6"/>
          <p:cNvSpPr txBox="1"/>
          <p:nvPr/>
        </p:nvSpPr>
        <p:spPr>
          <a:xfrm>
            <a:off x="731520" y="1737360"/>
            <a:ext cx="2926080" cy="658368"/>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モバイル空間統計（ドコモ）</a:t>
            </a:r>
            <a:endParaRPr lang="en-US" sz="1250" dirty="0"/>
          </a:p>
        </p:txBody>
      </p:sp>
      <p:sp>
        <p:nvSpPr>
          <p:cNvPr id="9" name="Text 7"/>
          <p:cNvSpPr txBox="1"/>
          <p:nvPr/>
        </p:nvSpPr>
        <p:spPr>
          <a:xfrm>
            <a:off x="3657600" y="1737360"/>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基地局の運用データ。約8,900万台。市町村単位の人口推計・来訪元に強い</a:t>
            </a:r>
            <a:endParaRPr lang="en-US" sz="1100" dirty="0"/>
          </a:p>
        </p:txBody>
      </p:sp>
      <p:sp>
        <p:nvSpPr>
          <p:cNvPr id="10" name="Text 8"/>
          <p:cNvSpPr txBox="1"/>
          <p:nvPr/>
        </p:nvSpPr>
        <p:spPr>
          <a:xfrm>
            <a:off x="8321040" y="1737360"/>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人口マップ月額9万円〜、スポット分析は個別見積</a:t>
            </a:r>
            <a:endParaRPr lang="en-US" sz="1100" dirty="0"/>
          </a:p>
        </p:txBody>
      </p:sp>
      <p:sp>
        <p:nvSpPr>
          <p:cNvPr id="11" name="Shape 9"/>
          <p:cNvSpPr/>
          <p:nvPr/>
        </p:nvSpPr>
        <p:spPr>
          <a:xfrm>
            <a:off x="548640" y="2487168"/>
            <a:ext cx="11064240" cy="658368"/>
          </a:xfrm>
          <a:prstGeom prst="roundRect">
            <a:avLst>
              <a:gd name="adj" fmla="val 11111"/>
            </a:avLst>
          </a:prstGeom>
          <a:solidFill>
            <a:srgbClr val="F2F5F8"/>
          </a:solidFill>
          <a:ln w="12700">
            <a:solidFill>
              <a:srgbClr val="F2F5F8"/>
            </a:solidFill>
            <a:prstDash val="solid"/>
          </a:ln>
        </p:spPr>
      </p:sp>
      <p:sp>
        <p:nvSpPr>
          <p:cNvPr id="12" name="Text 10"/>
          <p:cNvSpPr txBox="1"/>
          <p:nvPr/>
        </p:nvSpPr>
        <p:spPr>
          <a:xfrm>
            <a:off x="731520" y="2487168"/>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KDDI Location Analyzer</a:t>
            </a:r>
            <a:endParaRPr lang="en-US" sz="1250" dirty="0"/>
          </a:p>
        </p:txBody>
      </p:sp>
      <p:sp>
        <p:nvSpPr>
          <p:cNvPr id="13" name="Text 11"/>
          <p:cNvSpPr txBox="1"/>
          <p:nvPr/>
        </p:nvSpPr>
        <p:spPr>
          <a:xfrm>
            <a:off x="3657600" y="2487168"/>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auスマホのGPS。施設・道路単位、自分で何度も分析できる</a:t>
            </a:r>
            <a:endParaRPr lang="en-US" sz="1100" dirty="0"/>
          </a:p>
        </p:txBody>
      </p:sp>
      <p:sp>
        <p:nvSpPr>
          <p:cNvPr id="14" name="Text 12"/>
          <p:cNvSpPr txBox="1"/>
          <p:nvPr/>
        </p:nvSpPr>
        <p:spPr>
          <a:xfrm>
            <a:off x="8321040" y="2487168"/>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年額240万円（1ID・税別）の掲載例。無料トライアルあり</a:t>
            </a:r>
            <a:endParaRPr lang="en-US" sz="1100" dirty="0"/>
          </a:p>
        </p:txBody>
      </p:sp>
      <p:sp>
        <p:nvSpPr>
          <p:cNvPr id="15" name="Shape 13"/>
          <p:cNvSpPr/>
          <p:nvPr/>
        </p:nvSpPr>
        <p:spPr>
          <a:xfrm>
            <a:off x="548640" y="3236976"/>
            <a:ext cx="11064240" cy="658368"/>
          </a:xfrm>
          <a:prstGeom prst="roundRect">
            <a:avLst>
              <a:gd name="adj" fmla="val 11111"/>
            </a:avLst>
          </a:prstGeom>
          <a:solidFill>
            <a:srgbClr val="F2F5F8"/>
          </a:solidFill>
          <a:ln w="12700">
            <a:solidFill>
              <a:srgbClr val="F2F5F8"/>
            </a:solidFill>
            <a:prstDash val="solid"/>
          </a:ln>
        </p:spPr>
      </p:sp>
      <p:sp>
        <p:nvSpPr>
          <p:cNvPr id="16" name="Text 14"/>
          <p:cNvSpPr txBox="1"/>
          <p:nvPr/>
        </p:nvSpPr>
        <p:spPr>
          <a:xfrm>
            <a:off x="731520" y="3236976"/>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Agoop（ソフトバンク子会社）</a:t>
            </a:r>
            <a:endParaRPr lang="en-US" sz="1250" dirty="0"/>
          </a:p>
        </p:txBody>
      </p:sp>
      <p:sp>
        <p:nvSpPr>
          <p:cNvPr id="17" name="Text 15"/>
          <p:cNvSpPr txBox="1"/>
          <p:nvPr/>
        </p:nvSpPr>
        <p:spPr>
          <a:xfrm>
            <a:off x="3657600" y="3236976"/>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提携アプリのGPS。狭い範囲・周遊ルートに強い</a:t>
            </a:r>
            <a:endParaRPr lang="en-US" sz="1100" dirty="0"/>
          </a:p>
        </p:txBody>
      </p:sp>
      <p:sp>
        <p:nvSpPr>
          <p:cNvPr id="18" name="Text 16"/>
          <p:cNvSpPr txBox="1"/>
          <p:nvPr/>
        </p:nvSpPr>
        <p:spPr>
          <a:xfrm>
            <a:off x="8321040" y="3236976"/>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地域・期間で個別見積（原則1ヶ月〜）</a:t>
            </a:r>
            <a:endParaRPr lang="en-US" sz="1100" dirty="0"/>
          </a:p>
        </p:txBody>
      </p:sp>
      <p:sp>
        <p:nvSpPr>
          <p:cNvPr id="19" name="Shape 17"/>
          <p:cNvSpPr/>
          <p:nvPr/>
        </p:nvSpPr>
        <p:spPr>
          <a:xfrm>
            <a:off x="548640" y="4069080"/>
            <a:ext cx="5440680" cy="987552"/>
          </a:xfrm>
          <a:prstGeom prst="roundRect">
            <a:avLst>
              <a:gd name="adj" fmla="val 7407"/>
            </a:avLst>
          </a:prstGeom>
          <a:solidFill>
            <a:srgbClr val="F2F5F8"/>
          </a:solidFill>
          <a:ln w="12700">
            <a:solidFill>
              <a:srgbClr val="F2F5F8"/>
            </a:solidFill>
            <a:prstDash val="solid"/>
          </a:ln>
        </p:spPr>
      </p:sp>
      <p:sp>
        <p:nvSpPr>
          <p:cNvPr id="20" name="Text 18"/>
          <p:cNvSpPr txBox="1"/>
          <p:nvPr/>
        </p:nvSpPr>
        <p:spPr>
          <a:xfrm>
            <a:off x="73152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「年額の定額ツールの方が便利では？」</a:t>
            </a:r>
            <a:endParaRPr lang="en-US" sz="1200" dirty="0"/>
          </a:p>
        </p:txBody>
      </p:sp>
      <p:sp>
        <p:nvSpPr>
          <p:cNvPr id="21" name="Text 19"/>
          <p:cNvSpPr txBox="1"/>
          <p:nvPr/>
        </p:nvSpPr>
        <p:spPr>
          <a:xfrm>
            <a:off x="73152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毎日自分で分析するなら定額が合います。年に数回のイベントなら、1回ごとの方が費用を抑えられる場合があります</a:t>
            </a:r>
            <a:endParaRPr lang="en-US" sz="1050" dirty="0"/>
          </a:p>
        </p:txBody>
      </p:sp>
      <p:sp>
        <p:nvSpPr>
          <p:cNvPr id="22" name="Shape 20"/>
          <p:cNvSpPr/>
          <p:nvPr/>
        </p:nvSpPr>
        <p:spPr>
          <a:xfrm>
            <a:off x="6172200" y="4069080"/>
            <a:ext cx="5440680" cy="987552"/>
          </a:xfrm>
          <a:prstGeom prst="roundRect">
            <a:avLst>
              <a:gd name="adj" fmla="val 7407"/>
            </a:avLst>
          </a:prstGeom>
          <a:solidFill>
            <a:srgbClr val="F2F5F8"/>
          </a:solidFill>
          <a:ln w="12700">
            <a:solidFill>
              <a:srgbClr val="F2F5F8"/>
            </a:solidFill>
            <a:prstDash val="solid"/>
          </a:ln>
        </p:spPr>
      </p:sp>
      <p:sp>
        <p:nvSpPr>
          <p:cNvPr id="23" name="Text 21"/>
          <p:cNvSpPr txBox="1"/>
          <p:nvPr/>
        </p:nvSpPr>
        <p:spPr>
          <a:xfrm>
            <a:off x="635508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「RESASで無料で見られるのでは？」</a:t>
            </a:r>
            <a:endParaRPr lang="en-US" sz="1200" dirty="0"/>
          </a:p>
        </p:txBody>
      </p:sp>
      <p:sp>
        <p:nvSpPr>
          <p:cNvPr id="24" name="Text 22"/>
          <p:cNvSpPr txBox="1"/>
          <p:nvPr/>
        </p:nvSpPr>
        <p:spPr>
          <a:xfrm>
            <a:off x="635508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RESASの滞在人口などもモバイル空間統計です。玉名市のように、市の単位や国別など目的に合わせて細かく見られます</a:t>
            </a:r>
            <a:endParaRPr lang="en-US" sz="1050" dirty="0"/>
          </a:p>
        </p:txBody>
      </p:sp>
      <p:sp>
        <p:nvSpPr>
          <p:cNvPr id="25" name="Shape 23"/>
          <p:cNvSpPr/>
          <p:nvPr/>
        </p:nvSpPr>
        <p:spPr>
          <a:xfrm>
            <a:off x="548640" y="5166360"/>
            <a:ext cx="5440680" cy="987552"/>
          </a:xfrm>
          <a:prstGeom prst="roundRect">
            <a:avLst>
              <a:gd name="adj" fmla="val 7407"/>
            </a:avLst>
          </a:prstGeom>
          <a:solidFill>
            <a:srgbClr val="F2F5F8"/>
          </a:solidFill>
          <a:ln w="12700">
            <a:solidFill>
              <a:srgbClr val="F2F5F8"/>
            </a:solidFill>
            <a:prstDash val="solid"/>
          </a:ln>
        </p:spPr>
      </p:sp>
      <p:sp>
        <p:nvSpPr>
          <p:cNvPr id="26" name="Text 24"/>
          <p:cNvSpPr txBox="1"/>
          <p:nvPr/>
        </p:nvSpPr>
        <p:spPr>
          <a:xfrm>
            <a:off x="73152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「アンケートなら自分たちでもできる」</a:t>
            </a:r>
            <a:endParaRPr lang="en-US" sz="1200" dirty="0"/>
          </a:p>
        </p:txBody>
      </p:sp>
      <p:sp>
        <p:nvSpPr>
          <p:cNvPr id="27" name="Text 25"/>
          <p:cNvSpPr txBox="1"/>
          <p:nvPr/>
        </p:nvSpPr>
        <p:spPr>
          <a:xfrm>
            <a:off x="73152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会場のアンケートでは来なかった人に聞けません。琴平町も手書きで50件程度でしたが、ドコモの会員に聞く形に変えました</a:t>
            </a:r>
            <a:endParaRPr lang="en-US" sz="1050" dirty="0"/>
          </a:p>
        </p:txBody>
      </p:sp>
      <p:sp>
        <p:nvSpPr>
          <p:cNvPr id="28" name="Shape 26"/>
          <p:cNvSpPr/>
          <p:nvPr/>
        </p:nvSpPr>
        <p:spPr>
          <a:xfrm>
            <a:off x="6172200" y="5166360"/>
            <a:ext cx="5440680" cy="987552"/>
          </a:xfrm>
          <a:prstGeom prst="roundRect">
            <a:avLst>
              <a:gd name="adj" fmla="val 7407"/>
            </a:avLst>
          </a:prstGeom>
          <a:solidFill>
            <a:srgbClr val="F2F5F8"/>
          </a:solidFill>
          <a:ln w="12700">
            <a:solidFill>
              <a:srgbClr val="F2F5F8"/>
            </a:solidFill>
            <a:prstDash val="solid"/>
          </a:ln>
        </p:spPr>
      </p:sp>
      <p:sp>
        <p:nvSpPr>
          <p:cNvPr id="29" name="Text 27"/>
          <p:cNvSpPr txBox="1"/>
          <p:nvPr/>
        </p:nvSpPr>
        <p:spPr>
          <a:xfrm>
            <a:off x="635508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「広告はSNSで十分では？」</a:t>
            </a:r>
            <a:endParaRPr lang="en-US" sz="1200" dirty="0"/>
          </a:p>
        </p:txBody>
      </p:sp>
      <p:sp>
        <p:nvSpPr>
          <p:cNvPr id="30" name="Text 28"/>
          <p:cNvSpPr txBox="1"/>
          <p:nvPr/>
        </p:nvSpPr>
        <p:spPr>
          <a:xfrm>
            <a:off x="635508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SNSはフォロワー中心になりがちです。ドコモのデータで、まだ接点のない地域・年代の人に届けられます</a:t>
            </a:r>
            <a:endParaRPr lang="en-US" sz="105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各社の公開情報から整理（2026年9月27日確認）。料金・仕様は変わるため提案時に再確認。他社を否定せず、見積をそろえて比べる</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チームの動き方（中小規模向け）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少ない人数で、速く・軽く回す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20</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810512"/>
            <a:ext cx="548640" cy="548640"/>
          </a:xfrm>
          <a:prstGeom prst="ellipse">
            <a:avLst/>
          </a:prstGeom>
          <a:solidFill>
            <a:srgbClr val="13283C"/>
          </a:solidFill>
          <a:ln w="12700">
            <a:solidFill>
              <a:srgbClr val="13283C"/>
            </a:solidFill>
            <a:prstDash val="solid"/>
          </a:ln>
        </p:spPr>
      </p:sp>
      <p:sp>
        <p:nvSpPr>
          <p:cNvPr id="8" name="Text 6"/>
          <p:cNvSpPr txBox="1"/>
          <p:nvPr/>
        </p:nvSpPr>
        <p:spPr>
          <a:xfrm>
            <a:off x="548640" y="18105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Shape 7"/>
          <p:cNvSpPr/>
          <p:nvPr/>
        </p:nvSpPr>
        <p:spPr>
          <a:xfrm>
            <a:off x="1280160" y="1737360"/>
            <a:ext cx="10332720" cy="694944"/>
          </a:xfrm>
          <a:prstGeom prst="roundRect">
            <a:avLst>
              <a:gd name="adj" fmla="val 10526"/>
            </a:avLst>
          </a:prstGeom>
          <a:solidFill>
            <a:srgbClr val="F2F5F8"/>
          </a:solidFill>
          <a:ln w="12700">
            <a:solidFill>
              <a:srgbClr val="F2F5F8"/>
            </a:solidFill>
            <a:prstDash val="solid"/>
          </a:ln>
        </p:spPr>
      </p:sp>
      <p:sp>
        <p:nvSpPr>
          <p:cNvPr id="10" name="Text 8"/>
          <p:cNvSpPr txBox="1"/>
          <p:nvPr/>
        </p:nvSpPr>
        <p:spPr>
          <a:xfrm>
            <a:off x="1463040" y="1737360"/>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初回訪問</a:t>
            </a:r>
            <a:endParaRPr lang="en-US" sz="1350" dirty="0"/>
          </a:p>
        </p:txBody>
      </p:sp>
      <p:sp>
        <p:nvSpPr>
          <p:cNvPr id="11" name="Text 9"/>
          <p:cNvSpPr txBox="1"/>
          <p:nvPr/>
        </p:nvSpPr>
        <p:spPr>
          <a:xfrm>
            <a:off x="3108960" y="1737360"/>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4つの質問（P.15）で目的・予算・手元のデータを聞く</a:t>
            </a:r>
            <a:endParaRPr lang="en-US" sz="1200" dirty="0"/>
          </a:p>
        </p:txBody>
      </p:sp>
      <p:sp>
        <p:nvSpPr>
          <p:cNvPr id="12" name="Text 10"/>
          <p:cNvSpPr txBox="1"/>
          <p:nvPr/>
        </p:nvSpPr>
        <p:spPr>
          <a:xfrm>
            <a:off x="9006840" y="1920240"/>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13" name="Shape 11"/>
          <p:cNvSpPr/>
          <p:nvPr/>
        </p:nvSpPr>
        <p:spPr>
          <a:xfrm>
            <a:off x="548640" y="2615184"/>
            <a:ext cx="548640" cy="548640"/>
          </a:xfrm>
          <a:prstGeom prst="ellipse">
            <a:avLst/>
          </a:prstGeom>
          <a:solidFill>
            <a:srgbClr val="13283C"/>
          </a:solidFill>
          <a:ln w="12700">
            <a:solidFill>
              <a:srgbClr val="13283C"/>
            </a:solidFill>
            <a:prstDash val="solid"/>
          </a:ln>
        </p:spPr>
      </p:sp>
      <p:sp>
        <p:nvSpPr>
          <p:cNvPr id="14" name="Text 12"/>
          <p:cNvSpPr txBox="1"/>
          <p:nvPr/>
        </p:nvSpPr>
        <p:spPr>
          <a:xfrm>
            <a:off x="548640" y="26151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5" name="Shape 13"/>
          <p:cNvSpPr/>
          <p:nvPr/>
        </p:nvSpPr>
        <p:spPr>
          <a:xfrm>
            <a:off x="1280160" y="2542032"/>
            <a:ext cx="10332720" cy="694944"/>
          </a:xfrm>
          <a:prstGeom prst="roundRect">
            <a:avLst>
              <a:gd name="adj" fmla="val 10526"/>
            </a:avLst>
          </a:prstGeom>
          <a:solidFill>
            <a:srgbClr val="F2F5F8"/>
          </a:solidFill>
          <a:ln w="12700">
            <a:solidFill>
              <a:srgbClr val="F2F5F8"/>
            </a:solidFill>
            <a:prstDash val="solid"/>
          </a:ln>
        </p:spPr>
      </p:sp>
      <p:sp>
        <p:nvSpPr>
          <p:cNvPr id="16" name="Text 14"/>
          <p:cNvSpPr txBox="1"/>
          <p:nvPr/>
        </p:nvSpPr>
        <p:spPr>
          <a:xfrm>
            <a:off x="1463040" y="2542032"/>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1週間以内</a:t>
            </a:r>
            <a:endParaRPr lang="en-US" sz="1350" dirty="0"/>
          </a:p>
        </p:txBody>
      </p:sp>
      <p:sp>
        <p:nvSpPr>
          <p:cNvPr id="17" name="Text 15"/>
          <p:cNvSpPr txBox="1"/>
          <p:nvPr/>
        </p:nvSpPr>
        <p:spPr>
          <a:xfrm>
            <a:off x="3108960" y="2542032"/>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お試しプランの具体案と見積。稟議・予算要求用の1枚も添える</a:t>
            </a:r>
            <a:endParaRPr lang="en-US" sz="1200" dirty="0"/>
          </a:p>
        </p:txBody>
      </p:sp>
      <p:sp>
        <p:nvSpPr>
          <p:cNvPr id="18" name="Text 16"/>
          <p:cNvSpPr txBox="1"/>
          <p:nvPr/>
        </p:nvSpPr>
        <p:spPr>
          <a:xfrm>
            <a:off x="9006840" y="2724912"/>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営業窓口＋分析担当</a:t>
            </a:r>
            <a:endParaRPr lang="en-US" sz="1050" dirty="0"/>
          </a:p>
        </p:txBody>
      </p:sp>
      <p:sp>
        <p:nvSpPr>
          <p:cNvPr id="19" name="Shape 17"/>
          <p:cNvSpPr/>
          <p:nvPr/>
        </p:nvSpPr>
        <p:spPr>
          <a:xfrm>
            <a:off x="548640" y="3419856"/>
            <a:ext cx="548640" cy="548640"/>
          </a:xfrm>
          <a:prstGeom prst="ellipse">
            <a:avLst/>
          </a:prstGeom>
          <a:solidFill>
            <a:srgbClr val="13283C"/>
          </a:solidFill>
          <a:ln w="12700">
            <a:solidFill>
              <a:srgbClr val="13283C"/>
            </a:solidFill>
            <a:prstDash val="solid"/>
          </a:ln>
        </p:spPr>
      </p:sp>
      <p:sp>
        <p:nvSpPr>
          <p:cNvPr id="20" name="Text 18"/>
          <p:cNvSpPr txBox="1"/>
          <p:nvPr/>
        </p:nvSpPr>
        <p:spPr>
          <a:xfrm>
            <a:off x="548640" y="34198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1" name="Shape 19"/>
          <p:cNvSpPr/>
          <p:nvPr/>
        </p:nvSpPr>
        <p:spPr>
          <a:xfrm>
            <a:off x="1280160" y="3346704"/>
            <a:ext cx="10332720" cy="694944"/>
          </a:xfrm>
          <a:prstGeom prst="roundRect">
            <a:avLst>
              <a:gd name="adj" fmla="val 10526"/>
            </a:avLst>
          </a:prstGeom>
          <a:solidFill>
            <a:srgbClr val="F2F5F8"/>
          </a:solidFill>
          <a:ln w="12700">
            <a:solidFill>
              <a:srgbClr val="F2F5F8"/>
            </a:solidFill>
            <a:prstDash val="solid"/>
          </a:ln>
        </p:spPr>
      </p:sp>
      <p:sp>
        <p:nvSpPr>
          <p:cNvPr id="22" name="Text 20"/>
          <p:cNvSpPr txBox="1"/>
          <p:nvPr/>
        </p:nvSpPr>
        <p:spPr>
          <a:xfrm>
            <a:off x="1463040" y="3346704"/>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実施</a:t>
            </a:r>
            <a:endParaRPr lang="en-US" sz="1350" dirty="0"/>
          </a:p>
        </p:txBody>
      </p:sp>
      <p:sp>
        <p:nvSpPr>
          <p:cNvPr id="23" name="Text 21"/>
          <p:cNvSpPr txBox="1"/>
          <p:nvPr/>
        </p:nvSpPr>
        <p:spPr>
          <a:xfrm>
            <a:off x="3108960" y="3346704"/>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設問・分析条件の設計、提供元への発注と日程調整</a:t>
            </a:r>
            <a:endParaRPr lang="en-US" sz="1200" dirty="0"/>
          </a:p>
        </p:txBody>
      </p:sp>
      <p:sp>
        <p:nvSpPr>
          <p:cNvPr id="24" name="Text 22"/>
          <p:cNvSpPr txBox="1"/>
          <p:nvPr/>
        </p:nvSpPr>
        <p:spPr>
          <a:xfrm>
            <a:off x="9006840" y="3529584"/>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分析・調査担当</a:t>
            </a:r>
            <a:endParaRPr lang="en-US" sz="1050" dirty="0"/>
          </a:p>
        </p:txBody>
      </p:sp>
      <p:sp>
        <p:nvSpPr>
          <p:cNvPr id="25" name="Shape 23"/>
          <p:cNvSpPr/>
          <p:nvPr/>
        </p:nvSpPr>
        <p:spPr>
          <a:xfrm>
            <a:off x="548640" y="4224528"/>
            <a:ext cx="548640" cy="548640"/>
          </a:xfrm>
          <a:prstGeom prst="ellipse">
            <a:avLst/>
          </a:prstGeom>
          <a:solidFill>
            <a:srgbClr val="C9002B"/>
          </a:solidFill>
          <a:ln w="12700">
            <a:solidFill>
              <a:srgbClr val="C9002B"/>
            </a:solidFill>
            <a:prstDash val="solid"/>
          </a:ln>
        </p:spPr>
      </p:sp>
      <p:sp>
        <p:nvSpPr>
          <p:cNvPr id="26" name="Text 24"/>
          <p:cNvSpPr txBox="1"/>
          <p:nvPr/>
        </p:nvSpPr>
        <p:spPr>
          <a:xfrm>
            <a:off x="54864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7" name="Shape 25"/>
          <p:cNvSpPr/>
          <p:nvPr/>
        </p:nvSpPr>
        <p:spPr>
          <a:xfrm>
            <a:off x="1280160" y="4151376"/>
            <a:ext cx="10332720" cy="694944"/>
          </a:xfrm>
          <a:prstGeom prst="roundRect">
            <a:avLst>
              <a:gd name="adj" fmla="val 10526"/>
            </a:avLst>
          </a:prstGeom>
          <a:solidFill>
            <a:srgbClr val="F2F5F8"/>
          </a:solidFill>
          <a:ln w="12700">
            <a:solidFill>
              <a:srgbClr val="F2F5F8"/>
            </a:solidFill>
            <a:prstDash val="solid"/>
          </a:ln>
        </p:spPr>
      </p:sp>
      <p:sp>
        <p:nvSpPr>
          <p:cNvPr id="28" name="Text 26"/>
          <p:cNvSpPr txBox="1"/>
          <p:nvPr/>
        </p:nvSpPr>
        <p:spPr>
          <a:xfrm>
            <a:off x="1463040" y="4151376"/>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報告</a:t>
            </a:r>
            <a:endParaRPr lang="en-US" sz="1350" dirty="0"/>
          </a:p>
        </p:txBody>
      </p:sp>
      <p:sp>
        <p:nvSpPr>
          <p:cNvPr id="29" name="Text 27"/>
          <p:cNvSpPr txBox="1"/>
          <p:nvPr/>
        </p:nvSpPr>
        <p:spPr>
          <a:xfrm>
            <a:off x="3108960" y="4151376"/>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1枚まとめと報告会（30分）。次の一手を1つ提案</a:t>
            </a:r>
            <a:endParaRPr lang="en-US" sz="1200" dirty="0"/>
          </a:p>
        </p:txBody>
      </p:sp>
      <p:sp>
        <p:nvSpPr>
          <p:cNvPr id="30" name="Text 28"/>
          <p:cNvSpPr txBox="1"/>
          <p:nvPr/>
        </p:nvSpPr>
        <p:spPr>
          <a:xfrm>
            <a:off x="9006840" y="4334256"/>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分析担当＋営業窓口</a:t>
            </a:r>
            <a:endParaRPr lang="en-US" sz="1050" dirty="0"/>
          </a:p>
        </p:txBody>
      </p:sp>
      <p:sp>
        <p:nvSpPr>
          <p:cNvPr id="31" name="Shape 29"/>
          <p:cNvSpPr/>
          <p:nvPr/>
        </p:nvSpPr>
        <p:spPr>
          <a:xfrm>
            <a:off x="548640" y="5029200"/>
            <a:ext cx="548640" cy="548640"/>
          </a:xfrm>
          <a:prstGeom prst="ellipse">
            <a:avLst/>
          </a:prstGeom>
          <a:solidFill>
            <a:srgbClr val="13283C"/>
          </a:solidFill>
          <a:ln w="12700">
            <a:solidFill>
              <a:srgbClr val="13283C"/>
            </a:solidFill>
            <a:prstDash val="solid"/>
          </a:ln>
        </p:spPr>
      </p:sp>
      <p:sp>
        <p:nvSpPr>
          <p:cNvPr id="32" name="Text 30"/>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33" name="Shape 31"/>
          <p:cNvSpPr/>
          <p:nvPr/>
        </p:nvSpPr>
        <p:spPr>
          <a:xfrm>
            <a:off x="1280160" y="4956048"/>
            <a:ext cx="10332720" cy="694944"/>
          </a:xfrm>
          <a:prstGeom prst="roundRect">
            <a:avLst>
              <a:gd name="adj" fmla="val 10526"/>
            </a:avLst>
          </a:prstGeom>
          <a:solidFill>
            <a:srgbClr val="F2F5F8"/>
          </a:solidFill>
          <a:ln w="12700">
            <a:solidFill>
              <a:srgbClr val="F2F5F8"/>
            </a:solidFill>
            <a:prstDash val="solid"/>
          </a:ln>
        </p:spPr>
      </p:sp>
      <p:sp>
        <p:nvSpPr>
          <p:cNvPr id="34" name="Text 32"/>
          <p:cNvSpPr txBox="1"/>
          <p:nvPr/>
        </p:nvSpPr>
        <p:spPr>
          <a:xfrm>
            <a:off x="1463040" y="4956048"/>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次の提案</a:t>
            </a:r>
            <a:endParaRPr lang="en-US" sz="1350" dirty="0"/>
          </a:p>
        </p:txBody>
      </p:sp>
      <p:sp>
        <p:nvSpPr>
          <p:cNvPr id="35" name="Text 33"/>
          <p:cNvSpPr txBox="1"/>
          <p:nvPr/>
        </p:nvSpPr>
        <p:spPr>
          <a:xfrm>
            <a:off x="3108960" y="4956048"/>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ステップ2（組み合わせ）か、次年度・次シーズンの計画へ</a:t>
            </a:r>
            <a:endParaRPr lang="en-US" sz="1200" dirty="0"/>
          </a:p>
        </p:txBody>
      </p:sp>
      <p:sp>
        <p:nvSpPr>
          <p:cNvPr id="36" name="Text 34"/>
          <p:cNvSpPr txBox="1"/>
          <p:nvPr/>
        </p:nvSpPr>
        <p:spPr>
          <a:xfrm>
            <a:off x="9006840" y="5138928"/>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37" name="Shape 35"/>
          <p:cNvSpPr/>
          <p:nvPr/>
        </p:nvSpPr>
        <p:spPr>
          <a:xfrm>
            <a:off x="548640" y="5806440"/>
            <a:ext cx="11064240" cy="411480"/>
          </a:xfrm>
          <a:prstGeom prst="roundRect">
            <a:avLst>
              <a:gd name="adj" fmla="val 17778"/>
            </a:avLst>
          </a:prstGeom>
          <a:solidFill>
            <a:srgbClr val="FBEAEE"/>
          </a:solidFill>
          <a:ln w="12700">
            <a:solidFill>
              <a:srgbClr val="FBEAEE"/>
            </a:solidFill>
            <a:prstDash val="solid"/>
          </a:ln>
        </p:spPr>
      </p:sp>
      <p:sp>
        <p:nvSpPr>
          <p:cNvPr id="38" name="Text 36"/>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成果の見方：「当日の人数の差」「来なかった理由」「告知からの申込」の3つ。広告だけが増減の原因とは断定しない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ドコモの3商材 提案資料（中小規模のお客様向け）</dc:title>
  <dc:subject>PptxGenJS Presentation</dc:subject>
  <dc:creator>PptxGenJS</dc:creator>
  <cp:lastModifiedBy>PptxGenJS</cp:lastModifiedBy>
  <cp:revision>1</cp:revision>
  <dcterms:created xsi:type="dcterms:W3CDTF">2026-10-01T01:14:28Z</dcterms:created>
  <dcterms:modified xsi:type="dcterms:W3CDTF">2026-10-01T01:14:28Z</dcterms:modified>
</cp:coreProperties>
</file>