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配点</c:v>
                </c:pt>
              </c:strCache>
            </c:strRef>
          </c:tx>
          <c:spPr>
            <a:solidFill>
              <a:srgbClr val="C9002B"/>
            </a:solidFill>
            <a:effectLst/>
          </c:spPr>
          <c:invertIfNegative val="0"/>
          <c:dLbls>
            <c:numFmt formatCode="0&quot;点&quot;" sourceLinked="0"/>
            <c:txPr>
              <a:bodyPr/>
              <a:lstStyle/>
              <a:p>
                <a:pPr>
                  <a:defRPr b="1" i="0" strike="noStrike" sz="1300" u="none">
                    <a:solidFill>
                      <a:srgbClr val="1B2B3D"/>
                    </a:solidFill>
                    <a:latin typeface="Arial"/>
                  </a:defRPr>
                </a:pPr>
              </a:p>
            </c:txPr>
            <c:showLegendKey val="0"/>
            <c:showVal val="1"/>
            <c:showCatName val="0"/>
            <c:showSerName val="0"/>
            <c:showPercent val="0"/>
            <c:showBubbleSize val="0"/>
            <c:showLeaderLines val="0"/>
          </c:dLbls>
          <c:dPt>
            <c:idx val="0"/>
            <c:invertIfNegative val="0"/>
            <c:bubble3D val="0"/>
            <c:spPr>
              <a:solidFill>
                <a:srgbClr val="C9002B"/>
              </a:solidFill>
              <a:effectLst/>
            </c:spPr>
          </c:dPt>
          <c:dPt>
            <c:idx val="1"/>
            <c:invertIfNegative val="0"/>
            <c:bubble3D val="0"/>
            <c:spPr>
              <a:solidFill>
                <a:srgbClr val="13283C"/>
              </a:solidFill>
              <a:effectLst/>
            </c:spPr>
          </c:dPt>
          <c:dPt>
            <c:idx val="2"/>
            <c:invertIfNegative val="0"/>
            <c:bubble3D val="0"/>
            <c:spPr>
              <a:solidFill>
                <a:srgbClr val="13283C"/>
              </a:solidFill>
              <a:effectLst/>
            </c:spPr>
          </c:dPt>
          <c:dPt>
            <c:idx val="3"/>
            <c:invertIfNegative val="0"/>
            <c:bubble3D val="0"/>
            <c:spPr>
              <a:solidFill>
                <a:srgbClr val="2F4A63"/>
              </a:solidFill>
              <a:effectLst/>
            </c:spPr>
          </c:dPt>
          <c:dPt>
            <c:idx val="4"/>
            <c:invertIfNegative val="0"/>
            <c:bubble3D val="0"/>
            <c:spPr>
              <a:solidFill>
                <a:srgbClr val="2F4A63"/>
              </a:solidFill>
              <a:effectLst/>
            </c:spPr>
          </c:dPt>
          <c:cat>
            <c:multiLvlStrRef>
              <c:f>Sheet1!$A$2:$A$6</c:f>
              <c:multiLvlStrCache>
                <c:ptCount val="5"/>
                <c:lvl>
                  <c:pt idx="0">
                    <c:v>企画</c:v>
                  </c:pt>
                  <c:pt idx="1">
                    <c:v>業務理解度</c:v>
                  </c:pt>
                  <c:pt idx="2">
                    <c:v>目標設定・管理の手法</c:v>
                  </c:pt>
                  <c:pt idx="3">
                    <c:v>分析</c:v>
                  </c:pt>
                  <c:pt idx="4">
                    <c:v>データセット</c:v>
                  </c:pt>
                </c:lvl>
              </c:multiLvlStrCache>
            </c:multiLvlStrRef>
          </c:cat>
          <c:val>
            <c:numRef>
              <c:f>Sheet1!$B$2:$B$6</c:f>
              <c:numCache>
                <c:formatCode>General</c:formatCode>
                <c:ptCount val="5"/>
                <c:pt idx="0">
                  <c:v>20</c:v>
                </c:pt>
                <c:pt idx="1">
                  <c:v>10</c:v>
                </c:pt>
                <c:pt idx="2">
                  <c:v>10</c:v>
                </c:pt>
                <c:pt idx="3">
                  <c:v>10</c:v>
                </c:pt>
                <c:pt idx="4">
                  <c:v>5</c:v>
                </c:pt>
              </c:numCache>
            </c:numRef>
          </c:val>
        </c:ser>
        <c:dLbls>
          <c:numFmt formatCode="0&quot;点&quot;" sourceLinked="0"/>
          <c:txPr>
            <a:bodyPr/>
            <a:lstStyle/>
            <a:p>
              <a:pPr>
                <a:defRPr b="1" i="0" strike="noStrike" sz="1300" u="none">
                  <a:solidFill>
                    <a:srgbClr val="1B2B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B3D"/>
                </a:solidFill>
                <a:latin typeface="Meiryo"/>
              </a:defRPr>
            </a:pPr>
            <a:endParaRPr lang="en-US"/>
          </a:p>
        </c:txPr>
        <c:crossAx val="2094734552"/>
        <c:crosses val="autoZero"/>
        <c:auto val="1"/>
        <c:lblAlgn val="ctr"/>
        <c:noMultiLvlLbl val="1"/>
      </c:catAx>
      <c:valAx>
        <c:axId val="2094734552"/>
        <c:scaling>
          <c:orientation val="minMax"/>
          <c:max val="2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目的：実際に契約まで進んだ事例と、自治体が提案をどう評価しているかを調べ、次の提案書づくりに使う。各社の選定理由は公開された導入事例ページの記載による。社内の非公開情報は含まない。
出典（2026年9月27日 検索で確認）
本資料の分析・整理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で言うと、商材の説明から入った提案ではなく、顧客が次に何を決めるかを起点に、その判断に使える具体的なアウトプットを見せた提案が選ばれている。栃木県の事例では、同様のサービスが複数無償提供されていた中で、取れるデータを明確にイメージできたことが選定理由として語られている。
出典（2026年9月27日 検索で確認）
https://biz.kddi.com/usecase/tochigi2/
https://k-locationanalyzer.com/case/baystars
https://www.intage.co.jp/news/6237/
https://www.pref.ishikawa.lg.jp/kouhou/nyusatsu/documents/kijun.pdf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選んだ基準：人流・調査・広告のいずれかで、課題と結果が公開されている事例。ドコモ系の事例だけでは選定理由（なぜその会社を選んだか）の記載が少ないため、選定理由が詳しい競合KDDIの2事例を加えた。
出典（2026年9月27日 検索で確認）
https://www.ntt.com/business/services/spatial_statistics/case_shigaken.html
https://www.ntt.com/business/case-studies/mima.html
https://www.docomobs.com/case/toyama/
https://www.intage.co.jp/news/6237/
https://biz.kddi.com/usecase/tochigi2/
https://k-locationanalyzer.com/case/baystars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イント：価格差がない状況でも差がついた。決め手は、レポート（アウトプット例）を見て、自分たちの業務で何が分かるかを具体的に想像できたこと。私たちの提案でも、分析結果のサンプル画面を提案書に入れる。
出典（2026年9月27日 検索で確認）
https://biz.kddi.com/usecase/tochigi2/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イント：①トライアルで事前に使えた、②業務の要である試合ごとの比較ができる、③1試合あたりに割ったコストで判断している。スポーツチーム向け提案では、年間費用を試合数で割って示すと伝わりやすい。
出典（2026年9月27日 検索で確認）
https://k-locationanalyzer.com/case/baystars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実証は位置情報と決済情報の組み合わせによるもので、モバイル空間統計の標準メニューとは異なる。営業では「データを組み合わせると、ここまで説明できる例がある」という位置づけで紹介し、同じ分析が標準価格でできるとは言わない。
出典（2026年9月27日 検索で確認）
https://www.intage.co.jp/news/6237/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治体は4月〜翌3月の会計年度。次年度予算は9〜10月ごろに要求が始まるため、夏までに課題と試算を渡しておくと、予算要求の根拠資料に使ってもらえる。契約ルートは金額と緊急度で変わる。少額随意契約の基準額は令和7年政令94号で見直され（令和7年4月1日施行）、各自治体は規則改正で適用する（例：成田市は令和8年4月1日から）。プロポーザルは公告から結果まで約1か月と短いため、公告前の準備が勝負。
出典（2026年9月27日 検索で確認）
https://journal.labid.jp/article/exL3ENJP
https://www.soumu.go.jp/main_content/001026062.pdf
https://www.tokachi.pref.hokkaido.lg.jp/ss/srk/265425.html
https://www.city.shimonoseki.lg.jp/site/nyuusatu/161035.html
https://www.city.shimonoseki.lg.jp/site/nyuusatu/162920.html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審査基準は公告と同時に公開されることが多い。提案書は審査基準の項目順に章立てし、配点の大きい項目にページを割く。石川県の例は業務全体のうち抜粋。
出典（2026年9月27日 検索で確認）
https://www.pref.ishikawa.lg.jp/kouhou/nyusatsu/documents/kijun.pdf
https://www.akitakata.jp/akitakata-media/filer_public/a1/bf/a1bfb57b-93e9-4b2b-8baf-48a3bfe9dab8/07_hyoukakijun-kankou-shinkou-shisetsu-koushin-keikaku-sakusei-gyoumu.pdf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判定は公開事例ページの記載に基づく本資料の整理。「課題から入っている」は全事例で課題→導入の順に語られているため共通条件、「判断に使えるアウトプット」は栃木県・横浜DeNAで選定理由として明記され、滋賀県・川崎Fでも成果の中心になっている。審査基準の列は、業務理解度・目標設定・体制の配点から対応づけた。
出典（2026年9月27日 検索で確認）
https://www.ntt.com/business/services/spatial_statistics/case_shigaken.html
https://www.ntt.com/business/case-studies/mima.html
https://www.docomobs.com/case/toyama/
https://www.intage.co.jp/news/6237/
https://biz.kddi.com/usecase/tochigi2/
https://k-locationanalyzer.com/case/baystars
https://www.pref.ishikawa.lg.jp/kouhou/nyusatsu/documents/kijun.pdf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提案書の前半3〜5枚で、顧客が「自分たちの判断にどう使えるか」を想像できる状態をつくる。商材の説明は後半に回す。アウトプット例は架空データでもよいが、必ず「イメージ」と明記する。
出典（2026年9月27日 検索で確認）
本資料の分析・整理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赤い工程（試行・トライアル）が、事例から見た最重要ステップ。契約前にアウトプットを見せる機会をつくる。自治体は予算要求期（9〜10月）に間に合わせることが重要。
出典（2026年9月27日 検索で確認）
https://journal.labid.jp/article/exL3ENJP
https://k-locationanalyzer.com/case/baystars
https://biz.kddi.com/usecase/tochigi2/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正式な提案書に事例を引用するときは、各ページを直接開いて最新の記載を確認する。
出典（2026年9月27日 検索で確認）
https://www.ntt.com/business/services/spatial_statistics/case_shigaken.html
https://www.ntt.com/business/case-studies/mima.html
https://www.docomobs.com/case/toyama/
https://www.intage.co.jp/news/6237/
https://biz.kddi.com/usecase/tochigi2/
https://k-locationanalyzer.com/case/baystars
https://www.pref.ishikawa.lg.jp/kouhou/nyusatsu/documents/kijun.pdf
https://www.akitakata.jp/akitakata-media/filer_public/a1/bf/a1bfb57b-93e9-4b2b-8baf-48a3bfe9dab8/07_hyoukakijun-kankou-shinkou-shisetsu-koushin-keikaku-sakusei-gyoumu.pdf
https://www.city.shimonoseki.lg.jp/site/nyuusatu/161035.html
https://www.city.shimonoseki.lg.jp/site/nyuusatu/162920.html
https://www.tokachi.pref.hokkaido.lg.jp/ss/srk/265425.html
https://www.soumu.go.jp/main_content/001026062.pdf
https://journal.labid.jp/article/exL3ENJP
https://mobaku.jp/cases/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83C"/>
        </a:solidFill>
      </p:bgPr>
    </p:bg>
    <p:spTree>
      <p:nvGrpSpPr>
        <p:cNvPr id="1" name=""/>
        <p:cNvGrpSpPr/>
        <p:nvPr/>
      </p:nvGrpSpPr>
      <p:grpSpPr>
        <a:xfrm>
          <a:off x="0" y="0"/>
          <a:ext cx="0" cy="0"/>
          <a:chOff x="0" y="0"/>
          <a:chExt cx="0" cy="0"/>
        </a:xfrm>
      </p:grpSpPr>
      <p:sp>
        <p:nvSpPr>
          <p:cNvPr id="2" name="Text 0"/>
          <p:cNvSpPr txBox="1"/>
          <p:nvPr/>
        </p:nvSpPr>
        <p:spPr>
          <a:xfrm>
            <a:off x="731520" y="822960"/>
            <a:ext cx="7315200" cy="365760"/>
          </a:xfrm>
          <a:prstGeom prst="rect">
            <a:avLst/>
          </a:prstGeom>
          <a:noFill/>
          <a:ln/>
        </p:spPr>
        <p:txBody>
          <a:bodyPr wrap="square" lIns="0" tIns="0" rIns="0" bIns="0" rtlCol="0" anchor="t"/>
          <a:lstStyle/>
          <a:p>
            <a:pPr indent="0" marL="0">
              <a:buNone/>
            </a:pPr>
            <a:r>
              <a:rPr lang="en-US" sz="1400" dirty="0">
                <a:solidFill>
                  <a:srgbClr val="BAC8D4"/>
                </a:solidFill>
                <a:latin typeface="Meiryo" pitchFamily="34" charset="0"/>
                <a:ea typeface="Meiryo" pitchFamily="34" charset="-122"/>
                <a:cs typeface="Meiryo" pitchFamily="34" charset="-120"/>
              </a:rPr>
              <a:t>チーム内共有用　事例調査レポート</a:t>
            </a:r>
            <a:endParaRPr lang="en-US" sz="1400" dirty="0"/>
          </a:p>
        </p:txBody>
      </p:sp>
      <p:sp>
        <p:nvSpPr>
          <p:cNvPr id="3" name="Text 1"/>
          <p:cNvSpPr txBox="1"/>
          <p:nvPr/>
        </p:nvSpPr>
        <p:spPr>
          <a:xfrm>
            <a:off x="731520" y="173736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Meiryo" pitchFamily="34" charset="0"/>
                <a:ea typeface="Meiryo" pitchFamily="34" charset="-122"/>
                <a:cs typeface="Meiryo" pitchFamily="34" charset="-120"/>
              </a:rPr>
              <a:t>選ばれる提案は、</a:t>
            </a:r>
            <a:endParaRPr lang="en-US" sz="4000" dirty="0"/>
          </a:p>
        </p:txBody>
      </p:sp>
      <p:sp>
        <p:nvSpPr>
          <p:cNvPr id="4" name="Text 2"/>
          <p:cNvSpPr txBox="1"/>
          <p:nvPr/>
        </p:nvSpPr>
        <p:spPr>
          <a:xfrm>
            <a:off x="731520" y="2560320"/>
            <a:ext cx="10058400" cy="822960"/>
          </a:xfrm>
          <a:prstGeom prst="rect">
            <a:avLst/>
          </a:prstGeom>
          <a:noFill/>
          <a:ln/>
        </p:spPr>
        <p:txBody>
          <a:bodyPr wrap="square" lIns="0" tIns="0" rIns="0" bIns="0" rtlCol="0" anchor="t"/>
          <a:lstStyle/>
          <a:p>
            <a:pPr indent="0" marL="0">
              <a:buNone/>
            </a:pPr>
            <a:r>
              <a:rPr lang="en-US" sz="4000" b="1" dirty="0">
                <a:solidFill>
                  <a:srgbClr val="FF5A78"/>
                </a:solidFill>
                <a:latin typeface="Meiryo" pitchFamily="34" charset="0"/>
                <a:ea typeface="Meiryo" pitchFamily="34" charset="-122"/>
                <a:cs typeface="Meiryo" pitchFamily="34" charset="-120"/>
              </a:rPr>
              <a:t>何が違うのか</a:t>
            </a:r>
            <a:endParaRPr lang="en-US" sz="4000" dirty="0"/>
          </a:p>
        </p:txBody>
      </p:sp>
      <p:sp>
        <p:nvSpPr>
          <p:cNvPr id="5" name="Text 3"/>
          <p:cNvSpPr txBox="1"/>
          <p:nvPr/>
        </p:nvSpPr>
        <p:spPr>
          <a:xfrm>
            <a:off x="731520" y="3657600"/>
            <a:ext cx="8229600" cy="822960"/>
          </a:xfrm>
          <a:prstGeom prst="rect">
            <a:avLst/>
          </a:prstGeom>
          <a:noFill/>
          <a:ln/>
        </p:spPr>
        <p:txBody>
          <a:bodyPr wrap="square" lIns="0" tIns="0" rIns="0" bIns="0" rtlCol="0" anchor="t"/>
          <a:lstStyle/>
          <a:p>
            <a:pPr indent="0" marL="0">
              <a:lnSpc>
                <a:spcPct val="130000"/>
              </a:lnSpc>
              <a:buNone/>
            </a:pPr>
            <a:r>
              <a:rPr lang="en-US" sz="1500" dirty="0">
                <a:solidFill>
                  <a:srgbClr val="DDE5EC"/>
                </a:solidFill>
                <a:latin typeface="Meiryo" pitchFamily="34" charset="0"/>
                <a:ea typeface="Meiryo" pitchFamily="34" charset="-122"/>
                <a:cs typeface="Meiryo" pitchFamily="34" charset="-120"/>
              </a:rPr>
              <a:t>人流データ・調査・広告の公開事例と自治体の調達資料から、</a:t>
            </a:r>
            <a:endParaRPr lang="en-US" sz="1500" dirty="0"/>
          </a:p>
          <a:p>
            <a:pPr indent="0" marL="0">
              <a:lnSpc>
                <a:spcPct val="130000"/>
              </a:lnSpc>
              <a:buNone/>
            </a:pPr>
            <a:r>
              <a:rPr lang="en-US" sz="1500" dirty="0">
                <a:solidFill>
                  <a:srgbClr val="DDE5EC"/>
                </a:solidFill>
                <a:latin typeface="Meiryo" pitchFamily="34" charset="0"/>
                <a:ea typeface="Meiryo" pitchFamily="34" charset="-122"/>
                <a:cs typeface="Meiryo" pitchFamily="34" charset="-120"/>
              </a:rPr>
              <a:t>提案から契約までの流れと、提案で最も重視すべき点を整理する</a:t>
            </a:r>
            <a:endParaRPr lang="en-US" sz="1500" dirty="0"/>
          </a:p>
        </p:txBody>
      </p:sp>
      <p:sp>
        <p:nvSpPr>
          <p:cNvPr id="6" name="Text 4"/>
          <p:cNvSpPr txBox="1"/>
          <p:nvPr/>
        </p:nvSpPr>
        <p:spPr>
          <a:xfrm>
            <a:off x="731520" y="4846320"/>
            <a:ext cx="2194560" cy="411480"/>
          </a:xfrm>
          <a:prstGeom prst="roundRect">
            <a:avLst>
              <a:gd name="adj" fmla="val 50000"/>
            </a:avLst>
          </a:prstGeom>
          <a:solidFill>
            <a:srgbClr val="22394F"/>
          </a:solidFill>
          <a:ln>
            <a:solidFill>
              <a:srgbClr val="2F4A6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ドコモ系 4事例</a:t>
            </a:r>
            <a:endParaRPr lang="en-US" sz="1200" dirty="0"/>
          </a:p>
        </p:txBody>
      </p:sp>
      <p:sp>
        <p:nvSpPr>
          <p:cNvPr id="7" name="Text 5"/>
          <p:cNvSpPr txBox="1"/>
          <p:nvPr/>
        </p:nvSpPr>
        <p:spPr>
          <a:xfrm>
            <a:off x="3108960" y="4846320"/>
            <a:ext cx="2194560" cy="411480"/>
          </a:xfrm>
          <a:prstGeom prst="roundRect">
            <a:avLst>
              <a:gd name="adj" fmla="val 50000"/>
            </a:avLst>
          </a:prstGeom>
          <a:solidFill>
            <a:srgbClr val="22394F"/>
          </a:solidFill>
          <a:ln>
            <a:solidFill>
              <a:srgbClr val="2F4A6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他社 2事例</a:t>
            </a:r>
            <a:endParaRPr lang="en-US" sz="1200" dirty="0"/>
          </a:p>
        </p:txBody>
      </p:sp>
      <p:sp>
        <p:nvSpPr>
          <p:cNvPr id="8" name="Text 6"/>
          <p:cNvSpPr txBox="1"/>
          <p:nvPr/>
        </p:nvSpPr>
        <p:spPr>
          <a:xfrm>
            <a:off x="5486400" y="4846320"/>
            <a:ext cx="2194560" cy="411480"/>
          </a:xfrm>
          <a:prstGeom prst="roundRect">
            <a:avLst>
              <a:gd name="adj" fmla="val 50000"/>
            </a:avLst>
          </a:prstGeom>
          <a:solidFill>
            <a:srgbClr val="22394F"/>
          </a:solidFill>
          <a:ln>
            <a:solidFill>
              <a:srgbClr val="2F4A63"/>
            </a:solid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自治体の調達資料</a:t>
            </a:r>
            <a:endParaRPr lang="en-US" sz="1200" dirty="0"/>
          </a:p>
        </p:txBody>
      </p:sp>
      <p:sp>
        <p:nvSpPr>
          <p:cNvPr id="9" name="Text 7"/>
          <p:cNvSpPr txBox="1"/>
          <p:nvPr/>
        </p:nvSpPr>
        <p:spPr>
          <a:xfrm>
            <a:off x="731520" y="5943600"/>
            <a:ext cx="6858000" cy="320040"/>
          </a:xfrm>
          <a:prstGeom prst="rect">
            <a:avLst/>
          </a:prstGeom>
          <a:noFill/>
          <a:ln/>
        </p:spPr>
        <p:txBody>
          <a:bodyPr wrap="square" lIns="0" tIns="0" rIns="0" bIns="0" rtlCol="0" anchor="t"/>
          <a:lstStyle/>
          <a:p>
            <a:pPr indent="0" marL="0">
              <a:buNone/>
            </a:pPr>
            <a:r>
              <a:rPr lang="en-US" sz="1100" dirty="0">
                <a:solidFill>
                  <a:srgbClr val="BAC8D4"/>
                </a:solidFill>
                <a:latin typeface="Meiryo" pitchFamily="34" charset="0"/>
                <a:ea typeface="Meiryo" pitchFamily="34" charset="-122"/>
                <a:cs typeface="Meiryo" pitchFamily="34" charset="-120"/>
              </a:rPr>
              <a:t>2026年9月27日　公開情報をもとに作成</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エグゼクティブサマリー</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結論：一番重視すべきは「顧客が何を判断するか」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判断に使えるアウトプットを、契約前に具体的に見せた提案が選ばれている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02</a:t>
            </a:r>
            <a:endParaRPr lang="en-US" sz="1000" dirty="0"/>
          </a:p>
        </p:txBody>
      </p:sp>
      <p:sp>
        <p:nvSpPr>
          <p:cNvPr id="6" name="Shape 4"/>
          <p:cNvSpPr/>
          <p:nvPr/>
        </p:nvSpPr>
        <p:spPr>
          <a:xfrm>
            <a:off x="548640" y="1783080"/>
            <a:ext cx="11064240" cy="1600200"/>
          </a:xfrm>
          <a:prstGeom prst="roundRect">
            <a:avLst>
              <a:gd name="adj" fmla="val 4571"/>
            </a:avLst>
          </a:prstGeom>
          <a:solidFill>
            <a:srgbClr val="13283C"/>
          </a:solidFill>
          <a:ln w="12700">
            <a:solidFill>
              <a:srgbClr val="13283C"/>
            </a:solidFill>
            <a:prstDash val="solid"/>
          </a:ln>
        </p:spPr>
      </p:sp>
      <p:sp>
        <p:nvSpPr>
          <p:cNvPr id="7" name="Shape 5"/>
          <p:cNvSpPr/>
          <p:nvPr/>
        </p:nvSpPr>
        <p:spPr>
          <a:xfrm>
            <a:off x="868680" y="2148840"/>
            <a:ext cx="868680" cy="86868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1085850" y="2366010"/>
            <a:ext cx="434340" cy="434340"/>
          </a:xfrm>
          <a:prstGeom prst="rect">
            <a:avLst/>
          </a:prstGeom>
        </p:spPr>
      </p:pic>
      <p:sp>
        <p:nvSpPr>
          <p:cNvPr id="9" name="Text 6"/>
          <p:cNvSpPr txBox="1"/>
          <p:nvPr/>
        </p:nvSpPr>
        <p:spPr>
          <a:xfrm>
            <a:off x="1965960" y="2011680"/>
            <a:ext cx="2743200" cy="274320"/>
          </a:xfrm>
          <a:prstGeom prst="rect">
            <a:avLst/>
          </a:prstGeom>
          <a:noFill/>
          <a:ln/>
        </p:spPr>
        <p:txBody>
          <a:bodyPr wrap="square" lIns="0" tIns="0" rIns="0" bIns="0" rtlCol="0" anchor="t"/>
          <a:lstStyle/>
          <a:p>
            <a:pPr indent="0" marL="0">
              <a:buNone/>
            </a:pPr>
            <a:r>
              <a:rPr lang="en-US" sz="1200" b="1" dirty="0">
                <a:solidFill>
                  <a:srgbClr val="FF8FA3"/>
                </a:solidFill>
                <a:latin typeface="Meiryo" pitchFamily="34" charset="0"/>
                <a:ea typeface="Meiryo" pitchFamily="34" charset="-122"/>
                <a:cs typeface="Meiryo" pitchFamily="34" charset="-120"/>
              </a:rPr>
              <a:t>最重要</a:t>
            </a:r>
            <a:endParaRPr lang="en-US" sz="1200" dirty="0"/>
          </a:p>
        </p:txBody>
      </p:sp>
      <p:sp>
        <p:nvSpPr>
          <p:cNvPr id="10" name="Text 7"/>
          <p:cNvSpPr txBox="1"/>
          <p:nvPr/>
        </p:nvSpPr>
        <p:spPr>
          <a:xfrm>
            <a:off x="1965960" y="2286000"/>
            <a:ext cx="9418320" cy="457200"/>
          </a:xfrm>
          <a:prstGeom prst="rect">
            <a:avLst/>
          </a:prstGeom>
          <a:noFill/>
          <a:ln/>
        </p:spPr>
        <p:txBody>
          <a:bodyPr wrap="square" lIns="0" tIns="0" rIns="0" bIns="0" rtlCol="0" anchor="ctr"/>
          <a:lstStyle/>
          <a:p>
            <a:pPr indent="0" marL="0">
              <a:buNone/>
            </a:pPr>
            <a:r>
              <a:rPr lang="en-US" sz="2000" b="1" dirty="0">
                <a:solidFill>
                  <a:srgbClr val="FFFFFF"/>
                </a:solidFill>
                <a:latin typeface="Meiryo" pitchFamily="34" charset="0"/>
                <a:ea typeface="Meiryo" pitchFamily="34" charset="-122"/>
                <a:cs typeface="Meiryo" pitchFamily="34" charset="-120"/>
              </a:rPr>
              <a:t>顧客の「判断」から逆算し、判断に使えるアウトプットを提案段階で見せる</a:t>
            </a:r>
            <a:endParaRPr lang="en-US" sz="2000" dirty="0"/>
          </a:p>
        </p:txBody>
      </p:sp>
      <p:sp>
        <p:nvSpPr>
          <p:cNvPr id="11" name="Text 8"/>
          <p:cNvSpPr txBox="1"/>
          <p:nvPr/>
        </p:nvSpPr>
        <p:spPr>
          <a:xfrm>
            <a:off x="1965960" y="2788920"/>
            <a:ext cx="9418320" cy="457200"/>
          </a:xfrm>
          <a:prstGeom prst="rect">
            <a:avLst/>
          </a:prstGeom>
          <a:noFill/>
          <a:ln/>
        </p:spPr>
        <p:txBody>
          <a:bodyPr wrap="square" lIns="0" tIns="0" rIns="0" bIns="0" rtlCol="0" anchor="t"/>
          <a:lstStyle/>
          <a:p>
            <a:pPr indent="0" marL="0">
              <a:buNone/>
            </a:pPr>
            <a:r>
              <a:rPr lang="en-US" sz="1250" dirty="0">
                <a:solidFill>
                  <a:srgbClr val="DDE5EC"/>
                </a:solidFill>
                <a:latin typeface="Meiryo" pitchFamily="34" charset="0"/>
                <a:ea typeface="Meiryo" pitchFamily="34" charset="-122"/>
                <a:cs typeface="Meiryo" pitchFamily="34" charset="-120"/>
              </a:rPr>
              <a:t>栃木県は「どういったデータを取れるのか明確にイメージできた」ことを決め手に、無償提供された複数サービスからKDDIを選んだ。</a:t>
            </a:r>
            <a:endParaRPr lang="en-US" sz="1250" dirty="0"/>
          </a:p>
        </p:txBody>
      </p:sp>
      <p:sp>
        <p:nvSpPr>
          <p:cNvPr id="12" name="Text 9"/>
          <p:cNvSpPr txBox="1"/>
          <p:nvPr/>
        </p:nvSpPr>
        <p:spPr>
          <a:xfrm>
            <a:off x="548640" y="3611880"/>
            <a:ext cx="5486400" cy="320040"/>
          </a:xfrm>
          <a:prstGeom prst="rect">
            <a:avLst/>
          </a:prstGeom>
          <a:noFill/>
          <a:ln/>
        </p:spPr>
        <p:txBody>
          <a:bodyPr wrap="square" lIns="0" tIns="0" rIns="0" bIns="0" rtlCol="0" anchor="t"/>
          <a:lstStyle/>
          <a:p>
            <a:pPr indent="0" marL="0">
              <a:buNone/>
            </a:pPr>
            <a:r>
              <a:rPr lang="en-US" sz="1400" b="1" dirty="0">
                <a:solidFill>
                  <a:srgbClr val="5A6675"/>
                </a:solidFill>
                <a:latin typeface="Meiryo" pitchFamily="34" charset="0"/>
                <a:ea typeface="Meiryo" pitchFamily="34" charset="-122"/>
                <a:cs typeface="Meiryo" pitchFamily="34" charset="-120"/>
              </a:rPr>
              <a:t>次に重要な4つの条件</a:t>
            </a:r>
            <a:endParaRPr lang="en-US" sz="1400" dirty="0"/>
          </a:p>
        </p:txBody>
      </p:sp>
      <p:sp>
        <p:nvSpPr>
          <p:cNvPr id="13" name="Shape 10"/>
          <p:cNvSpPr/>
          <p:nvPr/>
        </p:nvSpPr>
        <p:spPr>
          <a:xfrm>
            <a:off x="548640" y="4023360"/>
            <a:ext cx="2651760" cy="2011680"/>
          </a:xfrm>
          <a:prstGeom prst="roundRect">
            <a:avLst>
              <a:gd name="adj" fmla="val 3636"/>
            </a:avLst>
          </a:prstGeom>
          <a:solidFill>
            <a:srgbClr val="F2F5F8"/>
          </a:solidFill>
          <a:ln w="12700">
            <a:solidFill>
              <a:srgbClr val="F2F5F8"/>
            </a:solidFill>
            <a:prstDash val="solid"/>
          </a:ln>
        </p:spPr>
      </p:sp>
      <p:sp>
        <p:nvSpPr>
          <p:cNvPr id="14" name="Shape 11"/>
          <p:cNvSpPr/>
          <p:nvPr/>
        </p:nvSpPr>
        <p:spPr>
          <a:xfrm>
            <a:off x="777240" y="4224528"/>
            <a:ext cx="566928" cy="566928"/>
          </a:xfrm>
          <a:prstGeom prst="ellipse">
            <a:avLst/>
          </a:prstGeom>
          <a:solidFill>
            <a:srgbClr val="C9002B"/>
          </a:solidFill>
          <a:ln w="12700">
            <a:solidFill>
              <a:srgbClr val="C9002B"/>
            </a:solidFill>
            <a:prstDash val="solid"/>
          </a:ln>
        </p:spPr>
      </p:sp>
      <p:pic>
        <p:nvPicPr>
          <p:cNvPr id="15" name="Image 1" descr="preencoded.png">    </p:cNvPr>
          <p:cNvPicPr>
            <a:picLocks noChangeAspect="1"/>
          </p:cNvPicPr>
          <p:nvPr/>
        </p:nvPicPr>
        <p:blipFill>
          <a:blip r:embed="rId2"/>
          <a:stretch>
            <a:fillRect/>
          </a:stretch>
        </p:blipFill>
        <p:spPr>
          <a:xfrm>
            <a:off x="918972" y="4366260"/>
            <a:ext cx="283464" cy="283464"/>
          </a:xfrm>
          <a:prstGeom prst="rect">
            <a:avLst/>
          </a:prstGeom>
        </p:spPr>
      </p:pic>
      <p:sp>
        <p:nvSpPr>
          <p:cNvPr id="16" name="Text 12"/>
          <p:cNvSpPr txBox="1"/>
          <p:nvPr/>
        </p:nvSpPr>
        <p:spPr>
          <a:xfrm>
            <a:off x="777240" y="4892040"/>
            <a:ext cx="2286000" cy="36576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小さく試せる</a:t>
            </a:r>
            <a:endParaRPr lang="en-US" sz="1500" dirty="0"/>
          </a:p>
        </p:txBody>
      </p:sp>
      <p:sp>
        <p:nvSpPr>
          <p:cNvPr id="17" name="Text 13"/>
          <p:cNvSpPr txBox="1"/>
          <p:nvPr/>
        </p:nvSpPr>
        <p:spPr>
          <a:xfrm>
            <a:off x="777240" y="5285232"/>
            <a:ext cx="2286000" cy="68580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トライアル・スポット分析で、契約前に価値を確かめられる</a:t>
            </a:r>
            <a:endParaRPr lang="en-US" sz="1150" dirty="0"/>
          </a:p>
        </p:txBody>
      </p:sp>
      <p:sp>
        <p:nvSpPr>
          <p:cNvPr id="18" name="Shape 14"/>
          <p:cNvSpPr/>
          <p:nvPr/>
        </p:nvSpPr>
        <p:spPr>
          <a:xfrm>
            <a:off x="3355848" y="4023360"/>
            <a:ext cx="2651760" cy="2011680"/>
          </a:xfrm>
          <a:prstGeom prst="roundRect">
            <a:avLst>
              <a:gd name="adj" fmla="val 3636"/>
            </a:avLst>
          </a:prstGeom>
          <a:solidFill>
            <a:srgbClr val="F2F5F8"/>
          </a:solidFill>
          <a:ln w="12700">
            <a:solidFill>
              <a:srgbClr val="F2F5F8"/>
            </a:solidFill>
            <a:prstDash val="solid"/>
          </a:ln>
        </p:spPr>
      </p:sp>
      <p:sp>
        <p:nvSpPr>
          <p:cNvPr id="19" name="Shape 15"/>
          <p:cNvSpPr/>
          <p:nvPr/>
        </p:nvSpPr>
        <p:spPr>
          <a:xfrm>
            <a:off x="3584448" y="4224528"/>
            <a:ext cx="566928" cy="566928"/>
          </a:xfrm>
          <a:prstGeom prst="ellipse">
            <a:avLst/>
          </a:prstGeom>
          <a:solidFill>
            <a:srgbClr val="C9002B"/>
          </a:solidFill>
          <a:ln w="12700">
            <a:solidFill>
              <a:srgbClr val="C9002B"/>
            </a:solidFill>
            <a:prstDash val="solid"/>
          </a:ln>
        </p:spPr>
      </p:sp>
      <p:pic>
        <p:nvPicPr>
          <p:cNvPr id="20" name="Image 2" descr="preencoded.png">    </p:cNvPr>
          <p:cNvPicPr>
            <a:picLocks noChangeAspect="1"/>
          </p:cNvPicPr>
          <p:nvPr/>
        </p:nvPicPr>
        <p:blipFill>
          <a:blip r:embed="rId3"/>
          <a:stretch>
            <a:fillRect/>
          </a:stretch>
        </p:blipFill>
        <p:spPr>
          <a:xfrm>
            <a:off x="3726180" y="4366260"/>
            <a:ext cx="283464" cy="283464"/>
          </a:xfrm>
          <a:prstGeom prst="rect">
            <a:avLst/>
          </a:prstGeom>
        </p:spPr>
      </p:pic>
      <p:sp>
        <p:nvSpPr>
          <p:cNvPr id="21" name="Text 16"/>
          <p:cNvSpPr txBox="1"/>
          <p:nvPr/>
        </p:nvSpPr>
        <p:spPr>
          <a:xfrm>
            <a:off x="3584448" y="4892040"/>
            <a:ext cx="2286000" cy="36576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成果を顧客の言葉で</a:t>
            </a:r>
            <a:endParaRPr lang="en-US" sz="1500" dirty="0"/>
          </a:p>
        </p:txBody>
      </p:sp>
      <p:sp>
        <p:nvSpPr>
          <p:cNvPr id="22" name="Text 17"/>
          <p:cNvSpPr txBox="1"/>
          <p:nvPr/>
        </p:nvSpPr>
        <p:spPr>
          <a:xfrm>
            <a:off x="3584448" y="5285232"/>
            <a:ext cx="2286000" cy="68580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経済効果の金額、1試合あたりのコストなど、説明に使える数字</a:t>
            </a:r>
            <a:endParaRPr lang="en-US" sz="1150" dirty="0"/>
          </a:p>
        </p:txBody>
      </p:sp>
      <p:sp>
        <p:nvSpPr>
          <p:cNvPr id="23" name="Shape 18"/>
          <p:cNvSpPr/>
          <p:nvPr/>
        </p:nvSpPr>
        <p:spPr>
          <a:xfrm>
            <a:off x="6163056" y="4023360"/>
            <a:ext cx="2651760" cy="2011680"/>
          </a:xfrm>
          <a:prstGeom prst="roundRect">
            <a:avLst>
              <a:gd name="adj" fmla="val 3636"/>
            </a:avLst>
          </a:prstGeom>
          <a:solidFill>
            <a:srgbClr val="F2F5F8"/>
          </a:solidFill>
          <a:ln w="12700">
            <a:solidFill>
              <a:srgbClr val="F2F5F8"/>
            </a:solidFill>
            <a:prstDash val="solid"/>
          </a:ln>
        </p:spPr>
      </p:sp>
      <p:sp>
        <p:nvSpPr>
          <p:cNvPr id="24" name="Shape 19"/>
          <p:cNvSpPr/>
          <p:nvPr/>
        </p:nvSpPr>
        <p:spPr>
          <a:xfrm>
            <a:off x="6391656" y="4224528"/>
            <a:ext cx="566928" cy="566928"/>
          </a:xfrm>
          <a:prstGeom prst="ellipse">
            <a:avLst/>
          </a:prstGeom>
          <a:solidFill>
            <a:srgbClr val="C9002B"/>
          </a:solidFill>
          <a:ln w="12700">
            <a:solidFill>
              <a:srgbClr val="C9002B"/>
            </a:solidFill>
            <a:prstDash val="solid"/>
          </a:ln>
        </p:spPr>
      </p:sp>
      <p:pic>
        <p:nvPicPr>
          <p:cNvPr id="25" name="Image 3" descr="preencoded.png">    </p:cNvPr>
          <p:cNvPicPr>
            <a:picLocks noChangeAspect="1"/>
          </p:cNvPicPr>
          <p:nvPr/>
        </p:nvPicPr>
        <p:blipFill>
          <a:blip r:embed="rId4"/>
          <a:stretch>
            <a:fillRect/>
          </a:stretch>
        </p:blipFill>
        <p:spPr>
          <a:xfrm>
            <a:off x="6533388" y="4366260"/>
            <a:ext cx="283464" cy="283464"/>
          </a:xfrm>
          <a:prstGeom prst="rect">
            <a:avLst/>
          </a:prstGeom>
        </p:spPr>
      </p:pic>
      <p:sp>
        <p:nvSpPr>
          <p:cNvPr id="26" name="Text 20"/>
          <p:cNvSpPr txBox="1"/>
          <p:nvPr/>
        </p:nvSpPr>
        <p:spPr>
          <a:xfrm>
            <a:off x="6391656" y="4892040"/>
            <a:ext cx="2286000" cy="36576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予算と調達の時期</a:t>
            </a:r>
            <a:endParaRPr lang="en-US" sz="1500" dirty="0"/>
          </a:p>
        </p:txBody>
      </p:sp>
      <p:sp>
        <p:nvSpPr>
          <p:cNvPr id="27" name="Text 21"/>
          <p:cNvSpPr txBox="1"/>
          <p:nvPr/>
        </p:nvSpPr>
        <p:spPr>
          <a:xfrm>
            <a:off x="6391656" y="5285232"/>
            <a:ext cx="2286000" cy="68580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秋の予算要求前に仕込み、少額随契やプロポーザルに合わせる</a:t>
            </a:r>
            <a:endParaRPr lang="en-US" sz="1150" dirty="0"/>
          </a:p>
        </p:txBody>
      </p:sp>
      <p:sp>
        <p:nvSpPr>
          <p:cNvPr id="28" name="Shape 22"/>
          <p:cNvSpPr/>
          <p:nvPr/>
        </p:nvSpPr>
        <p:spPr>
          <a:xfrm>
            <a:off x="8970264" y="4023360"/>
            <a:ext cx="2651760" cy="2011680"/>
          </a:xfrm>
          <a:prstGeom prst="roundRect">
            <a:avLst>
              <a:gd name="adj" fmla="val 3636"/>
            </a:avLst>
          </a:prstGeom>
          <a:solidFill>
            <a:srgbClr val="F2F5F8"/>
          </a:solidFill>
          <a:ln w="12700">
            <a:solidFill>
              <a:srgbClr val="F2F5F8"/>
            </a:solidFill>
            <a:prstDash val="solid"/>
          </a:ln>
        </p:spPr>
      </p:sp>
      <p:sp>
        <p:nvSpPr>
          <p:cNvPr id="29" name="Shape 23"/>
          <p:cNvSpPr/>
          <p:nvPr/>
        </p:nvSpPr>
        <p:spPr>
          <a:xfrm>
            <a:off x="9198864" y="4224528"/>
            <a:ext cx="566928" cy="566928"/>
          </a:xfrm>
          <a:prstGeom prst="ellipse">
            <a:avLst/>
          </a:prstGeom>
          <a:solidFill>
            <a:srgbClr val="C9002B"/>
          </a:solidFill>
          <a:ln w="12700">
            <a:solidFill>
              <a:srgbClr val="C9002B"/>
            </a:solidFill>
            <a:prstDash val="solid"/>
          </a:ln>
        </p:spPr>
      </p:sp>
      <p:pic>
        <p:nvPicPr>
          <p:cNvPr id="30" name="Image 4" descr="preencoded.png">    </p:cNvPr>
          <p:cNvPicPr>
            <a:picLocks noChangeAspect="1"/>
          </p:cNvPicPr>
          <p:nvPr/>
        </p:nvPicPr>
        <p:blipFill>
          <a:blip r:embed="rId5"/>
          <a:stretch>
            <a:fillRect/>
          </a:stretch>
        </p:blipFill>
        <p:spPr>
          <a:xfrm>
            <a:off x="9340596" y="4366260"/>
            <a:ext cx="283464" cy="283464"/>
          </a:xfrm>
          <a:prstGeom prst="rect">
            <a:avLst/>
          </a:prstGeom>
        </p:spPr>
      </p:pic>
      <p:sp>
        <p:nvSpPr>
          <p:cNvPr id="31" name="Text 24"/>
          <p:cNvSpPr txBox="1"/>
          <p:nvPr/>
        </p:nvSpPr>
        <p:spPr>
          <a:xfrm>
            <a:off x="9198864" y="4892040"/>
            <a:ext cx="2286000" cy="365760"/>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体制とスピード</a:t>
            </a:r>
            <a:endParaRPr lang="en-US" sz="1500" dirty="0"/>
          </a:p>
        </p:txBody>
      </p:sp>
      <p:sp>
        <p:nvSpPr>
          <p:cNvPr id="32" name="Text 25"/>
          <p:cNvSpPr txBox="1"/>
          <p:nvPr/>
        </p:nvSpPr>
        <p:spPr>
          <a:xfrm>
            <a:off x="9198864" y="5285232"/>
            <a:ext cx="2286000" cy="685800"/>
          </a:xfrm>
          <a:prstGeom prst="rect">
            <a:avLst/>
          </a:prstGeom>
          <a:noFill/>
          <a:ln/>
        </p:spPr>
        <p:txBody>
          <a:bodyPr wrap="square" lIns="0" tIns="0" rIns="0" bIns="0" rtlCol="0" anchor="t"/>
          <a:lstStyle/>
          <a:p>
            <a:pPr indent="0" marL="0">
              <a:buNone/>
            </a:pPr>
            <a:r>
              <a:rPr lang="en-US" sz="1150" dirty="0">
                <a:solidFill>
                  <a:srgbClr val="5A6675"/>
                </a:solidFill>
                <a:latin typeface="Meiryo" pitchFamily="34" charset="0"/>
                <a:ea typeface="Meiryo" pitchFamily="34" charset="-122"/>
                <a:cs typeface="Meiryo" pitchFamily="34" charset="-120"/>
              </a:rPr>
              <a:t>実施体制・専門性・短納期は、審査でも選定理由でも評価される</a:t>
            </a:r>
            <a:endParaRPr lang="en-US" sz="1150" dirty="0"/>
          </a:p>
        </p:txBody>
      </p:sp>
      <p:sp>
        <p:nvSpPr>
          <p:cNvPr id="33" name="Text 26"/>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6事例と自治体の公開審査基準・調達手続きから整理（P.03〜10）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事例</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調べた6つの事例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ドコモ系の商材4事例と、競合（KDDI）の2事例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03</a:t>
            </a:r>
            <a:endParaRPr lang="en-US" sz="1000" dirty="0"/>
          </a:p>
        </p:txBody>
      </p:sp>
      <p:sp>
        <p:nvSpPr>
          <p:cNvPr id="6" name="Shape 4"/>
          <p:cNvSpPr/>
          <p:nvPr/>
        </p:nvSpPr>
        <p:spPr>
          <a:xfrm>
            <a:off x="548640" y="1783080"/>
            <a:ext cx="3566160" cy="2103120"/>
          </a:xfrm>
          <a:prstGeom prst="roundRect">
            <a:avLst>
              <a:gd name="adj" fmla="val 3478"/>
            </a:avLst>
          </a:prstGeom>
          <a:solidFill>
            <a:srgbClr val="FFFFFF"/>
          </a:solidFill>
          <a:ln w="12700">
            <a:solidFill>
              <a:srgbClr val="D5DDE5"/>
            </a:solidFill>
            <a:prstDash val="solid"/>
          </a:ln>
        </p:spPr>
      </p:sp>
      <p:sp>
        <p:nvSpPr>
          <p:cNvPr id="7" name="Shape 5"/>
          <p:cNvSpPr/>
          <p:nvPr/>
        </p:nvSpPr>
        <p:spPr>
          <a:xfrm>
            <a:off x="731520" y="1965960"/>
            <a:ext cx="502920" cy="502920"/>
          </a:xfrm>
          <a:prstGeom prst="ellipse">
            <a:avLst/>
          </a:prstGeom>
          <a:solidFill>
            <a:srgbClr val="13283C"/>
          </a:solidFill>
          <a:ln w="12700">
            <a:solidFill>
              <a:srgbClr val="13283C"/>
            </a:solidFill>
            <a:prstDash val="solid"/>
          </a:ln>
        </p:spPr>
      </p:sp>
      <p:pic>
        <p:nvPicPr>
          <p:cNvPr id="8" name="Image 0" descr="preencoded.png">    </p:cNvPr>
          <p:cNvPicPr>
            <a:picLocks noChangeAspect="1"/>
          </p:cNvPicPr>
          <p:nvPr/>
        </p:nvPicPr>
        <p:blipFill>
          <a:blip r:embed="rId1"/>
          <a:stretch>
            <a:fillRect/>
          </a:stretch>
        </p:blipFill>
        <p:spPr>
          <a:xfrm>
            <a:off x="857250" y="2091690"/>
            <a:ext cx="251460" cy="251460"/>
          </a:xfrm>
          <a:prstGeom prst="rect">
            <a:avLst/>
          </a:prstGeom>
        </p:spPr>
      </p:pic>
      <p:sp>
        <p:nvSpPr>
          <p:cNvPr id="9" name="Text 6"/>
          <p:cNvSpPr txBox="1"/>
          <p:nvPr/>
        </p:nvSpPr>
        <p:spPr>
          <a:xfrm>
            <a:off x="1371600" y="1938528"/>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滋賀県</a:t>
            </a:r>
            <a:endParaRPr lang="en-US" sz="1400" dirty="0"/>
          </a:p>
        </p:txBody>
      </p:sp>
      <p:sp>
        <p:nvSpPr>
          <p:cNvPr id="10" name="Text 7"/>
          <p:cNvSpPr txBox="1"/>
          <p:nvPr/>
        </p:nvSpPr>
        <p:spPr>
          <a:xfrm>
            <a:off x="1371600" y="2240280"/>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11" name="Text 8"/>
          <p:cNvSpPr txBox="1"/>
          <p:nvPr/>
        </p:nvSpPr>
        <p:spPr>
          <a:xfrm>
            <a:off x="731520" y="2606040"/>
            <a:ext cx="3200400" cy="54864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外出自粛の呼びかけや施策の根拠となる資料がなかった</a:t>
            </a:r>
            <a:endParaRPr lang="en-US" sz="1100" dirty="0"/>
          </a:p>
        </p:txBody>
      </p:sp>
      <p:sp>
        <p:nvSpPr>
          <p:cNvPr id="12" name="Text 9"/>
          <p:cNvSpPr txBox="1"/>
          <p:nvPr/>
        </p:nvSpPr>
        <p:spPr>
          <a:xfrm>
            <a:off x="73152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県内56拠点の混雑をヒートマップで公開し、根拠をもって発信</a:t>
            </a:r>
            <a:endParaRPr lang="en-US" sz="1100" dirty="0"/>
          </a:p>
        </p:txBody>
      </p:sp>
      <p:sp>
        <p:nvSpPr>
          <p:cNvPr id="13" name="Shape 10"/>
          <p:cNvSpPr/>
          <p:nvPr/>
        </p:nvSpPr>
        <p:spPr>
          <a:xfrm>
            <a:off x="4297680" y="1783080"/>
            <a:ext cx="3566160" cy="2103120"/>
          </a:xfrm>
          <a:prstGeom prst="roundRect">
            <a:avLst>
              <a:gd name="adj" fmla="val 3478"/>
            </a:avLst>
          </a:prstGeom>
          <a:solidFill>
            <a:srgbClr val="FFFFFF"/>
          </a:solidFill>
          <a:ln w="12700">
            <a:solidFill>
              <a:srgbClr val="D5DDE5"/>
            </a:solidFill>
            <a:prstDash val="solid"/>
          </a:ln>
        </p:spPr>
      </p:sp>
      <p:sp>
        <p:nvSpPr>
          <p:cNvPr id="14" name="Shape 11"/>
          <p:cNvSpPr/>
          <p:nvPr/>
        </p:nvSpPr>
        <p:spPr>
          <a:xfrm>
            <a:off x="4480560" y="1965960"/>
            <a:ext cx="502920" cy="502920"/>
          </a:xfrm>
          <a:prstGeom prst="ellipse">
            <a:avLst/>
          </a:prstGeom>
          <a:solidFill>
            <a:srgbClr val="13283C"/>
          </a:solidFill>
          <a:ln w="12700">
            <a:solidFill>
              <a:srgbClr val="13283C"/>
            </a:solidFill>
            <a:prstDash val="solid"/>
          </a:ln>
        </p:spPr>
      </p:sp>
      <p:pic>
        <p:nvPicPr>
          <p:cNvPr id="15" name="Image 1" descr="preencoded.png">    </p:cNvPr>
          <p:cNvPicPr>
            <a:picLocks noChangeAspect="1"/>
          </p:cNvPicPr>
          <p:nvPr/>
        </p:nvPicPr>
        <p:blipFill>
          <a:blip r:embed="rId2"/>
          <a:stretch>
            <a:fillRect/>
          </a:stretch>
        </p:blipFill>
        <p:spPr>
          <a:xfrm>
            <a:off x="4606290" y="2091690"/>
            <a:ext cx="251460" cy="251460"/>
          </a:xfrm>
          <a:prstGeom prst="rect">
            <a:avLst/>
          </a:prstGeom>
        </p:spPr>
      </p:pic>
      <p:sp>
        <p:nvSpPr>
          <p:cNvPr id="16" name="Text 12"/>
          <p:cNvSpPr txBox="1"/>
          <p:nvPr/>
        </p:nvSpPr>
        <p:spPr>
          <a:xfrm>
            <a:off x="5120640" y="1938528"/>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徳島県美馬市</a:t>
            </a:r>
            <a:endParaRPr lang="en-US" sz="1400" dirty="0"/>
          </a:p>
        </p:txBody>
      </p:sp>
      <p:sp>
        <p:nvSpPr>
          <p:cNvPr id="17" name="Text 13"/>
          <p:cNvSpPr txBox="1"/>
          <p:nvPr/>
        </p:nvSpPr>
        <p:spPr>
          <a:xfrm>
            <a:off x="5120640" y="2240280"/>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モバイル空間統計</a:t>
            </a:r>
            <a:endParaRPr lang="en-US" sz="1050" dirty="0"/>
          </a:p>
        </p:txBody>
      </p:sp>
      <p:sp>
        <p:nvSpPr>
          <p:cNvPr id="18" name="Text 14"/>
          <p:cNvSpPr txBox="1"/>
          <p:nvPr/>
        </p:nvSpPr>
        <p:spPr>
          <a:xfrm>
            <a:off x="4480560" y="2606040"/>
            <a:ext cx="3200400" cy="54864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観光客数が伸び悩み、通過型観光地の傾向が強い</a:t>
            </a:r>
            <a:endParaRPr lang="en-US" sz="1100" dirty="0"/>
          </a:p>
        </p:txBody>
      </p:sp>
      <p:sp>
        <p:nvSpPr>
          <p:cNvPr id="19" name="Text 15"/>
          <p:cNvSpPr txBox="1"/>
          <p:nvPr/>
        </p:nvSpPr>
        <p:spPr>
          <a:xfrm>
            <a:off x="448056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観光客の属性別データを分析し、観光施策の立案に活用</a:t>
            </a:r>
            <a:endParaRPr lang="en-US" sz="1100" dirty="0"/>
          </a:p>
        </p:txBody>
      </p:sp>
      <p:sp>
        <p:nvSpPr>
          <p:cNvPr id="20" name="Shape 16"/>
          <p:cNvSpPr/>
          <p:nvPr/>
        </p:nvSpPr>
        <p:spPr>
          <a:xfrm>
            <a:off x="8046720" y="1783080"/>
            <a:ext cx="3566160" cy="2103120"/>
          </a:xfrm>
          <a:prstGeom prst="roundRect">
            <a:avLst>
              <a:gd name="adj" fmla="val 3478"/>
            </a:avLst>
          </a:prstGeom>
          <a:solidFill>
            <a:srgbClr val="FFFFFF"/>
          </a:solidFill>
          <a:ln w="12700">
            <a:solidFill>
              <a:srgbClr val="D5DDE5"/>
            </a:solidFill>
            <a:prstDash val="solid"/>
          </a:ln>
        </p:spPr>
      </p:sp>
      <p:sp>
        <p:nvSpPr>
          <p:cNvPr id="21" name="Shape 17"/>
          <p:cNvSpPr/>
          <p:nvPr/>
        </p:nvSpPr>
        <p:spPr>
          <a:xfrm>
            <a:off x="8229600" y="1965960"/>
            <a:ext cx="502920" cy="502920"/>
          </a:xfrm>
          <a:prstGeom prst="ellipse">
            <a:avLst/>
          </a:prstGeom>
          <a:solidFill>
            <a:srgbClr val="13283C"/>
          </a:solidFill>
          <a:ln w="12700">
            <a:solidFill>
              <a:srgbClr val="13283C"/>
            </a:solidFill>
            <a:prstDash val="solid"/>
          </a:ln>
        </p:spPr>
      </p:sp>
      <p:pic>
        <p:nvPicPr>
          <p:cNvPr id="22" name="Image 2" descr="preencoded.png">    </p:cNvPr>
          <p:cNvPicPr>
            <a:picLocks noChangeAspect="1"/>
          </p:cNvPicPr>
          <p:nvPr/>
        </p:nvPicPr>
        <p:blipFill>
          <a:blip r:embed="rId3"/>
          <a:stretch>
            <a:fillRect/>
          </a:stretch>
        </p:blipFill>
        <p:spPr>
          <a:xfrm>
            <a:off x="8355330" y="2091690"/>
            <a:ext cx="251460" cy="251460"/>
          </a:xfrm>
          <a:prstGeom prst="rect">
            <a:avLst/>
          </a:prstGeom>
        </p:spPr>
      </p:pic>
      <p:sp>
        <p:nvSpPr>
          <p:cNvPr id="23" name="Text 18"/>
          <p:cNvSpPr txBox="1"/>
          <p:nvPr/>
        </p:nvSpPr>
        <p:spPr>
          <a:xfrm>
            <a:off x="8869680" y="1938528"/>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富山県</a:t>
            </a:r>
            <a:endParaRPr lang="en-US" sz="1400" dirty="0"/>
          </a:p>
        </p:txBody>
      </p:sp>
      <p:sp>
        <p:nvSpPr>
          <p:cNvPr id="24" name="Text 19"/>
          <p:cNvSpPr txBox="1"/>
          <p:nvPr/>
        </p:nvSpPr>
        <p:spPr>
          <a:xfrm>
            <a:off x="8869680" y="2240280"/>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プレミアパネル</a:t>
            </a:r>
            <a:endParaRPr lang="en-US" sz="1050" dirty="0"/>
          </a:p>
        </p:txBody>
      </p:sp>
      <p:sp>
        <p:nvSpPr>
          <p:cNvPr id="25" name="Text 20"/>
          <p:cNvSpPr txBox="1"/>
          <p:nvPr/>
        </p:nvSpPr>
        <p:spPr>
          <a:xfrm>
            <a:off x="8229600" y="2606040"/>
            <a:ext cx="3200400" cy="54864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タイトな日程で、県民・観光客・移住希望者のニーズを把握したい</a:t>
            </a:r>
            <a:endParaRPr lang="en-US" sz="1100" dirty="0"/>
          </a:p>
        </p:txBody>
      </p:sp>
      <p:sp>
        <p:nvSpPr>
          <p:cNvPr id="26" name="Text 21"/>
          <p:cNvSpPr txBox="1"/>
          <p:nvPr/>
        </p:nvSpPr>
        <p:spPr>
          <a:xfrm>
            <a:off x="8229600" y="315468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調査でセグメントを設定し、県公式LINEの登録者が約3倍に</a:t>
            </a:r>
            <a:endParaRPr lang="en-US" sz="1100" dirty="0"/>
          </a:p>
        </p:txBody>
      </p:sp>
      <p:sp>
        <p:nvSpPr>
          <p:cNvPr id="27" name="Shape 22"/>
          <p:cNvSpPr/>
          <p:nvPr/>
        </p:nvSpPr>
        <p:spPr>
          <a:xfrm>
            <a:off x="548640" y="4023360"/>
            <a:ext cx="3566160" cy="2103120"/>
          </a:xfrm>
          <a:prstGeom prst="roundRect">
            <a:avLst>
              <a:gd name="adj" fmla="val 3478"/>
            </a:avLst>
          </a:prstGeom>
          <a:solidFill>
            <a:srgbClr val="FFFFFF"/>
          </a:solidFill>
          <a:ln w="12700">
            <a:solidFill>
              <a:srgbClr val="D5DDE5"/>
            </a:solidFill>
            <a:prstDash val="solid"/>
          </a:ln>
        </p:spPr>
      </p:sp>
      <p:sp>
        <p:nvSpPr>
          <p:cNvPr id="28" name="Shape 23"/>
          <p:cNvSpPr/>
          <p:nvPr/>
        </p:nvSpPr>
        <p:spPr>
          <a:xfrm>
            <a:off x="731520" y="4206240"/>
            <a:ext cx="502920" cy="502920"/>
          </a:xfrm>
          <a:prstGeom prst="ellipse">
            <a:avLst/>
          </a:prstGeom>
          <a:solidFill>
            <a:srgbClr val="13283C"/>
          </a:solidFill>
          <a:ln w="12700">
            <a:solidFill>
              <a:srgbClr val="13283C"/>
            </a:solidFill>
            <a:prstDash val="solid"/>
          </a:ln>
        </p:spPr>
      </p:sp>
      <p:pic>
        <p:nvPicPr>
          <p:cNvPr id="29" name="Image 3" descr="preencoded.png">    </p:cNvPr>
          <p:cNvPicPr>
            <a:picLocks noChangeAspect="1"/>
          </p:cNvPicPr>
          <p:nvPr/>
        </p:nvPicPr>
        <p:blipFill>
          <a:blip r:embed="rId4"/>
          <a:stretch>
            <a:fillRect/>
          </a:stretch>
        </p:blipFill>
        <p:spPr>
          <a:xfrm>
            <a:off x="857250" y="4331970"/>
            <a:ext cx="251460" cy="251460"/>
          </a:xfrm>
          <a:prstGeom prst="rect">
            <a:avLst/>
          </a:prstGeom>
        </p:spPr>
      </p:pic>
      <p:sp>
        <p:nvSpPr>
          <p:cNvPr id="30" name="Text 24"/>
          <p:cNvSpPr txBox="1"/>
          <p:nvPr/>
        </p:nvSpPr>
        <p:spPr>
          <a:xfrm>
            <a:off x="1371600" y="4178808"/>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川崎フロンターレ（実証）</a:t>
            </a:r>
            <a:endParaRPr lang="en-US" sz="1400" dirty="0"/>
          </a:p>
        </p:txBody>
      </p:sp>
      <p:sp>
        <p:nvSpPr>
          <p:cNvPr id="31" name="Text 25"/>
          <p:cNvSpPr txBox="1"/>
          <p:nvPr/>
        </p:nvSpPr>
        <p:spPr>
          <a:xfrm>
            <a:off x="1371600" y="4480560"/>
            <a:ext cx="2651760" cy="256032"/>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ドコモの位置・決済データ</a:t>
            </a:r>
            <a:endParaRPr lang="en-US" sz="1050" dirty="0"/>
          </a:p>
        </p:txBody>
      </p:sp>
      <p:sp>
        <p:nvSpPr>
          <p:cNvPr id="32" name="Text 26"/>
          <p:cNvSpPr txBox="1"/>
          <p:nvPr/>
        </p:nvSpPr>
        <p:spPr>
          <a:xfrm>
            <a:off x="731520" y="4846320"/>
            <a:ext cx="3200400" cy="54864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試合が地域経済に与える効果を客観的に示したい</a:t>
            </a:r>
            <a:endParaRPr lang="en-US" sz="1100" dirty="0"/>
          </a:p>
        </p:txBody>
      </p:sp>
      <p:sp>
        <p:nvSpPr>
          <p:cNvPr id="33" name="Text 27"/>
          <p:cNvSpPr txBox="1"/>
          <p:nvPr/>
        </p:nvSpPr>
        <p:spPr>
          <a:xfrm>
            <a:off x="73152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1試合あたりの経済効果を2,419万円と算出</a:t>
            </a:r>
            <a:endParaRPr lang="en-US" sz="1100" dirty="0"/>
          </a:p>
        </p:txBody>
      </p:sp>
      <p:sp>
        <p:nvSpPr>
          <p:cNvPr id="34" name="Shape 28"/>
          <p:cNvSpPr/>
          <p:nvPr/>
        </p:nvSpPr>
        <p:spPr>
          <a:xfrm>
            <a:off x="4297680" y="4023360"/>
            <a:ext cx="3566160" cy="2103120"/>
          </a:xfrm>
          <a:prstGeom prst="roundRect">
            <a:avLst>
              <a:gd name="adj" fmla="val 3478"/>
            </a:avLst>
          </a:prstGeom>
          <a:solidFill>
            <a:srgbClr val="FFFFFF"/>
          </a:solidFill>
          <a:ln w="12700">
            <a:solidFill>
              <a:srgbClr val="D5DDE5"/>
            </a:solidFill>
            <a:prstDash val="solid"/>
          </a:ln>
        </p:spPr>
      </p:sp>
      <p:sp>
        <p:nvSpPr>
          <p:cNvPr id="35" name="Shape 29"/>
          <p:cNvSpPr/>
          <p:nvPr/>
        </p:nvSpPr>
        <p:spPr>
          <a:xfrm>
            <a:off x="4480560" y="4206240"/>
            <a:ext cx="502920" cy="502920"/>
          </a:xfrm>
          <a:prstGeom prst="ellipse">
            <a:avLst/>
          </a:prstGeom>
          <a:solidFill>
            <a:srgbClr val="5A6675"/>
          </a:solidFill>
          <a:ln w="12700">
            <a:solidFill>
              <a:srgbClr val="5A6675"/>
            </a:solidFill>
            <a:prstDash val="solid"/>
          </a:ln>
        </p:spPr>
      </p:sp>
      <p:pic>
        <p:nvPicPr>
          <p:cNvPr id="36" name="Image 4" descr="preencoded.png">    </p:cNvPr>
          <p:cNvPicPr>
            <a:picLocks noChangeAspect="1"/>
          </p:cNvPicPr>
          <p:nvPr/>
        </p:nvPicPr>
        <p:blipFill>
          <a:blip r:embed="rId5"/>
          <a:stretch>
            <a:fillRect/>
          </a:stretch>
        </p:blipFill>
        <p:spPr>
          <a:xfrm>
            <a:off x="4606290" y="4331970"/>
            <a:ext cx="251460" cy="251460"/>
          </a:xfrm>
          <a:prstGeom prst="rect">
            <a:avLst/>
          </a:prstGeom>
        </p:spPr>
      </p:pic>
      <p:sp>
        <p:nvSpPr>
          <p:cNvPr id="37" name="Text 30"/>
          <p:cNvSpPr txBox="1"/>
          <p:nvPr/>
        </p:nvSpPr>
        <p:spPr>
          <a:xfrm>
            <a:off x="5120640" y="4178808"/>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栃木県</a:t>
            </a:r>
            <a:endParaRPr lang="en-US" sz="1400" dirty="0"/>
          </a:p>
        </p:txBody>
      </p:sp>
      <p:sp>
        <p:nvSpPr>
          <p:cNvPr id="38" name="Text 31"/>
          <p:cNvSpPr txBox="1"/>
          <p:nvPr/>
        </p:nvSpPr>
        <p:spPr>
          <a:xfrm>
            <a:off x="5120640" y="4480560"/>
            <a:ext cx="2651760" cy="256032"/>
          </a:xfrm>
          <a:prstGeom prst="rect">
            <a:avLst/>
          </a:prstGeom>
          <a:noFill/>
          <a:ln/>
        </p:spPr>
        <p:txBody>
          <a:bodyPr wrap="square" lIns="0" tIns="0" rIns="0" bIns="0" rtlCol="0" anchor="t"/>
          <a:lstStyle/>
          <a:p>
            <a:pPr indent="0" marL="0">
              <a:buNone/>
            </a:pPr>
            <a:r>
              <a:rPr lang="en-US" sz="1050" b="1" dirty="0">
                <a:solidFill>
                  <a:srgbClr val="5A6675"/>
                </a:solidFill>
                <a:latin typeface="Meiryo" pitchFamily="34" charset="0"/>
                <a:ea typeface="Meiryo" pitchFamily="34" charset="-122"/>
                <a:cs typeface="Meiryo" pitchFamily="34" charset="-120"/>
              </a:rPr>
              <a:t>KDDI Location Analyzer</a:t>
            </a:r>
            <a:endParaRPr lang="en-US" sz="1050" dirty="0"/>
          </a:p>
        </p:txBody>
      </p:sp>
      <p:sp>
        <p:nvSpPr>
          <p:cNvPr id="39" name="Text 32"/>
          <p:cNvSpPr txBox="1"/>
          <p:nvPr/>
        </p:nvSpPr>
        <p:spPr>
          <a:xfrm>
            <a:off x="4480560" y="4846320"/>
            <a:ext cx="3200400" cy="54864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観光客調査が年1回のアンケートで、急な変化に対応できない</a:t>
            </a:r>
            <a:endParaRPr lang="en-US" sz="1100" dirty="0"/>
          </a:p>
        </p:txBody>
      </p:sp>
      <p:sp>
        <p:nvSpPr>
          <p:cNvPr id="40" name="Text 33"/>
          <p:cNvSpPr txBox="1"/>
          <p:nvPr/>
        </p:nvSpPr>
        <p:spPr>
          <a:xfrm>
            <a:off x="448056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約20か所を前年・前週と比較し、観光施策の効果検証に活用</a:t>
            </a:r>
            <a:endParaRPr lang="en-US" sz="1100" dirty="0"/>
          </a:p>
        </p:txBody>
      </p:sp>
      <p:sp>
        <p:nvSpPr>
          <p:cNvPr id="41" name="Shape 34"/>
          <p:cNvSpPr/>
          <p:nvPr/>
        </p:nvSpPr>
        <p:spPr>
          <a:xfrm>
            <a:off x="8046720" y="4023360"/>
            <a:ext cx="3566160" cy="2103120"/>
          </a:xfrm>
          <a:prstGeom prst="roundRect">
            <a:avLst>
              <a:gd name="adj" fmla="val 3478"/>
            </a:avLst>
          </a:prstGeom>
          <a:solidFill>
            <a:srgbClr val="FFFFFF"/>
          </a:solidFill>
          <a:ln w="12700">
            <a:solidFill>
              <a:srgbClr val="D5DDE5"/>
            </a:solidFill>
            <a:prstDash val="solid"/>
          </a:ln>
        </p:spPr>
      </p:sp>
      <p:sp>
        <p:nvSpPr>
          <p:cNvPr id="42" name="Shape 35"/>
          <p:cNvSpPr/>
          <p:nvPr/>
        </p:nvSpPr>
        <p:spPr>
          <a:xfrm>
            <a:off x="8229600" y="4206240"/>
            <a:ext cx="502920" cy="502920"/>
          </a:xfrm>
          <a:prstGeom prst="ellipse">
            <a:avLst/>
          </a:prstGeom>
          <a:solidFill>
            <a:srgbClr val="5A6675"/>
          </a:solidFill>
          <a:ln w="12700">
            <a:solidFill>
              <a:srgbClr val="5A6675"/>
            </a:solidFill>
            <a:prstDash val="solid"/>
          </a:ln>
        </p:spPr>
      </p:sp>
      <p:pic>
        <p:nvPicPr>
          <p:cNvPr id="43" name="Image 5" descr="preencoded.png">    </p:cNvPr>
          <p:cNvPicPr>
            <a:picLocks noChangeAspect="1"/>
          </p:cNvPicPr>
          <p:nvPr/>
        </p:nvPicPr>
        <p:blipFill>
          <a:blip r:embed="rId6"/>
          <a:stretch>
            <a:fillRect/>
          </a:stretch>
        </p:blipFill>
        <p:spPr>
          <a:xfrm>
            <a:off x="8355330" y="4331970"/>
            <a:ext cx="251460" cy="251460"/>
          </a:xfrm>
          <a:prstGeom prst="rect">
            <a:avLst/>
          </a:prstGeom>
        </p:spPr>
      </p:pic>
      <p:sp>
        <p:nvSpPr>
          <p:cNvPr id="44" name="Text 36"/>
          <p:cNvSpPr txBox="1"/>
          <p:nvPr/>
        </p:nvSpPr>
        <p:spPr>
          <a:xfrm>
            <a:off x="8869680" y="4178808"/>
            <a:ext cx="2651760" cy="301752"/>
          </a:xfrm>
          <a:prstGeom prst="rect">
            <a:avLst/>
          </a:prstGeom>
          <a:noFill/>
          <a:ln/>
        </p:spPr>
        <p:txBody>
          <a:bodyPr wrap="square" lIns="0" tIns="0" rIns="0" bIns="0" rtlCol="0" anchor="t">
            <a:normAutofit/>
          </a:bodyPr>
          <a:lstStyle/>
          <a:p>
            <a:pPr indent="0" marL="0">
              <a:buNone/>
            </a:pPr>
            <a:r>
              <a:rPr lang="en-US" sz="1400" b="1" dirty="0">
                <a:solidFill>
                  <a:srgbClr val="13283C"/>
                </a:solidFill>
                <a:latin typeface="Meiryo" pitchFamily="34" charset="0"/>
                <a:ea typeface="Meiryo" pitchFamily="34" charset="-122"/>
                <a:cs typeface="Meiryo" pitchFamily="34" charset="-120"/>
              </a:rPr>
              <a:t>横浜DeNAベイスターズ</a:t>
            </a:r>
            <a:endParaRPr lang="en-US" sz="1400" dirty="0"/>
          </a:p>
        </p:txBody>
      </p:sp>
      <p:sp>
        <p:nvSpPr>
          <p:cNvPr id="45" name="Text 37"/>
          <p:cNvSpPr txBox="1"/>
          <p:nvPr/>
        </p:nvSpPr>
        <p:spPr>
          <a:xfrm>
            <a:off x="8869680" y="4480560"/>
            <a:ext cx="2651760" cy="256032"/>
          </a:xfrm>
          <a:prstGeom prst="rect">
            <a:avLst/>
          </a:prstGeom>
          <a:noFill/>
          <a:ln/>
        </p:spPr>
        <p:txBody>
          <a:bodyPr wrap="square" lIns="0" tIns="0" rIns="0" bIns="0" rtlCol="0" anchor="t"/>
          <a:lstStyle/>
          <a:p>
            <a:pPr indent="0" marL="0">
              <a:buNone/>
            </a:pPr>
            <a:r>
              <a:rPr lang="en-US" sz="1050" b="1" dirty="0">
                <a:solidFill>
                  <a:srgbClr val="5A6675"/>
                </a:solidFill>
                <a:latin typeface="Meiryo" pitchFamily="34" charset="0"/>
                <a:ea typeface="Meiryo" pitchFamily="34" charset="-122"/>
                <a:cs typeface="Meiryo" pitchFamily="34" charset="-120"/>
              </a:rPr>
              <a:t>KDDI Location Analyzer</a:t>
            </a:r>
            <a:endParaRPr lang="en-US" sz="1050" dirty="0"/>
          </a:p>
        </p:txBody>
      </p:sp>
      <p:sp>
        <p:nvSpPr>
          <p:cNvPr id="46" name="Text 38"/>
          <p:cNvSpPr txBox="1"/>
          <p:nvPr/>
        </p:nvSpPr>
        <p:spPr>
          <a:xfrm>
            <a:off x="8229600" y="4846320"/>
            <a:ext cx="3200400" cy="548640"/>
          </a:xfrm>
          <a:prstGeom prst="rect">
            <a:avLst/>
          </a:prstGeom>
          <a:noFill/>
          <a:ln/>
        </p:spPr>
        <p:txBody>
          <a:bodyPr wrap="square" lIns="0" tIns="0" rIns="0" bIns="0" rtlCol="0" anchor="t"/>
          <a:lstStyle/>
          <a:p>
            <a:pPr indent="0" marL="0">
              <a:buNone/>
            </a:pPr>
            <a:r>
              <a:rPr lang="en-US" sz="1100" b="1" dirty="0">
                <a:solidFill>
                  <a:srgbClr val="5A6675"/>
                </a:solidFill>
                <a:latin typeface="Meiryo" pitchFamily="34" charset="0"/>
                <a:ea typeface="Meiryo" pitchFamily="34" charset="-122"/>
                <a:cs typeface="Meiryo" pitchFamily="34" charset="-120"/>
              </a:rPr>
              <a:t>課題　</a:t>
            </a:r>
            <a:pPr indent="0" marL="0">
              <a:buNone/>
            </a:pPr>
            <a:r>
              <a:rPr lang="en-US" sz="1100" dirty="0">
                <a:solidFill>
                  <a:srgbClr val="1B2B3D"/>
                </a:solidFill>
                <a:latin typeface="Meiryo" pitchFamily="34" charset="0"/>
                <a:ea typeface="Meiryo" pitchFamily="34" charset="-122"/>
                <a:cs typeface="Meiryo" pitchFamily="34" charset="-120"/>
              </a:rPr>
              <a:t>レポート納品型では分析範囲が限られ、試合間の比較が難しい</a:t>
            </a:r>
            <a:endParaRPr lang="en-US" sz="1100" dirty="0"/>
          </a:p>
        </p:txBody>
      </p:sp>
      <p:sp>
        <p:nvSpPr>
          <p:cNvPr id="47" name="Text 39"/>
          <p:cNvSpPr txBox="1"/>
          <p:nvPr/>
        </p:nvSpPr>
        <p:spPr>
          <a:xfrm>
            <a:off x="8229600" y="5394960"/>
            <a:ext cx="3200400" cy="64008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結果　</a:t>
            </a:r>
            <a:pPr indent="0" marL="0">
              <a:buNone/>
            </a:pPr>
            <a:r>
              <a:rPr lang="en-US" sz="1100" b="1" dirty="0">
                <a:solidFill>
                  <a:srgbClr val="1B2B3D"/>
                </a:solidFill>
                <a:latin typeface="Meiryo" pitchFamily="34" charset="0"/>
                <a:ea typeface="Meiryo" pitchFamily="34" charset="-122"/>
                <a:cs typeface="Meiryo" pitchFamily="34" charset="-120"/>
              </a:rPr>
              <a:t>全試合の来場者を自ら比較でき、1試合あたりのコストも低下</a:t>
            </a:r>
            <a:endParaRPr lang="en-US" sz="1100" dirty="0"/>
          </a:p>
        </p:txBody>
      </p:sp>
      <p:sp>
        <p:nvSpPr>
          <p:cNvPr id="48" name="Text 40"/>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各社の公開導入事例・ニュースリリースの記載を要約。川崎フロンターレはドコモ・インテージによる実証実験</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事例の深掘り</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栃木県 × KDDI Location Analyzer（他社事例）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複数の無償サービスがある中で選ばれた理由</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04</a:t>
            </a:r>
            <a:endParaRPr lang="en-US" sz="1000" dirty="0"/>
          </a:p>
        </p:txBody>
      </p:sp>
      <p:sp>
        <p:nvSpPr>
          <p:cNvPr id="6" name="Text 4"/>
          <p:cNvSpPr txBox="1"/>
          <p:nvPr/>
        </p:nvSpPr>
        <p:spPr>
          <a:xfrm>
            <a:off x="548640" y="1783080"/>
            <a:ext cx="2697480" cy="411480"/>
          </a:xfrm>
          <a:prstGeom prst="chevron">
            <a:avLst/>
          </a:prstGeom>
          <a:solidFill>
            <a:srgbClr val="13283C"/>
          </a:solidFill>
          <a:ln>
            <a:solidFill>
              <a:srgbClr val="13283C"/>
            </a:solidFill>
          </a:ln>
        </p:spPr>
        <p:txBody>
          <a:bodyPr wrap="square" lIns="0" tIns="0" rIns="0" bIns="0" rtlCol="0" anchor="ctr"/>
          <a:lstStyle/>
          <a:p>
            <a:pPr algn="ctr" indent="0" marL="0">
              <a:buNone/>
            </a:pPr>
            <a:r>
              <a:rPr lang="en-US" sz="1100" b="1" dirty="0">
                <a:solidFill>
                  <a:srgbClr val="FF8FA3"/>
                </a:solidFill>
                <a:latin typeface="Meiryo" pitchFamily="34" charset="0"/>
                <a:ea typeface="Meiryo" pitchFamily="34" charset="-122"/>
                <a:cs typeface="Meiryo" pitchFamily="34" charset="-120"/>
              </a:rPr>
              <a:t>課題</a:t>
            </a:r>
            <a:endParaRPr lang="en-US" sz="1100" dirty="0"/>
          </a:p>
        </p:txBody>
      </p:sp>
      <p:sp>
        <p:nvSpPr>
          <p:cNvPr id="7" name="Shape 5"/>
          <p:cNvSpPr/>
          <p:nvPr/>
        </p:nvSpPr>
        <p:spPr>
          <a:xfrm>
            <a:off x="548640" y="2331720"/>
            <a:ext cx="2651760" cy="1828800"/>
          </a:xfrm>
          <a:prstGeom prst="roundRect">
            <a:avLst>
              <a:gd name="adj" fmla="val 4000"/>
            </a:avLst>
          </a:prstGeom>
          <a:solidFill>
            <a:srgbClr val="F2F5F8"/>
          </a:solidFill>
          <a:ln w="12700">
            <a:solidFill>
              <a:srgbClr val="F2F5F8"/>
            </a:solidFill>
            <a:prstDash val="solid"/>
          </a:ln>
        </p:spPr>
      </p:sp>
      <p:sp>
        <p:nvSpPr>
          <p:cNvPr id="8" name="Text 6"/>
          <p:cNvSpPr txBox="1"/>
          <p:nvPr/>
        </p:nvSpPr>
        <p:spPr>
          <a:xfrm>
            <a:off x="731520" y="2423160"/>
            <a:ext cx="2331720" cy="164592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観光客調査は年1回のアンケートで、コロナ禍の急な変化に対応できなかった</a:t>
            </a:r>
            <a:endParaRPr lang="en-US" sz="1250" dirty="0"/>
          </a:p>
        </p:txBody>
      </p:sp>
      <p:sp>
        <p:nvSpPr>
          <p:cNvPr id="9" name="Text 7"/>
          <p:cNvSpPr txBox="1"/>
          <p:nvPr/>
        </p:nvSpPr>
        <p:spPr>
          <a:xfrm>
            <a:off x="3337560" y="1783080"/>
            <a:ext cx="2697480" cy="411480"/>
          </a:xfrm>
          <a:prstGeom prst="chevron">
            <a:avLst/>
          </a:prstGeom>
          <a:solidFill>
            <a:srgbClr val="13283C"/>
          </a:solidFill>
          <a:ln>
            <a:solidFill>
              <a:srgbClr val="13283C"/>
            </a:solidFill>
          </a:ln>
        </p:spPr>
        <p:txBody>
          <a:bodyPr wrap="square" lIns="0" tIns="0" rIns="0" bIns="0" rtlCol="0" anchor="ctr"/>
          <a:lstStyle/>
          <a:p>
            <a:pPr algn="ctr" indent="0" marL="0">
              <a:buNone/>
            </a:pPr>
            <a:r>
              <a:rPr lang="en-US" sz="1100" b="1" dirty="0">
                <a:solidFill>
                  <a:srgbClr val="FF8FA3"/>
                </a:solidFill>
                <a:latin typeface="Meiryo" pitchFamily="34" charset="0"/>
                <a:ea typeface="Meiryo" pitchFamily="34" charset="-122"/>
                <a:cs typeface="Meiryo" pitchFamily="34" charset="-120"/>
              </a:rPr>
              <a:t>検討・比較</a:t>
            </a:r>
            <a:endParaRPr lang="en-US" sz="1100" dirty="0"/>
          </a:p>
        </p:txBody>
      </p:sp>
      <p:sp>
        <p:nvSpPr>
          <p:cNvPr id="10" name="Shape 8"/>
          <p:cNvSpPr/>
          <p:nvPr/>
        </p:nvSpPr>
        <p:spPr>
          <a:xfrm>
            <a:off x="3337560" y="2331720"/>
            <a:ext cx="2651760" cy="1828800"/>
          </a:xfrm>
          <a:prstGeom prst="roundRect">
            <a:avLst>
              <a:gd name="adj" fmla="val 4000"/>
            </a:avLst>
          </a:prstGeom>
          <a:solidFill>
            <a:srgbClr val="F2F5F8"/>
          </a:solidFill>
          <a:ln w="12700">
            <a:solidFill>
              <a:srgbClr val="F2F5F8"/>
            </a:solidFill>
            <a:prstDash val="solid"/>
          </a:ln>
        </p:spPr>
      </p:sp>
      <p:sp>
        <p:nvSpPr>
          <p:cNvPr id="11" name="Text 9"/>
          <p:cNvSpPr txBox="1"/>
          <p:nvPr/>
        </p:nvSpPr>
        <p:spPr>
          <a:xfrm>
            <a:off x="3520440" y="2423160"/>
            <a:ext cx="2331720" cy="164592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コロナ対策として複数の位置情報サービスが自治体へ無償提供されていた</a:t>
            </a:r>
            <a:endParaRPr lang="en-US" sz="1250" dirty="0"/>
          </a:p>
        </p:txBody>
      </p:sp>
      <p:sp>
        <p:nvSpPr>
          <p:cNvPr id="12" name="Text 10"/>
          <p:cNvSpPr txBox="1"/>
          <p:nvPr/>
        </p:nvSpPr>
        <p:spPr>
          <a:xfrm>
            <a:off x="6126480" y="1783080"/>
            <a:ext cx="2697480" cy="411480"/>
          </a:xfrm>
          <a:prstGeom prst="chevron">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選定の決め手</a:t>
            </a:r>
            <a:endParaRPr lang="en-US" sz="1100" dirty="0"/>
          </a:p>
        </p:txBody>
      </p:sp>
      <p:sp>
        <p:nvSpPr>
          <p:cNvPr id="13" name="Shape 11"/>
          <p:cNvSpPr/>
          <p:nvPr/>
        </p:nvSpPr>
        <p:spPr>
          <a:xfrm>
            <a:off x="6126480" y="2331720"/>
            <a:ext cx="2651760" cy="1828800"/>
          </a:xfrm>
          <a:prstGeom prst="roundRect">
            <a:avLst>
              <a:gd name="adj" fmla="val 4000"/>
            </a:avLst>
          </a:prstGeom>
          <a:solidFill>
            <a:srgbClr val="FBEAEE"/>
          </a:solidFill>
          <a:ln w="12700">
            <a:solidFill>
              <a:srgbClr val="FBEAEE"/>
            </a:solidFill>
            <a:prstDash val="solid"/>
          </a:ln>
        </p:spPr>
      </p:sp>
      <p:sp>
        <p:nvSpPr>
          <p:cNvPr id="14" name="Text 12"/>
          <p:cNvSpPr txBox="1"/>
          <p:nvPr/>
        </p:nvSpPr>
        <p:spPr>
          <a:xfrm>
            <a:off x="6309360" y="2423160"/>
            <a:ext cx="2331720" cy="164592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KDDIのレポートで「取れるデータが明確にイメージできた」。実績とスピードも評価</a:t>
            </a:r>
            <a:endParaRPr lang="en-US" sz="1250" dirty="0"/>
          </a:p>
        </p:txBody>
      </p:sp>
      <p:sp>
        <p:nvSpPr>
          <p:cNvPr id="15" name="Text 13"/>
          <p:cNvSpPr txBox="1"/>
          <p:nvPr/>
        </p:nvSpPr>
        <p:spPr>
          <a:xfrm>
            <a:off x="8915400" y="1783080"/>
            <a:ext cx="2697480" cy="411480"/>
          </a:xfrm>
          <a:prstGeom prst="chevron">
            <a:avLst/>
          </a:prstGeom>
          <a:solidFill>
            <a:srgbClr val="13283C"/>
          </a:solidFill>
          <a:ln>
            <a:solidFill>
              <a:srgbClr val="13283C"/>
            </a:solidFill>
          </a:ln>
        </p:spPr>
        <p:txBody>
          <a:bodyPr wrap="square" lIns="0" tIns="0" rIns="0" bIns="0" rtlCol="0" anchor="ctr"/>
          <a:lstStyle/>
          <a:p>
            <a:pPr algn="ctr" indent="0" marL="0">
              <a:buNone/>
            </a:pPr>
            <a:r>
              <a:rPr lang="en-US" sz="1100" b="1" dirty="0">
                <a:solidFill>
                  <a:srgbClr val="FF8FA3"/>
                </a:solidFill>
                <a:latin typeface="Meiryo" pitchFamily="34" charset="0"/>
                <a:ea typeface="Meiryo" pitchFamily="34" charset="-122"/>
                <a:cs typeface="Meiryo" pitchFamily="34" charset="-120"/>
              </a:rPr>
              <a:t>契約後の成果</a:t>
            </a:r>
            <a:endParaRPr lang="en-US" sz="1100" dirty="0"/>
          </a:p>
        </p:txBody>
      </p:sp>
      <p:sp>
        <p:nvSpPr>
          <p:cNvPr id="16" name="Shape 14"/>
          <p:cNvSpPr/>
          <p:nvPr/>
        </p:nvSpPr>
        <p:spPr>
          <a:xfrm>
            <a:off x="8915400" y="2331720"/>
            <a:ext cx="2651760" cy="1828800"/>
          </a:xfrm>
          <a:prstGeom prst="roundRect">
            <a:avLst>
              <a:gd name="adj" fmla="val 4000"/>
            </a:avLst>
          </a:prstGeom>
          <a:solidFill>
            <a:srgbClr val="F2F5F8"/>
          </a:solidFill>
          <a:ln w="12700">
            <a:solidFill>
              <a:srgbClr val="F2F5F8"/>
            </a:solidFill>
            <a:prstDash val="solid"/>
          </a:ln>
        </p:spPr>
      </p:sp>
      <p:sp>
        <p:nvSpPr>
          <p:cNvPr id="17" name="Text 15"/>
          <p:cNvSpPr txBox="1"/>
          <p:nvPr/>
        </p:nvSpPr>
        <p:spPr>
          <a:xfrm>
            <a:off x="9098280" y="2423160"/>
            <a:ext cx="2331720" cy="164592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観光地約20か所を前年同日・前週と比べ、施策の効果検証に活用</a:t>
            </a:r>
            <a:endParaRPr lang="en-US" sz="1250" dirty="0"/>
          </a:p>
        </p:txBody>
      </p:sp>
      <p:sp>
        <p:nvSpPr>
          <p:cNvPr id="18" name="Shape 16"/>
          <p:cNvSpPr/>
          <p:nvPr/>
        </p:nvSpPr>
        <p:spPr>
          <a:xfrm>
            <a:off x="548640" y="4389120"/>
            <a:ext cx="5852160" cy="1645920"/>
          </a:xfrm>
          <a:prstGeom prst="roundRect">
            <a:avLst>
              <a:gd name="adj" fmla="val 4444"/>
            </a:avLst>
          </a:prstGeom>
          <a:solidFill>
            <a:srgbClr val="FFFFFF"/>
          </a:solidFill>
          <a:ln w="12700">
            <a:solidFill>
              <a:srgbClr val="D5DDE5"/>
            </a:solidFill>
            <a:prstDash val="solid"/>
          </a:ln>
        </p:spPr>
      </p:sp>
      <p:pic>
        <p:nvPicPr>
          <p:cNvPr id="19" name="Image 0" descr="preencoded.png">    </p:cNvPr>
          <p:cNvPicPr>
            <a:picLocks noChangeAspect="1"/>
          </p:cNvPicPr>
          <p:nvPr/>
        </p:nvPicPr>
        <p:blipFill>
          <a:blip r:embed="rId1"/>
          <a:stretch>
            <a:fillRect/>
          </a:stretch>
        </p:blipFill>
        <p:spPr>
          <a:xfrm>
            <a:off x="777240" y="4572000"/>
            <a:ext cx="320040" cy="320040"/>
          </a:xfrm>
          <a:prstGeom prst="rect">
            <a:avLst/>
          </a:prstGeom>
        </p:spPr>
      </p:pic>
      <p:sp>
        <p:nvSpPr>
          <p:cNvPr id="20" name="Text 17"/>
          <p:cNvSpPr txBox="1"/>
          <p:nvPr/>
        </p:nvSpPr>
        <p:spPr>
          <a:xfrm>
            <a:off x="1234440" y="4526280"/>
            <a:ext cx="5029200" cy="1097280"/>
          </a:xfrm>
          <a:prstGeom prst="rect">
            <a:avLst/>
          </a:prstGeom>
          <a:noFill/>
          <a:ln/>
        </p:spPr>
        <p:txBody>
          <a:bodyPr wrap="square" lIns="0" tIns="0" rIns="0" bIns="0" rtlCol="0" anchor="ctr"/>
          <a:lstStyle/>
          <a:p>
            <a:pPr indent="0" marL="0">
              <a:buNone/>
            </a:pPr>
            <a:r>
              <a:rPr lang="en-US" sz="1300" i="1" dirty="0">
                <a:solidFill>
                  <a:srgbClr val="1B2B3D"/>
                </a:solidFill>
                <a:latin typeface="Meiryo" pitchFamily="34" charset="0"/>
                <a:ea typeface="Meiryo" pitchFamily="34" charset="-122"/>
                <a:cs typeface="Meiryo" pitchFamily="34" charset="-120"/>
              </a:rPr>
              <a:t>「KDDI Location Analyzerでどういったデータを取れるのかが明確にイメージできた」</a:t>
            </a:r>
            <a:endParaRPr lang="en-US" sz="1300" dirty="0"/>
          </a:p>
        </p:txBody>
      </p:sp>
      <p:sp>
        <p:nvSpPr>
          <p:cNvPr id="21" name="Text 18"/>
          <p:cNvSpPr txBox="1"/>
          <p:nvPr/>
        </p:nvSpPr>
        <p:spPr>
          <a:xfrm>
            <a:off x="1234440" y="5623560"/>
            <a:ext cx="5029200" cy="274320"/>
          </a:xfrm>
          <a:prstGeom prst="rect">
            <a:avLst/>
          </a:prstGeom>
          <a:noFill/>
          <a:ln/>
        </p:spPr>
        <p:txBody>
          <a:bodyPr wrap="square" lIns="0" tIns="0" rIns="0" bIns="0" rtlCol="0" anchor="t"/>
          <a:lstStyle/>
          <a:p>
            <a:pPr indent="0" marL="0">
              <a:buNone/>
            </a:pPr>
            <a:r>
              <a:rPr lang="en-US" sz="1050" dirty="0">
                <a:solidFill>
                  <a:srgbClr val="5A6675"/>
                </a:solidFill>
                <a:latin typeface="Meiryo" pitchFamily="34" charset="0"/>
                <a:ea typeface="Meiryo" pitchFamily="34" charset="-122"/>
                <a:cs typeface="Meiryo" pitchFamily="34" charset="-120"/>
              </a:rPr>
              <a:t>— 栃木県の導入事例（KDDI）より</a:t>
            </a:r>
            <a:endParaRPr lang="en-US" sz="1050" dirty="0"/>
          </a:p>
        </p:txBody>
      </p:sp>
      <p:sp>
        <p:nvSpPr>
          <p:cNvPr id="22" name="Shape 19"/>
          <p:cNvSpPr/>
          <p:nvPr/>
        </p:nvSpPr>
        <p:spPr>
          <a:xfrm>
            <a:off x="6583680" y="4389120"/>
            <a:ext cx="5029200" cy="1645920"/>
          </a:xfrm>
          <a:prstGeom prst="roundRect">
            <a:avLst>
              <a:gd name="adj" fmla="val 4444"/>
            </a:avLst>
          </a:prstGeom>
          <a:solidFill>
            <a:srgbClr val="13283C"/>
          </a:solidFill>
          <a:ln w="12700">
            <a:solidFill>
              <a:srgbClr val="13283C"/>
            </a:solidFill>
            <a:prstDash val="solid"/>
          </a:ln>
        </p:spPr>
      </p:sp>
      <p:sp>
        <p:nvSpPr>
          <p:cNvPr id="23" name="Text 20"/>
          <p:cNvSpPr txBox="1"/>
          <p:nvPr/>
        </p:nvSpPr>
        <p:spPr>
          <a:xfrm>
            <a:off x="6812280" y="4526280"/>
            <a:ext cx="4572000" cy="274320"/>
          </a:xfrm>
          <a:prstGeom prst="rect">
            <a:avLst/>
          </a:prstGeom>
          <a:noFill/>
          <a:ln/>
        </p:spPr>
        <p:txBody>
          <a:bodyPr wrap="square" lIns="0" tIns="0" rIns="0" bIns="0" rtlCol="0" anchor="t"/>
          <a:lstStyle/>
          <a:p>
            <a:pPr indent="0" marL="0">
              <a:buNone/>
            </a:pPr>
            <a:r>
              <a:rPr lang="en-US" sz="1200" b="1" dirty="0">
                <a:solidFill>
                  <a:srgbClr val="FF8FA3"/>
                </a:solidFill>
                <a:latin typeface="Meiryo" pitchFamily="34" charset="0"/>
                <a:ea typeface="Meiryo" pitchFamily="34" charset="-122"/>
                <a:cs typeface="Meiryo" pitchFamily="34" charset="-120"/>
              </a:rPr>
              <a:t>提案への教訓</a:t>
            </a:r>
            <a:endParaRPr lang="en-US" sz="1200" dirty="0"/>
          </a:p>
        </p:txBody>
      </p:sp>
      <p:sp>
        <p:nvSpPr>
          <p:cNvPr id="24" name="Text 21"/>
          <p:cNvSpPr txBox="1"/>
          <p:nvPr/>
        </p:nvSpPr>
        <p:spPr>
          <a:xfrm>
            <a:off x="6812280" y="4846320"/>
            <a:ext cx="4617720" cy="109728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条件が同じ（無償）なら、決め手は「使った後の姿が見えるか」。提案書にアウトプット例を必ず入れる。</a:t>
            </a:r>
            <a:endParaRPr lang="en-US" sz="1400" dirty="0"/>
          </a:p>
        </p:txBody>
      </p:sp>
      <p:sp>
        <p:nvSpPr>
          <p:cNvPr id="25" name="Text 22"/>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出典：公開導入事例ページの記載を要約・引用</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事例の深掘り</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横浜DeNAベイスターズ × KDDI Location Analyzer（他社事例）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レポート納品型から、自分で何度でも分析できる形へ</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05</a:t>
            </a:r>
            <a:endParaRPr lang="en-US" sz="1000" dirty="0"/>
          </a:p>
        </p:txBody>
      </p:sp>
      <p:sp>
        <p:nvSpPr>
          <p:cNvPr id="6" name="Text 4"/>
          <p:cNvSpPr txBox="1"/>
          <p:nvPr/>
        </p:nvSpPr>
        <p:spPr>
          <a:xfrm>
            <a:off x="548640" y="1783080"/>
            <a:ext cx="2697480" cy="411480"/>
          </a:xfrm>
          <a:prstGeom prst="chevron">
            <a:avLst/>
          </a:prstGeom>
          <a:solidFill>
            <a:srgbClr val="13283C"/>
          </a:solidFill>
          <a:ln>
            <a:solidFill>
              <a:srgbClr val="13283C"/>
            </a:solidFill>
          </a:ln>
        </p:spPr>
        <p:txBody>
          <a:bodyPr wrap="square" lIns="0" tIns="0" rIns="0" bIns="0" rtlCol="0" anchor="ctr"/>
          <a:lstStyle/>
          <a:p>
            <a:pPr algn="ctr" indent="0" marL="0">
              <a:buNone/>
            </a:pPr>
            <a:r>
              <a:rPr lang="en-US" sz="1100" b="1" dirty="0">
                <a:solidFill>
                  <a:srgbClr val="FF8FA3"/>
                </a:solidFill>
                <a:latin typeface="Meiryo" pitchFamily="34" charset="0"/>
                <a:ea typeface="Meiryo" pitchFamily="34" charset="-122"/>
                <a:cs typeface="Meiryo" pitchFamily="34" charset="-120"/>
              </a:rPr>
              <a:t>課題</a:t>
            </a:r>
            <a:endParaRPr lang="en-US" sz="1100" dirty="0"/>
          </a:p>
        </p:txBody>
      </p:sp>
      <p:sp>
        <p:nvSpPr>
          <p:cNvPr id="7" name="Shape 5"/>
          <p:cNvSpPr/>
          <p:nvPr/>
        </p:nvSpPr>
        <p:spPr>
          <a:xfrm>
            <a:off x="548640" y="2331720"/>
            <a:ext cx="2651760" cy="1828800"/>
          </a:xfrm>
          <a:prstGeom prst="roundRect">
            <a:avLst>
              <a:gd name="adj" fmla="val 4000"/>
            </a:avLst>
          </a:prstGeom>
          <a:solidFill>
            <a:srgbClr val="F2F5F8"/>
          </a:solidFill>
          <a:ln w="12700">
            <a:solidFill>
              <a:srgbClr val="F2F5F8"/>
            </a:solidFill>
            <a:prstDash val="solid"/>
          </a:ln>
        </p:spPr>
      </p:sp>
      <p:sp>
        <p:nvSpPr>
          <p:cNvPr id="8" name="Text 6"/>
          <p:cNvSpPr txBox="1"/>
          <p:nvPr/>
        </p:nvSpPr>
        <p:spPr>
          <a:xfrm>
            <a:off x="731520" y="2423160"/>
            <a:ext cx="2331720" cy="164592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レポート納品型の来場者データでは、調べる試合や範囲が限られ、過去の試合と比べにくかった</a:t>
            </a:r>
            <a:endParaRPr lang="en-US" sz="1250" dirty="0"/>
          </a:p>
        </p:txBody>
      </p:sp>
      <p:sp>
        <p:nvSpPr>
          <p:cNvPr id="9" name="Text 7"/>
          <p:cNvSpPr txBox="1"/>
          <p:nvPr/>
        </p:nvSpPr>
        <p:spPr>
          <a:xfrm>
            <a:off x="3337560" y="1783080"/>
            <a:ext cx="2697480" cy="411480"/>
          </a:xfrm>
          <a:prstGeom prst="chevron">
            <a:avLst/>
          </a:prstGeom>
          <a:solidFill>
            <a:srgbClr val="13283C"/>
          </a:solidFill>
          <a:ln>
            <a:solidFill>
              <a:srgbClr val="13283C"/>
            </a:solidFill>
          </a:ln>
        </p:spPr>
        <p:txBody>
          <a:bodyPr wrap="square" lIns="0" tIns="0" rIns="0" bIns="0" rtlCol="0" anchor="ctr"/>
          <a:lstStyle/>
          <a:p>
            <a:pPr algn="ctr" indent="0" marL="0">
              <a:buNone/>
            </a:pPr>
            <a:r>
              <a:rPr lang="en-US" sz="1100" b="1" dirty="0">
                <a:solidFill>
                  <a:srgbClr val="FF8FA3"/>
                </a:solidFill>
                <a:latin typeface="Meiryo" pitchFamily="34" charset="0"/>
                <a:ea typeface="Meiryo" pitchFamily="34" charset="-122"/>
                <a:cs typeface="Meiryo" pitchFamily="34" charset="-120"/>
              </a:rPr>
              <a:t>検討・比較</a:t>
            </a:r>
            <a:endParaRPr lang="en-US" sz="1100" dirty="0"/>
          </a:p>
        </p:txBody>
      </p:sp>
      <p:sp>
        <p:nvSpPr>
          <p:cNvPr id="10" name="Shape 8"/>
          <p:cNvSpPr/>
          <p:nvPr/>
        </p:nvSpPr>
        <p:spPr>
          <a:xfrm>
            <a:off x="3337560" y="2331720"/>
            <a:ext cx="2651760" cy="1828800"/>
          </a:xfrm>
          <a:prstGeom prst="roundRect">
            <a:avLst>
              <a:gd name="adj" fmla="val 4000"/>
            </a:avLst>
          </a:prstGeom>
          <a:solidFill>
            <a:srgbClr val="F2F5F8"/>
          </a:solidFill>
          <a:ln w="12700">
            <a:solidFill>
              <a:srgbClr val="F2F5F8"/>
            </a:solidFill>
            <a:prstDash val="solid"/>
          </a:ln>
        </p:spPr>
      </p:sp>
      <p:sp>
        <p:nvSpPr>
          <p:cNvPr id="11" name="Text 9"/>
          <p:cNvSpPr txBox="1"/>
          <p:nvPr/>
        </p:nvSpPr>
        <p:spPr>
          <a:xfrm>
            <a:off x="3520440" y="2423160"/>
            <a:ext cx="2331720" cy="164592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トライアルで、実際のデータと画面を使って確認</a:t>
            </a:r>
            <a:endParaRPr lang="en-US" sz="1250" dirty="0"/>
          </a:p>
        </p:txBody>
      </p:sp>
      <p:sp>
        <p:nvSpPr>
          <p:cNvPr id="12" name="Text 10"/>
          <p:cNvSpPr txBox="1"/>
          <p:nvPr/>
        </p:nvSpPr>
        <p:spPr>
          <a:xfrm>
            <a:off x="6126480" y="1783080"/>
            <a:ext cx="2697480" cy="411480"/>
          </a:xfrm>
          <a:prstGeom prst="chevron">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選定の決め手</a:t>
            </a:r>
            <a:endParaRPr lang="en-US" sz="1100" dirty="0"/>
          </a:p>
        </p:txBody>
      </p:sp>
      <p:sp>
        <p:nvSpPr>
          <p:cNvPr id="13" name="Shape 11"/>
          <p:cNvSpPr/>
          <p:nvPr/>
        </p:nvSpPr>
        <p:spPr>
          <a:xfrm>
            <a:off x="6126480" y="2331720"/>
            <a:ext cx="2651760" cy="1828800"/>
          </a:xfrm>
          <a:prstGeom prst="roundRect">
            <a:avLst>
              <a:gd name="adj" fmla="val 4000"/>
            </a:avLst>
          </a:prstGeom>
          <a:solidFill>
            <a:srgbClr val="FBEAEE"/>
          </a:solidFill>
          <a:ln w="12700">
            <a:solidFill>
              <a:srgbClr val="FBEAEE"/>
            </a:solidFill>
            <a:prstDash val="solid"/>
          </a:ln>
        </p:spPr>
      </p:sp>
      <p:sp>
        <p:nvSpPr>
          <p:cNvPr id="14" name="Text 12"/>
          <p:cNvSpPr txBox="1"/>
          <p:nvPr/>
        </p:nvSpPr>
        <p:spPr>
          <a:xfrm>
            <a:off x="6309360" y="2423160"/>
            <a:ext cx="2331720" cy="1645920"/>
          </a:xfrm>
          <a:prstGeom prst="rect">
            <a:avLst/>
          </a:prstGeom>
          <a:noFill/>
          <a:ln/>
        </p:spPr>
        <p:txBody>
          <a:bodyPr wrap="square" lIns="0" tIns="0" rIns="0" bIns="0" rtlCol="0" anchor="ctr"/>
          <a:lstStyle/>
          <a:p>
            <a:pPr indent="0" marL="0">
              <a:buNone/>
            </a:pPr>
            <a:r>
              <a:rPr lang="en-US" sz="1250" b="1" dirty="0">
                <a:solidFill>
                  <a:srgbClr val="1B2B3D"/>
                </a:solidFill>
                <a:latin typeface="Meiryo" pitchFamily="34" charset="0"/>
                <a:ea typeface="Meiryo" pitchFamily="34" charset="-122"/>
                <a:cs typeface="Meiryo" pitchFamily="34" charset="-120"/>
              </a:rPr>
              <a:t>過去の試合も含めウェブで柔軟に分析でき、定額で何度でも調べられる</a:t>
            </a:r>
            <a:endParaRPr lang="en-US" sz="1250" dirty="0"/>
          </a:p>
        </p:txBody>
      </p:sp>
      <p:sp>
        <p:nvSpPr>
          <p:cNvPr id="15" name="Text 13"/>
          <p:cNvSpPr txBox="1"/>
          <p:nvPr/>
        </p:nvSpPr>
        <p:spPr>
          <a:xfrm>
            <a:off x="8915400" y="1783080"/>
            <a:ext cx="2697480" cy="411480"/>
          </a:xfrm>
          <a:prstGeom prst="chevron">
            <a:avLst/>
          </a:prstGeom>
          <a:solidFill>
            <a:srgbClr val="13283C"/>
          </a:solidFill>
          <a:ln>
            <a:solidFill>
              <a:srgbClr val="13283C"/>
            </a:solidFill>
          </a:ln>
        </p:spPr>
        <p:txBody>
          <a:bodyPr wrap="square" lIns="0" tIns="0" rIns="0" bIns="0" rtlCol="0" anchor="ctr"/>
          <a:lstStyle/>
          <a:p>
            <a:pPr algn="ctr" indent="0" marL="0">
              <a:buNone/>
            </a:pPr>
            <a:r>
              <a:rPr lang="en-US" sz="1100" b="1" dirty="0">
                <a:solidFill>
                  <a:srgbClr val="FF8FA3"/>
                </a:solidFill>
                <a:latin typeface="Meiryo" pitchFamily="34" charset="0"/>
                <a:ea typeface="Meiryo" pitchFamily="34" charset="-122"/>
                <a:cs typeface="Meiryo" pitchFamily="34" charset="-120"/>
              </a:rPr>
              <a:t>契約後の成果</a:t>
            </a:r>
            <a:endParaRPr lang="en-US" sz="1100" dirty="0"/>
          </a:p>
        </p:txBody>
      </p:sp>
      <p:sp>
        <p:nvSpPr>
          <p:cNvPr id="16" name="Shape 14"/>
          <p:cNvSpPr/>
          <p:nvPr/>
        </p:nvSpPr>
        <p:spPr>
          <a:xfrm>
            <a:off x="8915400" y="2331720"/>
            <a:ext cx="2651760" cy="1828800"/>
          </a:xfrm>
          <a:prstGeom prst="roundRect">
            <a:avLst>
              <a:gd name="adj" fmla="val 4000"/>
            </a:avLst>
          </a:prstGeom>
          <a:solidFill>
            <a:srgbClr val="F2F5F8"/>
          </a:solidFill>
          <a:ln w="12700">
            <a:solidFill>
              <a:srgbClr val="F2F5F8"/>
            </a:solidFill>
            <a:prstDash val="solid"/>
          </a:ln>
        </p:spPr>
      </p:sp>
      <p:sp>
        <p:nvSpPr>
          <p:cNvPr id="17" name="Text 15"/>
          <p:cNvSpPr txBox="1"/>
          <p:nvPr/>
        </p:nvSpPr>
        <p:spPr>
          <a:xfrm>
            <a:off x="9098280" y="2423160"/>
            <a:ext cx="2331720" cy="1645920"/>
          </a:xfrm>
          <a:prstGeom prst="rect">
            <a:avLst/>
          </a:prstGeom>
          <a:noFill/>
          <a:ln/>
        </p:spPr>
        <p:txBody>
          <a:bodyPr wrap="square" lIns="0" tIns="0" rIns="0" bIns="0" rtlCol="0" anchor="ctr"/>
          <a:lstStyle/>
          <a:p>
            <a:pPr indent="0" marL="0">
              <a:buNone/>
            </a:pPr>
            <a:r>
              <a:rPr lang="en-US" sz="1250" dirty="0">
                <a:solidFill>
                  <a:srgbClr val="1B2B3D"/>
                </a:solidFill>
                <a:latin typeface="Meiryo" pitchFamily="34" charset="0"/>
                <a:ea typeface="Meiryo" pitchFamily="34" charset="-122"/>
                <a:cs typeface="Meiryo" pitchFamily="34" charset="-120"/>
              </a:rPr>
              <a:t>全試合の来場者を比較でき、1試合あたりのデータコストが下がった</a:t>
            </a:r>
            <a:endParaRPr lang="en-US" sz="1250" dirty="0"/>
          </a:p>
        </p:txBody>
      </p:sp>
      <p:sp>
        <p:nvSpPr>
          <p:cNvPr id="18" name="Shape 16"/>
          <p:cNvSpPr/>
          <p:nvPr/>
        </p:nvSpPr>
        <p:spPr>
          <a:xfrm>
            <a:off x="548640" y="4389120"/>
            <a:ext cx="5852160" cy="1645920"/>
          </a:xfrm>
          <a:prstGeom prst="roundRect">
            <a:avLst>
              <a:gd name="adj" fmla="val 4444"/>
            </a:avLst>
          </a:prstGeom>
          <a:solidFill>
            <a:srgbClr val="FFFFFF"/>
          </a:solidFill>
          <a:ln w="12700">
            <a:solidFill>
              <a:srgbClr val="D5DDE5"/>
            </a:solidFill>
            <a:prstDash val="solid"/>
          </a:ln>
        </p:spPr>
      </p:sp>
      <p:pic>
        <p:nvPicPr>
          <p:cNvPr id="19" name="Image 0" descr="preencoded.png">    </p:cNvPr>
          <p:cNvPicPr>
            <a:picLocks noChangeAspect="1"/>
          </p:cNvPicPr>
          <p:nvPr/>
        </p:nvPicPr>
        <p:blipFill>
          <a:blip r:embed="rId1"/>
          <a:stretch>
            <a:fillRect/>
          </a:stretch>
        </p:blipFill>
        <p:spPr>
          <a:xfrm>
            <a:off x="777240" y="4572000"/>
            <a:ext cx="320040" cy="320040"/>
          </a:xfrm>
          <a:prstGeom prst="rect">
            <a:avLst/>
          </a:prstGeom>
        </p:spPr>
      </p:pic>
      <p:sp>
        <p:nvSpPr>
          <p:cNvPr id="20" name="Text 17"/>
          <p:cNvSpPr txBox="1"/>
          <p:nvPr/>
        </p:nvSpPr>
        <p:spPr>
          <a:xfrm>
            <a:off x="1234440" y="4526280"/>
            <a:ext cx="5029200" cy="1097280"/>
          </a:xfrm>
          <a:prstGeom prst="rect">
            <a:avLst/>
          </a:prstGeom>
          <a:noFill/>
          <a:ln/>
        </p:spPr>
        <p:txBody>
          <a:bodyPr wrap="square" lIns="0" tIns="0" rIns="0" bIns="0" rtlCol="0" anchor="ctr"/>
          <a:lstStyle/>
          <a:p>
            <a:pPr indent="0" marL="0">
              <a:buNone/>
            </a:pPr>
            <a:r>
              <a:rPr lang="en-US" sz="1300" i="1" dirty="0">
                <a:solidFill>
                  <a:srgbClr val="1B2B3D"/>
                </a:solidFill>
                <a:latin typeface="Meiryo" pitchFamily="34" charset="0"/>
                <a:ea typeface="Meiryo" pitchFamily="34" charset="-122"/>
                <a:cs typeface="Meiryo" pitchFamily="34" charset="-120"/>
              </a:rPr>
              <a:t>「定額で何度でも調査できるため1試合当たりにとれるデータのコストは抑えられる」</a:t>
            </a:r>
            <a:endParaRPr lang="en-US" sz="1300" dirty="0"/>
          </a:p>
        </p:txBody>
      </p:sp>
      <p:sp>
        <p:nvSpPr>
          <p:cNvPr id="21" name="Text 18"/>
          <p:cNvSpPr txBox="1"/>
          <p:nvPr/>
        </p:nvSpPr>
        <p:spPr>
          <a:xfrm>
            <a:off x="1234440" y="5623560"/>
            <a:ext cx="5029200" cy="274320"/>
          </a:xfrm>
          <a:prstGeom prst="rect">
            <a:avLst/>
          </a:prstGeom>
          <a:noFill/>
          <a:ln/>
        </p:spPr>
        <p:txBody>
          <a:bodyPr wrap="square" lIns="0" tIns="0" rIns="0" bIns="0" rtlCol="0" anchor="t"/>
          <a:lstStyle/>
          <a:p>
            <a:pPr indent="0" marL="0">
              <a:buNone/>
            </a:pPr>
            <a:r>
              <a:rPr lang="en-US" sz="1050" dirty="0">
                <a:solidFill>
                  <a:srgbClr val="5A6675"/>
                </a:solidFill>
                <a:latin typeface="Meiryo" pitchFamily="34" charset="0"/>
                <a:ea typeface="Meiryo" pitchFamily="34" charset="-122"/>
                <a:cs typeface="Meiryo" pitchFamily="34" charset="-120"/>
              </a:rPr>
              <a:t>— 横浜DeNAベイスターズの導入事例（KDDI）より</a:t>
            </a:r>
            <a:endParaRPr lang="en-US" sz="1050" dirty="0"/>
          </a:p>
        </p:txBody>
      </p:sp>
      <p:sp>
        <p:nvSpPr>
          <p:cNvPr id="22" name="Shape 19"/>
          <p:cNvSpPr/>
          <p:nvPr/>
        </p:nvSpPr>
        <p:spPr>
          <a:xfrm>
            <a:off x="6583680" y="4389120"/>
            <a:ext cx="5029200" cy="1645920"/>
          </a:xfrm>
          <a:prstGeom prst="roundRect">
            <a:avLst>
              <a:gd name="adj" fmla="val 4444"/>
            </a:avLst>
          </a:prstGeom>
          <a:solidFill>
            <a:srgbClr val="13283C"/>
          </a:solidFill>
          <a:ln w="12700">
            <a:solidFill>
              <a:srgbClr val="13283C"/>
            </a:solidFill>
            <a:prstDash val="solid"/>
          </a:ln>
        </p:spPr>
      </p:sp>
      <p:sp>
        <p:nvSpPr>
          <p:cNvPr id="23" name="Text 20"/>
          <p:cNvSpPr txBox="1"/>
          <p:nvPr/>
        </p:nvSpPr>
        <p:spPr>
          <a:xfrm>
            <a:off x="6812280" y="4526280"/>
            <a:ext cx="4572000" cy="274320"/>
          </a:xfrm>
          <a:prstGeom prst="rect">
            <a:avLst/>
          </a:prstGeom>
          <a:noFill/>
          <a:ln/>
        </p:spPr>
        <p:txBody>
          <a:bodyPr wrap="square" lIns="0" tIns="0" rIns="0" bIns="0" rtlCol="0" anchor="t"/>
          <a:lstStyle/>
          <a:p>
            <a:pPr indent="0" marL="0">
              <a:buNone/>
            </a:pPr>
            <a:r>
              <a:rPr lang="en-US" sz="1200" b="1" dirty="0">
                <a:solidFill>
                  <a:srgbClr val="FF8FA3"/>
                </a:solidFill>
                <a:latin typeface="Meiryo" pitchFamily="34" charset="0"/>
                <a:ea typeface="Meiryo" pitchFamily="34" charset="-122"/>
                <a:cs typeface="Meiryo" pitchFamily="34" charset="-120"/>
              </a:rPr>
              <a:t>提案への教訓</a:t>
            </a:r>
            <a:endParaRPr lang="en-US" sz="1200" dirty="0"/>
          </a:p>
        </p:txBody>
      </p:sp>
      <p:sp>
        <p:nvSpPr>
          <p:cNvPr id="24" name="Text 21"/>
          <p:cNvSpPr txBox="1"/>
          <p:nvPr/>
        </p:nvSpPr>
        <p:spPr>
          <a:xfrm>
            <a:off x="6812280" y="4846320"/>
            <a:ext cx="4617720" cy="109728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スポーツチームには「1試合あたり」で費用対効果を示す。トライアルで比較の価値を体験してもらう。</a:t>
            </a:r>
            <a:endParaRPr lang="en-US" sz="1400" dirty="0"/>
          </a:p>
        </p:txBody>
      </p:sp>
      <p:sp>
        <p:nvSpPr>
          <p:cNvPr id="25" name="Text 22"/>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出典：公開導入事例ページの記載を要約・引用</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事例の深掘り</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川崎フロンターレ × ドコモ・インテージ（実証実験）</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成果を「金額」に換算すると、地域や行政にも説明しやすい</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06</a:t>
            </a:r>
            <a:endParaRPr lang="en-US" sz="1000" dirty="0"/>
          </a:p>
        </p:txBody>
      </p:sp>
      <p:sp>
        <p:nvSpPr>
          <p:cNvPr id="6" name="Shape 4"/>
          <p:cNvSpPr/>
          <p:nvPr/>
        </p:nvSpPr>
        <p:spPr>
          <a:xfrm>
            <a:off x="548640" y="1783080"/>
            <a:ext cx="4754880" cy="2743200"/>
          </a:xfrm>
          <a:prstGeom prst="roundRect">
            <a:avLst>
              <a:gd name="adj" fmla="val 2667"/>
            </a:avLst>
          </a:prstGeom>
          <a:solidFill>
            <a:srgbClr val="13283C"/>
          </a:solidFill>
          <a:ln w="12700">
            <a:solidFill>
              <a:srgbClr val="13283C"/>
            </a:solidFill>
            <a:prstDash val="solid"/>
          </a:ln>
        </p:spPr>
      </p:sp>
      <p:sp>
        <p:nvSpPr>
          <p:cNvPr id="7" name="Text 5"/>
          <p:cNvSpPr txBox="1"/>
          <p:nvPr/>
        </p:nvSpPr>
        <p:spPr>
          <a:xfrm>
            <a:off x="822960" y="1965960"/>
            <a:ext cx="4206240" cy="320040"/>
          </a:xfrm>
          <a:prstGeom prst="rect">
            <a:avLst/>
          </a:prstGeom>
          <a:noFill/>
          <a:ln/>
        </p:spPr>
        <p:txBody>
          <a:bodyPr wrap="square" lIns="0" tIns="0" rIns="0" bIns="0" rtlCol="0" anchor="t"/>
          <a:lstStyle/>
          <a:p>
            <a:pPr indent="0" marL="0">
              <a:buNone/>
            </a:pPr>
            <a:r>
              <a:rPr lang="en-US" sz="1400" b="1" dirty="0">
                <a:solidFill>
                  <a:srgbClr val="BAC8D4"/>
                </a:solidFill>
                <a:latin typeface="Meiryo" pitchFamily="34" charset="0"/>
                <a:ea typeface="Meiryo" pitchFamily="34" charset="-122"/>
                <a:cs typeface="Meiryo" pitchFamily="34" charset="-120"/>
              </a:rPr>
              <a:t>1試合あたりの経済効果</a:t>
            </a:r>
            <a:endParaRPr lang="en-US" sz="1400" dirty="0"/>
          </a:p>
        </p:txBody>
      </p:sp>
      <p:sp>
        <p:nvSpPr>
          <p:cNvPr id="8" name="Text 6"/>
          <p:cNvSpPr txBox="1"/>
          <p:nvPr/>
        </p:nvSpPr>
        <p:spPr>
          <a:xfrm>
            <a:off x="822960" y="2331720"/>
            <a:ext cx="4389120" cy="1188720"/>
          </a:xfrm>
          <a:prstGeom prst="rect">
            <a:avLst/>
          </a:prstGeom>
          <a:noFill/>
          <a:ln/>
        </p:spPr>
        <p:txBody>
          <a:bodyPr wrap="square" lIns="0" tIns="0" rIns="0" bIns="0" rtlCol="0" anchor="ctr"/>
          <a:lstStyle/>
          <a:p>
            <a:pPr indent="0" marL="0">
              <a:buNone/>
            </a:pPr>
            <a:r>
              <a:rPr lang="en-US" sz="6600" b="1" dirty="0">
                <a:solidFill>
                  <a:srgbClr val="FFFFFF"/>
                </a:solidFill>
                <a:latin typeface="Meiryo" pitchFamily="34" charset="0"/>
                <a:ea typeface="Meiryo" pitchFamily="34" charset="-122"/>
                <a:cs typeface="Meiryo" pitchFamily="34" charset="-120"/>
              </a:rPr>
              <a:t>2,419</a:t>
            </a:r>
            <a:pPr indent="0" marL="0">
              <a:buNone/>
            </a:pPr>
            <a:r>
              <a:rPr lang="en-US" sz="2400" b="1" dirty="0">
                <a:solidFill>
                  <a:srgbClr val="FFFFFF"/>
                </a:solidFill>
                <a:latin typeface="Meiryo" pitchFamily="34" charset="0"/>
                <a:ea typeface="Meiryo" pitchFamily="34" charset="-122"/>
                <a:cs typeface="Meiryo" pitchFamily="34" charset="-120"/>
              </a:rPr>
              <a:t>万円</a:t>
            </a:r>
            <a:endParaRPr lang="en-US" sz="6600" dirty="0"/>
          </a:p>
        </p:txBody>
      </p:sp>
      <p:sp>
        <p:nvSpPr>
          <p:cNvPr id="9" name="Text 7"/>
          <p:cNvSpPr txBox="1"/>
          <p:nvPr/>
        </p:nvSpPr>
        <p:spPr>
          <a:xfrm>
            <a:off x="822960" y="3611880"/>
            <a:ext cx="4206240" cy="731520"/>
          </a:xfrm>
          <a:prstGeom prst="rect">
            <a:avLst/>
          </a:prstGeom>
          <a:noFill/>
          <a:ln/>
        </p:spPr>
        <p:txBody>
          <a:bodyPr wrap="square" lIns="0" tIns="0" rIns="0" bIns="0" rtlCol="0" anchor="t"/>
          <a:lstStyle/>
          <a:p>
            <a:pPr indent="0" marL="0">
              <a:buNone/>
            </a:pPr>
            <a:r>
              <a:rPr lang="en-US" sz="1200" dirty="0">
                <a:solidFill>
                  <a:srgbClr val="DDE5EC"/>
                </a:solidFill>
                <a:latin typeface="Meiryo" pitchFamily="34" charset="0"/>
                <a:ea typeface="Meiryo" pitchFamily="34" charset="-122"/>
                <a:cs typeface="Meiryo" pitchFamily="34" charset="-120"/>
              </a:rPr>
              <a:t>ドコモの位置情報・決済情報で、スタジアム来場者に限った周辺消費を拡大推計</a:t>
            </a:r>
            <a:endParaRPr lang="en-US" sz="1200" dirty="0"/>
          </a:p>
        </p:txBody>
      </p:sp>
      <p:sp>
        <p:nvSpPr>
          <p:cNvPr id="10" name="Shape 8"/>
          <p:cNvSpPr/>
          <p:nvPr/>
        </p:nvSpPr>
        <p:spPr>
          <a:xfrm>
            <a:off x="5577840" y="1783080"/>
            <a:ext cx="6035040" cy="804672"/>
          </a:xfrm>
          <a:prstGeom prst="roundRect">
            <a:avLst>
              <a:gd name="adj" fmla="val 9091"/>
            </a:avLst>
          </a:prstGeom>
          <a:solidFill>
            <a:srgbClr val="F2F5F8"/>
          </a:solidFill>
          <a:ln w="12700">
            <a:solidFill>
              <a:srgbClr val="F2F5F8"/>
            </a:solidFill>
            <a:prstDash val="solid"/>
          </a:ln>
        </p:spPr>
      </p:sp>
      <p:sp>
        <p:nvSpPr>
          <p:cNvPr id="11" name="Text 9"/>
          <p:cNvSpPr txBox="1"/>
          <p:nvPr/>
        </p:nvSpPr>
        <p:spPr>
          <a:xfrm>
            <a:off x="5760720" y="1783080"/>
            <a:ext cx="1371600" cy="804672"/>
          </a:xfrm>
          <a:prstGeom prst="rect">
            <a:avLst/>
          </a:prstGeom>
          <a:noFill/>
          <a:ln/>
        </p:spPr>
        <p:txBody>
          <a:bodyPr wrap="square" lIns="0" tIns="0" rIns="0" bIns="0" rtlCol="0" anchor="ctr"/>
          <a:lstStyle/>
          <a:p>
            <a:pPr indent="0" marL="0">
              <a:buNone/>
            </a:pPr>
            <a:r>
              <a:rPr lang="en-US" sz="1250" b="1" dirty="0">
                <a:solidFill>
                  <a:srgbClr val="C9002B"/>
                </a:solidFill>
                <a:latin typeface="Meiryo" pitchFamily="34" charset="0"/>
                <a:ea typeface="Meiryo" pitchFamily="34" charset="-122"/>
                <a:cs typeface="Meiryo" pitchFamily="34" charset="-120"/>
              </a:rPr>
              <a:t>期間</a:t>
            </a:r>
            <a:endParaRPr lang="en-US" sz="1250" dirty="0"/>
          </a:p>
        </p:txBody>
      </p:sp>
      <p:sp>
        <p:nvSpPr>
          <p:cNvPr id="12" name="Text 10"/>
          <p:cNvSpPr txBox="1"/>
          <p:nvPr/>
        </p:nvSpPr>
        <p:spPr>
          <a:xfrm>
            <a:off x="7132320" y="1783080"/>
            <a:ext cx="4389120" cy="804672"/>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2024年3月1日〜10月8日。日本経済研究所・川崎フロンターレが協力</a:t>
            </a:r>
            <a:endParaRPr lang="en-US" sz="1200" dirty="0"/>
          </a:p>
        </p:txBody>
      </p:sp>
      <p:sp>
        <p:nvSpPr>
          <p:cNvPr id="13" name="Shape 11"/>
          <p:cNvSpPr/>
          <p:nvPr/>
        </p:nvSpPr>
        <p:spPr>
          <a:xfrm>
            <a:off x="5577840" y="2697480"/>
            <a:ext cx="6035040" cy="804672"/>
          </a:xfrm>
          <a:prstGeom prst="roundRect">
            <a:avLst>
              <a:gd name="adj" fmla="val 9091"/>
            </a:avLst>
          </a:prstGeom>
          <a:solidFill>
            <a:srgbClr val="F2F5F8"/>
          </a:solidFill>
          <a:ln w="12700">
            <a:solidFill>
              <a:srgbClr val="F2F5F8"/>
            </a:solidFill>
            <a:prstDash val="solid"/>
          </a:ln>
        </p:spPr>
      </p:sp>
      <p:sp>
        <p:nvSpPr>
          <p:cNvPr id="14" name="Text 12"/>
          <p:cNvSpPr txBox="1"/>
          <p:nvPr/>
        </p:nvSpPr>
        <p:spPr>
          <a:xfrm>
            <a:off x="5760720" y="2697480"/>
            <a:ext cx="1371600" cy="804672"/>
          </a:xfrm>
          <a:prstGeom prst="rect">
            <a:avLst/>
          </a:prstGeom>
          <a:noFill/>
          <a:ln/>
        </p:spPr>
        <p:txBody>
          <a:bodyPr wrap="square" lIns="0" tIns="0" rIns="0" bIns="0" rtlCol="0" anchor="ctr"/>
          <a:lstStyle/>
          <a:p>
            <a:pPr indent="0" marL="0">
              <a:buNone/>
            </a:pPr>
            <a:r>
              <a:rPr lang="en-US" sz="1250" b="1" dirty="0">
                <a:solidFill>
                  <a:srgbClr val="C9002B"/>
                </a:solidFill>
                <a:latin typeface="Meiryo" pitchFamily="34" charset="0"/>
                <a:ea typeface="Meiryo" pitchFamily="34" charset="-122"/>
                <a:cs typeface="Meiryo" pitchFamily="34" charset="-120"/>
              </a:rPr>
              <a:t>分かったこと</a:t>
            </a:r>
            <a:endParaRPr lang="en-US" sz="1250" dirty="0"/>
          </a:p>
        </p:txBody>
      </p:sp>
      <p:sp>
        <p:nvSpPr>
          <p:cNvPr id="15" name="Text 13"/>
          <p:cNvSpPr txBox="1"/>
          <p:nvPr/>
        </p:nvSpPr>
        <p:spPr>
          <a:xfrm>
            <a:off x="7132320" y="2697480"/>
            <a:ext cx="4389120" cy="804672"/>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昼の試合では、終了後に商業エリアへ滞在する人流も観測。効果は周辺だけでなく広範囲に及ぶ</a:t>
            </a:r>
            <a:endParaRPr lang="en-US" sz="1200" dirty="0"/>
          </a:p>
        </p:txBody>
      </p:sp>
      <p:sp>
        <p:nvSpPr>
          <p:cNvPr id="16" name="Shape 14"/>
          <p:cNvSpPr/>
          <p:nvPr/>
        </p:nvSpPr>
        <p:spPr>
          <a:xfrm>
            <a:off x="5577840" y="3611880"/>
            <a:ext cx="6035040" cy="804672"/>
          </a:xfrm>
          <a:prstGeom prst="roundRect">
            <a:avLst>
              <a:gd name="adj" fmla="val 9091"/>
            </a:avLst>
          </a:prstGeom>
          <a:solidFill>
            <a:srgbClr val="F2F5F8"/>
          </a:solidFill>
          <a:ln w="12700">
            <a:solidFill>
              <a:srgbClr val="F2F5F8"/>
            </a:solidFill>
            <a:prstDash val="solid"/>
          </a:ln>
        </p:spPr>
      </p:sp>
      <p:sp>
        <p:nvSpPr>
          <p:cNvPr id="17" name="Text 15"/>
          <p:cNvSpPr txBox="1"/>
          <p:nvPr/>
        </p:nvSpPr>
        <p:spPr>
          <a:xfrm>
            <a:off x="5760720" y="3611880"/>
            <a:ext cx="1371600" cy="804672"/>
          </a:xfrm>
          <a:prstGeom prst="rect">
            <a:avLst/>
          </a:prstGeom>
          <a:noFill/>
          <a:ln/>
        </p:spPr>
        <p:txBody>
          <a:bodyPr wrap="square" lIns="0" tIns="0" rIns="0" bIns="0" rtlCol="0" anchor="ctr"/>
          <a:lstStyle/>
          <a:p>
            <a:pPr indent="0" marL="0">
              <a:buNone/>
            </a:pPr>
            <a:r>
              <a:rPr lang="en-US" sz="1250" b="1" dirty="0">
                <a:solidFill>
                  <a:srgbClr val="C9002B"/>
                </a:solidFill>
                <a:latin typeface="Meiryo" pitchFamily="34" charset="0"/>
                <a:ea typeface="Meiryo" pitchFamily="34" charset="-122"/>
                <a:cs typeface="Meiryo" pitchFamily="34" charset="-120"/>
              </a:rPr>
              <a:t>評価された点</a:t>
            </a:r>
            <a:endParaRPr lang="en-US" sz="1250" dirty="0"/>
          </a:p>
        </p:txBody>
      </p:sp>
      <p:sp>
        <p:nvSpPr>
          <p:cNvPr id="18" name="Text 16"/>
          <p:cNvSpPr txBox="1"/>
          <p:nvPr/>
        </p:nvSpPr>
        <p:spPr>
          <a:xfrm>
            <a:off x="7132320" y="3611880"/>
            <a:ext cx="4389120" cy="804672"/>
          </a:xfrm>
          <a:prstGeom prst="rect">
            <a:avLst/>
          </a:prstGeom>
          <a:noFill/>
          <a:ln/>
        </p:spPr>
        <p:txBody>
          <a:bodyPr wrap="square" lIns="0" tIns="0" rIns="0" bIns="0" rtlCol="0" anchor="ctr"/>
          <a:lstStyle/>
          <a:p>
            <a:pPr indent="0" marL="0">
              <a:buNone/>
            </a:pPr>
            <a:r>
              <a:rPr lang="en-US" sz="1200" dirty="0">
                <a:solidFill>
                  <a:srgbClr val="1B2B3D"/>
                </a:solidFill>
                <a:latin typeface="Meiryo" pitchFamily="34" charset="0"/>
                <a:ea typeface="Meiryo" pitchFamily="34" charset="-122"/>
                <a:cs typeface="Meiryo" pitchFamily="34" charset="-120"/>
              </a:rPr>
              <a:t>従来は難しかった「地域効果」と「来場者効果」を分けて検証・比較できた</a:t>
            </a:r>
            <a:endParaRPr lang="en-US" sz="1200" dirty="0"/>
          </a:p>
        </p:txBody>
      </p:sp>
      <p:sp>
        <p:nvSpPr>
          <p:cNvPr id="19" name="Shape 17"/>
          <p:cNvSpPr/>
          <p:nvPr/>
        </p:nvSpPr>
        <p:spPr>
          <a:xfrm>
            <a:off x="548640" y="4754880"/>
            <a:ext cx="11064240" cy="1234440"/>
          </a:xfrm>
          <a:prstGeom prst="roundRect">
            <a:avLst>
              <a:gd name="adj" fmla="val 5926"/>
            </a:avLst>
          </a:prstGeom>
          <a:solidFill>
            <a:srgbClr val="FBEAEE"/>
          </a:solidFill>
          <a:ln w="12700">
            <a:solidFill>
              <a:srgbClr val="FBEAEE"/>
            </a:solidFill>
            <a:prstDash val="solid"/>
          </a:ln>
        </p:spPr>
      </p:sp>
      <p:sp>
        <p:nvSpPr>
          <p:cNvPr id="20" name="Text 18"/>
          <p:cNvSpPr txBox="1"/>
          <p:nvPr/>
        </p:nvSpPr>
        <p:spPr>
          <a:xfrm>
            <a:off x="777240" y="4846320"/>
            <a:ext cx="365760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提案への教訓</a:t>
            </a:r>
            <a:endParaRPr lang="en-US" sz="1200" dirty="0"/>
          </a:p>
        </p:txBody>
      </p:sp>
      <p:sp>
        <p:nvSpPr>
          <p:cNvPr id="21" name="Text 19"/>
          <p:cNvSpPr txBox="1"/>
          <p:nvPr/>
        </p:nvSpPr>
        <p:spPr>
          <a:xfrm>
            <a:off x="777240" y="5138928"/>
            <a:ext cx="10607040" cy="777240"/>
          </a:xfrm>
          <a:prstGeom prst="rect">
            <a:avLst/>
          </a:prstGeom>
          <a:noFill/>
          <a:ln/>
        </p:spPr>
        <p:txBody>
          <a:bodyPr wrap="square" lIns="0" tIns="0" rIns="0" bIns="0" rtlCol="0" anchor="t"/>
          <a:lstStyle/>
          <a:p>
            <a:pPr indent="0" marL="0">
              <a:buNone/>
            </a:pPr>
            <a:r>
              <a:rPr lang="en-US" sz="1400" b="1" dirty="0">
                <a:solidFill>
                  <a:srgbClr val="1B2B3D"/>
                </a:solidFill>
                <a:latin typeface="Meiryo" pitchFamily="34" charset="0"/>
                <a:ea typeface="Meiryo" pitchFamily="34" charset="-122"/>
                <a:cs typeface="Meiryo" pitchFamily="34" charset="-120"/>
              </a:rPr>
              <a:t>人数だけでなく「金額」や「地域への波及」まで示せると、チームは自治体・スポンサーへの説明に使える。提案書のKPIに「説明に使える数字」を入れる。</a:t>
            </a:r>
            <a:endParaRPr lang="en-US" sz="1400" dirty="0"/>
          </a:p>
        </p:txBody>
      </p:sp>
      <p:sp>
        <p:nvSpPr>
          <p:cNvPr id="22" name="Text 20"/>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出典：インテージ ニュースリリース。実証実験の結果であり、商用サービスの標準仕様ではない</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契約プロセス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自治体の「提案から契約まで」の流れ</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予算の年間サイクルと、3つの契約ルートを押さえる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07</a:t>
            </a:r>
            <a:endParaRPr lang="en-US" sz="1000" dirty="0"/>
          </a:p>
        </p:txBody>
      </p:sp>
      <p:sp>
        <p:nvSpPr>
          <p:cNvPr id="6" name="Shape 4"/>
          <p:cNvSpPr/>
          <p:nvPr/>
        </p:nvSpPr>
        <p:spPr>
          <a:xfrm>
            <a:off x="548640" y="1783080"/>
            <a:ext cx="894588" cy="347472"/>
          </a:xfrm>
          <a:prstGeom prst="rect">
            <a:avLst/>
          </a:prstGeom>
          <a:solidFill>
            <a:srgbClr val="13283C"/>
          </a:solidFill>
          <a:ln w="12700">
            <a:solidFill>
              <a:srgbClr val="13283C"/>
            </a:solidFill>
            <a:prstDash val="solid"/>
          </a:ln>
        </p:spPr>
      </p:sp>
      <p:sp>
        <p:nvSpPr>
          <p:cNvPr id="7" name="Text 5"/>
          <p:cNvSpPr txBox="1"/>
          <p:nvPr/>
        </p:nvSpPr>
        <p:spPr>
          <a:xfrm>
            <a:off x="54864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4月</a:t>
            </a:r>
            <a:endParaRPr lang="en-US" sz="1100" dirty="0"/>
          </a:p>
        </p:txBody>
      </p:sp>
      <p:sp>
        <p:nvSpPr>
          <p:cNvPr id="8" name="Shape 6"/>
          <p:cNvSpPr/>
          <p:nvPr/>
        </p:nvSpPr>
        <p:spPr>
          <a:xfrm>
            <a:off x="1470660" y="1783080"/>
            <a:ext cx="894588" cy="347472"/>
          </a:xfrm>
          <a:prstGeom prst="rect">
            <a:avLst/>
          </a:prstGeom>
          <a:solidFill>
            <a:srgbClr val="13283C"/>
          </a:solidFill>
          <a:ln w="12700">
            <a:solidFill>
              <a:srgbClr val="13283C"/>
            </a:solidFill>
            <a:prstDash val="solid"/>
          </a:ln>
        </p:spPr>
      </p:sp>
      <p:sp>
        <p:nvSpPr>
          <p:cNvPr id="9" name="Text 7"/>
          <p:cNvSpPr txBox="1"/>
          <p:nvPr/>
        </p:nvSpPr>
        <p:spPr>
          <a:xfrm>
            <a:off x="147066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5月</a:t>
            </a:r>
            <a:endParaRPr lang="en-US" sz="1100" dirty="0"/>
          </a:p>
        </p:txBody>
      </p:sp>
      <p:sp>
        <p:nvSpPr>
          <p:cNvPr id="10" name="Shape 8"/>
          <p:cNvSpPr/>
          <p:nvPr/>
        </p:nvSpPr>
        <p:spPr>
          <a:xfrm>
            <a:off x="2392680" y="1783080"/>
            <a:ext cx="894588" cy="347472"/>
          </a:xfrm>
          <a:prstGeom prst="rect">
            <a:avLst/>
          </a:prstGeom>
          <a:solidFill>
            <a:srgbClr val="13283C"/>
          </a:solidFill>
          <a:ln w="12700">
            <a:solidFill>
              <a:srgbClr val="13283C"/>
            </a:solidFill>
            <a:prstDash val="solid"/>
          </a:ln>
        </p:spPr>
      </p:sp>
      <p:sp>
        <p:nvSpPr>
          <p:cNvPr id="11" name="Text 9"/>
          <p:cNvSpPr txBox="1"/>
          <p:nvPr/>
        </p:nvSpPr>
        <p:spPr>
          <a:xfrm>
            <a:off x="239268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6月</a:t>
            </a:r>
            <a:endParaRPr lang="en-US" sz="1100" dirty="0"/>
          </a:p>
        </p:txBody>
      </p:sp>
      <p:sp>
        <p:nvSpPr>
          <p:cNvPr id="12" name="Shape 10"/>
          <p:cNvSpPr/>
          <p:nvPr/>
        </p:nvSpPr>
        <p:spPr>
          <a:xfrm>
            <a:off x="3314700" y="1783080"/>
            <a:ext cx="894588" cy="347472"/>
          </a:xfrm>
          <a:prstGeom prst="rect">
            <a:avLst/>
          </a:prstGeom>
          <a:solidFill>
            <a:srgbClr val="C9002B"/>
          </a:solidFill>
          <a:ln w="12700">
            <a:solidFill>
              <a:srgbClr val="C9002B"/>
            </a:solidFill>
            <a:prstDash val="solid"/>
          </a:ln>
        </p:spPr>
      </p:sp>
      <p:sp>
        <p:nvSpPr>
          <p:cNvPr id="13" name="Text 11"/>
          <p:cNvSpPr txBox="1"/>
          <p:nvPr/>
        </p:nvSpPr>
        <p:spPr>
          <a:xfrm>
            <a:off x="331470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7月</a:t>
            </a:r>
            <a:endParaRPr lang="en-US" sz="1100" dirty="0"/>
          </a:p>
        </p:txBody>
      </p:sp>
      <p:sp>
        <p:nvSpPr>
          <p:cNvPr id="14" name="Shape 12"/>
          <p:cNvSpPr/>
          <p:nvPr/>
        </p:nvSpPr>
        <p:spPr>
          <a:xfrm>
            <a:off x="4236720" y="1783080"/>
            <a:ext cx="894588" cy="347472"/>
          </a:xfrm>
          <a:prstGeom prst="rect">
            <a:avLst/>
          </a:prstGeom>
          <a:solidFill>
            <a:srgbClr val="C9002B"/>
          </a:solidFill>
          <a:ln w="12700">
            <a:solidFill>
              <a:srgbClr val="C9002B"/>
            </a:solidFill>
            <a:prstDash val="solid"/>
          </a:ln>
        </p:spPr>
      </p:sp>
      <p:sp>
        <p:nvSpPr>
          <p:cNvPr id="15" name="Text 13"/>
          <p:cNvSpPr txBox="1"/>
          <p:nvPr/>
        </p:nvSpPr>
        <p:spPr>
          <a:xfrm>
            <a:off x="423672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8月</a:t>
            </a:r>
            <a:endParaRPr lang="en-US" sz="1100" dirty="0"/>
          </a:p>
        </p:txBody>
      </p:sp>
      <p:sp>
        <p:nvSpPr>
          <p:cNvPr id="16" name="Shape 14"/>
          <p:cNvSpPr/>
          <p:nvPr/>
        </p:nvSpPr>
        <p:spPr>
          <a:xfrm>
            <a:off x="5158740" y="1783080"/>
            <a:ext cx="894588" cy="347472"/>
          </a:xfrm>
          <a:prstGeom prst="rect">
            <a:avLst/>
          </a:prstGeom>
          <a:solidFill>
            <a:srgbClr val="C9002B"/>
          </a:solidFill>
          <a:ln w="12700">
            <a:solidFill>
              <a:srgbClr val="C9002B"/>
            </a:solidFill>
            <a:prstDash val="solid"/>
          </a:ln>
        </p:spPr>
      </p:sp>
      <p:sp>
        <p:nvSpPr>
          <p:cNvPr id="17" name="Text 15"/>
          <p:cNvSpPr txBox="1"/>
          <p:nvPr/>
        </p:nvSpPr>
        <p:spPr>
          <a:xfrm>
            <a:off x="515874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9月</a:t>
            </a:r>
            <a:endParaRPr lang="en-US" sz="1100" dirty="0"/>
          </a:p>
        </p:txBody>
      </p:sp>
      <p:sp>
        <p:nvSpPr>
          <p:cNvPr id="18" name="Shape 16"/>
          <p:cNvSpPr/>
          <p:nvPr/>
        </p:nvSpPr>
        <p:spPr>
          <a:xfrm>
            <a:off x="6080760" y="1783080"/>
            <a:ext cx="894588" cy="347472"/>
          </a:xfrm>
          <a:prstGeom prst="rect">
            <a:avLst/>
          </a:prstGeom>
          <a:solidFill>
            <a:srgbClr val="C9002B"/>
          </a:solidFill>
          <a:ln w="12700">
            <a:solidFill>
              <a:srgbClr val="C9002B"/>
            </a:solidFill>
            <a:prstDash val="solid"/>
          </a:ln>
        </p:spPr>
      </p:sp>
      <p:sp>
        <p:nvSpPr>
          <p:cNvPr id="19" name="Text 17"/>
          <p:cNvSpPr txBox="1"/>
          <p:nvPr/>
        </p:nvSpPr>
        <p:spPr>
          <a:xfrm>
            <a:off x="608076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10月</a:t>
            </a:r>
            <a:endParaRPr lang="en-US" sz="1100" dirty="0"/>
          </a:p>
        </p:txBody>
      </p:sp>
      <p:sp>
        <p:nvSpPr>
          <p:cNvPr id="20" name="Shape 18"/>
          <p:cNvSpPr/>
          <p:nvPr/>
        </p:nvSpPr>
        <p:spPr>
          <a:xfrm>
            <a:off x="7002780" y="1783080"/>
            <a:ext cx="894588" cy="347472"/>
          </a:xfrm>
          <a:prstGeom prst="rect">
            <a:avLst/>
          </a:prstGeom>
          <a:solidFill>
            <a:srgbClr val="13283C"/>
          </a:solidFill>
          <a:ln w="12700">
            <a:solidFill>
              <a:srgbClr val="13283C"/>
            </a:solidFill>
            <a:prstDash val="solid"/>
          </a:ln>
        </p:spPr>
      </p:sp>
      <p:sp>
        <p:nvSpPr>
          <p:cNvPr id="21" name="Text 19"/>
          <p:cNvSpPr txBox="1"/>
          <p:nvPr/>
        </p:nvSpPr>
        <p:spPr>
          <a:xfrm>
            <a:off x="700278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11月</a:t>
            </a:r>
            <a:endParaRPr lang="en-US" sz="1100" dirty="0"/>
          </a:p>
        </p:txBody>
      </p:sp>
      <p:sp>
        <p:nvSpPr>
          <p:cNvPr id="22" name="Shape 20"/>
          <p:cNvSpPr/>
          <p:nvPr/>
        </p:nvSpPr>
        <p:spPr>
          <a:xfrm>
            <a:off x="7924800" y="1783080"/>
            <a:ext cx="894588" cy="347472"/>
          </a:xfrm>
          <a:prstGeom prst="rect">
            <a:avLst/>
          </a:prstGeom>
          <a:solidFill>
            <a:srgbClr val="13283C"/>
          </a:solidFill>
          <a:ln w="12700">
            <a:solidFill>
              <a:srgbClr val="13283C"/>
            </a:solidFill>
            <a:prstDash val="solid"/>
          </a:ln>
        </p:spPr>
      </p:sp>
      <p:sp>
        <p:nvSpPr>
          <p:cNvPr id="23" name="Text 21"/>
          <p:cNvSpPr txBox="1"/>
          <p:nvPr/>
        </p:nvSpPr>
        <p:spPr>
          <a:xfrm>
            <a:off x="792480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12月</a:t>
            </a:r>
            <a:endParaRPr lang="en-US" sz="1100" dirty="0"/>
          </a:p>
        </p:txBody>
      </p:sp>
      <p:sp>
        <p:nvSpPr>
          <p:cNvPr id="24" name="Shape 22"/>
          <p:cNvSpPr/>
          <p:nvPr/>
        </p:nvSpPr>
        <p:spPr>
          <a:xfrm>
            <a:off x="8846820" y="1783080"/>
            <a:ext cx="894588" cy="347472"/>
          </a:xfrm>
          <a:prstGeom prst="rect">
            <a:avLst/>
          </a:prstGeom>
          <a:solidFill>
            <a:srgbClr val="13283C"/>
          </a:solidFill>
          <a:ln w="12700">
            <a:solidFill>
              <a:srgbClr val="13283C"/>
            </a:solidFill>
            <a:prstDash val="solid"/>
          </a:ln>
        </p:spPr>
      </p:sp>
      <p:sp>
        <p:nvSpPr>
          <p:cNvPr id="25" name="Text 23"/>
          <p:cNvSpPr txBox="1"/>
          <p:nvPr/>
        </p:nvSpPr>
        <p:spPr>
          <a:xfrm>
            <a:off x="884682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1月</a:t>
            </a:r>
            <a:endParaRPr lang="en-US" sz="1100" dirty="0"/>
          </a:p>
        </p:txBody>
      </p:sp>
      <p:sp>
        <p:nvSpPr>
          <p:cNvPr id="26" name="Shape 24"/>
          <p:cNvSpPr/>
          <p:nvPr/>
        </p:nvSpPr>
        <p:spPr>
          <a:xfrm>
            <a:off x="9768840" y="1783080"/>
            <a:ext cx="894588" cy="347472"/>
          </a:xfrm>
          <a:prstGeom prst="rect">
            <a:avLst/>
          </a:prstGeom>
          <a:solidFill>
            <a:srgbClr val="13283C"/>
          </a:solidFill>
          <a:ln w="12700">
            <a:solidFill>
              <a:srgbClr val="13283C"/>
            </a:solidFill>
            <a:prstDash val="solid"/>
          </a:ln>
        </p:spPr>
      </p:sp>
      <p:sp>
        <p:nvSpPr>
          <p:cNvPr id="27" name="Text 25"/>
          <p:cNvSpPr txBox="1"/>
          <p:nvPr/>
        </p:nvSpPr>
        <p:spPr>
          <a:xfrm>
            <a:off x="976884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2月</a:t>
            </a:r>
            <a:endParaRPr lang="en-US" sz="1100" dirty="0"/>
          </a:p>
        </p:txBody>
      </p:sp>
      <p:sp>
        <p:nvSpPr>
          <p:cNvPr id="28" name="Shape 26"/>
          <p:cNvSpPr/>
          <p:nvPr/>
        </p:nvSpPr>
        <p:spPr>
          <a:xfrm>
            <a:off x="10690860" y="1783080"/>
            <a:ext cx="894588" cy="347472"/>
          </a:xfrm>
          <a:prstGeom prst="rect">
            <a:avLst/>
          </a:prstGeom>
          <a:solidFill>
            <a:srgbClr val="13283C"/>
          </a:solidFill>
          <a:ln w="12700">
            <a:solidFill>
              <a:srgbClr val="13283C"/>
            </a:solidFill>
            <a:prstDash val="solid"/>
          </a:ln>
        </p:spPr>
      </p:sp>
      <p:sp>
        <p:nvSpPr>
          <p:cNvPr id="29" name="Text 27"/>
          <p:cNvSpPr txBox="1"/>
          <p:nvPr/>
        </p:nvSpPr>
        <p:spPr>
          <a:xfrm>
            <a:off x="10690860" y="1783080"/>
            <a:ext cx="8945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3月</a:t>
            </a:r>
            <a:endParaRPr lang="en-US" sz="1100" dirty="0"/>
          </a:p>
        </p:txBody>
      </p:sp>
      <p:sp>
        <p:nvSpPr>
          <p:cNvPr id="30" name="Text 28"/>
          <p:cNvSpPr txBox="1"/>
          <p:nvPr/>
        </p:nvSpPr>
        <p:spPr>
          <a:xfrm>
            <a:off x="548640" y="2240280"/>
            <a:ext cx="2738628" cy="329184"/>
          </a:xfrm>
          <a:prstGeom prst="roundRect">
            <a:avLst>
              <a:gd name="adj" fmla="val 16667"/>
            </a:avLst>
          </a:prstGeom>
          <a:solidFill>
            <a:srgbClr val="BAC8D4"/>
          </a:solidFill>
          <a:ln>
            <a:solidFill>
              <a:srgbClr val="BAC8D4"/>
            </a:solidFill>
          </a:ln>
        </p:spPr>
        <p:txBody>
          <a:bodyPr wrap="square" lIns="0" tIns="76200" rIns="76200" bIns="0" rtlCol="0" anchor="ctr">
            <a:normAutofit/>
          </a:bodyPr>
          <a:lstStyle/>
          <a:p>
            <a:pPr indent="0" marL="0">
              <a:buNone/>
            </a:pPr>
            <a:r>
              <a:rPr lang="en-US" sz="1050" b="1" dirty="0">
                <a:solidFill>
                  <a:srgbClr val="1B2B3D"/>
                </a:solidFill>
                <a:latin typeface="Meiryo" pitchFamily="34" charset="0"/>
                <a:ea typeface="Meiryo" pitchFamily="34" charset="-122"/>
                <a:cs typeface="Meiryo" pitchFamily="34" charset="-120"/>
              </a:rPr>
              <a:t>人事異動後の関係づくり・課題ヒアリング</a:t>
            </a:r>
            <a:endParaRPr lang="en-US" sz="1050" dirty="0"/>
          </a:p>
        </p:txBody>
      </p:sp>
      <p:sp>
        <p:nvSpPr>
          <p:cNvPr id="31" name="Text 29"/>
          <p:cNvSpPr txBox="1"/>
          <p:nvPr/>
        </p:nvSpPr>
        <p:spPr>
          <a:xfrm>
            <a:off x="3314700" y="2624328"/>
            <a:ext cx="2738628" cy="329184"/>
          </a:xfrm>
          <a:prstGeom prst="roundRect">
            <a:avLst>
              <a:gd name="adj" fmla="val 16667"/>
            </a:avLst>
          </a:prstGeom>
          <a:solidFill>
            <a:srgbClr val="C9002B"/>
          </a:solidFill>
          <a:ln>
            <a:solidFill>
              <a:srgbClr val="C9002B"/>
            </a:solidFill>
          </a:ln>
        </p:spPr>
        <p:txBody>
          <a:bodyPr wrap="square" lIns="0" tIns="76200" rIns="76200" bIns="0" rtlCol="0" anchor="ctr">
            <a:normAutofit/>
          </a:bodyPr>
          <a:lstStyle/>
          <a:p>
            <a:pPr indent="0" marL="0">
              <a:buNone/>
            </a:pPr>
            <a:r>
              <a:rPr lang="en-US" sz="1050" b="1" dirty="0">
                <a:solidFill>
                  <a:srgbClr val="FFFFFF"/>
                </a:solidFill>
                <a:latin typeface="Meiryo" pitchFamily="34" charset="0"/>
                <a:ea typeface="Meiryo" pitchFamily="34" charset="-122"/>
                <a:cs typeface="Meiryo" pitchFamily="34" charset="-120"/>
              </a:rPr>
              <a:t>次年度予算の仕込み（試行データ・見積を提供）</a:t>
            </a:r>
            <a:endParaRPr lang="en-US" sz="1050" dirty="0"/>
          </a:p>
        </p:txBody>
      </p:sp>
      <p:sp>
        <p:nvSpPr>
          <p:cNvPr id="32" name="Text 30"/>
          <p:cNvSpPr txBox="1"/>
          <p:nvPr/>
        </p:nvSpPr>
        <p:spPr>
          <a:xfrm>
            <a:off x="5158740" y="3008376"/>
            <a:ext cx="1816608" cy="329184"/>
          </a:xfrm>
          <a:prstGeom prst="roundRect">
            <a:avLst>
              <a:gd name="adj" fmla="val 16667"/>
            </a:avLst>
          </a:prstGeom>
          <a:solidFill>
            <a:srgbClr val="13283C"/>
          </a:solidFill>
          <a:ln>
            <a:solidFill>
              <a:srgbClr val="13283C"/>
            </a:solidFill>
          </a:ln>
        </p:spPr>
        <p:txBody>
          <a:bodyPr wrap="square" lIns="0" tIns="76200" rIns="76200" bIns="0" rtlCol="0" anchor="ctr">
            <a:normAutofit/>
          </a:bodyPr>
          <a:lstStyle/>
          <a:p>
            <a:pPr indent="0" marL="0">
              <a:buNone/>
            </a:pPr>
            <a:r>
              <a:rPr lang="en-US" sz="1050" b="1" dirty="0">
                <a:solidFill>
                  <a:srgbClr val="FFFFFF"/>
                </a:solidFill>
                <a:latin typeface="Meiryo" pitchFamily="34" charset="0"/>
                <a:ea typeface="Meiryo" pitchFamily="34" charset="-122"/>
                <a:cs typeface="Meiryo" pitchFamily="34" charset="-120"/>
              </a:rPr>
              <a:t>予算要求</a:t>
            </a:r>
            <a:endParaRPr lang="en-US" sz="1050" dirty="0"/>
          </a:p>
        </p:txBody>
      </p:sp>
      <p:sp>
        <p:nvSpPr>
          <p:cNvPr id="33" name="Text 31"/>
          <p:cNvSpPr txBox="1"/>
          <p:nvPr/>
        </p:nvSpPr>
        <p:spPr>
          <a:xfrm>
            <a:off x="7924800" y="3392424"/>
            <a:ext cx="1816608" cy="329184"/>
          </a:xfrm>
          <a:prstGeom prst="roundRect">
            <a:avLst>
              <a:gd name="adj" fmla="val 16667"/>
            </a:avLst>
          </a:prstGeom>
          <a:solidFill>
            <a:srgbClr val="2F4A63"/>
          </a:solidFill>
          <a:ln>
            <a:solidFill>
              <a:srgbClr val="2F4A63"/>
            </a:solidFill>
          </a:ln>
        </p:spPr>
        <p:txBody>
          <a:bodyPr wrap="square" lIns="0" tIns="76200" rIns="76200" bIns="0" rtlCol="0" anchor="ctr">
            <a:normAutofit/>
          </a:bodyPr>
          <a:lstStyle/>
          <a:p>
            <a:pPr indent="0" marL="0">
              <a:buNone/>
            </a:pPr>
            <a:r>
              <a:rPr lang="en-US" sz="1050" b="1" dirty="0">
                <a:solidFill>
                  <a:srgbClr val="FFFFFF"/>
                </a:solidFill>
                <a:latin typeface="Meiryo" pitchFamily="34" charset="0"/>
                <a:ea typeface="Meiryo" pitchFamily="34" charset="-122"/>
                <a:cs typeface="Meiryo" pitchFamily="34" charset="-120"/>
              </a:rPr>
              <a:t>予算案の査定・策定</a:t>
            </a:r>
            <a:endParaRPr lang="en-US" sz="1050" dirty="0"/>
          </a:p>
        </p:txBody>
      </p:sp>
      <p:sp>
        <p:nvSpPr>
          <p:cNvPr id="34" name="Text 32"/>
          <p:cNvSpPr txBox="1"/>
          <p:nvPr/>
        </p:nvSpPr>
        <p:spPr>
          <a:xfrm>
            <a:off x="9768840" y="3776472"/>
            <a:ext cx="1816608" cy="329184"/>
          </a:xfrm>
          <a:prstGeom prst="roundRect">
            <a:avLst>
              <a:gd name="adj" fmla="val 16667"/>
            </a:avLst>
          </a:prstGeom>
          <a:solidFill>
            <a:srgbClr val="13283C"/>
          </a:solidFill>
          <a:ln>
            <a:solidFill>
              <a:srgbClr val="13283C"/>
            </a:solidFill>
          </a:ln>
        </p:spPr>
        <p:txBody>
          <a:bodyPr wrap="square" lIns="0" tIns="76200" rIns="76200" bIns="0" rtlCol="0" anchor="ctr">
            <a:normAutofit/>
          </a:bodyPr>
          <a:lstStyle/>
          <a:p>
            <a:pPr indent="0" marL="0">
              <a:buNone/>
            </a:pPr>
            <a:r>
              <a:rPr lang="en-US" sz="1050" b="1" dirty="0">
                <a:solidFill>
                  <a:srgbClr val="FFFFFF"/>
                </a:solidFill>
                <a:latin typeface="Meiryo" pitchFamily="34" charset="0"/>
                <a:ea typeface="Meiryo" pitchFamily="34" charset="-122"/>
                <a:cs typeface="Meiryo" pitchFamily="34" charset="-120"/>
              </a:rPr>
              <a:t>議会で審議・成立</a:t>
            </a:r>
            <a:endParaRPr lang="en-US" sz="1050" dirty="0"/>
          </a:p>
        </p:txBody>
      </p:sp>
      <p:sp>
        <p:nvSpPr>
          <p:cNvPr id="35" name="Text 33"/>
          <p:cNvSpPr txBox="1"/>
          <p:nvPr/>
        </p:nvSpPr>
        <p:spPr>
          <a:xfrm>
            <a:off x="548640" y="4206240"/>
            <a:ext cx="5486400" cy="274320"/>
          </a:xfrm>
          <a:prstGeom prst="rect">
            <a:avLst/>
          </a:prstGeom>
          <a:noFill/>
          <a:ln/>
        </p:spPr>
        <p:txBody>
          <a:bodyPr wrap="square" lIns="0" tIns="0" rIns="0" bIns="0" rtlCol="0" anchor="t"/>
          <a:lstStyle/>
          <a:p>
            <a:pPr indent="0" marL="0">
              <a:buNone/>
            </a:pPr>
            <a:r>
              <a:rPr lang="en-US" sz="1200" b="1" dirty="0">
                <a:solidFill>
                  <a:srgbClr val="5A6675"/>
                </a:solidFill>
                <a:latin typeface="Meiryo" pitchFamily="34" charset="0"/>
                <a:ea typeface="Meiryo" pitchFamily="34" charset="-122"/>
                <a:cs typeface="Meiryo" pitchFamily="34" charset="-120"/>
              </a:rPr>
              <a:t>翌年度4月〜：予算執行 → 契約</a:t>
            </a:r>
            <a:endParaRPr lang="en-US" sz="1200" dirty="0"/>
          </a:p>
        </p:txBody>
      </p:sp>
      <p:sp>
        <p:nvSpPr>
          <p:cNvPr id="36" name="Shape 34"/>
          <p:cNvSpPr/>
          <p:nvPr/>
        </p:nvSpPr>
        <p:spPr>
          <a:xfrm>
            <a:off x="548640" y="4526280"/>
            <a:ext cx="3566160" cy="1691640"/>
          </a:xfrm>
          <a:prstGeom prst="roundRect">
            <a:avLst>
              <a:gd name="adj" fmla="val 4324"/>
            </a:avLst>
          </a:prstGeom>
          <a:solidFill>
            <a:srgbClr val="FFFFFF"/>
          </a:solidFill>
          <a:ln w="12700">
            <a:solidFill>
              <a:srgbClr val="D5DDE5"/>
            </a:solidFill>
            <a:prstDash val="solid"/>
          </a:ln>
        </p:spPr>
      </p:sp>
      <p:sp>
        <p:nvSpPr>
          <p:cNvPr id="37" name="Shape 35"/>
          <p:cNvSpPr/>
          <p:nvPr/>
        </p:nvSpPr>
        <p:spPr>
          <a:xfrm>
            <a:off x="731520" y="4645152"/>
            <a:ext cx="457200" cy="457200"/>
          </a:xfrm>
          <a:prstGeom prst="ellipse">
            <a:avLst/>
          </a:prstGeom>
          <a:solidFill>
            <a:srgbClr val="13283C"/>
          </a:solidFill>
          <a:ln w="12700">
            <a:solidFill>
              <a:srgbClr val="13283C"/>
            </a:solidFill>
            <a:prstDash val="solid"/>
          </a:ln>
        </p:spPr>
      </p:sp>
      <p:pic>
        <p:nvPicPr>
          <p:cNvPr id="38" name="Image 0" descr="preencoded.png">    </p:cNvPr>
          <p:cNvPicPr>
            <a:picLocks noChangeAspect="1"/>
          </p:cNvPicPr>
          <p:nvPr/>
        </p:nvPicPr>
        <p:blipFill>
          <a:blip r:embed="rId1"/>
          <a:stretch>
            <a:fillRect/>
          </a:stretch>
        </p:blipFill>
        <p:spPr>
          <a:xfrm>
            <a:off x="845820" y="4759452"/>
            <a:ext cx="228600" cy="228600"/>
          </a:xfrm>
          <a:prstGeom prst="rect">
            <a:avLst/>
          </a:prstGeom>
        </p:spPr>
      </p:pic>
      <p:sp>
        <p:nvSpPr>
          <p:cNvPr id="39" name="Text 36"/>
          <p:cNvSpPr txBox="1"/>
          <p:nvPr/>
        </p:nvSpPr>
        <p:spPr>
          <a:xfrm>
            <a:off x="1298448" y="4645152"/>
            <a:ext cx="2697480" cy="457200"/>
          </a:xfrm>
          <a:prstGeom prst="rect">
            <a:avLst/>
          </a:prstGeom>
          <a:noFill/>
          <a:ln/>
        </p:spPr>
        <p:txBody>
          <a:bodyPr wrap="square" lIns="0" tIns="0" rIns="0" bIns="0" rtlCol="0" anchor="ctr"/>
          <a:lstStyle/>
          <a:p>
            <a:pPr indent="0" marL="0">
              <a:buNone/>
            </a:pPr>
            <a:r>
              <a:rPr lang="en-US" sz="1400" b="1" dirty="0">
                <a:solidFill>
                  <a:srgbClr val="13283C"/>
                </a:solidFill>
                <a:latin typeface="Meiryo" pitchFamily="34" charset="0"/>
                <a:ea typeface="Meiryo" pitchFamily="34" charset="-122"/>
                <a:cs typeface="Meiryo" pitchFamily="34" charset="-120"/>
              </a:rPr>
              <a:t>公募型プロポーザル</a:t>
            </a:r>
            <a:endParaRPr lang="en-US" sz="1400" dirty="0"/>
          </a:p>
        </p:txBody>
      </p:sp>
      <p:sp>
        <p:nvSpPr>
          <p:cNvPr id="40" name="Text 37"/>
          <p:cNvSpPr txBox="1"/>
          <p:nvPr/>
        </p:nvSpPr>
        <p:spPr>
          <a:xfrm>
            <a:off x="731520" y="5138928"/>
            <a:ext cx="3246120" cy="411480"/>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公告 → 参加表明 → 提案書 → ヒアリング → 特定 → 契約</a:t>
            </a:r>
            <a:endParaRPr lang="en-US" sz="1050" dirty="0"/>
          </a:p>
        </p:txBody>
      </p:sp>
      <p:sp>
        <p:nvSpPr>
          <p:cNvPr id="41" name="Text 38"/>
          <p:cNvSpPr txBox="1"/>
          <p:nvPr/>
        </p:nvSpPr>
        <p:spPr>
          <a:xfrm>
            <a:off x="731520" y="5559552"/>
            <a:ext cx="3291840" cy="640080"/>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例：十勝総合振興局（2026年）</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参加表明8/14 → 提案書8/27 → ヒアリング9/2</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例：下関市（2026年）公告8/6 → 結果公表9/11</a:t>
            </a:r>
            <a:endParaRPr lang="en-US" sz="1000" dirty="0"/>
          </a:p>
        </p:txBody>
      </p:sp>
      <p:sp>
        <p:nvSpPr>
          <p:cNvPr id="42" name="Shape 39"/>
          <p:cNvSpPr/>
          <p:nvPr/>
        </p:nvSpPr>
        <p:spPr>
          <a:xfrm>
            <a:off x="4297680" y="4526280"/>
            <a:ext cx="3566160" cy="1691640"/>
          </a:xfrm>
          <a:prstGeom prst="roundRect">
            <a:avLst>
              <a:gd name="adj" fmla="val 4324"/>
            </a:avLst>
          </a:prstGeom>
          <a:solidFill>
            <a:srgbClr val="FFFFFF"/>
          </a:solidFill>
          <a:ln w="12700">
            <a:solidFill>
              <a:srgbClr val="D5DDE5"/>
            </a:solidFill>
            <a:prstDash val="solid"/>
          </a:ln>
        </p:spPr>
      </p:sp>
      <p:sp>
        <p:nvSpPr>
          <p:cNvPr id="43" name="Shape 40"/>
          <p:cNvSpPr/>
          <p:nvPr/>
        </p:nvSpPr>
        <p:spPr>
          <a:xfrm>
            <a:off x="4480560" y="4645152"/>
            <a:ext cx="457200" cy="457200"/>
          </a:xfrm>
          <a:prstGeom prst="ellipse">
            <a:avLst/>
          </a:prstGeom>
          <a:solidFill>
            <a:srgbClr val="13283C"/>
          </a:solidFill>
          <a:ln w="12700">
            <a:solidFill>
              <a:srgbClr val="13283C"/>
            </a:solidFill>
            <a:prstDash val="solid"/>
          </a:ln>
        </p:spPr>
      </p:sp>
      <p:pic>
        <p:nvPicPr>
          <p:cNvPr id="44" name="Image 1" descr="preencoded.png">    </p:cNvPr>
          <p:cNvPicPr>
            <a:picLocks noChangeAspect="1"/>
          </p:cNvPicPr>
          <p:nvPr/>
        </p:nvPicPr>
        <p:blipFill>
          <a:blip r:embed="rId2"/>
          <a:stretch>
            <a:fillRect/>
          </a:stretch>
        </p:blipFill>
        <p:spPr>
          <a:xfrm>
            <a:off x="4594860" y="4759452"/>
            <a:ext cx="228600" cy="228600"/>
          </a:xfrm>
          <a:prstGeom prst="rect">
            <a:avLst/>
          </a:prstGeom>
        </p:spPr>
      </p:pic>
      <p:sp>
        <p:nvSpPr>
          <p:cNvPr id="45" name="Text 41"/>
          <p:cNvSpPr txBox="1"/>
          <p:nvPr/>
        </p:nvSpPr>
        <p:spPr>
          <a:xfrm>
            <a:off x="5047488" y="4645152"/>
            <a:ext cx="2697480" cy="457200"/>
          </a:xfrm>
          <a:prstGeom prst="rect">
            <a:avLst/>
          </a:prstGeom>
          <a:noFill/>
          <a:ln/>
        </p:spPr>
        <p:txBody>
          <a:bodyPr wrap="square" lIns="0" tIns="0" rIns="0" bIns="0" rtlCol="0" anchor="ctr"/>
          <a:lstStyle/>
          <a:p>
            <a:pPr indent="0" marL="0">
              <a:buNone/>
            </a:pPr>
            <a:r>
              <a:rPr lang="en-US" sz="1400" b="1" dirty="0">
                <a:solidFill>
                  <a:srgbClr val="13283C"/>
                </a:solidFill>
                <a:latin typeface="Meiryo" pitchFamily="34" charset="0"/>
                <a:ea typeface="Meiryo" pitchFamily="34" charset="-122"/>
                <a:cs typeface="Meiryo" pitchFamily="34" charset="-120"/>
              </a:rPr>
              <a:t>少額随意契約</a:t>
            </a:r>
            <a:endParaRPr lang="en-US" sz="1400" dirty="0"/>
          </a:p>
        </p:txBody>
      </p:sp>
      <p:sp>
        <p:nvSpPr>
          <p:cNvPr id="46" name="Text 42"/>
          <p:cNvSpPr txBox="1"/>
          <p:nvPr/>
        </p:nvSpPr>
        <p:spPr>
          <a:xfrm>
            <a:off x="4480560" y="5138928"/>
            <a:ext cx="3246120" cy="411480"/>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見積合わせ等で契約。2025年4月の政令改正で基準額が上がった</a:t>
            </a:r>
            <a:endParaRPr lang="en-US" sz="1050" dirty="0"/>
          </a:p>
        </p:txBody>
      </p:sp>
      <p:sp>
        <p:nvSpPr>
          <p:cNvPr id="47" name="Text 43"/>
          <p:cNvSpPr txBox="1"/>
          <p:nvPr/>
        </p:nvSpPr>
        <p:spPr>
          <a:xfrm>
            <a:off x="4480560" y="5559552"/>
            <a:ext cx="3291840" cy="640080"/>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委託など「その他」の上限</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都道府県・指定都市 200万円以下</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市区町村 100万円以下（各自治体の規則で適用）</a:t>
            </a:r>
            <a:endParaRPr lang="en-US" sz="1000" dirty="0"/>
          </a:p>
        </p:txBody>
      </p:sp>
      <p:sp>
        <p:nvSpPr>
          <p:cNvPr id="48" name="Shape 44"/>
          <p:cNvSpPr/>
          <p:nvPr/>
        </p:nvSpPr>
        <p:spPr>
          <a:xfrm>
            <a:off x="8046720" y="4526280"/>
            <a:ext cx="3566160" cy="1691640"/>
          </a:xfrm>
          <a:prstGeom prst="roundRect">
            <a:avLst>
              <a:gd name="adj" fmla="val 4324"/>
            </a:avLst>
          </a:prstGeom>
          <a:solidFill>
            <a:srgbClr val="FFFFFF"/>
          </a:solidFill>
          <a:ln w="12700">
            <a:solidFill>
              <a:srgbClr val="D5DDE5"/>
            </a:solidFill>
            <a:prstDash val="solid"/>
          </a:ln>
        </p:spPr>
      </p:sp>
      <p:sp>
        <p:nvSpPr>
          <p:cNvPr id="49" name="Shape 45"/>
          <p:cNvSpPr/>
          <p:nvPr/>
        </p:nvSpPr>
        <p:spPr>
          <a:xfrm>
            <a:off x="8229600" y="4645152"/>
            <a:ext cx="457200" cy="457200"/>
          </a:xfrm>
          <a:prstGeom prst="ellipse">
            <a:avLst/>
          </a:prstGeom>
          <a:solidFill>
            <a:srgbClr val="13283C"/>
          </a:solidFill>
          <a:ln w="12700">
            <a:solidFill>
              <a:srgbClr val="13283C"/>
            </a:solidFill>
            <a:prstDash val="solid"/>
          </a:ln>
        </p:spPr>
      </p:sp>
      <p:pic>
        <p:nvPicPr>
          <p:cNvPr id="50" name="Image 2" descr="preencoded.png">    </p:cNvPr>
          <p:cNvPicPr>
            <a:picLocks noChangeAspect="1"/>
          </p:cNvPicPr>
          <p:nvPr/>
        </p:nvPicPr>
        <p:blipFill>
          <a:blip r:embed="rId3"/>
          <a:stretch>
            <a:fillRect/>
          </a:stretch>
        </p:blipFill>
        <p:spPr>
          <a:xfrm>
            <a:off x="8343900" y="4759452"/>
            <a:ext cx="228600" cy="228600"/>
          </a:xfrm>
          <a:prstGeom prst="rect">
            <a:avLst/>
          </a:prstGeom>
        </p:spPr>
      </p:pic>
      <p:sp>
        <p:nvSpPr>
          <p:cNvPr id="51" name="Text 46"/>
          <p:cNvSpPr txBox="1"/>
          <p:nvPr/>
        </p:nvSpPr>
        <p:spPr>
          <a:xfrm>
            <a:off x="8796528" y="4645152"/>
            <a:ext cx="2697480" cy="457200"/>
          </a:xfrm>
          <a:prstGeom prst="rect">
            <a:avLst/>
          </a:prstGeom>
          <a:noFill/>
          <a:ln/>
        </p:spPr>
        <p:txBody>
          <a:bodyPr wrap="square" lIns="0" tIns="0" rIns="0" bIns="0" rtlCol="0" anchor="ctr"/>
          <a:lstStyle/>
          <a:p>
            <a:pPr indent="0" marL="0">
              <a:buNone/>
            </a:pPr>
            <a:r>
              <a:rPr lang="en-US" sz="1400" b="1" dirty="0">
                <a:solidFill>
                  <a:srgbClr val="13283C"/>
                </a:solidFill>
                <a:latin typeface="Meiryo" pitchFamily="34" charset="0"/>
                <a:ea typeface="Meiryo" pitchFamily="34" charset="-122"/>
                <a:cs typeface="Meiryo" pitchFamily="34" charset="-120"/>
              </a:rPr>
              <a:t>補正予算</a:t>
            </a:r>
            <a:endParaRPr lang="en-US" sz="1400" dirty="0"/>
          </a:p>
        </p:txBody>
      </p:sp>
      <p:sp>
        <p:nvSpPr>
          <p:cNvPr id="52" name="Text 47"/>
          <p:cNvSpPr txBox="1"/>
          <p:nvPr/>
        </p:nvSpPr>
        <p:spPr>
          <a:xfrm>
            <a:off x="8229600" y="5138928"/>
            <a:ext cx="3246120" cy="411480"/>
          </a:xfrm>
          <a:prstGeom prst="rect">
            <a:avLst/>
          </a:prstGeom>
          <a:noFill/>
          <a:ln/>
        </p:spPr>
        <p:txBody>
          <a:bodyPr wrap="square" lIns="0" tIns="0" rIns="0" bIns="0" rtlCol="0" anchor="t"/>
          <a:lstStyle/>
          <a:p>
            <a:pPr indent="0" marL="0">
              <a:buNone/>
            </a:pPr>
            <a:r>
              <a:rPr lang="en-US" sz="1050" b="1" dirty="0">
                <a:solidFill>
                  <a:srgbClr val="C9002B"/>
                </a:solidFill>
                <a:latin typeface="Meiryo" pitchFamily="34" charset="0"/>
                <a:ea typeface="Meiryo" pitchFamily="34" charset="-122"/>
                <a:cs typeface="Meiryo" pitchFamily="34" charset="-120"/>
              </a:rPr>
              <a:t>年度途中に追加で予算化。9月議会は動きやすい時期</a:t>
            </a:r>
            <a:endParaRPr lang="en-US" sz="1050" dirty="0"/>
          </a:p>
        </p:txBody>
      </p:sp>
      <p:sp>
        <p:nvSpPr>
          <p:cNvPr id="53" name="Text 48"/>
          <p:cNvSpPr txBox="1"/>
          <p:nvPr/>
        </p:nvSpPr>
        <p:spPr>
          <a:xfrm>
            <a:off x="8229600" y="5559552"/>
            <a:ext cx="3291840" cy="640080"/>
          </a:xfrm>
          <a:prstGeom prst="rect">
            <a:avLst/>
          </a:prstGeom>
          <a:noFill/>
          <a:ln/>
        </p:spPr>
        <p:txBody>
          <a:bodyPr wrap="square" lIns="0" tIns="0" rIns="0" bIns="0" rtlCol="0" anchor="t"/>
          <a:lstStyle/>
          <a:p>
            <a:pPr indent="0" marL="0">
              <a:buNone/>
            </a:pPr>
            <a:r>
              <a:rPr lang="en-US" sz="1000" dirty="0">
                <a:solidFill>
                  <a:srgbClr val="5A6675"/>
                </a:solidFill>
                <a:latin typeface="Meiryo" pitchFamily="34" charset="0"/>
                <a:ea typeface="Meiryo" pitchFamily="34" charset="-122"/>
                <a:cs typeface="Meiryo" pitchFamily="34" charset="-120"/>
              </a:rPr>
              <a:t>今年度の検証を補正・既存予算で行い、</a:t>
            </a:r>
            <a:endParaRPr lang="en-US" sz="1000" dirty="0"/>
          </a:p>
          <a:p>
            <a:pPr indent="0" marL="0">
              <a:buNone/>
            </a:pPr>
            <a:r>
              <a:rPr lang="en-US" sz="1000" dirty="0">
                <a:solidFill>
                  <a:srgbClr val="5A6675"/>
                </a:solidFill>
                <a:latin typeface="Meiryo" pitchFamily="34" charset="0"/>
                <a:ea typeface="Meiryo" pitchFamily="34" charset="-122"/>
                <a:cs typeface="Meiryo" pitchFamily="34" charset="-120"/>
              </a:rPr>
              <a:t>次年度の当初予算で本格化する組み立てが可能</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契約プロセス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自治体は提案書のどこに点をつけるか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公開されているプロポーザル審査基準の配点例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08</a:t>
            </a:r>
            <a:endParaRPr lang="en-US" sz="1000" dirty="0"/>
          </a:p>
        </p:txBody>
      </p:sp>
      <p:sp>
        <p:nvSpPr>
          <p:cNvPr id="6" name="Text 4"/>
          <p:cNvSpPr txBox="1"/>
          <p:nvPr/>
        </p:nvSpPr>
        <p:spPr>
          <a:xfrm>
            <a:off x="548640" y="1783080"/>
            <a:ext cx="5943600" cy="320040"/>
          </a:xfrm>
          <a:prstGeom prst="rect">
            <a:avLst/>
          </a:prstGeom>
          <a:noFill/>
          <a:ln/>
        </p:spPr>
        <p:txBody>
          <a:bodyPr wrap="square" lIns="0" tIns="0" rIns="0" bIns="0" rtlCol="0" anchor="t"/>
          <a:lstStyle/>
          <a:p>
            <a:pPr indent="0" marL="0">
              <a:buNone/>
            </a:pPr>
            <a:r>
              <a:rPr lang="en-US" sz="1400" b="1" dirty="0">
                <a:solidFill>
                  <a:srgbClr val="13283C"/>
                </a:solidFill>
                <a:latin typeface="Meiryo" pitchFamily="34" charset="0"/>
                <a:ea typeface="Meiryo" pitchFamily="34" charset="-122"/>
                <a:cs typeface="Meiryo" pitchFamily="34" charset="-120"/>
              </a:rPr>
              <a:t>石川県の審査基準（データ分析を含む業務・抜粋）</a:t>
            </a:r>
            <a:endParaRPr lang="en-US" sz="1400" dirty="0"/>
          </a:p>
        </p:txBody>
      </p:sp>
      <p:graphicFrame>
        <p:nvGraphicFramePr>
          <p:cNvPr id="7" name="Chart 0" descr=""/>
          <p:cNvGraphicFramePr/>
          <p:nvPr/>
        </p:nvGraphicFramePr>
        <p:xfrm>
          <a:off x="548640" y="2148840"/>
          <a:ext cx="5943600" cy="32918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48640" y="5486400"/>
            <a:ext cx="5943600" cy="274320"/>
          </a:xfrm>
          <a:prstGeom prst="rect">
            <a:avLst/>
          </a:prstGeom>
          <a:noFill/>
          <a:ln/>
        </p:spPr>
        <p:txBody>
          <a:bodyPr wrap="square" lIns="0" tIns="0" rIns="0" bIns="0" rtlCol="0" anchor="t"/>
          <a:lstStyle/>
          <a:p>
            <a:pPr indent="0" marL="0">
              <a:buNone/>
            </a:pPr>
            <a:r>
              <a:rPr lang="en-US" sz="1050" dirty="0">
                <a:solidFill>
                  <a:srgbClr val="5A6675"/>
                </a:solidFill>
                <a:latin typeface="Meiryo" pitchFamily="34" charset="0"/>
                <a:ea typeface="Meiryo" pitchFamily="34" charset="-122"/>
                <a:cs typeface="Meiryo" pitchFamily="34" charset="-120"/>
              </a:rPr>
              <a:t>全項目ではなく抜粋。ほかに体制・実績・価格などが並ぶのが一般的</a:t>
            </a:r>
            <a:endParaRPr lang="en-US" sz="1050" dirty="0"/>
          </a:p>
        </p:txBody>
      </p:sp>
      <p:sp>
        <p:nvSpPr>
          <p:cNvPr id="9" name="Shape 6"/>
          <p:cNvSpPr/>
          <p:nvPr/>
        </p:nvSpPr>
        <p:spPr>
          <a:xfrm>
            <a:off x="6858000" y="1783080"/>
            <a:ext cx="4754880" cy="1051560"/>
          </a:xfrm>
          <a:prstGeom prst="roundRect">
            <a:avLst>
              <a:gd name="adj" fmla="val 6957"/>
            </a:avLst>
          </a:prstGeom>
          <a:solidFill>
            <a:srgbClr val="F2F5F8"/>
          </a:solidFill>
          <a:ln w="12700">
            <a:solidFill>
              <a:srgbClr val="F2F5F8"/>
            </a:solidFill>
            <a:prstDash val="solid"/>
          </a:ln>
        </p:spPr>
      </p:sp>
      <p:sp>
        <p:nvSpPr>
          <p:cNvPr id="10" name="Text 7"/>
          <p:cNvSpPr txBox="1"/>
          <p:nvPr/>
        </p:nvSpPr>
        <p:spPr>
          <a:xfrm>
            <a:off x="7040880" y="1874520"/>
            <a:ext cx="3474720" cy="320040"/>
          </a:xfrm>
          <a:prstGeom prst="rect">
            <a:avLst/>
          </a:prstGeom>
          <a:noFill/>
          <a:ln/>
        </p:spPr>
        <p:txBody>
          <a:bodyPr wrap="square" lIns="0" tIns="0" rIns="0" bIns="0" rtlCol="0" anchor="t"/>
          <a:lstStyle/>
          <a:p>
            <a:pPr indent="0" marL="0">
              <a:buNone/>
            </a:pPr>
            <a:r>
              <a:rPr lang="en-US" sz="1400" b="1" dirty="0">
                <a:solidFill>
                  <a:srgbClr val="13283C"/>
                </a:solidFill>
                <a:latin typeface="Meiryo" pitchFamily="34" charset="0"/>
                <a:ea typeface="Meiryo" pitchFamily="34" charset="-122"/>
                <a:cs typeface="Meiryo" pitchFamily="34" charset="-120"/>
              </a:rPr>
              <a:t>業務を理解しているか</a:t>
            </a:r>
            <a:endParaRPr lang="en-US" sz="1400" dirty="0"/>
          </a:p>
        </p:txBody>
      </p:sp>
      <p:sp>
        <p:nvSpPr>
          <p:cNvPr id="11" name="Text 8"/>
          <p:cNvSpPr txBox="1"/>
          <p:nvPr/>
        </p:nvSpPr>
        <p:spPr>
          <a:xfrm>
            <a:off x="10607040" y="1892808"/>
            <a:ext cx="822960" cy="292608"/>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10点</a:t>
            </a:r>
            <a:endParaRPr lang="en-US" sz="1100" dirty="0"/>
          </a:p>
        </p:txBody>
      </p:sp>
      <p:sp>
        <p:nvSpPr>
          <p:cNvPr id="12" name="Text 9"/>
          <p:cNvSpPr txBox="1"/>
          <p:nvPr/>
        </p:nvSpPr>
        <p:spPr>
          <a:xfrm>
            <a:off x="7040880" y="2221992"/>
            <a:ext cx="4434840" cy="54864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「業務目的を十分理解した提案か」が独立した配点になっている</a:t>
            </a:r>
            <a:endParaRPr lang="en-US" sz="1100" dirty="0"/>
          </a:p>
        </p:txBody>
      </p:sp>
      <p:sp>
        <p:nvSpPr>
          <p:cNvPr id="13" name="Shape 10"/>
          <p:cNvSpPr/>
          <p:nvPr/>
        </p:nvSpPr>
        <p:spPr>
          <a:xfrm>
            <a:off x="6858000" y="2971800"/>
            <a:ext cx="4754880" cy="1051560"/>
          </a:xfrm>
          <a:prstGeom prst="roundRect">
            <a:avLst>
              <a:gd name="adj" fmla="val 6957"/>
            </a:avLst>
          </a:prstGeom>
          <a:solidFill>
            <a:srgbClr val="F2F5F8"/>
          </a:solidFill>
          <a:ln w="12700">
            <a:solidFill>
              <a:srgbClr val="F2F5F8"/>
            </a:solidFill>
            <a:prstDash val="solid"/>
          </a:ln>
        </p:spPr>
      </p:sp>
      <p:sp>
        <p:nvSpPr>
          <p:cNvPr id="14" name="Text 11"/>
          <p:cNvSpPr txBox="1"/>
          <p:nvPr/>
        </p:nvSpPr>
        <p:spPr>
          <a:xfrm>
            <a:off x="7040880" y="3063240"/>
            <a:ext cx="3474720" cy="320040"/>
          </a:xfrm>
          <a:prstGeom prst="rect">
            <a:avLst/>
          </a:prstGeom>
          <a:noFill/>
          <a:ln/>
        </p:spPr>
        <p:txBody>
          <a:bodyPr wrap="square" lIns="0" tIns="0" rIns="0" bIns="0" rtlCol="0" anchor="t"/>
          <a:lstStyle/>
          <a:p>
            <a:pPr indent="0" marL="0">
              <a:buNone/>
            </a:pPr>
            <a:r>
              <a:rPr lang="en-US" sz="1400" b="1" dirty="0">
                <a:solidFill>
                  <a:srgbClr val="13283C"/>
                </a:solidFill>
                <a:latin typeface="Meiryo" pitchFamily="34" charset="0"/>
                <a:ea typeface="Meiryo" pitchFamily="34" charset="-122"/>
                <a:cs typeface="Meiryo" pitchFamily="34" charset="-120"/>
              </a:rPr>
              <a:t>目標の置き方と管理の方法</a:t>
            </a:r>
            <a:endParaRPr lang="en-US" sz="1400" dirty="0"/>
          </a:p>
        </p:txBody>
      </p:sp>
      <p:sp>
        <p:nvSpPr>
          <p:cNvPr id="15" name="Text 12"/>
          <p:cNvSpPr txBox="1"/>
          <p:nvPr/>
        </p:nvSpPr>
        <p:spPr>
          <a:xfrm>
            <a:off x="10607040" y="3081528"/>
            <a:ext cx="822960" cy="292608"/>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10点</a:t>
            </a:r>
            <a:endParaRPr lang="en-US" sz="1100" dirty="0"/>
          </a:p>
        </p:txBody>
      </p:sp>
      <p:sp>
        <p:nvSpPr>
          <p:cNvPr id="16" name="Text 13"/>
          <p:cNvSpPr txBox="1"/>
          <p:nvPr/>
        </p:nvSpPr>
        <p:spPr>
          <a:xfrm>
            <a:off x="7040880" y="3410712"/>
            <a:ext cx="4434840" cy="54864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「業務目標を踏まえたものか」「手法に実現性があるか」</a:t>
            </a:r>
            <a:endParaRPr lang="en-US" sz="1100" dirty="0"/>
          </a:p>
        </p:txBody>
      </p:sp>
      <p:sp>
        <p:nvSpPr>
          <p:cNvPr id="17" name="Shape 14"/>
          <p:cNvSpPr/>
          <p:nvPr/>
        </p:nvSpPr>
        <p:spPr>
          <a:xfrm>
            <a:off x="6858000" y="4160520"/>
            <a:ext cx="4754880" cy="1051560"/>
          </a:xfrm>
          <a:prstGeom prst="roundRect">
            <a:avLst>
              <a:gd name="adj" fmla="val 6957"/>
            </a:avLst>
          </a:prstGeom>
          <a:solidFill>
            <a:srgbClr val="F2F5F8"/>
          </a:solidFill>
          <a:ln w="12700">
            <a:solidFill>
              <a:srgbClr val="F2F5F8"/>
            </a:solidFill>
            <a:prstDash val="solid"/>
          </a:ln>
        </p:spPr>
      </p:sp>
      <p:sp>
        <p:nvSpPr>
          <p:cNvPr id="18" name="Text 15"/>
          <p:cNvSpPr txBox="1"/>
          <p:nvPr/>
        </p:nvSpPr>
        <p:spPr>
          <a:xfrm>
            <a:off x="7040880" y="4251960"/>
            <a:ext cx="3474720" cy="320040"/>
          </a:xfrm>
          <a:prstGeom prst="rect">
            <a:avLst/>
          </a:prstGeom>
          <a:noFill/>
          <a:ln/>
        </p:spPr>
        <p:txBody>
          <a:bodyPr wrap="square" lIns="0" tIns="0" rIns="0" bIns="0" rtlCol="0" anchor="t"/>
          <a:lstStyle/>
          <a:p>
            <a:pPr indent="0" marL="0">
              <a:buNone/>
            </a:pPr>
            <a:r>
              <a:rPr lang="en-US" sz="1400" b="1" dirty="0">
                <a:solidFill>
                  <a:srgbClr val="13283C"/>
                </a:solidFill>
                <a:latin typeface="Meiryo" pitchFamily="34" charset="0"/>
                <a:ea typeface="Meiryo" pitchFamily="34" charset="-122"/>
                <a:cs typeface="Meiryo" pitchFamily="34" charset="-120"/>
              </a:rPr>
              <a:t>実施体制</a:t>
            </a:r>
            <a:endParaRPr lang="en-US" sz="1400" dirty="0"/>
          </a:p>
        </p:txBody>
      </p:sp>
      <p:sp>
        <p:nvSpPr>
          <p:cNvPr id="19" name="Text 16"/>
          <p:cNvSpPr txBox="1"/>
          <p:nvPr/>
        </p:nvSpPr>
        <p:spPr>
          <a:xfrm>
            <a:off x="10607040" y="4270248"/>
            <a:ext cx="822960" cy="292608"/>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20点</a:t>
            </a:r>
            <a:endParaRPr lang="en-US" sz="1100" dirty="0"/>
          </a:p>
        </p:txBody>
      </p:sp>
      <p:sp>
        <p:nvSpPr>
          <p:cNvPr id="20" name="Text 17"/>
          <p:cNvSpPr txBox="1"/>
          <p:nvPr/>
        </p:nvSpPr>
        <p:spPr>
          <a:xfrm>
            <a:off x="7040880" y="4599432"/>
            <a:ext cx="4434840" cy="548640"/>
          </a:xfrm>
          <a:prstGeom prst="rect">
            <a:avLst/>
          </a:prstGeom>
          <a:noFill/>
          <a:ln/>
        </p:spPr>
        <p:txBody>
          <a:bodyPr wrap="square" lIns="0" tIns="0" rIns="0" bIns="0" rtlCol="0" anchor="t"/>
          <a:lstStyle/>
          <a:p>
            <a:pPr indent="0" marL="0">
              <a:buNone/>
            </a:pPr>
            <a:r>
              <a:rPr lang="en-US" sz="1100" dirty="0">
                <a:solidFill>
                  <a:srgbClr val="1B2B3D"/>
                </a:solidFill>
                <a:latin typeface="Meiryo" pitchFamily="34" charset="0"/>
                <a:ea typeface="Meiryo" pitchFamily="34" charset="-122"/>
                <a:cs typeface="Meiryo" pitchFamily="34" charset="-120"/>
              </a:rPr>
              <a:t>安芸高田市の観光関連の審査基準では「専門的知識や実践経験を有する者が配置されているか」に20点</a:t>
            </a:r>
            <a:endParaRPr lang="en-US" sz="1100" dirty="0"/>
          </a:p>
        </p:txBody>
      </p:sp>
      <p:sp>
        <p:nvSpPr>
          <p:cNvPr id="21" name="Shape 18"/>
          <p:cNvSpPr/>
          <p:nvPr/>
        </p:nvSpPr>
        <p:spPr>
          <a:xfrm>
            <a:off x="6858000" y="5394960"/>
            <a:ext cx="4754880" cy="685800"/>
          </a:xfrm>
          <a:prstGeom prst="roundRect">
            <a:avLst>
              <a:gd name="adj" fmla="val 10667"/>
            </a:avLst>
          </a:prstGeom>
          <a:solidFill>
            <a:srgbClr val="13283C"/>
          </a:solidFill>
          <a:ln w="12700">
            <a:solidFill>
              <a:srgbClr val="13283C"/>
            </a:solidFill>
            <a:prstDash val="solid"/>
          </a:ln>
        </p:spPr>
      </p:sp>
      <p:sp>
        <p:nvSpPr>
          <p:cNvPr id="22" name="Text 19"/>
          <p:cNvSpPr txBox="1"/>
          <p:nvPr/>
        </p:nvSpPr>
        <p:spPr>
          <a:xfrm>
            <a:off x="7040880" y="5394960"/>
            <a:ext cx="4480560" cy="68580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商材の機能より「理解・目標・体制」に点がつく</a:t>
            </a:r>
            <a:endParaRPr lang="en-US" sz="1300" dirty="0"/>
          </a:p>
        </p:txBody>
      </p:sp>
      <p:sp>
        <p:nvSpPr>
          <p:cNvPr id="23" name="Text 20"/>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出典：石川県・安芸高田市の公開審査基準。配点は案件ごとに異なるため、応募時は必ずその案件の基準を確認する</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分析</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選ばれる提案の5条件と、事例との対応</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●＝その事例で選定理由・成果として明記されている　○＝読み取れる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09</a:t>
            </a:r>
            <a:endParaRPr lang="en-US" sz="1000" dirty="0"/>
          </a:p>
        </p:txBody>
      </p:sp>
      <p:sp>
        <p:nvSpPr>
          <p:cNvPr id="6" name="Shape 4"/>
          <p:cNvSpPr/>
          <p:nvPr/>
        </p:nvSpPr>
        <p:spPr>
          <a:xfrm>
            <a:off x="4343400" y="1783080"/>
            <a:ext cx="987552" cy="411480"/>
          </a:xfrm>
          <a:prstGeom prst="rect">
            <a:avLst/>
          </a:prstGeom>
          <a:solidFill>
            <a:srgbClr val="13283C"/>
          </a:solidFill>
          <a:ln w="12700">
            <a:solidFill>
              <a:srgbClr val="13283C"/>
            </a:solidFill>
            <a:prstDash val="solid"/>
          </a:ln>
        </p:spPr>
      </p:sp>
      <p:sp>
        <p:nvSpPr>
          <p:cNvPr id="7" name="Text 5"/>
          <p:cNvSpPr txBox="1"/>
          <p:nvPr/>
        </p:nvSpPr>
        <p:spPr>
          <a:xfrm>
            <a:off x="4343400" y="1783080"/>
            <a:ext cx="987552"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滋賀県</a:t>
            </a:r>
            <a:endParaRPr lang="en-US" sz="1100" dirty="0"/>
          </a:p>
        </p:txBody>
      </p:sp>
      <p:sp>
        <p:nvSpPr>
          <p:cNvPr id="8" name="Shape 6"/>
          <p:cNvSpPr/>
          <p:nvPr/>
        </p:nvSpPr>
        <p:spPr>
          <a:xfrm>
            <a:off x="5376672" y="1783080"/>
            <a:ext cx="987552" cy="411480"/>
          </a:xfrm>
          <a:prstGeom prst="rect">
            <a:avLst/>
          </a:prstGeom>
          <a:solidFill>
            <a:srgbClr val="13283C"/>
          </a:solidFill>
          <a:ln w="12700">
            <a:solidFill>
              <a:srgbClr val="13283C"/>
            </a:solidFill>
            <a:prstDash val="solid"/>
          </a:ln>
        </p:spPr>
      </p:sp>
      <p:sp>
        <p:nvSpPr>
          <p:cNvPr id="9" name="Text 7"/>
          <p:cNvSpPr txBox="1"/>
          <p:nvPr/>
        </p:nvSpPr>
        <p:spPr>
          <a:xfrm>
            <a:off x="5376672" y="1783080"/>
            <a:ext cx="987552"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美馬市</a:t>
            </a:r>
            <a:endParaRPr lang="en-US" sz="1100" dirty="0"/>
          </a:p>
        </p:txBody>
      </p:sp>
      <p:sp>
        <p:nvSpPr>
          <p:cNvPr id="10" name="Shape 8"/>
          <p:cNvSpPr/>
          <p:nvPr/>
        </p:nvSpPr>
        <p:spPr>
          <a:xfrm>
            <a:off x="6409944" y="1783080"/>
            <a:ext cx="987552" cy="411480"/>
          </a:xfrm>
          <a:prstGeom prst="rect">
            <a:avLst/>
          </a:prstGeom>
          <a:solidFill>
            <a:srgbClr val="13283C"/>
          </a:solidFill>
          <a:ln w="12700">
            <a:solidFill>
              <a:srgbClr val="13283C"/>
            </a:solidFill>
            <a:prstDash val="solid"/>
          </a:ln>
        </p:spPr>
      </p:sp>
      <p:sp>
        <p:nvSpPr>
          <p:cNvPr id="11" name="Text 9"/>
          <p:cNvSpPr txBox="1"/>
          <p:nvPr/>
        </p:nvSpPr>
        <p:spPr>
          <a:xfrm>
            <a:off x="6409944" y="1783080"/>
            <a:ext cx="987552"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富山県</a:t>
            </a:r>
            <a:endParaRPr lang="en-US" sz="1100" dirty="0"/>
          </a:p>
        </p:txBody>
      </p:sp>
      <p:sp>
        <p:nvSpPr>
          <p:cNvPr id="12" name="Shape 10"/>
          <p:cNvSpPr/>
          <p:nvPr/>
        </p:nvSpPr>
        <p:spPr>
          <a:xfrm>
            <a:off x="7443216" y="1783080"/>
            <a:ext cx="987552" cy="411480"/>
          </a:xfrm>
          <a:prstGeom prst="rect">
            <a:avLst/>
          </a:prstGeom>
          <a:solidFill>
            <a:srgbClr val="13283C"/>
          </a:solidFill>
          <a:ln w="12700">
            <a:solidFill>
              <a:srgbClr val="13283C"/>
            </a:solidFill>
            <a:prstDash val="solid"/>
          </a:ln>
        </p:spPr>
      </p:sp>
      <p:sp>
        <p:nvSpPr>
          <p:cNvPr id="13" name="Text 11"/>
          <p:cNvSpPr txBox="1"/>
          <p:nvPr/>
        </p:nvSpPr>
        <p:spPr>
          <a:xfrm>
            <a:off x="7443216" y="1783080"/>
            <a:ext cx="987552"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川崎F</a:t>
            </a:r>
            <a:endParaRPr lang="en-US" sz="1100" dirty="0"/>
          </a:p>
        </p:txBody>
      </p:sp>
      <p:sp>
        <p:nvSpPr>
          <p:cNvPr id="14" name="Shape 12"/>
          <p:cNvSpPr/>
          <p:nvPr/>
        </p:nvSpPr>
        <p:spPr>
          <a:xfrm>
            <a:off x="8476488" y="1783080"/>
            <a:ext cx="987552" cy="411480"/>
          </a:xfrm>
          <a:prstGeom prst="rect">
            <a:avLst/>
          </a:prstGeom>
          <a:solidFill>
            <a:srgbClr val="13283C"/>
          </a:solidFill>
          <a:ln w="12700">
            <a:solidFill>
              <a:srgbClr val="13283C"/>
            </a:solidFill>
            <a:prstDash val="solid"/>
          </a:ln>
        </p:spPr>
      </p:sp>
      <p:sp>
        <p:nvSpPr>
          <p:cNvPr id="15" name="Text 13"/>
          <p:cNvSpPr txBox="1"/>
          <p:nvPr/>
        </p:nvSpPr>
        <p:spPr>
          <a:xfrm>
            <a:off x="8476488" y="1783080"/>
            <a:ext cx="987552"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栃木県</a:t>
            </a:r>
            <a:endParaRPr lang="en-US" sz="1100" dirty="0"/>
          </a:p>
        </p:txBody>
      </p:sp>
      <p:sp>
        <p:nvSpPr>
          <p:cNvPr id="16" name="Shape 14"/>
          <p:cNvSpPr/>
          <p:nvPr/>
        </p:nvSpPr>
        <p:spPr>
          <a:xfrm>
            <a:off x="9509760" y="1783080"/>
            <a:ext cx="987552" cy="411480"/>
          </a:xfrm>
          <a:prstGeom prst="rect">
            <a:avLst/>
          </a:prstGeom>
          <a:solidFill>
            <a:srgbClr val="13283C"/>
          </a:solidFill>
          <a:ln w="12700">
            <a:solidFill>
              <a:srgbClr val="13283C"/>
            </a:solidFill>
            <a:prstDash val="solid"/>
          </a:ln>
        </p:spPr>
      </p:sp>
      <p:sp>
        <p:nvSpPr>
          <p:cNvPr id="17" name="Text 15"/>
          <p:cNvSpPr txBox="1"/>
          <p:nvPr/>
        </p:nvSpPr>
        <p:spPr>
          <a:xfrm>
            <a:off x="9509760" y="1783080"/>
            <a:ext cx="987552"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横浜DeNA</a:t>
            </a:r>
            <a:endParaRPr lang="en-US" sz="1100" dirty="0"/>
          </a:p>
        </p:txBody>
      </p:sp>
      <p:sp>
        <p:nvSpPr>
          <p:cNvPr id="18" name="Shape 16"/>
          <p:cNvSpPr/>
          <p:nvPr/>
        </p:nvSpPr>
        <p:spPr>
          <a:xfrm>
            <a:off x="10543032" y="1783080"/>
            <a:ext cx="987552" cy="411480"/>
          </a:xfrm>
          <a:prstGeom prst="rect">
            <a:avLst/>
          </a:prstGeom>
          <a:solidFill>
            <a:srgbClr val="5A6675"/>
          </a:solidFill>
          <a:ln w="12700">
            <a:solidFill>
              <a:srgbClr val="5A6675"/>
            </a:solidFill>
            <a:prstDash val="solid"/>
          </a:ln>
        </p:spPr>
      </p:sp>
      <p:sp>
        <p:nvSpPr>
          <p:cNvPr id="19" name="Text 17"/>
          <p:cNvSpPr txBox="1"/>
          <p:nvPr/>
        </p:nvSpPr>
        <p:spPr>
          <a:xfrm>
            <a:off x="10543032" y="1783080"/>
            <a:ext cx="987552"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審査基準</a:t>
            </a:r>
            <a:endParaRPr lang="en-US" sz="1100" dirty="0"/>
          </a:p>
        </p:txBody>
      </p:sp>
      <p:sp>
        <p:nvSpPr>
          <p:cNvPr id="20" name="Shape 18"/>
          <p:cNvSpPr/>
          <p:nvPr/>
        </p:nvSpPr>
        <p:spPr>
          <a:xfrm>
            <a:off x="548640" y="2286000"/>
            <a:ext cx="3657600" cy="566928"/>
          </a:xfrm>
          <a:prstGeom prst="roundRect">
            <a:avLst>
              <a:gd name="adj" fmla="val 12903"/>
            </a:avLst>
          </a:prstGeom>
          <a:solidFill>
            <a:srgbClr val="FBEAEE"/>
          </a:solidFill>
          <a:ln w="12700">
            <a:solidFill>
              <a:srgbClr val="FBEAEE"/>
            </a:solidFill>
            <a:prstDash val="solid"/>
          </a:ln>
        </p:spPr>
      </p:sp>
      <p:sp>
        <p:nvSpPr>
          <p:cNvPr id="21" name="Text 19"/>
          <p:cNvSpPr txBox="1"/>
          <p:nvPr/>
        </p:nvSpPr>
        <p:spPr>
          <a:xfrm>
            <a:off x="731520" y="2286000"/>
            <a:ext cx="3383280" cy="566928"/>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1.  判断に使えるアウトプットが見える</a:t>
            </a:r>
            <a:endParaRPr lang="en-US" sz="1300" dirty="0"/>
          </a:p>
        </p:txBody>
      </p:sp>
      <p:sp>
        <p:nvSpPr>
          <p:cNvPr id="22" name="Shape 20"/>
          <p:cNvSpPr/>
          <p:nvPr/>
        </p:nvSpPr>
        <p:spPr>
          <a:xfrm>
            <a:off x="4343400" y="2286000"/>
            <a:ext cx="987552" cy="566928"/>
          </a:xfrm>
          <a:prstGeom prst="rect">
            <a:avLst/>
          </a:prstGeom>
          <a:solidFill>
            <a:srgbClr val="FBEAEE"/>
          </a:solidFill>
          <a:ln w="12700">
            <a:solidFill>
              <a:srgbClr val="FFFFFF"/>
            </a:solidFill>
            <a:prstDash val="solid"/>
          </a:ln>
        </p:spPr>
      </p:sp>
      <p:sp>
        <p:nvSpPr>
          <p:cNvPr id="23" name="Text 21"/>
          <p:cNvSpPr txBox="1"/>
          <p:nvPr/>
        </p:nvSpPr>
        <p:spPr>
          <a:xfrm>
            <a:off x="4343400" y="2286000"/>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24" name="Shape 22"/>
          <p:cNvSpPr/>
          <p:nvPr/>
        </p:nvSpPr>
        <p:spPr>
          <a:xfrm>
            <a:off x="5376672" y="2286000"/>
            <a:ext cx="987552" cy="566928"/>
          </a:xfrm>
          <a:prstGeom prst="rect">
            <a:avLst/>
          </a:prstGeom>
          <a:solidFill>
            <a:srgbClr val="FBEAEE"/>
          </a:solidFill>
          <a:ln w="12700">
            <a:solidFill>
              <a:srgbClr val="FFFFFF"/>
            </a:solidFill>
            <a:prstDash val="solid"/>
          </a:ln>
        </p:spPr>
      </p:sp>
      <p:sp>
        <p:nvSpPr>
          <p:cNvPr id="25" name="Text 23"/>
          <p:cNvSpPr txBox="1"/>
          <p:nvPr/>
        </p:nvSpPr>
        <p:spPr>
          <a:xfrm>
            <a:off x="5376672" y="2286000"/>
            <a:ext cx="987552" cy="566928"/>
          </a:xfrm>
          <a:prstGeom prst="rect">
            <a:avLst/>
          </a:prstGeom>
          <a:noFill/>
          <a:ln/>
        </p:spPr>
        <p:txBody>
          <a:bodyPr wrap="square" lIns="0" tIns="0" rIns="0" bIns="0" rtlCol="0" anchor="ctr"/>
          <a:lstStyle/>
          <a:p>
            <a:pPr algn="ctr" indent="0" marL="0">
              <a:buNone/>
            </a:pPr>
            <a:r>
              <a:rPr lang="en-US" sz="1800" dirty="0">
                <a:solidFill>
                  <a:srgbClr val="5A6675"/>
                </a:solidFill>
                <a:latin typeface="Meiryo" pitchFamily="34" charset="0"/>
                <a:ea typeface="Meiryo" pitchFamily="34" charset="-122"/>
                <a:cs typeface="Meiryo" pitchFamily="34" charset="-120"/>
              </a:rPr>
              <a:t>○</a:t>
            </a:r>
            <a:endParaRPr lang="en-US" sz="1800" dirty="0"/>
          </a:p>
        </p:txBody>
      </p:sp>
      <p:sp>
        <p:nvSpPr>
          <p:cNvPr id="26" name="Shape 24"/>
          <p:cNvSpPr/>
          <p:nvPr/>
        </p:nvSpPr>
        <p:spPr>
          <a:xfrm>
            <a:off x="6409944" y="2286000"/>
            <a:ext cx="987552" cy="566928"/>
          </a:xfrm>
          <a:prstGeom prst="rect">
            <a:avLst/>
          </a:prstGeom>
          <a:solidFill>
            <a:srgbClr val="FBEAEE"/>
          </a:solidFill>
          <a:ln w="12700">
            <a:solidFill>
              <a:srgbClr val="FFFFFF"/>
            </a:solidFill>
            <a:prstDash val="solid"/>
          </a:ln>
        </p:spPr>
      </p:sp>
      <p:sp>
        <p:nvSpPr>
          <p:cNvPr id="27" name="Text 25"/>
          <p:cNvSpPr txBox="1"/>
          <p:nvPr/>
        </p:nvSpPr>
        <p:spPr>
          <a:xfrm>
            <a:off x="6409944" y="2286000"/>
            <a:ext cx="987552" cy="566928"/>
          </a:xfrm>
          <a:prstGeom prst="rect">
            <a:avLst/>
          </a:prstGeom>
          <a:noFill/>
          <a:ln/>
        </p:spPr>
        <p:txBody>
          <a:bodyPr wrap="square" lIns="0" tIns="0" rIns="0" bIns="0" rtlCol="0" anchor="ctr"/>
          <a:lstStyle/>
          <a:p>
            <a:pPr algn="ctr" indent="0" marL="0">
              <a:buNone/>
            </a:pPr>
            <a:r>
              <a:rPr lang="en-US" sz="1800" dirty="0">
                <a:solidFill>
                  <a:srgbClr val="5A6675"/>
                </a:solidFill>
                <a:latin typeface="Meiryo" pitchFamily="34" charset="0"/>
                <a:ea typeface="Meiryo" pitchFamily="34" charset="-122"/>
                <a:cs typeface="Meiryo" pitchFamily="34" charset="-120"/>
              </a:rPr>
              <a:t>○</a:t>
            </a:r>
            <a:endParaRPr lang="en-US" sz="1800" dirty="0"/>
          </a:p>
        </p:txBody>
      </p:sp>
      <p:sp>
        <p:nvSpPr>
          <p:cNvPr id="28" name="Shape 26"/>
          <p:cNvSpPr/>
          <p:nvPr/>
        </p:nvSpPr>
        <p:spPr>
          <a:xfrm>
            <a:off x="7443216" y="2286000"/>
            <a:ext cx="987552" cy="566928"/>
          </a:xfrm>
          <a:prstGeom prst="rect">
            <a:avLst/>
          </a:prstGeom>
          <a:solidFill>
            <a:srgbClr val="FBEAEE"/>
          </a:solidFill>
          <a:ln w="12700">
            <a:solidFill>
              <a:srgbClr val="FFFFFF"/>
            </a:solidFill>
            <a:prstDash val="solid"/>
          </a:ln>
        </p:spPr>
      </p:sp>
      <p:sp>
        <p:nvSpPr>
          <p:cNvPr id="29" name="Text 27"/>
          <p:cNvSpPr txBox="1"/>
          <p:nvPr/>
        </p:nvSpPr>
        <p:spPr>
          <a:xfrm>
            <a:off x="7443216" y="2286000"/>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30" name="Shape 28"/>
          <p:cNvSpPr/>
          <p:nvPr/>
        </p:nvSpPr>
        <p:spPr>
          <a:xfrm>
            <a:off x="8476488" y="2286000"/>
            <a:ext cx="987552" cy="566928"/>
          </a:xfrm>
          <a:prstGeom prst="rect">
            <a:avLst/>
          </a:prstGeom>
          <a:solidFill>
            <a:srgbClr val="FBEAEE"/>
          </a:solidFill>
          <a:ln w="12700">
            <a:solidFill>
              <a:srgbClr val="FFFFFF"/>
            </a:solidFill>
            <a:prstDash val="solid"/>
          </a:ln>
        </p:spPr>
      </p:sp>
      <p:sp>
        <p:nvSpPr>
          <p:cNvPr id="31" name="Text 29"/>
          <p:cNvSpPr txBox="1"/>
          <p:nvPr/>
        </p:nvSpPr>
        <p:spPr>
          <a:xfrm>
            <a:off x="8476488" y="2286000"/>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32" name="Shape 30"/>
          <p:cNvSpPr/>
          <p:nvPr/>
        </p:nvSpPr>
        <p:spPr>
          <a:xfrm>
            <a:off x="9509760" y="2286000"/>
            <a:ext cx="987552" cy="566928"/>
          </a:xfrm>
          <a:prstGeom prst="rect">
            <a:avLst/>
          </a:prstGeom>
          <a:solidFill>
            <a:srgbClr val="FBEAEE"/>
          </a:solidFill>
          <a:ln w="12700">
            <a:solidFill>
              <a:srgbClr val="FFFFFF"/>
            </a:solidFill>
            <a:prstDash val="solid"/>
          </a:ln>
        </p:spPr>
      </p:sp>
      <p:sp>
        <p:nvSpPr>
          <p:cNvPr id="33" name="Text 31"/>
          <p:cNvSpPr txBox="1"/>
          <p:nvPr/>
        </p:nvSpPr>
        <p:spPr>
          <a:xfrm>
            <a:off x="9509760" y="2286000"/>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34" name="Shape 32"/>
          <p:cNvSpPr/>
          <p:nvPr/>
        </p:nvSpPr>
        <p:spPr>
          <a:xfrm>
            <a:off x="10543032" y="2286000"/>
            <a:ext cx="987552" cy="566928"/>
          </a:xfrm>
          <a:prstGeom prst="rect">
            <a:avLst/>
          </a:prstGeom>
          <a:solidFill>
            <a:srgbClr val="FBEAEE"/>
          </a:solidFill>
          <a:ln w="12700">
            <a:solidFill>
              <a:srgbClr val="FFFFFF"/>
            </a:solidFill>
            <a:prstDash val="solid"/>
          </a:ln>
        </p:spPr>
      </p:sp>
      <p:sp>
        <p:nvSpPr>
          <p:cNvPr id="35" name="Text 33"/>
          <p:cNvSpPr txBox="1"/>
          <p:nvPr/>
        </p:nvSpPr>
        <p:spPr>
          <a:xfrm>
            <a:off x="10543032" y="2286000"/>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36" name="Shape 34"/>
          <p:cNvSpPr/>
          <p:nvPr/>
        </p:nvSpPr>
        <p:spPr>
          <a:xfrm>
            <a:off x="548640" y="2944368"/>
            <a:ext cx="3657600" cy="566928"/>
          </a:xfrm>
          <a:prstGeom prst="roundRect">
            <a:avLst>
              <a:gd name="adj" fmla="val 12903"/>
            </a:avLst>
          </a:prstGeom>
          <a:solidFill>
            <a:srgbClr val="F2F5F8"/>
          </a:solidFill>
          <a:ln w="12700">
            <a:solidFill>
              <a:srgbClr val="F2F5F8"/>
            </a:solidFill>
            <a:prstDash val="solid"/>
          </a:ln>
        </p:spPr>
      </p:sp>
      <p:sp>
        <p:nvSpPr>
          <p:cNvPr id="37" name="Text 35"/>
          <p:cNvSpPr txBox="1"/>
          <p:nvPr/>
        </p:nvSpPr>
        <p:spPr>
          <a:xfrm>
            <a:off x="731520" y="2944368"/>
            <a:ext cx="3383280" cy="56692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2.  顧客の課題から入っている</a:t>
            </a:r>
            <a:endParaRPr lang="en-US" sz="1300" dirty="0"/>
          </a:p>
        </p:txBody>
      </p:sp>
      <p:sp>
        <p:nvSpPr>
          <p:cNvPr id="38" name="Shape 36"/>
          <p:cNvSpPr/>
          <p:nvPr/>
        </p:nvSpPr>
        <p:spPr>
          <a:xfrm>
            <a:off x="4343400" y="2944368"/>
            <a:ext cx="987552" cy="566928"/>
          </a:xfrm>
          <a:prstGeom prst="rect">
            <a:avLst/>
          </a:prstGeom>
          <a:solidFill>
            <a:srgbClr val="F2F5F8"/>
          </a:solidFill>
          <a:ln w="12700">
            <a:solidFill>
              <a:srgbClr val="FFFFFF"/>
            </a:solidFill>
            <a:prstDash val="solid"/>
          </a:ln>
        </p:spPr>
      </p:sp>
      <p:sp>
        <p:nvSpPr>
          <p:cNvPr id="39" name="Text 37"/>
          <p:cNvSpPr txBox="1"/>
          <p:nvPr/>
        </p:nvSpPr>
        <p:spPr>
          <a:xfrm>
            <a:off x="4343400" y="2944368"/>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40" name="Shape 38"/>
          <p:cNvSpPr/>
          <p:nvPr/>
        </p:nvSpPr>
        <p:spPr>
          <a:xfrm>
            <a:off x="5376672" y="2944368"/>
            <a:ext cx="987552" cy="566928"/>
          </a:xfrm>
          <a:prstGeom prst="rect">
            <a:avLst/>
          </a:prstGeom>
          <a:solidFill>
            <a:srgbClr val="F2F5F8"/>
          </a:solidFill>
          <a:ln w="12700">
            <a:solidFill>
              <a:srgbClr val="FFFFFF"/>
            </a:solidFill>
            <a:prstDash val="solid"/>
          </a:ln>
        </p:spPr>
      </p:sp>
      <p:sp>
        <p:nvSpPr>
          <p:cNvPr id="41" name="Text 39"/>
          <p:cNvSpPr txBox="1"/>
          <p:nvPr/>
        </p:nvSpPr>
        <p:spPr>
          <a:xfrm>
            <a:off x="5376672" y="2944368"/>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42" name="Shape 40"/>
          <p:cNvSpPr/>
          <p:nvPr/>
        </p:nvSpPr>
        <p:spPr>
          <a:xfrm>
            <a:off x="6409944" y="2944368"/>
            <a:ext cx="987552" cy="566928"/>
          </a:xfrm>
          <a:prstGeom prst="rect">
            <a:avLst/>
          </a:prstGeom>
          <a:solidFill>
            <a:srgbClr val="F2F5F8"/>
          </a:solidFill>
          <a:ln w="12700">
            <a:solidFill>
              <a:srgbClr val="FFFFFF"/>
            </a:solidFill>
            <a:prstDash val="solid"/>
          </a:ln>
        </p:spPr>
      </p:sp>
      <p:sp>
        <p:nvSpPr>
          <p:cNvPr id="43" name="Text 41"/>
          <p:cNvSpPr txBox="1"/>
          <p:nvPr/>
        </p:nvSpPr>
        <p:spPr>
          <a:xfrm>
            <a:off x="6409944" y="2944368"/>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44" name="Shape 42"/>
          <p:cNvSpPr/>
          <p:nvPr/>
        </p:nvSpPr>
        <p:spPr>
          <a:xfrm>
            <a:off x="7443216" y="2944368"/>
            <a:ext cx="987552" cy="566928"/>
          </a:xfrm>
          <a:prstGeom prst="rect">
            <a:avLst/>
          </a:prstGeom>
          <a:solidFill>
            <a:srgbClr val="F2F5F8"/>
          </a:solidFill>
          <a:ln w="12700">
            <a:solidFill>
              <a:srgbClr val="FFFFFF"/>
            </a:solidFill>
            <a:prstDash val="solid"/>
          </a:ln>
        </p:spPr>
      </p:sp>
      <p:sp>
        <p:nvSpPr>
          <p:cNvPr id="45" name="Text 43"/>
          <p:cNvSpPr txBox="1"/>
          <p:nvPr/>
        </p:nvSpPr>
        <p:spPr>
          <a:xfrm>
            <a:off x="7443216" y="2944368"/>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46" name="Shape 44"/>
          <p:cNvSpPr/>
          <p:nvPr/>
        </p:nvSpPr>
        <p:spPr>
          <a:xfrm>
            <a:off x="8476488" y="2944368"/>
            <a:ext cx="987552" cy="566928"/>
          </a:xfrm>
          <a:prstGeom prst="rect">
            <a:avLst/>
          </a:prstGeom>
          <a:solidFill>
            <a:srgbClr val="F2F5F8"/>
          </a:solidFill>
          <a:ln w="12700">
            <a:solidFill>
              <a:srgbClr val="FFFFFF"/>
            </a:solidFill>
            <a:prstDash val="solid"/>
          </a:ln>
        </p:spPr>
      </p:sp>
      <p:sp>
        <p:nvSpPr>
          <p:cNvPr id="47" name="Text 45"/>
          <p:cNvSpPr txBox="1"/>
          <p:nvPr/>
        </p:nvSpPr>
        <p:spPr>
          <a:xfrm>
            <a:off x="8476488" y="2944368"/>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48" name="Shape 46"/>
          <p:cNvSpPr/>
          <p:nvPr/>
        </p:nvSpPr>
        <p:spPr>
          <a:xfrm>
            <a:off x="9509760" y="2944368"/>
            <a:ext cx="987552" cy="566928"/>
          </a:xfrm>
          <a:prstGeom prst="rect">
            <a:avLst/>
          </a:prstGeom>
          <a:solidFill>
            <a:srgbClr val="F2F5F8"/>
          </a:solidFill>
          <a:ln w="12700">
            <a:solidFill>
              <a:srgbClr val="FFFFFF"/>
            </a:solidFill>
            <a:prstDash val="solid"/>
          </a:ln>
        </p:spPr>
      </p:sp>
      <p:sp>
        <p:nvSpPr>
          <p:cNvPr id="49" name="Text 47"/>
          <p:cNvSpPr txBox="1"/>
          <p:nvPr/>
        </p:nvSpPr>
        <p:spPr>
          <a:xfrm>
            <a:off x="9509760" y="2944368"/>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50" name="Shape 48"/>
          <p:cNvSpPr/>
          <p:nvPr/>
        </p:nvSpPr>
        <p:spPr>
          <a:xfrm>
            <a:off x="10543032" y="2944368"/>
            <a:ext cx="987552" cy="566928"/>
          </a:xfrm>
          <a:prstGeom prst="rect">
            <a:avLst/>
          </a:prstGeom>
          <a:solidFill>
            <a:srgbClr val="F2F5F8"/>
          </a:solidFill>
          <a:ln w="12700">
            <a:solidFill>
              <a:srgbClr val="FFFFFF"/>
            </a:solidFill>
            <a:prstDash val="solid"/>
          </a:ln>
        </p:spPr>
      </p:sp>
      <p:sp>
        <p:nvSpPr>
          <p:cNvPr id="51" name="Text 49"/>
          <p:cNvSpPr txBox="1"/>
          <p:nvPr/>
        </p:nvSpPr>
        <p:spPr>
          <a:xfrm>
            <a:off x="10543032" y="2944368"/>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52" name="Shape 50"/>
          <p:cNvSpPr/>
          <p:nvPr/>
        </p:nvSpPr>
        <p:spPr>
          <a:xfrm>
            <a:off x="548640" y="3602736"/>
            <a:ext cx="3657600" cy="566928"/>
          </a:xfrm>
          <a:prstGeom prst="roundRect">
            <a:avLst>
              <a:gd name="adj" fmla="val 12903"/>
            </a:avLst>
          </a:prstGeom>
          <a:solidFill>
            <a:srgbClr val="F2F5F8"/>
          </a:solidFill>
          <a:ln w="12700">
            <a:solidFill>
              <a:srgbClr val="F2F5F8"/>
            </a:solidFill>
            <a:prstDash val="solid"/>
          </a:ln>
        </p:spPr>
      </p:sp>
      <p:sp>
        <p:nvSpPr>
          <p:cNvPr id="53" name="Text 51"/>
          <p:cNvSpPr txBox="1"/>
          <p:nvPr/>
        </p:nvSpPr>
        <p:spPr>
          <a:xfrm>
            <a:off x="731520" y="3602736"/>
            <a:ext cx="3383280" cy="56692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3.  小さく試せる・比べられる</a:t>
            </a:r>
            <a:endParaRPr lang="en-US" sz="1300" dirty="0"/>
          </a:p>
        </p:txBody>
      </p:sp>
      <p:sp>
        <p:nvSpPr>
          <p:cNvPr id="54" name="Shape 52"/>
          <p:cNvSpPr/>
          <p:nvPr/>
        </p:nvSpPr>
        <p:spPr>
          <a:xfrm>
            <a:off x="4343400" y="3602736"/>
            <a:ext cx="987552" cy="566928"/>
          </a:xfrm>
          <a:prstGeom prst="rect">
            <a:avLst/>
          </a:prstGeom>
          <a:solidFill>
            <a:srgbClr val="F2F5F8"/>
          </a:solidFill>
          <a:ln w="12700">
            <a:solidFill>
              <a:srgbClr val="FFFFFF"/>
            </a:solidFill>
            <a:prstDash val="solid"/>
          </a:ln>
        </p:spPr>
      </p:sp>
      <p:sp>
        <p:nvSpPr>
          <p:cNvPr id="55" name="Shape 53"/>
          <p:cNvSpPr/>
          <p:nvPr/>
        </p:nvSpPr>
        <p:spPr>
          <a:xfrm>
            <a:off x="5376672" y="3602736"/>
            <a:ext cx="987552" cy="566928"/>
          </a:xfrm>
          <a:prstGeom prst="rect">
            <a:avLst/>
          </a:prstGeom>
          <a:solidFill>
            <a:srgbClr val="F2F5F8"/>
          </a:solidFill>
          <a:ln w="12700">
            <a:solidFill>
              <a:srgbClr val="FFFFFF"/>
            </a:solidFill>
            <a:prstDash val="solid"/>
          </a:ln>
        </p:spPr>
      </p:sp>
      <p:sp>
        <p:nvSpPr>
          <p:cNvPr id="56" name="Shape 54"/>
          <p:cNvSpPr/>
          <p:nvPr/>
        </p:nvSpPr>
        <p:spPr>
          <a:xfrm>
            <a:off x="6409944" y="3602736"/>
            <a:ext cx="987552" cy="566928"/>
          </a:xfrm>
          <a:prstGeom prst="rect">
            <a:avLst/>
          </a:prstGeom>
          <a:solidFill>
            <a:srgbClr val="F2F5F8"/>
          </a:solidFill>
          <a:ln w="12700">
            <a:solidFill>
              <a:srgbClr val="FFFFFF"/>
            </a:solidFill>
            <a:prstDash val="solid"/>
          </a:ln>
        </p:spPr>
      </p:sp>
      <p:sp>
        <p:nvSpPr>
          <p:cNvPr id="57" name="Shape 55"/>
          <p:cNvSpPr/>
          <p:nvPr/>
        </p:nvSpPr>
        <p:spPr>
          <a:xfrm>
            <a:off x="7443216" y="3602736"/>
            <a:ext cx="987552" cy="566928"/>
          </a:xfrm>
          <a:prstGeom prst="rect">
            <a:avLst/>
          </a:prstGeom>
          <a:solidFill>
            <a:srgbClr val="F2F5F8"/>
          </a:solidFill>
          <a:ln w="12700">
            <a:solidFill>
              <a:srgbClr val="FFFFFF"/>
            </a:solidFill>
            <a:prstDash val="solid"/>
          </a:ln>
        </p:spPr>
      </p:sp>
      <p:sp>
        <p:nvSpPr>
          <p:cNvPr id="58" name="Text 56"/>
          <p:cNvSpPr txBox="1"/>
          <p:nvPr/>
        </p:nvSpPr>
        <p:spPr>
          <a:xfrm>
            <a:off x="7443216" y="3602736"/>
            <a:ext cx="987552" cy="566928"/>
          </a:xfrm>
          <a:prstGeom prst="rect">
            <a:avLst/>
          </a:prstGeom>
          <a:noFill/>
          <a:ln/>
        </p:spPr>
        <p:txBody>
          <a:bodyPr wrap="square" lIns="0" tIns="0" rIns="0" bIns="0" rtlCol="0" anchor="ctr"/>
          <a:lstStyle/>
          <a:p>
            <a:pPr algn="ctr" indent="0" marL="0">
              <a:buNone/>
            </a:pPr>
            <a:r>
              <a:rPr lang="en-US" sz="1800" dirty="0">
                <a:solidFill>
                  <a:srgbClr val="5A6675"/>
                </a:solidFill>
                <a:latin typeface="Meiryo" pitchFamily="34" charset="0"/>
                <a:ea typeface="Meiryo" pitchFamily="34" charset="-122"/>
                <a:cs typeface="Meiryo" pitchFamily="34" charset="-120"/>
              </a:rPr>
              <a:t>○</a:t>
            </a:r>
            <a:endParaRPr lang="en-US" sz="1800" dirty="0"/>
          </a:p>
        </p:txBody>
      </p:sp>
      <p:sp>
        <p:nvSpPr>
          <p:cNvPr id="59" name="Shape 57"/>
          <p:cNvSpPr/>
          <p:nvPr/>
        </p:nvSpPr>
        <p:spPr>
          <a:xfrm>
            <a:off x="8476488" y="3602736"/>
            <a:ext cx="987552" cy="566928"/>
          </a:xfrm>
          <a:prstGeom prst="rect">
            <a:avLst/>
          </a:prstGeom>
          <a:solidFill>
            <a:srgbClr val="F2F5F8"/>
          </a:solidFill>
          <a:ln w="12700">
            <a:solidFill>
              <a:srgbClr val="FFFFFF"/>
            </a:solidFill>
            <a:prstDash val="solid"/>
          </a:ln>
        </p:spPr>
      </p:sp>
      <p:sp>
        <p:nvSpPr>
          <p:cNvPr id="60" name="Shape 58"/>
          <p:cNvSpPr/>
          <p:nvPr/>
        </p:nvSpPr>
        <p:spPr>
          <a:xfrm>
            <a:off x="9509760" y="3602736"/>
            <a:ext cx="987552" cy="566928"/>
          </a:xfrm>
          <a:prstGeom prst="rect">
            <a:avLst/>
          </a:prstGeom>
          <a:solidFill>
            <a:srgbClr val="F2F5F8"/>
          </a:solidFill>
          <a:ln w="12700">
            <a:solidFill>
              <a:srgbClr val="FFFFFF"/>
            </a:solidFill>
            <a:prstDash val="solid"/>
          </a:ln>
        </p:spPr>
      </p:sp>
      <p:sp>
        <p:nvSpPr>
          <p:cNvPr id="61" name="Text 59"/>
          <p:cNvSpPr txBox="1"/>
          <p:nvPr/>
        </p:nvSpPr>
        <p:spPr>
          <a:xfrm>
            <a:off x="9509760" y="3602736"/>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62" name="Shape 60"/>
          <p:cNvSpPr/>
          <p:nvPr/>
        </p:nvSpPr>
        <p:spPr>
          <a:xfrm>
            <a:off x="10543032" y="3602736"/>
            <a:ext cx="987552" cy="566928"/>
          </a:xfrm>
          <a:prstGeom prst="rect">
            <a:avLst/>
          </a:prstGeom>
          <a:solidFill>
            <a:srgbClr val="F2F5F8"/>
          </a:solidFill>
          <a:ln w="12700">
            <a:solidFill>
              <a:srgbClr val="FFFFFF"/>
            </a:solidFill>
            <a:prstDash val="solid"/>
          </a:ln>
        </p:spPr>
      </p:sp>
      <p:sp>
        <p:nvSpPr>
          <p:cNvPr id="63" name="Shape 61"/>
          <p:cNvSpPr/>
          <p:nvPr/>
        </p:nvSpPr>
        <p:spPr>
          <a:xfrm>
            <a:off x="548640" y="4261104"/>
            <a:ext cx="3657600" cy="566928"/>
          </a:xfrm>
          <a:prstGeom prst="roundRect">
            <a:avLst>
              <a:gd name="adj" fmla="val 12903"/>
            </a:avLst>
          </a:prstGeom>
          <a:solidFill>
            <a:srgbClr val="F2F5F8"/>
          </a:solidFill>
          <a:ln w="12700">
            <a:solidFill>
              <a:srgbClr val="F2F5F8"/>
            </a:solidFill>
            <a:prstDash val="solid"/>
          </a:ln>
        </p:spPr>
      </p:sp>
      <p:sp>
        <p:nvSpPr>
          <p:cNvPr id="64" name="Text 62"/>
          <p:cNvSpPr txBox="1"/>
          <p:nvPr/>
        </p:nvSpPr>
        <p:spPr>
          <a:xfrm>
            <a:off x="731520" y="4261104"/>
            <a:ext cx="3383280" cy="56692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4.  成果を顧客の言葉（数字）で示す</a:t>
            </a:r>
            <a:endParaRPr lang="en-US" sz="1300" dirty="0"/>
          </a:p>
        </p:txBody>
      </p:sp>
      <p:sp>
        <p:nvSpPr>
          <p:cNvPr id="65" name="Shape 63"/>
          <p:cNvSpPr/>
          <p:nvPr/>
        </p:nvSpPr>
        <p:spPr>
          <a:xfrm>
            <a:off x="4343400" y="4261104"/>
            <a:ext cx="987552" cy="566928"/>
          </a:xfrm>
          <a:prstGeom prst="rect">
            <a:avLst/>
          </a:prstGeom>
          <a:solidFill>
            <a:srgbClr val="F2F5F8"/>
          </a:solidFill>
          <a:ln w="12700">
            <a:solidFill>
              <a:srgbClr val="FFFFFF"/>
            </a:solidFill>
            <a:prstDash val="solid"/>
          </a:ln>
        </p:spPr>
      </p:sp>
      <p:sp>
        <p:nvSpPr>
          <p:cNvPr id="66" name="Text 64"/>
          <p:cNvSpPr txBox="1"/>
          <p:nvPr/>
        </p:nvSpPr>
        <p:spPr>
          <a:xfrm>
            <a:off x="4343400" y="4261104"/>
            <a:ext cx="987552" cy="566928"/>
          </a:xfrm>
          <a:prstGeom prst="rect">
            <a:avLst/>
          </a:prstGeom>
          <a:noFill/>
          <a:ln/>
        </p:spPr>
        <p:txBody>
          <a:bodyPr wrap="square" lIns="0" tIns="0" rIns="0" bIns="0" rtlCol="0" anchor="ctr"/>
          <a:lstStyle/>
          <a:p>
            <a:pPr algn="ctr" indent="0" marL="0">
              <a:buNone/>
            </a:pPr>
            <a:r>
              <a:rPr lang="en-US" sz="1800" dirty="0">
                <a:solidFill>
                  <a:srgbClr val="5A6675"/>
                </a:solidFill>
                <a:latin typeface="Meiryo" pitchFamily="34" charset="0"/>
                <a:ea typeface="Meiryo" pitchFamily="34" charset="-122"/>
                <a:cs typeface="Meiryo" pitchFamily="34" charset="-120"/>
              </a:rPr>
              <a:t>○</a:t>
            </a:r>
            <a:endParaRPr lang="en-US" sz="1800" dirty="0"/>
          </a:p>
        </p:txBody>
      </p:sp>
      <p:sp>
        <p:nvSpPr>
          <p:cNvPr id="67" name="Shape 65"/>
          <p:cNvSpPr/>
          <p:nvPr/>
        </p:nvSpPr>
        <p:spPr>
          <a:xfrm>
            <a:off x="5376672" y="4261104"/>
            <a:ext cx="987552" cy="566928"/>
          </a:xfrm>
          <a:prstGeom prst="rect">
            <a:avLst/>
          </a:prstGeom>
          <a:solidFill>
            <a:srgbClr val="F2F5F8"/>
          </a:solidFill>
          <a:ln w="12700">
            <a:solidFill>
              <a:srgbClr val="FFFFFF"/>
            </a:solidFill>
            <a:prstDash val="solid"/>
          </a:ln>
        </p:spPr>
      </p:sp>
      <p:sp>
        <p:nvSpPr>
          <p:cNvPr id="68" name="Shape 66"/>
          <p:cNvSpPr/>
          <p:nvPr/>
        </p:nvSpPr>
        <p:spPr>
          <a:xfrm>
            <a:off x="6409944" y="4261104"/>
            <a:ext cx="987552" cy="566928"/>
          </a:xfrm>
          <a:prstGeom prst="rect">
            <a:avLst/>
          </a:prstGeom>
          <a:solidFill>
            <a:srgbClr val="F2F5F8"/>
          </a:solidFill>
          <a:ln w="12700">
            <a:solidFill>
              <a:srgbClr val="FFFFFF"/>
            </a:solidFill>
            <a:prstDash val="solid"/>
          </a:ln>
        </p:spPr>
      </p:sp>
      <p:sp>
        <p:nvSpPr>
          <p:cNvPr id="69" name="Text 67"/>
          <p:cNvSpPr txBox="1"/>
          <p:nvPr/>
        </p:nvSpPr>
        <p:spPr>
          <a:xfrm>
            <a:off x="6409944" y="4261104"/>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70" name="Shape 68"/>
          <p:cNvSpPr/>
          <p:nvPr/>
        </p:nvSpPr>
        <p:spPr>
          <a:xfrm>
            <a:off x="7443216" y="4261104"/>
            <a:ext cx="987552" cy="566928"/>
          </a:xfrm>
          <a:prstGeom prst="rect">
            <a:avLst/>
          </a:prstGeom>
          <a:solidFill>
            <a:srgbClr val="F2F5F8"/>
          </a:solidFill>
          <a:ln w="12700">
            <a:solidFill>
              <a:srgbClr val="FFFFFF"/>
            </a:solidFill>
            <a:prstDash val="solid"/>
          </a:ln>
        </p:spPr>
      </p:sp>
      <p:sp>
        <p:nvSpPr>
          <p:cNvPr id="71" name="Text 69"/>
          <p:cNvSpPr txBox="1"/>
          <p:nvPr/>
        </p:nvSpPr>
        <p:spPr>
          <a:xfrm>
            <a:off x="7443216" y="4261104"/>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72" name="Shape 70"/>
          <p:cNvSpPr/>
          <p:nvPr/>
        </p:nvSpPr>
        <p:spPr>
          <a:xfrm>
            <a:off x="8476488" y="4261104"/>
            <a:ext cx="987552" cy="566928"/>
          </a:xfrm>
          <a:prstGeom prst="rect">
            <a:avLst/>
          </a:prstGeom>
          <a:solidFill>
            <a:srgbClr val="F2F5F8"/>
          </a:solidFill>
          <a:ln w="12700">
            <a:solidFill>
              <a:srgbClr val="FFFFFF"/>
            </a:solidFill>
            <a:prstDash val="solid"/>
          </a:ln>
        </p:spPr>
      </p:sp>
      <p:sp>
        <p:nvSpPr>
          <p:cNvPr id="73" name="Text 71"/>
          <p:cNvSpPr txBox="1"/>
          <p:nvPr/>
        </p:nvSpPr>
        <p:spPr>
          <a:xfrm>
            <a:off x="8476488" y="4261104"/>
            <a:ext cx="987552" cy="566928"/>
          </a:xfrm>
          <a:prstGeom prst="rect">
            <a:avLst/>
          </a:prstGeom>
          <a:noFill/>
          <a:ln/>
        </p:spPr>
        <p:txBody>
          <a:bodyPr wrap="square" lIns="0" tIns="0" rIns="0" bIns="0" rtlCol="0" anchor="ctr"/>
          <a:lstStyle/>
          <a:p>
            <a:pPr algn="ctr" indent="0" marL="0">
              <a:buNone/>
            </a:pPr>
            <a:r>
              <a:rPr lang="en-US" sz="1800" dirty="0">
                <a:solidFill>
                  <a:srgbClr val="5A6675"/>
                </a:solidFill>
                <a:latin typeface="Meiryo" pitchFamily="34" charset="0"/>
                <a:ea typeface="Meiryo" pitchFamily="34" charset="-122"/>
                <a:cs typeface="Meiryo" pitchFamily="34" charset="-120"/>
              </a:rPr>
              <a:t>○</a:t>
            </a:r>
            <a:endParaRPr lang="en-US" sz="1800" dirty="0"/>
          </a:p>
        </p:txBody>
      </p:sp>
      <p:sp>
        <p:nvSpPr>
          <p:cNvPr id="74" name="Shape 72"/>
          <p:cNvSpPr/>
          <p:nvPr/>
        </p:nvSpPr>
        <p:spPr>
          <a:xfrm>
            <a:off x="9509760" y="4261104"/>
            <a:ext cx="987552" cy="566928"/>
          </a:xfrm>
          <a:prstGeom prst="rect">
            <a:avLst/>
          </a:prstGeom>
          <a:solidFill>
            <a:srgbClr val="F2F5F8"/>
          </a:solidFill>
          <a:ln w="12700">
            <a:solidFill>
              <a:srgbClr val="FFFFFF"/>
            </a:solidFill>
            <a:prstDash val="solid"/>
          </a:ln>
        </p:spPr>
      </p:sp>
      <p:sp>
        <p:nvSpPr>
          <p:cNvPr id="75" name="Text 73"/>
          <p:cNvSpPr txBox="1"/>
          <p:nvPr/>
        </p:nvSpPr>
        <p:spPr>
          <a:xfrm>
            <a:off x="9509760" y="4261104"/>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76" name="Shape 74"/>
          <p:cNvSpPr/>
          <p:nvPr/>
        </p:nvSpPr>
        <p:spPr>
          <a:xfrm>
            <a:off x="10543032" y="4261104"/>
            <a:ext cx="987552" cy="566928"/>
          </a:xfrm>
          <a:prstGeom prst="rect">
            <a:avLst/>
          </a:prstGeom>
          <a:solidFill>
            <a:srgbClr val="F2F5F8"/>
          </a:solidFill>
          <a:ln w="12700">
            <a:solidFill>
              <a:srgbClr val="FFFFFF"/>
            </a:solidFill>
            <a:prstDash val="solid"/>
          </a:ln>
        </p:spPr>
      </p:sp>
      <p:sp>
        <p:nvSpPr>
          <p:cNvPr id="77" name="Text 75"/>
          <p:cNvSpPr txBox="1"/>
          <p:nvPr/>
        </p:nvSpPr>
        <p:spPr>
          <a:xfrm>
            <a:off x="10543032" y="4261104"/>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78" name="Shape 76"/>
          <p:cNvSpPr/>
          <p:nvPr/>
        </p:nvSpPr>
        <p:spPr>
          <a:xfrm>
            <a:off x="548640" y="4919472"/>
            <a:ext cx="3657600" cy="566928"/>
          </a:xfrm>
          <a:prstGeom prst="roundRect">
            <a:avLst>
              <a:gd name="adj" fmla="val 12903"/>
            </a:avLst>
          </a:prstGeom>
          <a:solidFill>
            <a:srgbClr val="F2F5F8"/>
          </a:solidFill>
          <a:ln w="12700">
            <a:solidFill>
              <a:srgbClr val="F2F5F8"/>
            </a:solidFill>
            <a:prstDash val="solid"/>
          </a:ln>
        </p:spPr>
      </p:sp>
      <p:sp>
        <p:nvSpPr>
          <p:cNvPr id="79" name="Text 77"/>
          <p:cNvSpPr txBox="1"/>
          <p:nvPr/>
        </p:nvSpPr>
        <p:spPr>
          <a:xfrm>
            <a:off x="731520" y="4919472"/>
            <a:ext cx="3383280" cy="566928"/>
          </a:xfrm>
          <a:prstGeom prst="rect">
            <a:avLst/>
          </a:prstGeom>
          <a:noFill/>
          <a:ln/>
        </p:spPr>
        <p:txBody>
          <a:bodyPr wrap="square" lIns="0" tIns="0" rIns="0" bIns="0" rtlCol="0" anchor="ctr"/>
          <a:lstStyle/>
          <a:p>
            <a:pPr indent="0" marL="0">
              <a:buNone/>
            </a:pPr>
            <a:r>
              <a:rPr lang="en-US" sz="1300" b="1" dirty="0">
                <a:solidFill>
                  <a:srgbClr val="13283C"/>
                </a:solidFill>
                <a:latin typeface="Meiryo" pitchFamily="34" charset="0"/>
                <a:ea typeface="Meiryo" pitchFamily="34" charset="-122"/>
                <a:cs typeface="Meiryo" pitchFamily="34" charset="-120"/>
              </a:rPr>
              <a:t>5.  体制・スピード・実績</a:t>
            </a:r>
            <a:endParaRPr lang="en-US" sz="1300" dirty="0"/>
          </a:p>
        </p:txBody>
      </p:sp>
      <p:sp>
        <p:nvSpPr>
          <p:cNvPr id="80" name="Shape 78"/>
          <p:cNvSpPr/>
          <p:nvPr/>
        </p:nvSpPr>
        <p:spPr>
          <a:xfrm>
            <a:off x="4343400" y="4919472"/>
            <a:ext cx="987552" cy="566928"/>
          </a:xfrm>
          <a:prstGeom prst="rect">
            <a:avLst/>
          </a:prstGeom>
          <a:solidFill>
            <a:srgbClr val="F2F5F8"/>
          </a:solidFill>
          <a:ln w="12700">
            <a:solidFill>
              <a:srgbClr val="FFFFFF"/>
            </a:solidFill>
            <a:prstDash val="solid"/>
          </a:ln>
        </p:spPr>
      </p:sp>
      <p:sp>
        <p:nvSpPr>
          <p:cNvPr id="81" name="Shape 79"/>
          <p:cNvSpPr/>
          <p:nvPr/>
        </p:nvSpPr>
        <p:spPr>
          <a:xfrm>
            <a:off x="5376672" y="4919472"/>
            <a:ext cx="987552" cy="566928"/>
          </a:xfrm>
          <a:prstGeom prst="rect">
            <a:avLst/>
          </a:prstGeom>
          <a:solidFill>
            <a:srgbClr val="F2F5F8"/>
          </a:solidFill>
          <a:ln w="12700">
            <a:solidFill>
              <a:srgbClr val="FFFFFF"/>
            </a:solidFill>
            <a:prstDash val="solid"/>
          </a:ln>
        </p:spPr>
      </p:sp>
      <p:sp>
        <p:nvSpPr>
          <p:cNvPr id="82" name="Shape 80"/>
          <p:cNvSpPr/>
          <p:nvPr/>
        </p:nvSpPr>
        <p:spPr>
          <a:xfrm>
            <a:off x="6409944" y="4919472"/>
            <a:ext cx="987552" cy="566928"/>
          </a:xfrm>
          <a:prstGeom prst="rect">
            <a:avLst/>
          </a:prstGeom>
          <a:solidFill>
            <a:srgbClr val="F2F5F8"/>
          </a:solidFill>
          <a:ln w="12700">
            <a:solidFill>
              <a:srgbClr val="FFFFFF"/>
            </a:solidFill>
            <a:prstDash val="solid"/>
          </a:ln>
        </p:spPr>
      </p:sp>
      <p:sp>
        <p:nvSpPr>
          <p:cNvPr id="83" name="Text 81"/>
          <p:cNvSpPr txBox="1"/>
          <p:nvPr/>
        </p:nvSpPr>
        <p:spPr>
          <a:xfrm>
            <a:off x="6409944" y="4919472"/>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84" name="Shape 82"/>
          <p:cNvSpPr/>
          <p:nvPr/>
        </p:nvSpPr>
        <p:spPr>
          <a:xfrm>
            <a:off x="7443216" y="4919472"/>
            <a:ext cx="987552" cy="566928"/>
          </a:xfrm>
          <a:prstGeom prst="rect">
            <a:avLst/>
          </a:prstGeom>
          <a:solidFill>
            <a:srgbClr val="F2F5F8"/>
          </a:solidFill>
          <a:ln w="12700">
            <a:solidFill>
              <a:srgbClr val="FFFFFF"/>
            </a:solidFill>
            <a:prstDash val="solid"/>
          </a:ln>
        </p:spPr>
      </p:sp>
      <p:sp>
        <p:nvSpPr>
          <p:cNvPr id="85" name="Shape 83"/>
          <p:cNvSpPr/>
          <p:nvPr/>
        </p:nvSpPr>
        <p:spPr>
          <a:xfrm>
            <a:off x="8476488" y="4919472"/>
            <a:ext cx="987552" cy="566928"/>
          </a:xfrm>
          <a:prstGeom prst="rect">
            <a:avLst/>
          </a:prstGeom>
          <a:solidFill>
            <a:srgbClr val="F2F5F8"/>
          </a:solidFill>
          <a:ln w="12700">
            <a:solidFill>
              <a:srgbClr val="FFFFFF"/>
            </a:solidFill>
            <a:prstDash val="solid"/>
          </a:ln>
        </p:spPr>
      </p:sp>
      <p:sp>
        <p:nvSpPr>
          <p:cNvPr id="86" name="Text 84"/>
          <p:cNvSpPr txBox="1"/>
          <p:nvPr/>
        </p:nvSpPr>
        <p:spPr>
          <a:xfrm>
            <a:off x="8476488" y="4919472"/>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87" name="Shape 85"/>
          <p:cNvSpPr/>
          <p:nvPr/>
        </p:nvSpPr>
        <p:spPr>
          <a:xfrm>
            <a:off x="9509760" y="4919472"/>
            <a:ext cx="987552" cy="566928"/>
          </a:xfrm>
          <a:prstGeom prst="rect">
            <a:avLst/>
          </a:prstGeom>
          <a:solidFill>
            <a:srgbClr val="F2F5F8"/>
          </a:solidFill>
          <a:ln w="12700">
            <a:solidFill>
              <a:srgbClr val="FFFFFF"/>
            </a:solidFill>
            <a:prstDash val="solid"/>
          </a:ln>
        </p:spPr>
      </p:sp>
      <p:sp>
        <p:nvSpPr>
          <p:cNvPr id="88" name="Shape 86"/>
          <p:cNvSpPr/>
          <p:nvPr/>
        </p:nvSpPr>
        <p:spPr>
          <a:xfrm>
            <a:off x="10543032" y="4919472"/>
            <a:ext cx="987552" cy="566928"/>
          </a:xfrm>
          <a:prstGeom prst="rect">
            <a:avLst/>
          </a:prstGeom>
          <a:solidFill>
            <a:srgbClr val="F2F5F8"/>
          </a:solidFill>
          <a:ln w="12700">
            <a:solidFill>
              <a:srgbClr val="FFFFFF"/>
            </a:solidFill>
            <a:prstDash val="solid"/>
          </a:ln>
        </p:spPr>
      </p:sp>
      <p:sp>
        <p:nvSpPr>
          <p:cNvPr id="89" name="Text 87"/>
          <p:cNvSpPr txBox="1"/>
          <p:nvPr/>
        </p:nvSpPr>
        <p:spPr>
          <a:xfrm>
            <a:off x="10543032" y="4919472"/>
            <a:ext cx="987552" cy="566928"/>
          </a:xfrm>
          <a:prstGeom prst="rect">
            <a:avLst/>
          </a:prstGeom>
          <a:noFill/>
          <a:ln/>
        </p:spPr>
        <p:txBody>
          <a:bodyPr wrap="square" lIns="0" tIns="0" rIns="0" bIns="0" rtlCol="0" anchor="ctr"/>
          <a:lstStyle/>
          <a:p>
            <a:pPr algn="ctr" indent="0" marL="0">
              <a:buNone/>
            </a:pPr>
            <a:r>
              <a:rPr lang="en-US" sz="1800" dirty="0">
                <a:solidFill>
                  <a:srgbClr val="C9002B"/>
                </a:solidFill>
                <a:latin typeface="Meiryo" pitchFamily="34" charset="0"/>
                <a:ea typeface="Meiryo" pitchFamily="34" charset="-122"/>
                <a:cs typeface="Meiryo" pitchFamily="34" charset="-120"/>
              </a:rPr>
              <a:t>●</a:t>
            </a:r>
            <a:endParaRPr lang="en-US" sz="1800" dirty="0"/>
          </a:p>
        </p:txBody>
      </p:sp>
      <p:sp>
        <p:nvSpPr>
          <p:cNvPr id="90" name="Shape 88"/>
          <p:cNvSpPr/>
          <p:nvPr/>
        </p:nvSpPr>
        <p:spPr>
          <a:xfrm>
            <a:off x="548640" y="5669280"/>
            <a:ext cx="11064240" cy="548640"/>
          </a:xfrm>
          <a:prstGeom prst="roundRect">
            <a:avLst>
              <a:gd name="adj" fmla="val 13333"/>
            </a:avLst>
          </a:prstGeom>
          <a:solidFill>
            <a:srgbClr val="13283C"/>
          </a:solidFill>
          <a:ln w="12700">
            <a:solidFill>
              <a:srgbClr val="13283C"/>
            </a:solidFill>
            <a:prstDash val="solid"/>
          </a:ln>
        </p:spPr>
      </p:sp>
      <p:sp>
        <p:nvSpPr>
          <p:cNvPr id="91" name="Text 89"/>
          <p:cNvSpPr txBox="1"/>
          <p:nvPr/>
        </p:nvSpPr>
        <p:spPr>
          <a:xfrm>
            <a:off x="777240" y="5669280"/>
            <a:ext cx="10698480" cy="54864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全事例に共通するのは「課題起点」。そのうえで選定の決め手になったのが「アウトプットが見えること」</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分析</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最重要ポイントを、提案書でどう実行するか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「判断→アウトプット→商材」の順で書き、商材説明は後ろに回す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10</a:t>
            </a:r>
            <a:endParaRPr lang="en-US" sz="1000" dirty="0"/>
          </a:p>
        </p:txBody>
      </p:sp>
      <p:sp>
        <p:nvSpPr>
          <p:cNvPr id="6" name="Shape 4"/>
          <p:cNvSpPr/>
          <p:nvPr/>
        </p:nvSpPr>
        <p:spPr>
          <a:xfrm>
            <a:off x="548640" y="1892808"/>
            <a:ext cx="640080" cy="640080"/>
          </a:xfrm>
          <a:prstGeom prst="ellipse">
            <a:avLst/>
          </a:prstGeom>
          <a:solidFill>
            <a:srgbClr val="C9002B"/>
          </a:solidFill>
          <a:ln w="12700">
            <a:solidFill>
              <a:srgbClr val="C9002B"/>
            </a:solidFill>
            <a:prstDash val="solid"/>
          </a:ln>
        </p:spPr>
      </p:sp>
      <p:sp>
        <p:nvSpPr>
          <p:cNvPr id="7" name="Text 5"/>
          <p:cNvSpPr txBox="1"/>
          <p:nvPr/>
        </p:nvSpPr>
        <p:spPr>
          <a:xfrm>
            <a:off x="548640" y="189280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Shape 6"/>
          <p:cNvSpPr/>
          <p:nvPr/>
        </p:nvSpPr>
        <p:spPr>
          <a:xfrm>
            <a:off x="1371600" y="1783080"/>
            <a:ext cx="7315200" cy="841248"/>
          </a:xfrm>
          <a:prstGeom prst="roundRect">
            <a:avLst>
              <a:gd name="adj" fmla="val 8696"/>
            </a:avLst>
          </a:prstGeom>
          <a:solidFill>
            <a:srgbClr val="F2F5F8"/>
          </a:solidFill>
          <a:ln w="12700">
            <a:solidFill>
              <a:srgbClr val="F2F5F8"/>
            </a:solidFill>
            <a:prstDash val="solid"/>
          </a:ln>
        </p:spPr>
      </p:sp>
      <p:sp>
        <p:nvSpPr>
          <p:cNvPr id="9" name="Text 7"/>
          <p:cNvSpPr txBox="1"/>
          <p:nvPr/>
        </p:nvSpPr>
        <p:spPr>
          <a:xfrm>
            <a:off x="1554480" y="1856232"/>
            <a:ext cx="5943600" cy="347472"/>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顧客の判断を1文で書く</a:t>
            </a:r>
            <a:endParaRPr lang="en-US" sz="1500" dirty="0"/>
          </a:p>
        </p:txBody>
      </p:sp>
      <p:sp>
        <p:nvSpPr>
          <p:cNvPr id="10" name="Text 8"/>
          <p:cNvSpPr txBox="1"/>
          <p:nvPr/>
        </p:nvSpPr>
        <p:spPr>
          <a:xfrm>
            <a:off x="1554480" y="2212848"/>
            <a:ext cx="7040880" cy="347472"/>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例：「来年度、どの地域に予算を使って告知するかを決めたい」</a:t>
            </a:r>
            <a:endParaRPr lang="en-US" sz="1200" dirty="0"/>
          </a:p>
        </p:txBody>
      </p:sp>
      <p:sp>
        <p:nvSpPr>
          <p:cNvPr id="11" name="Text 9"/>
          <p:cNvSpPr txBox="1"/>
          <p:nvPr/>
        </p:nvSpPr>
        <p:spPr>
          <a:xfrm>
            <a:off x="7635240" y="1874520"/>
            <a:ext cx="914400" cy="292608"/>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00" b="1" dirty="0">
                <a:solidFill>
                  <a:srgbClr val="13283C"/>
                </a:solidFill>
                <a:latin typeface="Meiryo" pitchFamily="34" charset="0"/>
                <a:ea typeface="Meiryo" pitchFamily="34" charset="-122"/>
                <a:cs typeface="Meiryo" pitchFamily="34" charset="-120"/>
              </a:rPr>
              <a:t>P.02〜03</a:t>
            </a:r>
            <a:endParaRPr lang="en-US" sz="1000" dirty="0"/>
          </a:p>
        </p:txBody>
      </p:sp>
      <p:sp>
        <p:nvSpPr>
          <p:cNvPr id="12" name="Shape 10"/>
          <p:cNvSpPr/>
          <p:nvPr/>
        </p:nvSpPr>
        <p:spPr>
          <a:xfrm>
            <a:off x="548640" y="2852928"/>
            <a:ext cx="640080" cy="640080"/>
          </a:xfrm>
          <a:prstGeom prst="ellipse">
            <a:avLst/>
          </a:prstGeom>
          <a:solidFill>
            <a:srgbClr val="C9002B"/>
          </a:solidFill>
          <a:ln w="12700">
            <a:solidFill>
              <a:srgbClr val="C9002B"/>
            </a:solidFill>
            <a:prstDash val="solid"/>
          </a:ln>
        </p:spPr>
      </p:sp>
      <p:sp>
        <p:nvSpPr>
          <p:cNvPr id="13" name="Text 11"/>
          <p:cNvSpPr txBox="1"/>
          <p:nvPr/>
        </p:nvSpPr>
        <p:spPr>
          <a:xfrm>
            <a:off x="548640" y="285292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4" name="Shape 12"/>
          <p:cNvSpPr/>
          <p:nvPr/>
        </p:nvSpPr>
        <p:spPr>
          <a:xfrm>
            <a:off x="1371600" y="2743200"/>
            <a:ext cx="7315200" cy="841248"/>
          </a:xfrm>
          <a:prstGeom prst="roundRect">
            <a:avLst>
              <a:gd name="adj" fmla="val 8696"/>
            </a:avLst>
          </a:prstGeom>
          <a:solidFill>
            <a:srgbClr val="F2F5F8"/>
          </a:solidFill>
          <a:ln w="12700">
            <a:solidFill>
              <a:srgbClr val="F2F5F8"/>
            </a:solidFill>
            <a:prstDash val="solid"/>
          </a:ln>
        </p:spPr>
      </p:sp>
      <p:sp>
        <p:nvSpPr>
          <p:cNvPr id="15" name="Text 13"/>
          <p:cNvSpPr txBox="1"/>
          <p:nvPr/>
        </p:nvSpPr>
        <p:spPr>
          <a:xfrm>
            <a:off x="1554480" y="2816352"/>
            <a:ext cx="5943600" cy="347472"/>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判断に使う数字を決める</a:t>
            </a:r>
            <a:endParaRPr lang="en-US" sz="1500" dirty="0"/>
          </a:p>
        </p:txBody>
      </p:sp>
      <p:sp>
        <p:nvSpPr>
          <p:cNvPr id="16" name="Text 14"/>
          <p:cNvSpPr txBox="1"/>
          <p:nvPr/>
        </p:nvSpPr>
        <p:spPr>
          <a:xfrm>
            <a:off x="1554480" y="3172968"/>
            <a:ext cx="7040880" cy="347472"/>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来訪者数の前年比、市外比率、参加しない理由の上位、申込単価</a:t>
            </a:r>
            <a:endParaRPr lang="en-US" sz="1200" dirty="0"/>
          </a:p>
        </p:txBody>
      </p:sp>
      <p:sp>
        <p:nvSpPr>
          <p:cNvPr id="17" name="Text 15"/>
          <p:cNvSpPr txBox="1"/>
          <p:nvPr/>
        </p:nvSpPr>
        <p:spPr>
          <a:xfrm>
            <a:off x="7635240" y="2834640"/>
            <a:ext cx="914400" cy="292608"/>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00" b="1" dirty="0">
                <a:solidFill>
                  <a:srgbClr val="13283C"/>
                </a:solidFill>
                <a:latin typeface="Meiryo" pitchFamily="34" charset="0"/>
                <a:ea typeface="Meiryo" pitchFamily="34" charset="-122"/>
                <a:cs typeface="Meiryo" pitchFamily="34" charset="-120"/>
              </a:rPr>
              <a:t>P.04</a:t>
            </a:r>
            <a:endParaRPr lang="en-US" sz="1000" dirty="0"/>
          </a:p>
        </p:txBody>
      </p:sp>
      <p:sp>
        <p:nvSpPr>
          <p:cNvPr id="18" name="Shape 16"/>
          <p:cNvSpPr/>
          <p:nvPr/>
        </p:nvSpPr>
        <p:spPr>
          <a:xfrm>
            <a:off x="548640" y="3813048"/>
            <a:ext cx="640080" cy="640080"/>
          </a:xfrm>
          <a:prstGeom prst="ellipse">
            <a:avLst/>
          </a:prstGeom>
          <a:solidFill>
            <a:srgbClr val="C9002B"/>
          </a:solidFill>
          <a:ln w="12700">
            <a:solidFill>
              <a:srgbClr val="C9002B"/>
            </a:solidFill>
            <a:prstDash val="solid"/>
          </a:ln>
        </p:spPr>
      </p:sp>
      <p:sp>
        <p:nvSpPr>
          <p:cNvPr id="19" name="Text 17"/>
          <p:cNvSpPr txBox="1"/>
          <p:nvPr/>
        </p:nvSpPr>
        <p:spPr>
          <a:xfrm>
            <a:off x="548640" y="381304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0" name="Shape 18"/>
          <p:cNvSpPr/>
          <p:nvPr/>
        </p:nvSpPr>
        <p:spPr>
          <a:xfrm>
            <a:off x="1371600" y="3703320"/>
            <a:ext cx="7315200" cy="841248"/>
          </a:xfrm>
          <a:prstGeom prst="roundRect">
            <a:avLst>
              <a:gd name="adj" fmla="val 8696"/>
            </a:avLst>
          </a:prstGeom>
          <a:solidFill>
            <a:srgbClr val="F2F5F8"/>
          </a:solidFill>
          <a:ln w="12700">
            <a:solidFill>
              <a:srgbClr val="F2F5F8"/>
            </a:solidFill>
            <a:prstDash val="solid"/>
          </a:ln>
        </p:spPr>
      </p:sp>
      <p:sp>
        <p:nvSpPr>
          <p:cNvPr id="21" name="Text 19"/>
          <p:cNvSpPr txBox="1"/>
          <p:nvPr/>
        </p:nvSpPr>
        <p:spPr>
          <a:xfrm>
            <a:off x="1554480" y="3776472"/>
            <a:ext cx="5943600" cy="347472"/>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アウトプット例を見せる</a:t>
            </a:r>
            <a:endParaRPr lang="en-US" sz="1500" dirty="0"/>
          </a:p>
        </p:txBody>
      </p:sp>
      <p:sp>
        <p:nvSpPr>
          <p:cNvPr id="22" name="Text 20"/>
          <p:cNvSpPr txBox="1"/>
          <p:nvPr/>
        </p:nvSpPr>
        <p:spPr>
          <a:xfrm>
            <a:off x="1554480" y="4133088"/>
            <a:ext cx="7040880" cy="347472"/>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グラフ・地図のサンプル。架空データでもよいが「イメージ」と明記</a:t>
            </a:r>
            <a:endParaRPr lang="en-US" sz="1200" dirty="0"/>
          </a:p>
        </p:txBody>
      </p:sp>
      <p:sp>
        <p:nvSpPr>
          <p:cNvPr id="23" name="Text 21"/>
          <p:cNvSpPr txBox="1"/>
          <p:nvPr/>
        </p:nvSpPr>
        <p:spPr>
          <a:xfrm>
            <a:off x="7635240" y="3794760"/>
            <a:ext cx="914400" cy="292608"/>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00" b="1" dirty="0">
                <a:solidFill>
                  <a:srgbClr val="13283C"/>
                </a:solidFill>
                <a:latin typeface="Meiryo" pitchFamily="34" charset="0"/>
                <a:ea typeface="Meiryo" pitchFamily="34" charset="-122"/>
                <a:cs typeface="Meiryo" pitchFamily="34" charset="-120"/>
              </a:rPr>
              <a:t>P.05〜06</a:t>
            </a:r>
            <a:endParaRPr lang="en-US" sz="1000" dirty="0"/>
          </a:p>
        </p:txBody>
      </p:sp>
      <p:sp>
        <p:nvSpPr>
          <p:cNvPr id="24" name="Shape 22"/>
          <p:cNvSpPr/>
          <p:nvPr/>
        </p:nvSpPr>
        <p:spPr>
          <a:xfrm>
            <a:off x="548640" y="4773168"/>
            <a:ext cx="640080" cy="640080"/>
          </a:xfrm>
          <a:prstGeom prst="ellipse">
            <a:avLst/>
          </a:prstGeom>
          <a:solidFill>
            <a:srgbClr val="13283C"/>
          </a:solidFill>
          <a:ln w="12700">
            <a:solidFill>
              <a:srgbClr val="13283C"/>
            </a:solidFill>
            <a:prstDash val="solid"/>
          </a:ln>
        </p:spPr>
      </p:sp>
      <p:sp>
        <p:nvSpPr>
          <p:cNvPr id="25" name="Text 23"/>
          <p:cNvSpPr txBox="1"/>
          <p:nvPr/>
        </p:nvSpPr>
        <p:spPr>
          <a:xfrm>
            <a:off x="548640" y="47731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26" name="Shape 24"/>
          <p:cNvSpPr/>
          <p:nvPr/>
        </p:nvSpPr>
        <p:spPr>
          <a:xfrm>
            <a:off x="1371600" y="4663440"/>
            <a:ext cx="7315200" cy="841248"/>
          </a:xfrm>
          <a:prstGeom prst="roundRect">
            <a:avLst>
              <a:gd name="adj" fmla="val 8696"/>
            </a:avLst>
          </a:prstGeom>
          <a:solidFill>
            <a:srgbClr val="F2F5F8"/>
          </a:solidFill>
          <a:ln w="12700">
            <a:solidFill>
              <a:srgbClr val="F2F5F8"/>
            </a:solidFill>
            <a:prstDash val="solid"/>
          </a:ln>
        </p:spPr>
      </p:sp>
      <p:sp>
        <p:nvSpPr>
          <p:cNvPr id="27" name="Text 25"/>
          <p:cNvSpPr txBox="1"/>
          <p:nvPr/>
        </p:nvSpPr>
        <p:spPr>
          <a:xfrm>
            <a:off x="1554480" y="4736592"/>
            <a:ext cx="5943600" cy="347472"/>
          </a:xfrm>
          <a:prstGeom prst="rect">
            <a:avLst/>
          </a:prstGeom>
          <a:noFill/>
          <a:ln/>
        </p:spPr>
        <p:txBody>
          <a:bodyPr wrap="square" lIns="0" tIns="0" rIns="0" bIns="0" rtlCol="0" anchor="t"/>
          <a:lstStyle/>
          <a:p>
            <a:pPr indent="0" marL="0">
              <a:buNone/>
            </a:pPr>
            <a:r>
              <a:rPr lang="en-US" sz="1500" b="1" dirty="0">
                <a:solidFill>
                  <a:srgbClr val="13283C"/>
                </a:solidFill>
                <a:latin typeface="Meiryo" pitchFamily="34" charset="0"/>
                <a:ea typeface="Meiryo" pitchFamily="34" charset="-122"/>
                <a:cs typeface="Meiryo" pitchFamily="34" charset="-120"/>
              </a:rPr>
              <a:t>それを作る商材と手順</a:t>
            </a:r>
            <a:endParaRPr lang="en-US" sz="1500" dirty="0"/>
          </a:p>
        </p:txBody>
      </p:sp>
      <p:sp>
        <p:nvSpPr>
          <p:cNvPr id="28" name="Text 26"/>
          <p:cNvSpPr txBox="1"/>
          <p:nvPr/>
        </p:nvSpPr>
        <p:spPr>
          <a:xfrm>
            <a:off x="1554480" y="5093208"/>
            <a:ext cx="7040880" cy="347472"/>
          </a:xfrm>
          <a:prstGeom prst="rect">
            <a:avLst/>
          </a:prstGeom>
          <a:noFill/>
          <a:ln/>
        </p:spPr>
        <p:txBody>
          <a:bodyPr wrap="square" lIns="0" tIns="0" rIns="0" bIns="0" rtlCol="0" anchor="t"/>
          <a:lstStyle/>
          <a:p>
            <a:pPr indent="0" marL="0">
              <a:buNone/>
            </a:pPr>
            <a:r>
              <a:rPr lang="en-US" sz="1200" dirty="0">
                <a:solidFill>
                  <a:srgbClr val="5A6675"/>
                </a:solidFill>
                <a:latin typeface="Meiryo" pitchFamily="34" charset="0"/>
                <a:ea typeface="Meiryo" pitchFamily="34" charset="-122"/>
                <a:cs typeface="Meiryo" pitchFamily="34" charset="-120"/>
              </a:rPr>
              <a:t>3商材の役割、スケジュール、体制。ここで初めて商材名を出す</a:t>
            </a:r>
            <a:endParaRPr lang="en-US" sz="1200" dirty="0"/>
          </a:p>
        </p:txBody>
      </p:sp>
      <p:sp>
        <p:nvSpPr>
          <p:cNvPr id="29" name="Text 27"/>
          <p:cNvSpPr txBox="1"/>
          <p:nvPr/>
        </p:nvSpPr>
        <p:spPr>
          <a:xfrm>
            <a:off x="7635240" y="4754880"/>
            <a:ext cx="914400" cy="292608"/>
          </a:xfrm>
          <a:prstGeom prst="roundRect">
            <a:avLst>
              <a:gd name="adj" fmla="val 50000"/>
            </a:avLst>
          </a:prstGeom>
          <a:solidFill>
            <a:srgbClr val="FFFFFF"/>
          </a:solidFill>
          <a:ln>
            <a:solidFill>
              <a:srgbClr val="D5DDE5"/>
            </a:solidFill>
          </a:ln>
        </p:spPr>
        <p:txBody>
          <a:bodyPr wrap="square" lIns="0" tIns="0" rIns="0" bIns="0" rtlCol="0" anchor="ctr"/>
          <a:lstStyle/>
          <a:p>
            <a:pPr algn="ctr" indent="0" marL="0">
              <a:buNone/>
            </a:pPr>
            <a:r>
              <a:rPr lang="en-US" sz="1000" b="1" dirty="0">
                <a:solidFill>
                  <a:srgbClr val="13283C"/>
                </a:solidFill>
                <a:latin typeface="Meiryo" pitchFamily="34" charset="0"/>
                <a:ea typeface="Meiryo" pitchFamily="34" charset="-122"/>
                <a:cs typeface="Meiryo" pitchFamily="34" charset="-120"/>
              </a:rPr>
              <a:t>P.07〜</a:t>
            </a:r>
            <a:endParaRPr lang="en-US" sz="1000" dirty="0"/>
          </a:p>
        </p:txBody>
      </p:sp>
      <p:sp>
        <p:nvSpPr>
          <p:cNvPr id="30" name="Shape 28"/>
          <p:cNvSpPr/>
          <p:nvPr/>
        </p:nvSpPr>
        <p:spPr>
          <a:xfrm>
            <a:off x="8961120" y="1783080"/>
            <a:ext cx="2651760" cy="3721608"/>
          </a:xfrm>
          <a:prstGeom prst="roundRect">
            <a:avLst>
              <a:gd name="adj" fmla="val 2759"/>
            </a:avLst>
          </a:prstGeom>
          <a:solidFill>
            <a:srgbClr val="13283C"/>
          </a:solidFill>
          <a:ln w="12700">
            <a:solidFill>
              <a:srgbClr val="13283C"/>
            </a:solidFill>
            <a:prstDash val="solid"/>
          </a:ln>
        </p:spPr>
      </p:sp>
      <p:sp>
        <p:nvSpPr>
          <p:cNvPr id="31" name="Text 29"/>
          <p:cNvSpPr txBox="1"/>
          <p:nvPr/>
        </p:nvSpPr>
        <p:spPr>
          <a:xfrm>
            <a:off x="9144000" y="1920240"/>
            <a:ext cx="2377440" cy="320040"/>
          </a:xfrm>
          <a:prstGeom prst="rect">
            <a:avLst/>
          </a:prstGeom>
          <a:noFill/>
          <a:ln/>
        </p:spPr>
        <p:txBody>
          <a:bodyPr wrap="square" lIns="0" tIns="0" rIns="0" bIns="0" rtlCol="0" anchor="t"/>
          <a:lstStyle/>
          <a:p>
            <a:pPr indent="0" marL="0">
              <a:buNone/>
            </a:pPr>
            <a:r>
              <a:rPr lang="en-US" sz="1300" b="1" dirty="0">
                <a:solidFill>
                  <a:srgbClr val="FF8FA3"/>
                </a:solidFill>
                <a:latin typeface="Meiryo" pitchFamily="34" charset="0"/>
                <a:ea typeface="Meiryo" pitchFamily="34" charset="-122"/>
                <a:cs typeface="Meiryo" pitchFamily="34" charset="-120"/>
              </a:rPr>
              <a:t>やってはいけない</a:t>
            </a:r>
            <a:endParaRPr lang="en-US" sz="1300" dirty="0"/>
          </a:p>
        </p:txBody>
      </p:sp>
      <p:sp>
        <p:nvSpPr>
          <p:cNvPr id="32" name="Text 30"/>
          <p:cNvSpPr txBox="1"/>
          <p:nvPr/>
        </p:nvSpPr>
        <p:spPr>
          <a:xfrm>
            <a:off x="9144000" y="2331720"/>
            <a:ext cx="2331720" cy="301752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FFFFFF"/>
                </a:solidFill>
                <a:latin typeface="Meiryo" pitchFamily="34" charset="0"/>
                <a:ea typeface="Meiryo" pitchFamily="34" charset="-122"/>
                <a:cs typeface="Meiryo" pitchFamily="34" charset="-120"/>
              </a:rPr>
              <a:t>商材紹介から始める</a:t>
            </a:r>
            <a:endParaRPr lang="en-US" sz="1250" dirty="0"/>
          </a:p>
          <a:p>
            <a:pPr marL="342900" indent="-342900">
              <a:spcAft>
                <a:spcPts val="1000"/>
              </a:spcAft>
              <a:buSzPct val="100000"/>
              <a:buChar char="•"/>
            </a:pPr>
            <a:r>
              <a:rPr lang="en-US" sz="1250" dirty="0">
                <a:solidFill>
                  <a:srgbClr val="FFFFFF"/>
                </a:solidFill>
                <a:latin typeface="Meiryo" pitchFamily="34" charset="0"/>
                <a:ea typeface="Meiryo" pitchFamily="34" charset="-122"/>
                <a:cs typeface="Meiryo" pitchFamily="34" charset="-120"/>
              </a:rPr>
              <a:t>3商材を一括で提案する</a:t>
            </a:r>
            <a:endParaRPr lang="en-US" sz="1250" dirty="0"/>
          </a:p>
          <a:p>
            <a:pPr marL="342900" indent="-342900">
              <a:spcAft>
                <a:spcPts val="1000"/>
              </a:spcAft>
              <a:buSzPct val="100000"/>
              <a:buChar char="•"/>
            </a:pPr>
            <a:r>
              <a:rPr lang="en-US" sz="1250" dirty="0">
                <a:solidFill>
                  <a:srgbClr val="FFFFFF"/>
                </a:solidFill>
                <a:latin typeface="Meiryo" pitchFamily="34" charset="0"/>
                <a:ea typeface="Meiryo" pitchFamily="34" charset="-122"/>
                <a:cs typeface="Meiryo" pitchFamily="34" charset="-120"/>
              </a:rPr>
              <a:t>成果や人数を保証する</a:t>
            </a:r>
            <a:endParaRPr lang="en-US" sz="1250" dirty="0"/>
          </a:p>
          <a:p>
            <a:pPr marL="342900" indent="-342900">
              <a:spcAft>
                <a:spcPts val="1000"/>
              </a:spcAft>
              <a:buSzPct val="100000"/>
              <a:buChar char="•"/>
            </a:pPr>
            <a:r>
              <a:rPr lang="en-US" sz="1250" dirty="0">
                <a:solidFill>
                  <a:srgbClr val="FFFFFF"/>
                </a:solidFill>
                <a:latin typeface="Meiryo" pitchFamily="34" charset="0"/>
                <a:ea typeface="Meiryo" pitchFamily="34" charset="-122"/>
                <a:cs typeface="Meiryo" pitchFamily="34" charset="-120"/>
              </a:rPr>
              <a:t>推計人口を入場者数として説明する</a:t>
            </a:r>
            <a:endParaRPr lang="en-US" sz="1250" dirty="0"/>
          </a:p>
        </p:txBody>
      </p:sp>
      <p:sp>
        <p:nvSpPr>
          <p:cNvPr id="33" name="Shape 31"/>
          <p:cNvSpPr/>
          <p:nvPr/>
        </p:nvSpPr>
        <p:spPr>
          <a:xfrm>
            <a:off x="548640" y="5715000"/>
            <a:ext cx="11064240" cy="502920"/>
          </a:xfrm>
          <a:prstGeom prst="roundRect">
            <a:avLst>
              <a:gd name="adj" fmla="val 14545"/>
            </a:avLst>
          </a:prstGeom>
          <a:solidFill>
            <a:srgbClr val="FBEAEE"/>
          </a:solidFill>
          <a:ln w="12700">
            <a:solidFill>
              <a:srgbClr val="FBEAEE"/>
            </a:solidFill>
            <a:prstDash val="solid"/>
          </a:ln>
        </p:spPr>
      </p:sp>
      <p:sp>
        <p:nvSpPr>
          <p:cNvPr id="34" name="Text 32"/>
          <p:cNvSpPr txBox="1"/>
          <p:nvPr/>
        </p:nvSpPr>
        <p:spPr>
          <a:xfrm>
            <a:off x="777240" y="5715000"/>
            <a:ext cx="10607040" cy="502920"/>
          </a:xfrm>
          <a:prstGeom prst="rect">
            <a:avLst/>
          </a:prstGeom>
          <a:noFill/>
          <a:ln/>
        </p:spPr>
        <p:txBody>
          <a:bodyPr wrap="square" lIns="0" tIns="0" rIns="0" bIns="0" rtlCol="0" anchor="ctr"/>
          <a:lstStyle/>
          <a:p>
            <a:pPr indent="0" marL="0">
              <a:buNone/>
            </a:pPr>
            <a:r>
              <a:rPr lang="en-US" sz="1300" b="1" dirty="0">
                <a:solidFill>
                  <a:srgbClr val="1B2B3D"/>
                </a:solidFill>
                <a:latin typeface="Meiryo" pitchFamily="34" charset="0"/>
                <a:ea typeface="Meiryo" pitchFamily="34" charset="-122"/>
                <a:cs typeface="Meiryo" pitchFamily="34" charset="-120"/>
              </a:rPr>
              <a:t>この順番で作った提案書のサンプルを、別ファイル「提案書サンプル」にまとめた</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当社の「提案から契約まで」モデル</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自治体と民間（スポーツチーム）で、契約までの道筋が異なる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11</a:t>
            </a:r>
            <a:endParaRPr lang="en-US" sz="1000" dirty="0"/>
          </a:p>
        </p:txBody>
      </p:sp>
      <p:sp>
        <p:nvSpPr>
          <p:cNvPr id="6" name="Shape 4"/>
          <p:cNvSpPr/>
          <p:nvPr/>
        </p:nvSpPr>
        <p:spPr>
          <a:xfrm>
            <a:off x="548640" y="1828800"/>
            <a:ext cx="1554480" cy="1417320"/>
          </a:xfrm>
          <a:prstGeom prst="roundRect">
            <a:avLst>
              <a:gd name="adj" fmla="val 5161"/>
            </a:avLst>
          </a:prstGeom>
          <a:solidFill>
            <a:srgbClr val="13283C"/>
          </a:solidFill>
          <a:ln w="12700">
            <a:solidFill>
              <a:srgbClr val="13283C"/>
            </a:solidFill>
            <a:prstDash val="solid"/>
          </a:ln>
        </p:spPr>
      </p:sp>
      <p:sp>
        <p:nvSpPr>
          <p:cNvPr id="7" name="Shape 5"/>
          <p:cNvSpPr/>
          <p:nvPr/>
        </p:nvSpPr>
        <p:spPr>
          <a:xfrm>
            <a:off x="1005840" y="1965960"/>
            <a:ext cx="640080" cy="64008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1165860" y="2125980"/>
            <a:ext cx="320040" cy="320040"/>
          </a:xfrm>
          <a:prstGeom prst="rect">
            <a:avLst/>
          </a:prstGeom>
        </p:spPr>
      </p:pic>
      <p:sp>
        <p:nvSpPr>
          <p:cNvPr id="9" name="Text 6"/>
          <p:cNvSpPr txBox="1"/>
          <p:nvPr/>
        </p:nvSpPr>
        <p:spPr>
          <a:xfrm>
            <a:off x="548640" y="2651760"/>
            <a:ext cx="1554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自治体</a:t>
            </a:r>
            <a:endParaRPr lang="en-US" sz="1300" dirty="0"/>
          </a:p>
        </p:txBody>
      </p:sp>
      <p:sp>
        <p:nvSpPr>
          <p:cNvPr id="10" name="Text 7"/>
          <p:cNvSpPr txBox="1"/>
          <p:nvPr/>
        </p:nvSpPr>
        <p:spPr>
          <a:xfrm>
            <a:off x="2240280" y="1828800"/>
            <a:ext cx="2057400" cy="1417320"/>
          </a:xfrm>
          <a:prstGeom prst="roundRect">
            <a:avLst>
              <a:gd name="adj" fmla="val 5161"/>
            </a:avLst>
          </a:prstGeom>
          <a:solidFill>
            <a:srgbClr val="BAC8D4"/>
          </a:solidFill>
          <a:ln>
            <a:solidFill>
              <a:srgbClr val="BAC8D4"/>
            </a:solidFill>
          </a:ln>
        </p:spPr>
        <p:txBody>
          <a:bodyPr wrap="square" lIns="76200" tIns="76200" rIns="76200" bIns="76200" rtlCol="0" anchor="ctr"/>
          <a:lstStyle/>
          <a:p>
            <a:pPr algn="ctr" indent="0" marL="0">
              <a:buNone/>
            </a:pPr>
            <a:r>
              <a:rPr lang="en-US" sz="1300" b="1" dirty="0">
                <a:solidFill>
                  <a:srgbClr val="1B2B3D"/>
                </a:solidFill>
                <a:latin typeface="Meiryo" pitchFamily="34" charset="0"/>
                <a:ea typeface="Meiryo" pitchFamily="34" charset="-122"/>
                <a:cs typeface="Meiryo" pitchFamily="34" charset="-120"/>
              </a:rPr>
              <a:t>課題ヒアリング</a:t>
            </a:r>
            <a:endParaRPr lang="en-US" sz="1300" dirty="0"/>
          </a:p>
          <a:p>
            <a:pPr algn="ctr" indent="0" marL="0">
              <a:buNone/>
            </a:pPr>
            <a:r>
              <a:rPr lang="en-US" sz="1100" dirty="0">
                <a:solidFill>
                  <a:srgbClr val="1B2B3D"/>
                </a:solidFill>
                <a:latin typeface="Meiryo" pitchFamily="34" charset="0"/>
                <a:ea typeface="Meiryo" pitchFamily="34" charset="-122"/>
                <a:cs typeface="Meiryo" pitchFamily="34" charset="-120"/>
              </a:rPr>
              <a:t>4〜7月</a:t>
            </a:r>
            <a:endParaRPr lang="en-US" sz="1300" dirty="0"/>
          </a:p>
        </p:txBody>
      </p:sp>
      <p:pic>
        <p:nvPicPr>
          <p:cNvPr id="11" name="Image 1" descr="preencoded.png">    </p:cNvPr>
          <p:cNvPicPr>
            <a:picLocks noChangeAspect="1"/>
          </p:cNvPicPr>
          <p:nvPr/>
        </p:nvPicPr>
        <p:blipFill>
          <a:blip r:embed="rId2"/>
          <a:stretch>
            <a:fillRect/>
          </a:stretch>
        </p:blipFill>
        <p:spPr>
          <a:xfrm>
            <a:off x="4325112" y="2414016"/>
            <a:ext cx="237744" cy="237744"/>
          </a:xfrm>
          <a:prstGeom prst="rect">
            <a:avLst/>
          </a:prstGeom>
        </p:spPr>
      </p:pic>
      <p:sp>
        <p:nvSpPr>
          <p:cNvPr id="12" name="Text 8"/>
          <p:cNvSpPr txBox="1"/>
          <p:nvPr/>
        </p:nvSpPr>
        <p:spPr>
          <a:xfrm>
            <a:off x="4599432" y="1828800"/>
            <a:ext cx="2057400" cy="1417320"/>
          </a:xfrm>
          <a:prstGeom prst="roundRect">
            <a:avLst>
              <a:gd name="adj" fmla="val 5161"/>
            </a:avLst>
          </a:prstGeom>
          <a:solidFill>
            <a:srgbClr val="C9002B"/>
          </a:solidFill>
          <a:ln>
            <a:solidFill>
              <a:srgbClr val="C9002B"/>
            </a:solidFill>
          </a:ln>
        </p:spPr>
        <p:txBody>
          <a:bodyPr wrap="square" lIns="76200" tIns="76200" rIns="76200" bIns="7620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試行・アウトプット例</a:t>
            </a:r>
            <a:endParaRPr lang="en-US" sz="1300" dirty="0"/>
          </a:p>
          <a:p>
            <a:pPr algn="ctr" indent="0" marL="0">
              <a:buNone/>
            </a:pPr>
            <a:r>
              <a:rPr lang="en-US" sz="1100" dirty="0">
                <a:solidFill>
                  <a:srgbClr val="FFFFFF"/>
                </a:solidFill>
                <a:latin typeface="Meiryo" pitchFamily="34" charset="0"/>
                <a:ea typeface="Meiryo" pitchFamily="34" charset="-122"/>
                <a:cs typeface="Meiryo" pitchFamily="34" charset="-120"/>
              </a:rPr>
              <a:t>7〜8月</a:t>
            </a:r>
            <a:endParaRPr lang="en-US" sz="1300" dirty="0"/>
          </a:p>
        </p:txBody>
      </p:sp>
      <p:pic>
        <p:nvPicPr>
          <p:cNvPr id="13" name="Image 2" descr="preencoded.png">    </p:cNvPr>
          <p:cNvPicPr>
            <a:picLocks noChangeAspect="1"/>
          </p:cNvPicPr>
          <p:nvPr/>
        </p:nvPicPr>
        <p:blipFill>
          <a:blip r:embed="rId3"/>
          <a:stretch>
            <a:fillRect/>
          </a:stretch>
        </p:blipFill>
        <p:spPr>
          <a:xfrm>
            <a:off x="6684264" y="2414016"/>
            <a:ext cx="237744" cy="237744"/>
          </a:xfrm>
          <a:prstGeom prst="rect">
            <a:avLst/>
          </a:prstGeom>
        </p:spPr>
      </p:pic>
      <p:sp>
        <p:nvSpPr>
          <p:cNvPr id="14" name="Text 9"/>
          <p:cNvSpPr txBox="1"/>
          <p:nvPr/>
        </p:nvSpPr>
        <p:spPr>
          <a:xfrm>
            <a:off x="6958584" y="1828800"/>
            <a:ext cx="2057400" cy="1417320"/>
          </a:xfrm>
          <a:prstGeom prst="roundRect">
            <a:avLst>
              <a:gd name="adj" fmla="val 5161"/>
            </a:avLst>
          </a:prstGeom>
          <a:solidFill>
            <a:srgbClr val="3E5A76"/>
          </a:solidFill>
          <a:ln>
            <a:solidFill>
              <a:srgbClr val="3E5A76"/>
            </a:solidFill>
          </a:ln>
        </p:spPr>
        <p:txBody>
          <a:bodyPr wrap="square" lIns="76200" tIns="76200" rIns="76200" bIns="7620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予算要求の資料提供</a:t>
            </a:r>
            <a:endParaRPr lang="en-US" sz="1300" dirty="0"/>
          </a:p>
          <a:p>
            <a:pPr algn="ctr" indent="0" marL="0">
              <a:buNone/>
            </a:pPr>
            <a:r>
              <a:rPr lang="en-US" sz="1100" dirty="0">
                <a:solidFill>
                  <a:srgbClr val="FFFFFF"/>
                </a:solidFill>
                <a:latin typeface="Meiryo" pitchFamily="34" charset="0"/>
                <a:ea typeface="Meiryo" pitchFamily="34" charset="-122"/>
                <a:cs typeface="Meiryo" pitchFamily="34" charset="-120"/>
              </a:rPr>
              <a:t>9〜10月</a:t>
            </a:r>
            <a:endParaRPr lang="en-US" sz="1300" dirty="0"/>
          </a:p>
        </p:txBody>
      </p:sp>
      <p:pic>
        <p:nvPicPr>
          <p:cNvPr id="15" name="Image 3" descr="preencoded.png">    </p:cNvPr>
          <p:cNvPicPr>
            <a:picLocks noChangeAspect="1"/>
          </p:cNvPicPr>
          <p:nvPr/>
        </p:nvPicPr>
        <p:blipFill>
          <a:blip r:embed="rId4"/>
          <a:stretch>
            <a:fillRect/>
          </a:stretch>
        </p:blipFill>
        <p:spPr>
          <a:xfrm>
            <a:off x="9043416" y="2414016"/>
            <a:ext cx="237744" cy="237744"/>
          </a:xfrm>
          <a:prstGeom prst="rect">
            <a:avLst/>
          </a:prstGeom>
        </p:spPr>
      </p:pic>
      <p:sp>
        <p:nvSpPr>
          <p:cNvPr id="16" name="Text 10"/>
          <p:cNvSpPr txBox="1"/>
          <p:nvPr/>
        </p:nvSpPr>
        <p:spPr>
          <a:xfrm>
            <a:off x="9317736" y="1828800"/>
            <a:ext cx="2057400" cy="1417320"/>
          </a:xfrm>
          <a:prstGeom prst="roundRect">
            <a:avLst>
              <a:gd name="adj" fmla="val 5161"/>
            </a:avLst>
          </a:prstGeom>
          <a:solidFill>
            <a:srgbClr val="13283C"/>
          </a:solidFill>
          <a:ln>
            <a:solidFill>
              <a:srgbClr val="13283C"/>
            </a:solidFill>
          </a:ln>
        </p:spPr>
        <p:txBody>
          <a:bodyPr wrap="square" lIns="76200" tIns="76200" rIns="76200" bIns="7620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公告・提案・契約</a:t>
            </a:r>
            <a:endParaRPr lang="en-US" sz="1300" dirty="0"/>
          </a:p>
          <a:p>
            <a:pPr algn="ctr" indent="0" marL="0">
              <a:buNone/>
            </a:pPr>
            <a:r>
              <a:rPr lang="en-US" sz="1100" dirty="0">
                <a:solidFill>
                  <a:srgbClr val="FFFFFF"/>
                </a:solidFill>
                <a:latin typeface="Meiryo" pitchFamily="34" charset="0"/>
                <a:ea typeface="Meiryo" pitchFamily="34" charset="-122"/>
                <a:cs typeface="Meiryo" pitchFamily="34" charset="-120"/>
              </a:rPr>
              <a:t>翌4月〜</a:t>
            </a:r>
            <a:endParaRPr lang="en-US" sz="1300" dirty="0"/>
          </a:p>
        </p:txBody>
      </p:sp>
      <p:sp>
        <p:nvSpPr>
          <p:cNvPr id="17" name="Text 11"/>
          <p:cNvSpPr txBox="1"/>
          <p:nvPr/>
        </p:nvSpPr>
        <p:spPr>
          <a:xfrm>
            <a:off x="2240280" y="3337560"/>
            <a:ext cx="9326880" cy="365760"/>
          </a:xfrm>
          <a:prstGeom prst="rect">
            <a:avLst/>
          </a:prstGeom>
          <a:noFill/>
          <a:ln/>
        </p:spPr>
        <p:txBody>
          <a:bodyPr wrap="square" lIns="0" tIns="0" rIns="0" bIns="0" rtlCol="0" anchor="ctr"/>
          <a:lstStyle/>
          <a:p>
            <a:pPr indent="0" marL="0">
              <a:buNone/>
            </a:pPr>
            <a:r>
              <a:rPr lang="en-US" sz="1250" b="1" dirty="0">
                <a:solidFill>
                  <a:srgbClr val="C9002B"/>
                </a:solidFill>
                <a:latin typeface="Meiryo" pitchFamily="34" charset="0"/>
                <a:ea typeface="Meiryo" pitchFamily="34" charset="-122"/>
                <a:cs typeface="Meiryo" pitchFamily="34" charset="-120"/>
              </a:rPr>
              <a:t>ポイント　</a:t>
            </a:r>
            <a:pPr indent="0" marL="0">
              <a:buNone/>
            </a:pPr>
            <a:r>
              <a:rPr lang="en-US" sz="1250" dirty="0">
                <a:solidFill>
                  <a:srgbClr val="1B2B3D"/>
                </a:solidFill>
                <a:latin typeface="Meiryo" pitchFamily="34" charset="0"/>
                <a:ea typeface="Meiryo" pitchFamily="34" charset="-122"/>
                <a:cs typeface="Meiryo" pitchFamily="34" charset="-120"/>
              </a:rPr>
              <a:t>今年度は少額随契・補正で小さく検証 → 結果を次年度予算の根拠に</a:t>
            </a:r>
            <a:endParaRPr lang="en-US" sz="1250" dirty="0"/>
          </a:p>
        </p:txBody>
      </p:sp>
      <p:sp>
        <p:nvSpPr>
          <p:cNvPr id="18" name="Shape 12"/>
          <p:cNvSpPr/>
          <p:nvPr/>
        </p:nvSpPr>
        <p:spPr>
          <a:xfrm>
            <a:off x="548640" y="3977640"/>
            <a:ext cx="1554480" cy="1417320"/>
          </a:xfrm>
          <a:prstGeom prst="roundRect">
            <a:avLst>
              <a:gd name="adj" fmla="val 5161"/>
            </a:avLst>
          </a:prstGeom>
          <a:solidFill>
            <a:srgbClr val="13283C"/>
          </a:solidFill>
          <a:ln w="12700">
            <a:solidFill>
              <a:srgbClr val="13283C"/>
            </a:solidFill>
            <a:prstDash val="solid"/>
          </a:ln>
        </p:spPr>
      </p:sp>
      <p:sp>
        <p:nvSpPr>
          <p:cNvPr id="19" name="Shape 13"/>
          <p:cNvSpPr/>
          <p:nvPr/>
        </p:nvSpPr>
        <p:spPr>
          <a:xfrm>
            <a:off x="1005840" y="4114800"/>
            <a:ext cx="640080" cy="640080"/>
          </a:xfrm>
          <a:prstGeom prst="ellipse">
            <a:avLst/>
          </a:prstGeom>
          <a:solidFill>
            <a:srgbClr val="C9002B"/>
          </a:solidFill>
          <a:ln w="12700">
            <a:solidFill>
              <a:srgbClr val="C9002B"/>
            </a:solidFill>
            <a:prstDash val="solid"/>
          </a:ln>
        </p:spPr>
      </p:sp>
      <p:pic>
        <p:nvPicPr>
          <p:cNvPr id="20" name="Image 4" descr="preencoded.png">    </p:cNvPr>
          <p:cNvPicPr>
            <a:picLocks noChangeAspect="1"/>
          </p:cNvPicPr>
          <p:nvPr/>
        </p:nvPicPr>
        <p:blipFill>
          <a:blip r:embed="rId5"/>
          <a:stretch>
            <a:fillRect/>
          </a:stretch>
        </p:blipFill>
        <p:spPr>
          <a:xfrm>
            <a:off x="1165860" y="4274820"/>
            <a:ext cx="320040" cy="320040"/>
          </a:xfrm>
          <a:prstGeom prst="rect">
            <a:avLst/>
          </a:prstGeom>
        </p:spPr>
      </p:pic>
      <p:sp>
        <p:nvSpPr>
          <p:cNvPr id="21" name="Text 14"/>
          <p:cNvSpPr txBox="1"/>
          <p:nvPr/>
        </p:nvSpPr>
        <p:spPr>
          <a:xfrm>
            <a:off x="548640" y="4800600"/>
            <a:ext cx="1554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スポーツ</a:t>
            </a:r>
            <a:endParaRPr lang="en-US" sz="1300" dirty="0"/>
          </a:p>
          <a:p>
            <a:pPr algn="ctr" indent="0" marL="0">
              <a:buNone/>
            </a:pPr>
            <a:r>
              <a:rPr lang="en-US" sz="1300" b="1" dirty="0">
                <a:solidFill>
                  <a:srgbClr val="FFFFFF"/>
                </a:solidFill>
                <a:latin typeface="Meiryo" pitchFamily="34" charset="0"/>
                <a:ea typeface="Meiryo" pitchFamily="34" charset="-122"/>
                <a:cs typeface="Meiryo" pitchFamily="34" charset="-120"/>
              </a:rPr>
              <a:t>チーム</a:t>
            </a:r>
            <a:endParaRPr lang="en-US" sz="1300" dirty="0"/>
          </a:p>
        </p:txBody>
      </p:sp>
      <p:sp>
        <p:nvSpPr>
          <p:cNvPr id="22" name="Text 15"/>
          <p:cNvSpPr txBox="1"/>
          <p:nvPr/>
        </p:nvSpPr>
        <p:spPr>
          <a:xfrm>
            <a:off x="2240280" y="3977640"/>
            <a:ext cx="2057400" cy="1417320"/>
          </a:xfrm>
          <a:prstGeom prst="roundRect">
            <a:avLst>
              <a:gd name="adj" fmla="val 5161"/>
            </a:avLst>
          </a:prstGeom>
          <a:solidFill>
            <a:srgbClr val="BAC8D4"/>
          </a:solidFill>
          <a:ln>
            <a:solidFill>
              <a:srgbClr val="BAC8D4"/>
            </a:solidFill>
          </a:ln>
        </p:spPr>
        <p:txBody>
          <a:bodyPr wrap="square" lIns="76200" tIns="76200" rIns="76200" bIns="76200" rtlCol="0" anchor="ctr"/>
          <a:lstStyle/>
          <a:p>
            <a:pPr algn="ctr" indent="0" marL="0">
              <a:buNone/>
            </a:pPr>
            <a:r>
              <a:rPr lang="en-US" sz="1300" b="1" dirty="0">
                <a:solidFill>
                  <a:srgbClr val="1B2B3D"/>
                </a:solidFill>
                <a:latin typeface="Meiryo" pitchFamily="34" charset="0"/>
                <a:ea typeface="Meiryo" pitchFamily="34" charset="-122"/>
                <a:cs typeface="Meiryo" pitchFamily="34" charset="-120"/>
              </a:rPr>
              <a:t>課題ヒアリング</a:t>
            </a:r>
            <a:endParaRPr lang="en-US" sz="1300" dirty="0"/>
          </a:p>
          <a:p>
            <a:pPr algn="ctr" indent="0" marL="0">
              <a:buNone/>
            </a:pPr>
            <a:r>
              <a:rPr lang="en-US" sz="1100" dirty="0">
                <a:solidFill>
                  <a:srgbClr val="1B2B3D"/>
                </a:solidFill>
                <a:latin typeface="Meiryo" pitchFamily="34" charset="0"/>
                <a:ea typeface="Meiryo" pitchFamily="34" charset="-122"/>
                <a:cs typeface="Meiryo" pitchFamily="34" charset="-120"/>
              </a:rPr>
              <a:t>来場・新規・再来場</a:t>
            </a:r>
            <a:endParaRPr lang="en-US" sz="1300" dirty="0"/>
          </a:p>
        </p:txBody>
      </p:sp>
      <p:pic>
        <p:nvPicPr>
          <p:cNvPr id="23" name="Image 5" descr="preencoded.png">    </p:cNvPr>
          <p:cNvPicPr>
            <a:picLocks noChangeAspect="1"/>
          </p:cNvPicPr>
          <p:nvPr/>
        </p:nvPicPr>
        <p:blipFill>
          <a:blip r:embed="rId6"/>
          <a:stretch>
            <a:fillRect/>
          </a:stretch>
        </p:blipFill>
        <p:spPr>
          <a:xfrm>
            <a:off x="4325112" y="4562856"/>
            <a:ext cx="237744" cy="237744"/>
          </a:xfrm>
          <a:prstGeom prst="rect">
            <a:avLst/>
          </a:prstGeom>
        </p:spPr>
      </p:pic>
      <p:sp>
        <p:nvSpPr>
          <p:cNvPr id="24" name="Text 16"/>
          <p:cNvSpPr txBox="1"/>
          <p:nvPr/>
        </p:nvSpPr>
        <p:spPr>
          <a:xfrm>
            <a:off x="4599432" y="3977640"/>
            <a:ext cx="2057400" cy="1417320"/>
          </a:xfrm>
          <a:prstGeom prst="roundRect">
            <a:avLst>
              <a:gd name="adj" fmla="val 5161"/>
            </a:avLst>
          </a:prstGeom>
          <a:solidFill>
            <a:srgbClr val="C9002B"/>
          </a:solidFill>
          <a:ln>
            <a:solidFill>
              <a:srgbClr val="C9002B"/>
            </a:solidFill>
          </a:ln>
        </p:spPr>
        <p:txBody>
          <a:bodyPr wrap="square" lIns="76200" tIns="76200" rIns="76200" bIns="7620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トライアル</a:t>
            </a:r>
            <a:endParaRPr lang="en-US" sz="1300" dirty="0"/>
          </a:p>
          <a:p>
            <a:pPr algn="ctr" indent="0" marL="0">
              <a:buNone/>
            </a:pPr>
            <a:r>
              <a:rPr lang="en-US" sz="1100" dirty="0">
                <a:solidFill>
                  <a:srgbClr val="FFFFFF"/>
                </a:solidFill>
                <a:latin typeface="Meiryo" pitchFamily="34" charset="0"/>
                <a:ea typeface="Meiryo" pitchFamily="34" charset="-122"/>
                <a:cs typeface="Meiryo" pitchFamily="34" charset="-120"/>
              </a:rPr>
              <a:t>1試合で比較</a:t>
            </a:r>
            <a:endParaRPr lang="en-US" sz="1300" dirty="0"/>
          </a:p>
        </p:txBody>
      </p:sp>
      <p:pic>
        <p:nvPicPr>
          <p:cNvPr id="25" name="Image 6" descr="preencoded.png">    </p:cNvPr>
          <p:cNvPicPr>
            <a:picLocks noChangeAspect="1"/>
          </p:cNvPicPr>
          <p:nvPr/>
        </p:nvPicPr>
        <p:blipFill>
          <a:blip r:embed="rId7"/>
          <a:stretch>
            <a:fillRect/>
          </a:stretch>
        </p:blipFill>
        <p:spPr>
          <a:xfrm>
            <a:off x="6684264" y="4562856"/>
            <a:ext cx="237744" cy="237744"/>
          </a:xfrm>
          <a:prstGeom prst="rect">
            <a:avLst/>
          </a:prstGeom>
        </p:spPr>
      </p:pic>
      <p:sp>
        <p:nvSpPr>
          <p:cNvPr id="26" name="Text 17"/>
          <p:cNvSpPr txBox="1"/>
          <p:nvPr/>
        </p:nvSpPr>
        <p:spPr>
          <a:xfrm>
            <a:off x="6958584" y="3977640"/>
            <a:ext cx="2057400" cy="1417320"/>
          </a:xfrm>
          <a:prstGeom prst="roundRect">
            <a:avLst>
              <a:gd name="adj" fmla="val 5161"/>
            </a:avLst>
          </a:prstGeom>
          <a:solidFill>
            <a:srgbClr val="3E5A76"/>
          </a:solidFill>
          <a:ln>
            <a:solidFill>
              <a:srgbClr val="3E5A76"/>
            </a:solidFill>
          </a:ln>
        </p:spPr>
        <p:txBody>
          <a:bodyPr wrap="square" lIns="76200" tIns="76200" rIns="76200" bIns="7620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小規模契約</a:t>
            </a:r>
            <a:endParaRPr lang="en-US" sz="1300" dirty="0"/>
          </a:p>
          <a:p>
            <a:pPr algn="ctr" indent="0" marL="0">
              <a:buNone/>
            </a:pPr>
            <a:r>
              <a:rPr lang="en-US" sz="1100" dirty="0">
                <a:solidFill>
                  <a:srgbClr val="FFFFFF"/>
                </a:solidFill>
                <a:latin typeface="Meiryo" pitchFamily="34" charset="0"/>
                <a:ea typeface="Meiryo" pitchFamily="34" charset="-122"/>
                <a:cs typeface="Meiryo" pitchFamily="34" charset="-120"/>
              </a:rPr>
              <a:t>1ヶ月・数試合</a:t>
            </a:r>
            <a:endParaRPr lang="en-US" sz="1300" dirty="0"/>
          </a:p>
        </p:txBody>
      </p:sp>
      <p:pic>
        <p:nvPicPr>
          <p:cNvPr id="27" name="Image 7" descr="preencoded.png">    </p:cNvPr>
          <p:cNvPicPr>
            <a:picLocks noChangeAspect="1"/>
          </p:cNvPicPr>
          <p:nvPr/>
        </p:nvPicPr>
        <p:blipFill>
          <a:blip r:embed="rId8"/>
          <a:stretch>
            <a:fillRect/>
          </a:stretch>
        </p:blipFill>
        <p:spPr>
          <a:xfrm>
            <a:off x="9043416" y="4562856"/>
            <a:ext cx="237744" cy="237744"/>
          </a:xfrm>
          <a:prstGeom prst="rect">
            <a:avLst/>
          </a:prstGeom>
        </p:spPr>
      </p:pic>
      <p:sp>
        <p:nvSpPr>
          <p:cNvPr id="28" name="Text 18"/>
          <p:cNvSpPr txBox="1"/>
          <p:nvPr/>
        </p:nvSpPr>
        <p:spPr>
          <a:xfrm>
            <a:off x="9317736" y="3977640"/>
            <a:ext cx="2057400" cy="1417320"/>
          </a:xfrm>
          <a:prstGeom prst="roundRect">
            <a:avLst>
              <a:gd name="adj" fmla="val 5161"/>
            </a:avLst>
          </a:prstGeom>
          <a:solidFill>
            <a:srgbClr val="13283C"/>
          </a:solidFill>
          <a:ln>
            <a:solidFill>
              <a:srgbClr val="13283C"/>
            </a:solidFill>
          </a:ln>
        </p:spPr>
        <p:txBody>
          <a:bodyPr wrap="square" lIns="76200" tIns="76200" rIns="76200" bIns="7620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定額・年間契約</a:t>
            </a:r>
            <a:endParaRPr lang="en-US" sz="1300" dirty="0"/>
          </a:p>
          <a:p>
            <a:pPr algn="ctr" indent="0" marL="0">
              <a:buNone/>
            </a:pPr>
            <a:r>
              <a:rPr lang="en-US" sz="1100" dirty="0">
                <a:solidFill>
                  <a:srgbClr val="FFFFFF"/>
                </a:solidFill>
                <a:latin typeface="Meiryo" pitchFamily="34" charset="0"/>
                <a:ea typeface="Meiryo" pitchFamily="34" charset="-122"/>
                <a:cs typeface="Meiryo" pitchFamily="34" charset="-120"/>
              </a:rPr>
              <a:t>1試合あたりで評価</a:t>
            </a:r>
            <a:endParaRPr lang="en-US" sz="1300" dirty="0"/>
          </a:p>
        </p:txBody>
      </p:sp>
      <p:sp>
        <p:nvSpPr>
          <p:cNvPr id="29" name="Text 19"/>
          <p:cNvSpPr txBox="1"/>
          <p:nvPr/>
        </p:nvSpPr>
        <p:spPr>
          <a:xfrm>
            <a:off x="2240280" y="5486400"/>
            <a:ext cx="9326880" cy="365760"/>
          </a:xfrm>
          <a:prstGeom prst="rect">
            <a:avLst/>
          </a:prstGeom>
          <a:noFill/>
          <a:ln/>
        </p:spPr>
        <p:txBody>
          <a:bodyPr wrap="square" lIns="0" tIns="0" rIns="0" bIns="0" rtlCol="0" anchor="ctr"/>
          <a:lstStyle/>
          <a:p>
            <a:pPr indent="0" marL="0">
              <a:buNone/>
            </a:pPr>
            <a:r>
              <a:rPr lang="en-US" sz="1250" b="1" dirty="0">
                <a:solidFill>
                  <a:srgbClr val="C9002B"/>
                </a:solidFill>
                <a:latin typeface="Meiryo" pitchFamily="34" charset="0"/>
                <a:ea typeface="Meiryo" pitchFamily="34" charset="-122"/>
                <a:cs typeface="Meiryo" pitchFamily="34" charset="-120"/>
              </a:rPr>
              <a:t>ポイント　</a:t>
            </a:r>
            <a:pPr indent="0" marL="0">
              <a:buNone/>
            </a:pPr>
            <a:r>
              <a:rPr lang="en-US" sz="1250" dirty="0">
                <a:solidFill>
                  <a:srgbClr val="1B2B3D"/>
                </a:solidFill>
                <a:latin typeface="Meiryo" pitchFamily="34" charset="0"/>
                <a:ea typeface="Meiryo" pitchFamily="34" charset="-122"/>
                <a:cs typeface="Meiryo" pitchFamily="34" charset="-120"/>
              </a:rPr>
              <a:t>オフシーズン中に翌シーズンの予算と計画を決める</a:t>
            </a:r>
            <a:endParaRPr lang="en-US" sz="1250" dirty="0"/>
          </a:p>
        </p:txBody>
      </p:sp>
      <p:sp>
        <p:nvSpPr>
          <p:cNvPr id="30" name="Text 20"/>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A6675"/>
                </a:solidFill>
                <a:latin typeface="Meiryo" pitchFamily="34" charset="0"/>
                <a:ea typeface="Meiryo" pitchFamily="34" charset="-122"/>
                <a:cs typeface="Meiryo" pitchFamily="34" charset="-120"/>
              </a:rPr>
              <a:t>事例と調達資料から組み立てた当社の営業モデル。時期は目安で、自治体・チームごとに確認する</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補足</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13283C"/>
                </a:solidFill>
                <a:latin typeface="Meiryo" pitchFamily="34" charset="0"/>
                <a:ea typeface="Meiryo" pitchFamily="34" charset="-122"/>
                <a:cs typeface="Meiryo" pitchFamily="34" charset="-120"/>
              </a:rPr>
              <a:t>出典</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A6675"/>
                </a:solidFill>
                <a:latin typeface="Meiryo" pitchFamily="34" charset="0"/>
                <a:ea typeface="Meiryo" pitchFamily="34" charset="-122"/>
                <a:cs typeface="Meiryo" pitchFamily="34" charset="-120"/>
              </a:rPr>
              <a:t>2026年9月27日に検索で確認。ページの一部は環境の制限で本文を直接確認できず、検索結果の要約を用いた</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A6675"/>
                </a:solidFill>
                <a:latin typeface="Meiryo" pitchFamily="34" charset="0"/>
                <a:ea typeface="Meiryo" pitchFamily="34" charset="-122"/>
                <a:cs typeface="Meiryo" pitchFamily="34" charset="-120"/>
              </a:rPr>
              <a:t>12</a:t>
            </a:r>
            <a:endParaRPr lang="en-US" sz="1000" dirty="0"/>
          </a:p>
        </p:txBody>
      </p:sp>
      <p:sp>
        <p:nvSpPr>
          <p:cNvPr id="6" name="Text 4"/>
          <p:cNvSpPr txBox="1"/>
          <p:nvPr/>
        </p:nvSpPr>
        <p:spPr>
          <a:xfrm>
            <a:off x="548640" y="1783080"/>
            <a:ext cx="36576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事例（ドコモ系）</a:t>
            </a:r>
            <a:endParaRPr lang="en-US" sz="1300" dirty="0"/>
          </a:p>
        </p:txBody>
      </p:sp>
      <p:sp>
        <p:nvSpPr>
          <p:cNvPr id="7" name="Text 5"/>
          <p:cNvSpPr txBox="1"/>
          <p:nvPr/>
        </p:nvSpPr>
        <p:spPr>
          <a:xfrm>
            <a:off x="548640" y="2103120"/>
            <a:ext cx="11064240" cy="1097280"/>
          </a:xfrm>
          <a:prstGeom prst="rect">
            <a:avLst/>
          </a:prstGeom>
          <a:noFill/>
          <a:ln/>
        </p:spPr>
        <p:txBody>
          <a:bodyPr wrap="square" lIns="0" tIns="0" rIns="0" bIns="0" rtlCol="0" anchor="t"/>
          <a:lstStyle/>
          <a:p>
            <a:pPr indent="0" marL="0">
              <a:buNone/>
            </a:pPr>
            <a:r>
              <a:rPr lang="en-US" sz="950" dirty="0">
                <a:solidFill>
                  <a:srgbClr val="5A6675"/>
                </a:solidFill>
                <a:latin typeface="Meiryo" pitchFamily="34" charset="0"/>
                <a:ea typeface="Meiryo" pitchFamily="34" charset="-122"/>
                <a:cs typeface="Meiryo" pitchFamily="34" charset="-120"/>
              </a:rPr>
              <a:t>https://www.ntt.com/business/services/spatial_statistics/case_shigaken.html</a:t>
            </a:r>
            <a:endParaRPr lang="en-US" sz="950" dirty="0"/>
          </a:p>
          <a:p>
            <a:pPr indent="0" marL="0">
              <a:buNone/>
            </a:pPr>
            <a:r>
              <a:rPr lang="en-US" sz="950" dirty="0">
                <a:solidFill>
                  <a:srgbClr val="5A6675"/>
                </a:solidFill>
                <a:latin typeface="Meiryo" pitchFamily="34" charset="0"/>
                <a:ea typeface="Meiryo" pitchFamily="34" charset="-122"/>
                <a:cs typeface="Meiryo" pitchFamily="34" charset="-120"/>
              </a:rPr>
              <a:t>https://www.ntt.com/business/case-studies/mima.html</a:t>
            </a:r>
            <a:endParaRPr lang="en-US" sz="950" dirty="0"/>
          </a:p>
          <a:p>
            <a:pPr indent="0" marL="0">
              <a:buNone/>
            </a:pPr>
            <a:r>
              <a:rPr lang="en-US" sz="950" dirty="0">
                <a:solidFill>
                  <a:srgbClr val="5A6675"/>
                </a:solidFill>
                <a:latin typeface="Meiryo" pitchFamily="34" charset="0"/>
                <a:ea typeface="Meiryo" pitchFamily="34" charset="-122"/>
                <a:cs typeface="Meiryo" pitchFamily="34" charset="-120"/>
              </a:rPr>
              <a:t>https://www.docomobs.com/case/toyama/</a:t>
            </a:r>
            <a:endParaRPr lang="en-US" sz="950" dirty="0"/>
          </a:p>
          <a:p>
            <a:pPr indent="0" marL="0">
              <a:buNone/>
            </a:pPr>
            <a:r>
              <a:rPr lang="en-US" sz="950" dirty="0">
                <a:solidFill>
                  <a:srgbClr val="5A6675"/>
                </a:solidFill>
                <a:latin typeface="Meiryo" pitchFamily="34" charset="0"/>
                <a:ea typeface="Meiryo" pitchFamily="34" charset="-122"/>
                <a:cs typeface="Meiryo" pitchFamily="34" charset="-120"/>
              </a:rPr>
              <a:t>https://www.intage.co.jp/news/6237/</a:t>
            </a:r>
            <a:endParaRPr lang="en-US" sz="950" dirty="0"/>
          </a:p>
          <a:p>
            <a:pPr indent="0" marL="0">
              <a:buNone/>
            </a:pPr>
            <a:r>
              <a:rPr lang="en-US" sz="950" dirty="0">
                <a:solidFill>
                  <a:srgbClr val="5A6675"/>
                </a:solidFill>
                <a:latin typeface="Meiryo" pitchFamily="34" charset="0"/>
                <a:ea typeface="Meiryo" pitchFamily="34" charset="-122"/>
                <a:cs typeface="Meiryo" pitchFamily="34" charset="-120"/>
              </a:rPr>
              <a:t>https://mobaku.jp/cases/</a:t>
            </a:r>
            <a:endParaRPr lang="en-US" sz="950" dirty="0"/>
          </a:p>
        </p:txBody>
      </p:sp>
      <p:sp>
        <p:nvSpPr>
          <p:cNvPr id="8" name="Text 6"/>
          <p:cNvSpPr txBox="1"/>
          <p:nvPr/>
        </p:nvSpPr>
        <p:spPr>
          <a:xfrm>
            <a:off x="548640" y="3337560"/>
            <a:ext cx="36576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事例（他社）</a:t>
            </a:r>
            <a:endParaRPr lang="en-US" sz="1300" dirty="0"/>
          </a:p>
        </p:txBody>
      </p:sp>
      <p:sp>
        <p:nvSpPr>
          <p:cNvPr id="9" name="Text 7"/>
          <p:cNvSpPr txBox="1"/>
          <p:nvPr/>
        </p:nvSpPr>
        <p:spPr>
          <a:xfrm>
            <a:off x="548640" y="3657600"/>
            <a:ext cx="11064240" cy="438912"/>
          </a:xfrm>
          <a:prstGeom prst="rect">
            <a:avLst/>
          </a:prstGeom>
          <a:noFill/>
          <a:ln/>
        </p:spPr>
        <p:txBody>
          <a:bodyPr wrap="square" lIns="0" tIns="0" rIns="0" bIns="0" rtlCol="0" anchor="t"/>
          <a:lstStyle/>
          <a:p>
            <a:pPr indent="0" marL="0">
              <a:buNone/>
            </a:pPr>
            <a:r>
              <a:rPr lang="en-US" sz="950" dirty="0">
                <a:solidFill>
                  <a:srgbClr val="5A6675"/>
                </a:solidFill>
                <a:latin typeface="Meiryo" pitchFamily="34" charset="0"/>
                <a:ea typeface="Meiryo" pitchFamily="34" charset="-122"/>
                <a:cs typeface="Meiryo" pitchFamily="34" charset="-120"/>
              </a:rPr>
              <a:t>https://biz.kddi.com/usecase/tochigi2/</a:t>
            </a:r>
            <a:endParaRPr lang="en-US" sz="950" dirty="0"/>
          </a:p>
          <a:p>
            <a:pPr indent="0" marL="0">
              <a:buNone/>
            </a:pPr>
            <a:r>
              <a:rPr lang="en-US" sz="950" dirty="0">
                <a:solidFill>
                  <a:srgbClr val="5A6675"/>
                </a:solidFill>
                <a:latin typeface="Meiryo" pitchFamily="34" charset="0"/>
                <a:ea typeface="Meiryo" pitchFamily="34" charset="-122"/>
                <a:cs typeface="Meiryo" pitchFamily="34" charset="-120"/>
              </a:rPr>
              <a:t>https://k-locationanalyzer.com/case/baystars</a:t>
            </a:r>
            <a:endParaRPr lang="en-US" sz="950" dirty="0"/>
          </a:p>
        </p:txBody>
      </p:sp>
      <p:sp>
        <p:nvSpPr>
          <p:cNvPr id="10" name="Text 8"/>
          <p:cNvSpPr txBox="1"/>
          <p:nvPr/>
        </p:nvSpPr>
        <p:spPr>
          <a:xfrm>
            <a:off x="548640" y="4233672"/>
            <a:ext cx="3657600" cy="292608"/>
          </a:xfrm>
          <a:prstGeom prst="rect">
            <a:avLst/>
          </a:prstGeom>
          <a:noFill/>
          <a:ln/>
        </p:spPr>
        <p:txBody>
          <a:bodyPr wrap="square" lIns="0" tIns="0" rIns="0" bIns="0" rtlCol="0" anchor="t"/>
          <a:lstStyle/>
          <a:p>
            <a:pPr indent="0" marL="0">
              <a:buNone/>
            </a:pPr>
            <a:r>
              <a:rPr lang="en-US" sz="1300" b="1" dirty="0">
                <a:solidFill>
                  <a:srgbClr val="C9002B"/>
                </a:solidFill>
                <a:latin typeface="Meiryo" pitchFamily="34" charset="0"/>
                <a:ea typeface="Meiryo" pitchFamily="34" charset="-122"/>
                <a:cs typeface="Meiryo" pitchFamily="34" charset="-120"/>
              </a:rPr>
              <a:t>調達・審査基準</a:t>
            </a:r>
            <a:endParaRPr lang="en-US" sz="1300" dirty="0"/>
          </a:p>
        </p:txBody>
      </p:sp>
      <p:sp>
        <p:nvSpPr>
          <p:cNvPr id="11" name="Text 9"/>
          <p:cNvSpPr txBox="1"/>
          <p:nvPr/>
        </p:nvSpPr>
        <p:spPr>
          <a:xfrm>
            <a:off x="548640" y="4553712"/>
            <a:ext cx="11064240" cy="1536192"/>
          </a:xfrm>
          <a:prstGeom prst="rect">
            <a:avLst/>
          </a:prstGeom>
          <a:noFill/>
          <a:ln/>
        </p:spPr>
        <p:txBody>
          <a:bodyPr wrap="square" lIns="0" tIns="0" rIns="0" bIns="0" rtlCol="0" anchor="t"/>
          <a:lstStyle/>
          <a:p>
            <a:pPr indent="0" marL="0">
              <a:buNone/>
            </a:pPr>
            <a:r>
              <a:rPr lang="en-US" sz="950" dirty="0">
                <a:solidFill>
                  <a:srgbClr val="5A6675"/>
                </a:solidFill>
                <a:latin typeface="Meiryo" pitchFamily="34" charset="0"/>
                <a:ea typeface="Meiryo" pitchFamily="34" charset="-122"/>
                <a:cs typeface="Meiryo" pitchFamily="34" charset="-120"/>
              </a:rPr>
              <a:t>https://www.pref.ishikawa.lg.jp/kouhou/nyusatsu/documents/kijun.pdf</a:t>
            </a:r>
            <a:endParaRPr lang="en-US" sz="950" dirty="0"/>
          </a:p>
          <a:p>
            <a:pPr indent="0" marL="0">
              <a:buNone/>
            </a:pPr>
            <a:r>
              <a:rPr lang="en-US" sz="950" dirty="0">
                <a:solidFill>
                  <a:srgbClr val="5A6675"/>
                </a:solidFill>
                <a:latin typeface="Meiryo" pitchFamily="34" charset="0"/>
                <a:ea typeface="Meiryo" pitchFamily="34" charset="-122"/>
                <a:cs typeface="Meiryo" pitchFamily="34" charset="-120"/>
              </a:rPr>
              <a:t>https://www.akitakata.jp/akitakata-media/filer_public/a1/bf/a1bfb57b-93e9-4b2b-8baf-48a3bfe9dab8/07_hyoukakijun-kankou-shinkou-shisetsu-koushin-keikaku-sakusei-gyoumu.pdf</a:t>
            </a:r>
            <a:endParaRPr lang="en-US" sz="950" dirty="0"/>
          </a:p>
          <a:p>
            <a:pPr indent="0" marL="0">
              <a:buNone/>
            </a:pPr>
            <a:r>
              <a:rPr lang="en-US" sz="950" dirty="0">
                <a:solidFill>
                  <a:srgbClr val="5A6675"/>
                </a:solidFill>
                <a:latin typeface="Meiryo" pitchFamily="34" charset="0"/>
                <a:ea typeface="Meiryo" pitchFamily="34" charset="-122"/>
                <a:cs typeface="Meiryo" pitchFamily="34" charset="-120"/>
              </a:rPr>
              <a:t>https://www.city.shimonoseki.lg.jp/site/nyuusatu/161035.html</a:t>
            </a:r>
            <a:endParaRPr lang="en-US" sz="950" dirty="0"/>
          </a:p>
          <a:p>
            <a:pPr indent="0" marL="0">
              <a:buNone/>
            </a:pPr>
            <a:r>
              <a:rPr lang="en-US" sz="950" dirty="0">
                <a:solidFill>
                  <a:srgbClr val="5A6675"/>
                </a:solidFill>
                <a:latin typeface="Meiryo" pitchFamily="34" charset="0"/>
                <a:ea typeface="Meiryo" pitchFamily="34" charset="-122"/>
                <a:cs typeface="Meiryo" pitchFamily="34" charset="-120"/>
              </a:rPr>
              <a:t>https://www.city.shimonoseki.lg.jp/site/nyuusatu/162920.html</a:t>
            </a:r>
            <a:endParaRPr lang="en-US" sz="950" dirty="0"/>
          </a:p>
          <a:p>
            <a:pPr indent="0" marL="0">
              <a:buNone/>
            </a:pPr>
            <a:r>
              <a:rPr lang="en-US" sz="950" dirty="0">
                <a:solidFill>
                  <a:srgbClr val="5A6675"/>
                </a:solidFill>
                <a:latin typeface="Meiryo" pitchFamily="34" charset="0"/>
                <a:ea typeface="Meiryo" pitchFamily="34" charset="-122"/>
                <a:cs typeface="Meiryo" pitchFamily="34" charset="-120"/>
              </a:rPr>
              <a:t>https://www.tokachi.pref.hokkaido.lg.jp/ss/srk/265425.html</a:t>
            </a:r>
            <a:endParaRPr lang="en-US" sz="950" dirty="0"/>
          </a:p>
          <a:p>
            <a:pPr indent="0" marL="0">
              <a:buNone/>
            </a:pPr>
            <a:r>
              <a:rPr lang="en-US" sz="950" dirty="0">
                <a:solidFill>
                  <a:srgbClr val="5A6675"/>
                </a:solidFill>
                <a:latin typeface="Meiryo" pitchFamily="34" charset="0"/>
                <a:ea typeface="Meiryo" pitchFamily="34" charset="-122"/>
                <a:cs typeface="Meiryo" pitchFamily="34" charset="-120"/>
              </a:rPr>
              <a:t>https://www.soumu.go.jp/main_content/001026062.pdf</a:t>
            </a:r>
            <a:endParaRPr lang="en-US" sz="950" dirty="0"/>
          </a:p>
          <a:p>
            <a:pPr indent="0" marL="0">
              <a:buNone/>
            </a:pPr>
            <a:r>
              <a:rPr lang="en-US" sz="950" dirty="0">
                <a:solidFill>
                  <a:srgbClr val="5A6675"/>
                </a:solidFill>
                <a:latin typeface="Meiryo" pitchFamily="34" charset="0"/>
                <a:ea typeface="Meiryo" pitchFamily="34" charset="-122"/>
                <a:cs typeface="Meiryo" pitchFamily="34" charset="-120"/>
              </a:rPr>
              <a:t>https://journal.labid.jp/article/exL3ENJP</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事例調査レポート：提案から契約まで</dc:title>
  <dc:subject>PptxGenJS Presentation</dc:subject>
  <dc:creator>PptxGenJS</dc:creator>
  <cp:lastModifiedBy>PptxGenJS</cp:lastModifiedBy>
  <cp:revision>1</cp:revision>
  <dcterms:created xsi:type="dcterms:W3CDTF">2026-09-27T13:58:22Z</dcterms:created>
  <dcterms:modified xsi:type="dcterms:W3CDTF">2026-09-27T13:58:22Z</dcterms:modified>
</cp:coreProperties>
</file>